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88" r:id="rId3"/>
    <p:sldId id="287" r:id="rId4"/>
    <p:sldId id="290" r:id="rId5"/>
    <p:sldId id="292" r:id="rId6"/>
    <p:sldId id="293" r:id="rId7"/>
    <p:sldId id="289" r:id="rId8"/>
    <p:sldId id="291" r:id="rId9"/>
    <p:sldId id="286" r:id="rId10"/>
    <p:sldId id="294" r:id="rId11"/>
    <p:sldId id="295" r:id="rId12"/>
    <p:sldId id="296" r:id="rId13"/>
    <p:sldId id="307" r:id="rId14"/>
    <p:sldId id="298" r:id="rId15"/>
    <p:sldId id="299" r:id="rId16"/>
    <p:sldId id="297" r:id="rId17"/>
    <p:sldId id="300" r:id="rId18"/>
    <p:sldId id="301" r:id="rId19"/>
    <p:sldId id="302" r:id="rId20"/>
    <p:sldId id="303" r:id="rId21"/>
    <p:sldId id="304" r:id="rId22"/>
    <p:sldId id="305" r:id="rId23"/>
    <p:sldId id="306" r:id="rId24"/>
    <p:sldId id="308" r:id="rId2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37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9474" autoAdjust="0"/>
  </p:normalViewPr>
  <p:slideViewPr>
    <p:cSldViewPr snapToGrid="0">
      <p:cViewPr varScale="1">
        <p:scale>
          <a:sx n="57" d="100"/>
          <a:sy n="57" d="100"/>
        </p:scale>
        <p:origin x="1560"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3FEEC0-F6C6-40DD-B52B-0230B464CBAA}" type="doc">
      <dgm:prSet loTypeId="urn:microsoft.com/office/officeart/2005/8/layout/hierarchy1" loCatId="hierarchy" qsTypeId="urn:microsoft.com/office/officeart/2005/8/quickstyle/3d2" qsCatId="3D" csTypeId="urn:microsoft.com/office/officeart/2005/8/colors/accent6_5" csCatId="accent6" phldr="1"/>
      <dgm:spPr/>
      <dgm:t>
        <a:bodyPr/>
        <a:lstStyle/>
        <a:p>
          <a:endParaRPr lang="ru-RU"/>
        </a:p>
      </dgm:t>
    </dgm:pt>
    <dgm:pt modelId="{7CE9B04E-083F-44DB-BD6A-E3AA93525FBB}">
      <dgm:prSet phldrT="[Text]"/>
      <dgm:spPr/>
      <dgm:t>
        <a:bodyPr/>
        <a:lstStyle/>
        <a:p>
          <a:r>
            <a:rPr lang="en-US" dirty="0"/>
            <a:t>Java Polymorphism</a:t>
          </a:r>
          <a:endParaRPr lang="ru-RU" dirty="0"/>
        </a:p>
      </dgm:t>
    </dgm:pt>
    <dgm:pt modelId="{D464D9D4-3968-4928-A640-B6212EB57C04}" type="parTrans" cxnId="{BD8349CB-5B53-4579-9282-66653B589EB1}">
      <dgm:prSet/>
      <dgm:spPr/>
      <dgm:t>
        <a:bodyPr/>
        <a:lstStyle/>
        <a:p>
          <a:endParaRPr lang="ru-RU"/>
        </a:p>
      </dgm:t>
    </dgm:pt>
    <dgm:pt modelId="{D0FEF0AC-98D9-425F-A49B-163DE85F6737}" type="sibTrans" cxnId="{BD8349CB-5B53-4579-9282-66653B589EB1}">
      <dgm:prSet/>
      <dgm:spPr/>
      <dgm:t>
        <a:bodyPr/>
        <a:lstStyle/>
        <a:p>
          <a:endParaRPr lang="ru-RU"/>
        </a:p>
      </dgm:t>
    </dgm:pt>
    <dgm:pt modelId="{6BFEAB64-FFF5-4AB6-9335-B0889793A5D0}">
      <dgm:prSet phldrT="[Text]"/>
      <dgm:spPr/>
      <dgm:t>
        <a:bodyPr/>
        <a:lstStyle/>
        <a:p>
          <a:r>
            <a:rPr lang="en-US" dirty="0"/>
            <a:t>Compile-time</a:t>
          </a:r>
        </a:p>
        <a:p>
          <a:r>
            <a:rPr lang="en-US" dirty="0"/>
            <a:t>Polymorphism</a:t>
          </a:r>
          <a:endParaRPr lang="ru-RU" dirty="0"/>
        </a:p>
      </dgm:t>
    </dgm:pt>
    <dgm:pt modelId="{8F41A969-091B-4CC4-83FE-7882324F3402}" type="parTrans" cxnId="{64FC718C-5877-481E-B673-1602E9D3918D}">
      <dgm:prSet/>
      <dgm:spPr/>
      <dgm:t>
        <a:bodyPr/>
        <a:lstStyle/>
        <a:p>
          <a:endParaRPr lang="ru-RU"/>
        </a:p>
      </dgm:t>
    </dgm:pt>
    <dgm:pt modelId="{8E043AE1-9A74-425D-8A52-6F0D34AD0D97}" type="sibTrans" cxnId="{64FC718C-5877-481E-B673-1602E9D3918D}">
      <dgm:prSet/>
      <dgm:spPr/>
      <dgm:t>
        <a:bodyPr/>
        <a:lstStyle/>
        <a:p>
          <a:endParaRPr lang="ru-RU"/>
        </a:p>
      </dgm:t>
    </dgm:pt>
    <dgm:pt modelId="{B49756F2-D411-4EFF-A31D-BC34A7C83427}">
      <dgm:prSet phldrT="[Text]"/>
      <dgm:spPr/>
      <dgm:t>
        <a:bodyPr/>
        <a:lstStyle/>
        <a:p>
          <a:r>
            <a:rPr lang="en-US" dirty="0"/>
            <a:t>Run-time</a:t>
          </a:r>
        </a:p>
        <a:p>
          <a:r>
            <a:rPr lang="en-US" dirty="0"/>
            <a:t>Polymorphism</a:t>
          </a:r>
          <a:endParaRPr lang="ru-RU" dirty="0"/>
        </a:p>
      </dgm:t>
    </dgm:pt>
    <dgm:pt modelId="{D7BE2AA2-5A50-4154-B901-E5E845C572BC}" type="parTrans" cxnId="{8AE53311-612A-434B-9334-C45F781EDF20}">
      <dgm:prSet/>
      <dgm:spPr/>
      <dgm:t>
        <a:bodyPr/>
        <a:lstStyle/>
        <a:p>
          <a:endParaRPr lang="ru-RU"/>
        </a:p>
      </dgm:t>
    </dgm:pt>
    <dgm:pt modelId="{46A9474B-E80D-40AB-84BA-516161A02793}" type="sibTrans" cxnId="{8AE53311-612A-434B-9334-C45F781EDF20}">
      <dgm:prSet/>
      <dgm:spPr/>
      <dgm:t>
        <a:bodyPr/>
        <a:lstStyle/>
        <a:p>
          <a:endParaRPr lang="ru-RU"/>
        </a:p>
      </dgm:t>
    </dgm:pt>
    <dgm:pt modelId="{EFBCD813-1441-4AC6-B5CD-2D1586C172C1}">
      <dgm:prSet phldrT="[Text]"/>
      <dgm:spPr/>
      <dgm:t>
        <a:bodyPr/>
        <a:lstStyle/>
        <a:p>
          <a:r>
            <a:rPr lang="en-US" dirty="0"/>
            <a:t>Method Overriding</a:t>
          </a:r>
          <a:endParaRPr lang="ru-RU" dirty="0"/>
        </a:p>
      </dgm:t>
    </dgm:pt>
    <dgm:pt modelId="{EB1B517A-BB13-48C5-A6E4-1980F16F2D8E}" type="parTrans" cxnId="{23424C7B-3010-46BA-A05B-2F76C2C74433}">
      <dgm:prSet/>
      <dgm:spPr/>
      <dgm:t>
        <a:bodyPr/>
        <a:lstStyle/>
        <a:p>
          <a:endParaRPr lang="ru-RU"/>
        </a:p>
      </dgm:t>
    </dgm:pt>
    <dgm:pt modelId="{15D9F1FD-9A98-4FD9-8642-8B53F33DB348}" type="sibTrans" cxnId="{23424C7B-3010-46BA-A05B-2F76C2C74433}">
      <dgm:prSet/>
      <dgm:spPr/>
      <dgm:t>
        <a:bodyPr/>
        <a:lstStyle/>
        <a:p>
          <a:endParaRPr lang="ru-RU"/>
        </a:p>
      </dgm:t>
    </dgm:pt>
    <dgm:pt modelId="{2E012DCE-54C1-4A4D-A847-F83B0D48026E}">
      <dgm:prSet phldrT="[Text]"/>
      <dgm:spPr/>
      <dgm:t>
        <a:bodyPr/>
        <a:lstStyle/>
        <a:p>
          <a:r>
            <a:rPr lang="en-US" dirty="0"/>
            <a:t>Method Overloading</a:t>
          </a:r>
          <a:endParaRPr lang="ru-RU" dirty="0"/>
        </a:p>
      </dgm:t>
    </dgm:pt>
    <dgm:pt modelId="{513247F6-9092-4B5E-A135-532D2F16F837}" type="parTrans" cxnId="{43BA2DF2-F82B-4025-AA6A-3E54EFE8D5AA}">
      <dgm:prSet/>
      <dgm:spPr/>
      <dgm:t>
        <a:bodyPr/>
        <a:lstStyle/>
        <a:p>
          <a:endParaRPr lang="ru-RU"/>
        </a:p>
      </dgm:t>
    </dgm:pt>
    <dgm:pt modelId="{EFCA113B-FA84-4DAB-9B49-CEFC432477C4}" type="sibTrans" cxnId="{43BA2DF2-F82B-4025-AA6A-3E54EFE8D5AA}">
      <dgm:prSet/>
      <dgm:spPr/>
      <dgm:t>
        <a:bodyPr/>
        <a:lstStyle/>
        <a:p>
          <a:endParaRPr lang="ru-RU"/>
        </a:p>
      </dgm:t>
    </dgm:pt>
    <dgm:pt modelId="{EA485809-1144-4C6F-8066-287FCB364704}" type="pres">
      <dgm:prSet presAssocID="{C23FEEC0-F6C6-40DD-B52B-0230B464CBAA}" presName="hierChild1" presStyleCnt="0">
        <dgm:presLayoutVars>
          <dgm:chPref val="1"/>
          <dgm:dir/>
          <dgm:animOne val="branch"/>
          <dgm:animLvl val="lvl"/>
          <dgm:resizeHandles/>
        </dgm:presLayoutVars>
      </dgm:prSet>
      <dgm:spPr/>
    </dgm:pt>
    <dgm:pt modelId="{977B8942-98ED-43D0-B1E7-2BB24A53A57C}" type="pres">
      <dgm:prSet presAssocID="{7CE9B04E-083F-44DB-BD6A-E3AA93525FBB}" presName="hierRoot1" presStyleCnt="0"/>
      <dgm:spPr/>
    </dgm:pt>
    <dgm:pt modelId="{4DFF2552-B02C-466C-9F50-42CB3B800B48}" type="pres">
      <dgm:prSet presAssocID="{7CE9B04E-083F-44DB-BD6A-E3AA93525FBB}" presName="composite" presStyleCnt="0"/>
      <dgm:spPr/>
    </dgm:pt>
    <dgm:pt modelId="{FB6C3CFD-7945-4DF7-9A42-EEC087AC834B}" type="pres">
      <dgm:prSet presAssocID="{7CE9B04E-083F-44DB-BD6A-E3AA93525FBB}" presName="background" presStyleLbl="node0" presStyleIdx="0" presStyleCnt="1"/>
      <dgm:spPr/>
    </dgm:pt>
    <dgm:pt modelId="{4E58DD03-F9EB-4E8F-8802-2E7ACB3296CC}" type="pres">
      <dgm:prSet presAssocID="{7CE9B04E-083F-44DB-BD6A-E3AA93525FBB}" presName="text" presStyleLbl="fgAcc0" presStyleIdx="0" presStyleCnt="1">
        <dgm:presLayoutVars>
          <dgm:chPref val="3"/>
        </dgm:presLayoutVars>
      </dgm:prSet>
      <dgm:spPr/>
    </dgm:pt>
    <dgm:pt modelId="{029A0349-2AB6-44E2-A64A-198A648A0822}" type="pres">
      <dgm:prSet presAssocID="{7CE9B04E-083F-44DB-BD6A-E3AA93525FBB}" presName="hierChild2" presStyleCnt="0"/>
      <dgm:spPr/>
    </dgm:pt>
    <dgm:pt modelId="{1BE5FC85-D56B-4DD6-AD62-61D450DEC37C}" type="pres">
      <dgm:prSet presAssocID="{8F41A969-091B-4CC4-83FE-7882324F3402}" presName="Name10" presStyleLbl="parChTrans1D2" presStyleIdx="0" presStyleCnt="2"/>
      <dgm:spPr/>
    </dgm:pt>
    <dgm:pt modelId="{E122ED6E-738E-44BA-B15E-AF4DED05493E}" type="pres">
      <dgm:prSet presAssocID="{6BFEAB64-FFF5-4AB6-9335-B0889793A5D0}" presName="hierRoot2" presStyleCnt="0"/>
      <dgm:spPr/>
    </dgm:pt>
    <dgm:pt modelId="{AD1D5425-8B32-48DB-8CC8-62BEBB75BF1B}" type="pres">
      <dgm:prSet presAssocID="{6BFEAB64-FFF5-4AB6-9335-B0889793A5D0}" presName="composite2" presStyleCnt="0"/>
      <dgm:spPr/>
    </dgm:pt>
    <dgm:pt modelId="{6CDC52EC-51E2-4EC3-9F36-3B7E672C3193}" type="pres">
      <dgm:prSet presAssocID="{6BFEAB64-FFF5-4AB6-9335-B0889793A5D0}" presName="background2" presStyleLbl="node2" presStyleIdx="0" presStyleCnt="2"/>
      <dgm:spPr/>
    </dgm:pt>
    <dgm:pt modelId="{43B41920-E4E1-4BD0-9C62-B9600AE9542A}" type="pres">
      <dgm:prSet presAssocID="{6BFEAB64-FFF5-4AB6-9335-B0889793A5D0}" presName="text2" presStyleLbl="fgAcc2" presStyleIdx="0" presStyleCnt="2">
        <dgm:presLayoutVars>
          <dgm:chPref val="3"/>
        </dgm:presLayoutVars>
      </dgm:prSet>
      <dgm:spPr/>
    </dgm:pt>
    <dgm:pt modelId="{383A34C0-288F-4938-BD45-77C71B1FB28B}" type="pres">
      <dgm:prSet presAssocID="{6BFEAB64-FFF5-4AB6-9335-B0889793A5D0}" presName="hierChild3" presStyleCnt="0"/>
      <dgm:spPr/>
    </dgm:pt>
    <dgm:pt modelId="{3F60FD40-C70C-489D-A07E-917793E129A7}" type="pres">
      <dgm:prSet presAssocID="{513247F6-9092-4B5E-A135-532D2F16F837}" presName="Name17" presStyleLbl="parChTrans1D3" presStyleIdx="0" presStyleCnt="2"/>
      <dgm:spPr/>
    </dgm:pt>
    <dgm:pt modelId="{C68F0B81-1018-4FF6-867D-D9C7275F051A}" type="pres">
      <dgm:prSet presAssocID="{2E012DCE-54C1-4A4D-A847-F83B0D48026E}" presName="hierRoot3" presStyleCnt="0"/>
      <dgm:spPr/>
    </dgm:pt>
    <dgm:pt modelId="{CAAB4CB3-99DE-407A-BA81-7AEEA88A8EC1}" type="pres">
      <dgm:prSet presAssocID="{2E012DCE-54C1-4A4D-A847-F83B0D48026E}" presName="composite3" presStyleCnt="0"/>
      <dgm:spPr/>
    </dgm:pt>
    <dgm:pt modelId="{586C78AB-AD7D-4F8A-A183-C3B7C940F26D}" type="pres">
      <dgm:prSet presAssocID="{2E012DCE-54C1-4A4D-A847-F83B0D48026E}" presName="background3" presStyleLbl="node3" presStyleIdx="0" presStyleCnt="2"/>
      <dgm:spPr/>
    </dgm:pt>
    <dgm:pt modelId="{4E7F2319-6C0A-4634-ACE1-5EBE8B3E57C0}" type="pres">
      <dgm:prSet presAssocID="{2E012DCE-54C1-4A4D-A847-F83B0D48026E}" presName="text3" presStyleLbl="fgAcc3" presStyleIdx="0" presStyleCnt="2">
        <dgm:presLayoutVars>
          <dgm:chPref val="3"/>
        </dgm:presLayoutVars>
      </dgm:prSet>
      <dgm:spPr/>
    </dgm:pt>
    <dgm:pt modelId="{684CB2D3-3400-452D-81ED-F8F3E733C223}" type="pres">
      <dgm:prSet presAssocID="{2E012DCE-54C1-4A4D-A847-F83B0D48026E}" presName="hierChild4" presStyleCnt="0"/>
      <dgm:spPr/>
    </dgm:pt>
    <dgm:pt modelId="{A9D44827-7172-4531-AED2-4C7C09D495F2}" type="pres">
      <dgm:prSet presAssocID="{D7BE2AA2-5A50-4154-B901-E5E845C572BC}" presName="Name10" presStyleLbl="parChTrans1D2" presStyleIdx="1" presStyleCnt="2"/>
      <dgm:spPr/>
    </dgm:pt>
    <dgm:pt modelId="{039F10F4-0612-46EC-ADB9-5FD5E037AE6F}" type="pres">
      <dgm:prSet presAssocID="{B49756F2-D411-4EFF-A31D-BC34A7C83427}" presName="hierRoot2" presStyleCnt="0"/>
      <dgm:spPr/>
    </dgm:pt>
    <dgm:pt modelId="{87831EA6-8400-4DB2-A6D5-EAD3A1F7E630}" type="pres">
      <dgm:prSet presAssocID="{B49756F2-D411-4EFF-A31D-BC34A7C83427}" presName="composite2" presStyleCnt="0"/>
      <dgm:spPr/>
    </dgm:pt>
    <dgm:pt modelId="{F02196B6-F122-4E9D-8DFE-3E2FD6D2043F}" type="pres">
      <dgm:prSet presAssocID="{B49756F2-D411-4EFF-A31D-BC34A7C83427}" presName="background2" presStyleLbl="node2" presStyleIdx="1" presStyleCnt="2"/>
      <dgm:spPr/>
    </dgm:pt>
    <dgm:pt modelId="{48F4CF91-25F8-47A8-B8E8-BCB4BEA536CC}" type="pres">
      <dgm:prSet presAssocID="{B49756F2-D411-4EFF-A31D-BC34A7C83427}" presName="text2" presStyleLbl="fgAcc2" presStyleIdx="1" presStyleCnt="2">
        <dgm:presLayoutVars>
          <dgm:chPref val="3"/>
        </dgm:presLayoutVars>
      </dgm:prSet>
      <dgm:spPr/>
    </dgm:pt>
    <dgm:pt modelId="{260E0F4B-EE0E-4D61-B3E8-456122B86759}" type="pres">
      <dgm:prSet presAssocID="{B49756F2-D411-4EFF-A31D-BC34A7C83427}" presName="hierChild3" presStyleCnt="0"/>
      <dgm:spPr/>
    </dgm:pt>
    <dgm:pt modelId="{F59DC4DF-63DC-4C16-AC50-37E7305A491C}" type="pres">
      <dgm:prSet presAssocID="{EB1B517A-BB13-48C5-A6E4-1980F16F2D8E}" presName="Name17" presStyleLbl="parChTrans1D3" presStyleIdx="1" presStyleCnt="2"/>
      <dgm:spPr/>
    </dgm:pt>
    <dgm:pt modelId="{58A4D821-BBA9-45D6-87B0-79FFA50E0DA7}" type="pres">
      <dgm:prSet presAssocID="{EFBCD813-1441-4AC6-B5CD-2D1586C172C1}" presName="hierRoot3" presStyleCnt="0"/>
      <dgm:spPr/>
    </dgm:pt>
    <dgm:pt modelId="{880449F5-E8A2-4356-BDA6-6C9C34177BFD}" type="pres">
      <dgm:prSet presAssocID="{EFBCD813-1441-4AC6-B5CD-2D1586C172C1}" presName="composite3" presStyleCnt="0"/>
      <dgm:spPr/>
    </dgm:pt>
    <dgm:pt modelId="{05E93505-E850-4845-B8D4-9819A3E5C2D0}" type="pres">
      <dgm:prSet presAssocID="{EFBCD813-1441-4AC6-B5CD-2D1586C172C1}" presName="background3" presStyleLbl="node3" presStyleIdx="1" presStyleCnt="2"/>
      <dgm:spPr/>
    </dgm:pt>
    <dgm:pt modelId="{A9E97FA3-FA06-45F8-8157-8FE7DDC6A1C4}" type="pres">
      <dgm:prSet presAssocID="{EFBCD813-1441-4AC6-B5CD-2D1586C172C1}" presName="text3" presStyleLbl="fgAcc3" presStyleIdx="1" presStyleCnt="2">
        <dgm:presLayoutVars>
          <dgm:chPref val="3"/>
        </dgm:presLayoutVars>
      </dgm:prSet>
      <dgm:spPr/>
    </dgm:pt>
    <dgm:pt modelId="{83285CF7-566D-4EA8-B074-454631E5BC4E}" type="pres">
      <dgm:prSet presAssocID="{EFBCD813-1441-4AC6-B5CD-2D1586C172C1}" presName="hierChild4" presStyleCnt="0"/>
      <dgm:spPr/>
    </dgm:pt>
  </dgm:ptLst>
  <dgm:cxnLst>
    <dgm:cxn modelId="{8AE53311-612A-434B-9334-C45F781EDF20}" srcId="{7CE9B04E-083F-44DB-BD6A-E3AA93525FBB}" destId="{B49756F2-D411-4EFF-A31D-BC34A7C83427}" srcOrd="1" destOrd="0" parTransId="{D7BE2AA2-5A50-4154-B901-E5E845C572BC}" sibTransId="{46A9474B-E80D-40AB-84BA-516161A02793}"/>
    <dgm:cxn modelId="{47DAB81B-5B32-4120-A103-D180C786CE5B}" type="presOf" srcId="{EFBCD813-1441-4AC6-B5CD-2D1586C172C1}" destId="{A9E97FA3-FA06-45F8-8157-8FE7DDC6A1C4}" srcOrd="0" destOrd="0" presId="urn:microsoft.com/office/officeart/2005/8/layout/hierarchy1"/>
    <dgm:cxn modelId="{7658365E-63D3-4350-B861-D09E757EF044}" type="presOf" srcId="{D7BE2AA2-5A50-4154-B901-E5E845C572BC}" destId="{A9D44827-7172-4531-AED2-4C7C09D495F2}" srcOrd="0" destOrd="0" presId="urn:microsoft.com/office/officeart/2005/8/layout/hierarchy1"/>
    <dgm:cxn modelId="{18724966-B6AF-458C-A671-C1D92F8A1C36}" type="presOf" srcId="{EB1B517A-BB13-48C5-A6E4-1980F16F2D8E}" destId="{F59DC4DF-63DC-4C16-AC50-37E7305A491C}" srcOrd="0" destOrd="0" presId="urn:microsoft.com/office/officeart/2005/8/layout/hierarchy1"/>
    <dgm:cxn modelId="{8AB1D76B-C2B4-4B38-A593-DCE64ACDDCB5}" type="presOf" srcId="{8F41A969-091B-4CC4-83FE-7882324F3402}" destId="{1BE5FC85-D56B-4DD6-AD62-61D450DEC37C}" srcOrd="0" destOrd="0" presId="urn:microsoft.com/office/officeart/2005/8/layout/hierarchy1"/>
    <dgm:cxn modelId="{29306B78-49D7-4BF8-B55B-590FF0F1C1EF}" type="presOf" srcId="{C23FEEC0-F6C6-40DD-B52B-0230B464CBAA}" destId="{EA485809-1144-4C6F-8066-287FCB364704}" srcOrd="0" destOrd="0" presId="urn:microsoft.com/office/officeart/2005/8/layout/hierarchy1"/>
    <dgm:cxn modelId="{23424C7B-3010-46BA-A05B-2F76C2C74433}" srcId="{B49756F2-D411-4EFF-A31D-BC34A7C83427}" destId="{EFBCD813-1441-4AC6-B5CD-2D1586C172C1}" srcOrd="0" destOrd="0" parTransId="{EB1B517A-BB13-48C5-A6E4-1980F16F2D8E}" sibTransId="{15D9F1FD-9A98-4FD9-8642-8B53F33DB348}"/>
    <dgm:cxn modelId="{8302208B-51F1-4C90-82B7-3230BB605599}" type="presOf" srcId="{B49756F2-D411-4EFF-A31D-BC34A7C83427}" destId="{48F4CF91-25F8-47A8-B8E8-BCB4BEA536CC}" srcOrd="0" destOrd="0" presId="urn:microsoft.com/office/officeart/2005/8/layout/hierarchy1"/>
    <dgm:cxn modelId="{64FC718C-5877-481E-B673-1602E9D3918D}" srcId="{7CE9B04E-083F-44DB-BD6A-E3AA93525FBB}" destId="{6BFEAB64-FFF5-4AB6-9335-B0889793A5D0}" srcOrd="0" destOrd="0" parTransId="{8F41A969-091B-4CC4-83FE-7882324F3402}" sibTransId="{8E043AE1-9A74-425D-8A52-6F0D34AD0D97}"/>
    <dgm:cxn modelId="{02744393-C114-4899-9D5D-80434C54238E}" type="presOf" srcId="{2E012DCE-54C1-4A4D-A847-F83B0D48026E}" destId="{4E7F2319-6C0A-4634-ACE1-5EBE8B3E57C0}" srcOrd="0" destOrd="0" presId="urn:microsoft.com/office/officeart/2005/8/layout/hierarchy1"/>
    <dgm:cxn modelId="{86F0C2B8-B3F0-4057-849C-1011A35985C3}" type="presOf" srcId="{7CE9B04E-083F-44DB-BD6A-E3AA93525FBB}" destId="{4E58DD03-F9EB-4E8F-8802-2E7ACB3296CC}" srcOrd="0" destOrd="0" presId="urn:microsoft.com/office/officeart/2005/8/layout/hierarchy1"/>
    <dgm:cxn modelId="{BD8349CB-5B53-4579-9282-66653B589EB1}" srcId="{C23FEEC0-F6C6-40DD-B52B-0230B464CBAA}" destId="{7CE9B04E-083F-44DB-BD6A-E3AA93525FBB}" srcOrd="0" destOrd="0" parTransId="{D464D9D4-3968-4928-A640-B6212EB57C04}" sibTransId="{D0FEF0AC-98D9-425F-A49B-163DE85F6737}"/>
    <dgm:cxn modelId="{BCF2EDED-8169-4339-8E70-2092D6E40DEC}" type="presOf" srcId="{6BFEAB64-FFF5-4AB6-9335-B0889793A5D0}" destId="{43B41920-E4E1-4BD0-9C62-B9600AE9542A}" srcOrd="0" destOrd="0" presId="urn:microsoft.com/office/officeart/2005/8/layout/hierarchy1"/>
    <dgm:cxn modelId="{44C03FF1-2885-4FA7-B5FA-91F2D3FFA008}" type="presOf" srcId="{513247F6-9092-4B5E-A135-532D2F16F837}" destId="{3F60FD40-C70C-489D-A07E-917793E129A7}" srcOrd="0" destOrd="0" presId="urn:microsoft.com/office/officeart/2005/8/layout/hierarchy1"/>
    <dgm:cxn modelId="{43BA2DF2-F82B-4025-AA6A-3E54EFE8D5AA}" srcId="{6BFEAB64-FFF5-4AB6-9335-B0889793A5D0}" destId="{2E012DCE-54C1-4A4D-A847-F83B0D48026E}" srcOrd="0" destOrd="0" parTransId="{513247F6-9092-4B5E-A135-532D2F16F837}" sibTransId="{EFCA113B-FA84-4DAB-9B49-CEFC432477C4}"/>
    <dgm:cxn modelId="{2A10C967-912B-4183-A914-0971662F7FE3}" type="presParOf" srcId="{EA485809-1144-4C6F-8066-287FCB364704}" destId="{977B8942-98ED-43D0-B1E7-2BB24A53A57C}" srcOrd="0" destOrd="0" presId="urn:microsoft.com/office/officeart/2005/8/layout/hierarchy1"/>
    <dgm:cxn modelId="{C98A60DF-1237-49F3-907E-C92F39B7EA47}" type="presParOf" srcId="{977B8942-98ED-43D0-B1E7-2BB24A53A57C}" destId="{4DFF2552-B02C-466C-9F50-42CB3B800B48}" srcOrd="0" destOrd="0" presId="urn:microsoft.com/office/officeart/2005/8/layout/hierarchy1"/>
    <dgm:cxn modelId="{7C24490C-BA4C-48D2-9B44-35B12B4AED4E}" type="presParOf" srcId="{4DFF2552-B02C-466C-9F50-42CB3B800B48}" destId="{FB6C3CFD-7945-4DF7-9A42-EEC087AC834B}" srcOrd="0" destOrd="0" presId="urn:microsoft.com/office/officeart/2005/8/layout/hierarchy1"/>
    <dgm:cxn modelId="{A92935F0-F24C-42A8-A566-65C65C249A2D}" type="presParOf" srcId="{4DFF2552-B02C-466C-9F50-42CB3B800B48}" destId="{4E58DD03-F9EB-4E8F-8802-2E7ACB3296CC}" srcOrd="1" destOrd="0" presId="urn:microsoft.com/office/officeart/2005/8/layout/hierarchy1"/>
    <dgm:cxn modelId="{DE3161AE-1ADC-40EF-921D-34B152D810F1}" type="presParOf" srcId="{977B8942-98ED-43D0-B1E7-2BB24A53A57C}" destId="{029A0349-2AB6-44E2-A64A-198A648A0822}" srcOrd="1" destOrd="0" presId="urn:microsoft.com/office/officeart/2005/8/layout/hierarchy1"/>
    <dgm:cxn modelId="{A7D1116E-224D-4D52-B7FA-A7E3E87E493C}" type="presParOf" srcId="{029A0349-2AB6-44E2-A64A-198A648A0822}" destId="{1BE5FC85-D56B-4DD6-AD62-61D450DEC37C}" srcOrd="0" destOrd="0" presId="urn:microsoft.com/office/officeart/2005/8/layout/hierarchy1"/>
    <dgm:cxn modelId="{74101F89-3041-43D7-937D-8CE2674E7049}" type="presParOf" srcId="{029A0349-2AB6-44E2-A64A-198A648A0822}" destId="{E122ED6E-738E-44BA-B15E-AF4DED05493E}" srcOrd="1" destOrd="0" presId="urn:microsoft.com/office/officeart/2005/8/layout/hierarchy1"/>
    <dgm:cxn modelId="{EB77D1B8-F975-4819-B609-54C894E0802B}" type="presParOf" srcId="{E122ED6E-738E-44BA-B15E-AF4DED05493E}" destId="{AD1D5425-8B32-48DB-8CC8-62BEBB75BF1B}" srcOrd="0" destOrd="0" presId="urn:microsoft.com/office/officeart/2005/8/layout/hierarchy1"/>
    <dgm:cxn modelId="{08C5318A-EC2B-4212-95AF-90AA1B15A001}" type="presParOf" srcId="{AD1D5425-8B32-48DB-8CC8-62BEBB75BF1B}" destId="{6CDC52EC-51E2-4EC3-9F36-3B7E672C3193}" srcOrd="0" destOrd="0" presId="urn:microsoft.com/office/officeart/2005/8/layout/hierarchy1"/>
    <dgm:cxn modelId="{2BDA0F9D-C516-4ACB-9894-02F7ED65C3AE}" type="presParOf" srcId="{AD1D5425-8B32-48DB-8CC8-62BEBB75BF1B}" destId="{43B41920-E4E1-4BD0-9C62-B9600AE9542A}" srcOrd="1" destOrd="0" presId="urn:microsoft.com/office/officeart/2005/8/layout/hierarchy1"/>
    <dgm:cxn modelId="{F55AB1DB-9ADC-4B5F-A65E-320891F964EF}" type="presParOf" srcId="{E122ED6E-738E-44BA-B15E-AF4DED05493E}" destId="{383A34C0-288F-4938-BD45-77C71B1FB28B}" srcOrd="1" destOrd="0" presId="urn:microsoft.com/office/officeart/2005/8/layout/hierarchy1"/>
    <dgm:cxn modelId="{89BA69D8-33B8-4C13-974D-DAA45D83299A}" type="presParOf" srcId="{383A34C0-288F-4938-BD45-77C71B1FB28B}" destId="{3F60FD40-C70C-489D-A07E-917793E129A7}" srcOrd="0" destOrd="0" presId="urn:microsoft.com/office/officeart/2005/8/layout/hierarchy1"/>
    <dgm:cxn modelId="{C2C612C9-E50C-4FE6-AE0C-5DD4633C5A26}" type="presParOf" srcId="{383A34C0-288F-4938-BD45-77C71B1FB28B}" destId="{C68F0B81-1018-4FF6-867D-D9C7275F051A}" srcOrd="1" destOrd="0" presId="urn:microsoft.com/office/officeart/2005/8/layout/hierarchy1"/>
    <dgm:cxn modelId="{F1E6D579-BC60-4C87-8365-5F8BAA521FEF}" type="presParOf" srcId="{C68F0B81-1018-4FF6-867D-D9C7275F051A}" destId="{CAAB4CB3-99DE-407A-BA81-7AEEA88A8EC1}" srcOrd="0" destOrd="0" presId="urn:microsoft.com/office/officeart/2005/8/layout/hierarchy1"/>
    <dgm:cxn modelId="{5FA26C62-59A5-409E-AABF-3D38B62218DF}" type="presParOf" srcId="{CAAB4CB3-99DE-407A-BA81-7AEEA88A8EC1}" destId="{586C78AB-AD7D-4F8A-A183-C3B7C940F26D}" srcOrd="0" destOrd="0" presId="urn:microsoft.com/office/officeart/2005/8/layout/hierarchy1"/>
    <dgm:cxn modelId="{66379F3B-3F47-42C0-867D-C0CF81BBE791}" type="presParOf" srcId="{CAAB4CB3-99DE-407A-BA81-7AEEA88A8EC1}" destId="{4E7F2319-6C0A-4634-ACE1-5EBE8B3E57C0}" srcOrd="1" destOrd="0" presId="urn:microsoft.com/office/officeart/2005/8/layout/hierarchy1"/>
    <dgm:cxn modelId="{FED656FE-DD39-4100-84BF-46A29B4E8599}" type="presParOf" srcId="{C68F0B81-1018-4FF6-867D-D9C7275F051A}" destId="{684CB2D3-3400-452D-81ED-F8F3E733C223}" srcOrd="1" destOrd="0" presId="urn:microsoft.com/office/officeart/2005/8/layout/hierarchy1"/>
    <dgm:cxn modelId="{4EDC342F-4EB4-431A-BDE3-CC9F9AD7552D}" type="presParOf" srcId="{029A0349-2AB6-44E2-A64A-198A648A0822}" destId="{A9D44827-7172-4531-AED2-4C7C09D495F2}" srcOrd="2" destOrd="0" presId="urn:microsoft.com/office/officeart/2005/8/layout/hierarchy1"/>
    <dgm:cxn modelId="{B0F171AC-BBD3-473B-8178-A9A1BCA27DA2}" type="presParOf" srcId="{029A0349-2AB6-44E2-A64A-198A648A0822}" destId="{039F10F4-0612-46EC-ADB9-5FD5E037AE6F}" srcOrd="3" destOrd="0" presId="urn:microsoft.com/office/officeart/2005/8/layout/hierarchy1"/>
    <dgm:cxn modelId="{4B51E643-E81F-46F4-8BE5-B76A2687EAC6}" type="presParOf" srcId="{039F10F4-0612-46EC-ADB9-5FD5E037AE6F}" destId="{87831EA6-8400-4DB2-A6D5-EAD3A1F7E630}" srcOrd="0" destOrd="0" presId="urn:microsoft.com/office/officeart/2005/8/layout/hierarchy1"/>
    <dgm:cxn modelId="{03446566-3E50-4A24-A83C-C3FE580F55E9}" type="presParOf" srcId="{87831EA6-8400-4DB2-A6D5-EAD3A1F7E630}" destId="{F02196B6-F122-4E9D-8DFE-3E2FD6D2043F}" srcOrd="0" destOrd="0" presId="urn:microsoft.com/office/officeart/2005/8/layout/hierarchy1"/>
    <dgm:cxn modelId="{B81634F8-2FE3-4126-8A2E-9BB02B290D09}" type="presParOf" srcId="{87831EA6-8400-4DB2-A6D5-EAD3A1F7E630}" destId="{48F4CF91-25F8-47A8-B8E8-BCB4BEA536CC}" srcOrd="1" destOrd="0" presId="urn:microsoft.com/office/officeart/2005/8/layout/hierarchy1"/>
    <dgm:cxn modelId="{7C0940AA-020E-4466-9E1E-9B2788D3F539}" type="presParOf" srcId="{039F10F4-0612-46EC-ADB9-5FD5E037AE6F}" destId="{260E0F4B-EE0E-4D61-B3E8-456122B86759}" srcOrd="1" destOrd="0" presId="urn:microsoft.com/office/officeart/2005/8/layout/hierarchy1"/>
    <dgm:cxn modelId="{8F466C86-6A75-4978-B183-E2672E8F7103}" type="presParOf" srcId="{260E0F4B-EE0E-4D61-B3E8-456122B86759}" destId="{F59DC4DF-63DC-4C16-AC50-37E7305A491C}" srcOrd="0" destOrd="0" presId="urn:microsoft.com/office/officeart/2005/8/layout/hierarchy1"/>
    <dgm:cxn modelId="{EA7FD707-E650-4EA6-9C57-B35A9223877F}" type="presParOf" srcId="{260E0F4B-EE0E-4D61-B3E8-456122B86759}" destId="{58A4D821-BBA9-45D6-87B0-79FFA50E0DA7}" srcOrd="1" destOrd="0" presId="urn:microsoft.com/office/officeart/2005/8/layout/hierarchy1"/>
    <dgm:cxn modelId="{462398B7-A680-4EDE-972B-3C7511E5BB59}" type="presParOf" srcId="{58A4D821-BBA9-45D6-87B0-79FFA50E0DA7}" destId="{880449F5-E8A2-4356-BDA6-6C9C34177BFD}" srcOrd="0" destOrd="0" presId="urn:microsoft.com/office/officeart/2005/8/layout/hierarchy1"/>
    <dgm:cxn modelId="{E54BE971-EBA9-45D7-AF72-996BD0BD4035}" type="presParOf" srcId="{880449F5-E8A2-4356-BDA6-6C9C34177BFD}" destId="{05E93505-E850-4845-B8D4-9819A3E5C2D0}" srcOrd="0" destOrd="0" presId="urn:microsoft.com/office/officeart/2005/8/layout/hierarchy1"/>
    <dgm:cxn modelId="{4179F6C3-D5F8-4E90-B394-5D43C67BD731}" type="presParOf" srcId="{880449F5-E8A2-4356-BDA6-6C9C34177BFD}" destId="{A9E97FA3-FA06-45F8-8157-8FE7DDC6A1C4}" srcOrd="1" destOrd="0" presId="urn:microsoft.com/office/officeart/2005/8/layout/hierarchy1"/>
    <dgm:cxn modelId="{1C11206E-2518-4C25-8AB7-A12A9C199FE5}" type="presParOf" srcId="{58A4D821-BBA9-45D6-87B0-79FFA50E0DA7}" destId="{83285CF7-566D-4EA8-B074-454631E5BC4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2B64A9-273A-4A00-A13F-B20662825C4F}"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ru-RU"/>
        </a:p>
      </dgm:t>
    </dgm:pt>
    <dgm:pt modelId="{5E38641C-5280-45AC-B47A-9D1E80301B72}">
      <dgm:prSet/>
      <dgm:spPr/>
      <dgm:t>
        <a:bodyPr/>
        <a:lstStyle/>
        <a:p>
          <a:r>
            <a:rPr lang="en-US" dirty="0"/>
            <a:t>public class </a:t>
          </a:r>
          <a:r>
            <a:rPr lang="en-US" dirty="0" err="1"/>
            <a:t>ExampleClass</a:t>
          </a:r>
          <a:r>
            <a:rPr lang="en-US" dirty="0"/>
            <a:t> {}</a:t>
          </a:r>
          <a:endParaRPr lang="ru-RU" dirty="0"/>
        </a:p>
      </dgm:t>
    </dgm:pt>
    <dgm:pt modelId="{E7DB1C21-4AD3-4B32-BC07-E6EDCD339974}" type="parTrans" cxnId="{9536A303-BD03-4D51-A8D8-B1ED650FEAED}">
      <dgm:prSet/>
      <dgm:spPr/>
      <dgm:t>
        <a:bodyPr/>
        <a:lstStyle/>
        <a:p>
          <a:endParaRPr lang="ru-RU"/>
        </a:p>
      </dgm:t>
    </dgm:pt>
    <dgm:pt modelId="{2E6BA2A0-20F3-46F6-9F13-A766F7BEE738}" type="sibTrans" cxnId="{9536A303-BD03-4D51-A8D8-B1ED650FEAED}">
      <dgm:prSet/>
      <dgm:spPr/>
      <dgm:t>
        <a:bodyPr/>
        <a:lstStyle/>
        <a:p>
          <a:endParaRPr lang="ru-RU"/>
        </a:p>
      </dgm:t>
    </dgm:pt>
    <dgm:pt modelId="{FBFBC242-2C0F-4FFE-804F-D223FB320520}">
      <dgm:prSet/>
      <dgm:spPr/>
      <dgm:t>
        <a:bodyPr/>
        <a:lstStyle/>
        <a:p>
          <a:r>
            <a:rPr lang="en-US" dirty="0"/>
            <a:t>public class </a:t>
          </a:r>
          <a:r>
            <a:rPr lang="en-US" dirty="0" err="1"/>
            <a:t>ExampleClass</a:t>
          </a:r>
          <a:r>
            <a:rPr lang="en-US" dirty="0"/>
            <a:t> {</a:t>
          </a:r>
        </a:p>
        <a:p>
          <a:r>
            <a:rPr lang="en-US" dirty="0"/>
            <a:t>    </a:t>
          </a:r>
          <a:r>
            <a:rPr lang="en-US" dirty="0" err="1"/>
            <a:t>ExampleClass</a:t>
          </a:r>
          <a:r>
            <a:rPr lang="en-US" dirty="0"/>
            <a:t>() {</a:t>
          </a:r>
        </a:p>
        <a:p>
          <a:r>
            <a:rPr lang="en-US" dirty="0"/>
            <a:t>        super();</a:t>
          </a:r>
        </a:p>
        <a:p>
          <a:r>
            <a:rPr lang="en-US" dirty="0"/>
            <a:t>    }</a:t>
          </a:r>
          <a:endParaRPr lang="ru-RU" dirty="0"/>
        </a:p>
        <a:p>
          <a:r>
            <a:rPr lang="en-US" dirty="0"/>
            <a:t>}</a:t>
          </a:r>
          <a:endParaRPr lang="ru-RU" dirty="0"/>
        </a:p>
      </dgm:t>
    </dgm:pt>
    <dgm:pt modelId="{A2F77A78-B632-452F-ADDF-D8FA20C98FF8}" type="parTrans" cxnId="{8AAB5A25-367A-4023-8FB5-D96E8509E637}">
      <dgm:prSet/>
      <dgm:spPr/>
      <dgm:t>
        <a:bodyPr/>
        <a:lstStyle/>
        <a:p>
          <a:endParaRPr lang="ru-RU"/>
        </a:p>
      </dgm:t>
    </dgm:pt>
    <dgm:pt modelId="{7326BC7B-1779-47A6-AC6F-D29AFE7E4177}" type="sibTrans" cxnId="{8AAB5A25-367A-4023-8FB5-D96E8509E637}">
      <dgm:prSet/>
      <dgm:spPr/>
      <dgm:t>
        <a:bodyPr/>
        <a:lstStyle/>
        <a:p>
          <a:endParaRPr lang="ru-RU"/>
        </a:p>
      </dgm:t>
    </dgm:pt>
    <dgm:pt modelId="{642AD818-096A-4D94-A5A9-4232664AB186}" type="pres">
      <dgm:prSet presAssocID="{352B64A9-273A-4A00-A13F-B20662825C4F}" presName="outerComposite" presStyleCnt="0">
        <dgm:presLayoutVars>
          <dgm:chMax val="5"/>
          <dgm:dir/>
          <dgm:resizeHandles val="exact"/>
        </dgm:presLayoutVars>
      </dgm:prSet>
      <dgm:spPr/>
    </dgm:pt>
    <dgm:pt modelId="{9304BB34-9E98-4EB9-8D9D-EBD587A351AF}" type="pres">
      <dgm:prSet presAssocID="{352B64A9-273A-4A00-A13F-B20662825C4F}" presName="dummyMaxCanvas" presStyleCnt="0">
        <dgm:presLayoutVars/>
      </dgm:prSet>
      <dgm:spPr/>
    </dgm:pt>
    <dgm:pt modelId="{29AEF590-B720-4833-A11C-6D592EC6305E}" type="pres">
      <dgm:prSet presAssocID="{352B64A9-273A-4A00-A13F-B20662825C4F}" presName="TwoNodes_1" presStyleLbl="node1" presStyleIdx="0" presStyleCnt="2" custScaleY="47161" custLinFactNeighborX="-1027" custLinFactNeighborY="17460">
        <dgm:presLayoutVars>
          <dgm:bulletEnabled val="1"/>
        </dgm:presLayoutVars>
      </dgm:prSet>
      <dgm:spPr/>
    </dgm:pt>
    <dgm:pt modelId="{B9AD0907-ECA2-4987-A937-27DC27D9200B}" type="pres">
      <dgm:prSet presAssocID="{352B64A9-273A-4A00-A13F-B20662825C4F}" presName="TwoNodes_2" presStyleLbl="node1" presStyleIdx="1" presStyleCnt="2" custLinFactNeighborX="-17647" custLinFactNeighborY="-2924">
        <dgm:presLayoutVars>
          <dgm:bulletEnabled val="1"/>
        </dgm:presLayoutVars>
      </dgm:prSet>
      <dgm:spPr/>
    </dgm:pt>
    <dgm:pt modelId="{9812423C-7A81-4339-83D3-950C8C153534}" type="pres">
      <dgm:prSet presAssocID="{352B64A9-273A-4A00-A13F-B20662825C4F}" presName="TwoConn_1-2" presStyleLbl="fgAccFollowNode1" presStyleIdx="0" presStyleCnt="1" custScaleX="75364" custLinFactNeighborX="-960" custLinFactNeighborY="-2878">
        <dgm:presLayoutVars>
          <dgm:bulletEnabled val="1"/>
        </dgm:presLayoutVars>
      </dgm:prSet>
      <dgm:spPr/>
    </dgm:pt>
    <dgm:pt modelId="{0B77AE8C-9552-4FD6-B612-702C3B611029}" type="pres">
      <dgm:prSet presAssocID="{352B64A9-273A-4A00-A13F-B20662825C4F}" presName="TwoNodes_1_text" presStyleLbl="node1" presStyleIdx="1" presStyleCnt="2">
        <dgm:presLayoutVars>
          <dgm:bulletEnabled val="1"/>
        </dgm:presLayoutVars>
      </dgm:prSet>
      <dgm:spPr/>
    </dgm:pt>
    <dgm:pt modelId="{44868488-452F-4837-AF85-B9E98F50D3DD}" type="pres">
      <dgm:prSet presAssocID="{352B64A9-273A-4A00-A13F-B20662825C4F}" presName="TwoNodes_2_text" presStyleLbl="node1" presStyleIdx="1" presStyleCnt="2">
        <dgm:presLayoutVars>
          <dgm:bulletEnabled val="1"/>
        </dgm:presLayoutVars>
      </dgm:prSet>
      <dgm:spPr/>
    </dgm:pt>
  </dgm:ptLst>
  <dgm:cxnLst>
    <dgm:cxn modelId="{9536A303-BD03-4D51-A8D8-B1ED650FEAED}" srcId="{352B64A9-273A-4A00-A13F-B20662825C4F}" destId="{5E38641C-5280-45AC-B47A-9D1E80301B72}" srcOrd="0" destOrd="0" parTransId="{E7DB1C21-4AD3-4B32-BC07-E6EDCD339974}" sibTransId="{2E6BA2A0-20F3-46F6-9F13-A766F7BEE738}"/>
    <dgm:cxn modelId="{8AAB5A25-367A-4023-8FB5-D96E8509E637}" srcId="{352B64A9-273A-4A00-A13F-B20662825C4F}" destId="{FBFBC242-2C0F-4FFE-804F-D223FB320520}" srcOrd="1" destOrd="0" parTransId="{A2F77A78-B632-452F-ADDF-D8FA20C98FF8}" sibTransId="{7326BC7B-1779-47A6-AC6F-D29AFE7E4177}"/>
    <dgm:cxn modelId="{394EE787-A13F-41AC-8D87-1A6C24108DE4}" type="presOf" srcId="{FBFBC242-2C0F-4FFE-804F-D223FB320520}" destId="{44868488-452F-4837-AF85-B9E98F50D3DD}" srcOrd="1" destOrd="0" presId="urn:microsoft.com/office/officeart/2005/8/layout/vProcess5"/>
    <dgm:cxn modelId="{FB971292-20AE-4D74-A28F-9FE5451D0925}" type="presOf" srcId="{2E6BA2A0-20F3-46F6-9F13-A766F7BEE738}" destId="{9812423C-7A81-4339-83D3-950C8C153534}" srcOrd="0" destOrd="0" presId="urn:microsoft.com/office/officeart/2005/8/layout/vProcess5"/>
    <dgm:cxn modelId="{84D41EAD-C80D-47BD-8945-552B6D6218F1}" type="presOf" srcId="{FBFBC242-2C0F-4FFE-804F-D223FB320520}" destId="{B9AD0907-ECA2-4987-A937-27DC27D9200B}" srcOrd="0" destOrd="0" presId="urn:microsoft.com/office/officeart/2005/8/layout/vProcess5"/>
    <dgm:cxn modelId="{CDC133BB-9DFE-4E38-A036-A79219A93CF3}" type="presOf" srcId="{5E38641C-5280-45AC-B47A-9D1E80301B72}" destId="{0B77AE8C-9552-4FD6-B612-702C3B611029}" srcOrd="1" destOrd="0" presId="urn:microsoft.com/office/officeart/2005/8/layout/vProcess5"/>
    <dgm:cxn modelId="{860D63CC-655E-4507-91EC-B5C74059A0B7}" type="presOf" srcId="{352B64A9-273A-4A00-A13F-B20662825C4F}" destId="{642AD818-096A-4D94-A5A9-4232664AB186}" srcOrd="0" destOrd="0" presId="urn:microsoft.com/office/officeart/2005/8/layout/vProcess5"/>
    <dgm:cxn modelId="{78E6ECE7-09DB-455F-A3E9-E4855062119B}" type="presOf" srcId="{5E38641C-5280-45AC-B47A-9D1E80301B72}" destId="{29AEF590-B720-4833-A11C-6D592EC6305E}" srcOrd="0" destOrd="0" presId="urn:microsoft.com/office/officeart/2005/8/layout/vProcess5"/>
    <dgm:cxn modelId="{4B7A49A9-0749-4C23-9577-3854A73AE1FA}" type="presParOf" srcId="{642AD818-096A-4D94-A5A9-4232664AB186}" destId="{9304BB34-9E98-4EB9-8D9D-EBD587A351AF}" srcOrd="0" destOrd="0" presId="urn:microsoft.com/office/officeart/2005/8/layout/vProcess5"/>
    <dgm:cxn modelId="{41A028DF-5F2A-430A-8B8F-268987FC84B2}" type="presParOf" srcId="{642AD818-096A-4D94-A5A9-4232664AB186}" destId="{29AEF590-B720-4833-A11C-6D592EC6305E}" srcOrd="1" destOrd="0" presId="urn:microsoft.com/office/officeart/2005/8/layout/vProcess5"/>
    <dgm:cxn modelId="{EF5BC2ED-65C2-4479-8816-D7EF7B823170}" type="presParOf" srcId="{642AD818-096A-4D94-A5A9-4232664AB186}" destId="{B9AD0907-ECA2-4987-A937-27DC27D9200B}" srcOrd="2" destOrd="0" presId="urn:microsoft.com/office/officeart/2005/8/layout/vProcess5"/>
    <dgm:cxn modelId="{19BC4E91-91AD-4554-BEBB-303ABAF664C7}" type="presParOf" srcId="{642AD818-096A-4D94-A5A9-4232664AB186}" destId="{9812423C-7A81-4339-83D3-950C8C153534}" srcOrd="3" destOrd="0" presId="urn:microsoft.com/office/officeart/2005/8/layout/vProcess5"/>
    <dgm:cxn modelId="{140825E4-9C41-4AAD-BE7A-42314DE07CDC}" type="presParOf" srcId="{642AD818-096A-4D94-A5A9-4232664AB186}" destId="{0B77AE8C-9552-4FD6-B612-702C3B611029}" srcOrd="4" destOrd="0" presId="urn:microsoft.com/office/officeart/2005/8/layout/vProcess5"/>
    <dgm:cxn modelId="{CAF0D542-A2DB-475C-B61E-7030AFADD187}" type="presParOf" srcId="{642AD818-096A-4D94-A5A9-4232664AB186}" destId="{44868488-452F-4837-AF85-B9E98F50D3DD}"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9DC4DF-63DC-4C16-AC50-37E7305A491C}">
      <dsp:nvSpPr>
        <dsp:cNvPr id="0" name=""/>
        <dsp:cNvSpPr/>
      </dsp:nvSpPr>
      <dsp:spPr>
        <a:xfrm>
          <a:off x="2855536" y="2371690"/>
          <a:ext cx="91440" cy="441758"/>
        </a:xfrm>
        <a:custGeom>
          <a:avLst/>
          <a:gdLst/>
          <a:ahLst/>
          <a:cxnLst/>
          <a:rect l="0" t="0" r="0" b="0"/>
          <a:pathLst>
            <a:path>
              <a:moveTo>
                <a:pt x="45720" y="0"/>
              </a:moveTo>
              <a:lnTo>
                <a:pt x="45720" y="441758"/>
              </a:lnTo>
            </a:path>
          </a:pathLst>
        </a:custGeom>
        <a:noFill/>
        <a:ln w="25400" cap="flat" cmpd="sng" algn="ctr">
          <a:solidFill>
            <a:schemeClr val="accent6">
              <a:tint val="7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A9D44827-7172-4531-AED2-4C7C09D495F2}">
      <dsp:nvSpPr>
        <dsp:cNvPr id="0" name=""/>
        <dsp:cNvSpPr/>
      </dsp:nvSpPr>
      <dsp:spPr>
        <a:xfrm>
          <a:off x="1973015" y="965405"/>
          <a:ext cx="928241" cy="441758"/>
        </a:xfrm>
        <a:custGeom>
          <a:avLst/>
          <a:gdLst/>
          <a:ahLst/>
          <a:cxnLst/>
          <a:rect l="0" t="0" r="0" b="0"/>
          <a:pathLst>
            <a:path>
              <a:moveTo>
                <a:pt x="0" y="0"/>
              </a:moveTo>
              <a:lnTo>
                <a:pt x="0" y="301045"/>
              </a:lnTo>
              <a:lnTo>
                <a:pt x="928241" y="301045"/>
              </a:lnTo>
              <a:lnTo>
                <a:pt x="928241" y="441758"/>
              </a:lnTo>
            </a:path>
          </a:pathLst>
        </a:custGeom>
        <a:noFill/>
        <a:ln w="25400" cap="flat" cmpd="sng" algn="ctr">
          <a:solidFill>
            <a:schemeClr val="accent6">
              <a:tint val="9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3F60FD40-C70C-489D-A07E-917793E129A7}">
      <dsp:nvSpPr>
        <dsp:cNvPr id="0" name=""/>
        <dsp:cNvSpPr/>
      </dsp:nvSpPr>
      <dsp:spPr>
        <a:xfrm>
          <a:off x="999053" y="2371690"/>
          <a:ext cx="91440" cy="441758"/>
        </a:xfrm>
        <a:custGeom>
          <a:avLst/>
          <a:gdLst/>
          <a:ahLst/>
          <a:cxnLst/>
          <a:rect l="0" t="0" r="0" b="0"/>
          <a:pathLst>
            <a:path>
              <a:moveTo>
                <a:pt x="45720" y="0"/>
              </a:moveTo>
              <a:lnTo>
                <a:pt x="45720" y="441758"/>
              </a:lnTo>
            </a:path>
          </a:pathLst>
        </a:custGeom>
        <a:noFill/>
        <a:ln w="25400" cap="flat" cmpd="sng" algn="ctr">
          <a:solidFill>
            <a:schemeClr val="accent6">
              <a:tint val="7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1BE5FC85-D56B-4DD6-AD62-61D450DEC37C}">
      <dsp:nvSpPr>
        <dsp:cNvPr id="0" name=""/>
        <dsp:cNvSpPr/>
      </dsp:nvSpPr>
      <dsp:spPr>
        <a:xfrm>
          <a:off x="1044773" y="965405"/>
          <a:ext cx="928241" cy="441758"/>
        </a:xfrm>
        <a:custGeom>
          <a:avLst/>
          <a:gdLst/>
          <a:ahLst/>
          <a:cxnLst/>
          <a:rect l="0" t="0" r="0" b="0"/>
          <a:pathLst>
            <a:path>
              <a:moveTo>
                <a:pt x="928241" y="0"/>
              </a:moveTo>
              <a:lnTo>
                <a:pt x="928241" y="301045"/>
              </a:lnTo>
              <a:lnTo>
                <a:pt x="0" y="301045"/>
              </a:lnTo>
              <a:lnTo>
                <a:pt x="0" y="441758"/>
              </a:lnTo>
            </a:path>
          </a:pathLst>
        </a:custGeom>
        <a:noFill/>
        <a:ln w="25400" cap="flat" cmpd="sng" algn="ctr">
          <a:solidFill>
            <a:schemeClr val="accent6">
              <a:tint val="9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FB6C3CFD-7945-4DF7-9A42-EEC087AC834B}">
      <dsp:nvSpPr>
        <dsp:cNvPr id="0" name=""/>
        <dsp:cNvSpPr/>
      </dsp:nvSpPr>
      <dsp:spPr>
        <a:xfrm>
          <a:off x="1213545" y="877"/>
          <a:ext cx="1518940" cy="964527"/>
        </a:xfrm>
        <a:prstGeom prst="roundRect">
          <a:avLst>
            <a:gd name="adj" fmla="val 10000"/>
          </a:avLst>
        </a:prstGeom>
        <a:gradFill rotWithShape="0">
          <a:gsLst>
            <a:gs pos="0">
              <a:schemeClr val="accent6">
                <a:alpha val="80000"/>
                <a:hueOff val="0"/>
                <a:satOff val="0"/>
                <a:lumOff val="0"/>
                <a:alphaOff val="0"/>
                <a:shade val="51000"/>
                <a:satMod val="130000"/>
              </a:schemeClr>
            </a:gs>
            <a:gs pos="80000">
              <a:schemeClr val="accent6">
                <a:alpha val="80000"/>
                <a:hueOff val="0"/>
                <a:satOff val="0"/>
                <a:lumOff val="0"/>
                <a:alphaOff val="0"/>
                <a:shade val="93000"/>
                <a:satMod val="130000"/>
              </a:schemeClr>
            </a:gs>
            <a:gs pos="100000">
              <a:schemeClr val="accent6">
                <a:alpha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E58DD03-F9EB-4E8F-8802-2E7ACB3296CC}">
      <dsp:nvSpPr>
        <dsp:cNvPr id="0" name=""/>
        <dsp:cNvSpPr/>
      </dsp:nvSpPr>
      <dsp:spPr>
        <a:xfrm>
          <a:off x="1382316" y="161210"/>
          <a:ext cx="1518940" cy="964527"/>
        </a:xfrm>
        <a:prstGeom prst="roundRect">
          <a:avLst>
            <a:gd name="adj" fmla="val 10000"/>
          </a:avLst>
        </a:prstGeom>
        <a:solidFill>
          <a:schemeClr val="lt1">
            <a:alpha val="90000"/>
            <a:hueOff val="0"/>
            <a:satOff val="0"/>
            <a:lumOff val="0"/>
            <a:alphaOff val="0"/>
          </a:schemeClr>
        </a:solidFill>
        <a:ln w="9525" cap="flat" cmpd="sng" algn="ctr">
          <a:solidFill>
            <a:schemeClr val="accent6">
              <a:shade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Java Polymorphism</a:t>
          </a:r>
          <a:endParaRPr lang="ru-RU" sz="1700" kern="1200" dirty="0"/>
        </a:p>
      </dsp:txBody>
      <dsp:txXfrm>
        <a:off x="1410566" y="189460"/>
        <a:ext cx="1462440" cy="908027"/>
      </dsp:txXfrm>
    </dsp:sp>
    <dsp:sp modelId="{6CDC52EC-51E2-4EC3-9F36-3B7E672C3193}">
      <dsp:nvSpPr>
        <dsp:cNvPr id="0" name=""/>
        <dsp:cNvSpPr/>
      </dsp:nvSpPr>
      <dsp:spPr>
        <a:xfrm>
          <a:off x="285303" y="1407163"/>
          <a:ext cx="1518940" cy="964527"/>
        </a:xfrm>
        <a:prstGeom prst="roundRect">
          <a:avLst>
            <a:gd name="adj" fmla="val 10000"/>
          </a:avLst>
        </a:prstGeom>
        <a:gradFill rotWithShape="0">
          <a:gsLst>
            <a:gs pos="0">
              <a:schemeClr val="accent6">
                <a:alpha val="70000"/>
                <a:hueOff val="0"/>
                <a:satOff val="0"/>
                <a:lumOff val="0"/>
                <a:alphaOff val="0"/>
                <a:shade val="51000"/>
                <a:satMod val="130000"/>
              </a:schemeClr>
            </a:gs>
            <a:gs pos="80000">
              <a:schemeClr val="accent6">
                <a:alpha val="70000"/>
                <a:hueOff val="0"/>
                <a:satOff val="0"/>
                <a:lumOff val="0"/>
                <a:alphaOff val="0"/>
                <a:shade val="93000"/>
                <a:satMod val="130000"/>
              </a:schemeClr>
            </a:gs>
            <a:gs pos="100000">
              <a:schemeClr val="accent6">
                <a:alpha val="7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3B41920-E4E1-4BD0-9C62-B9600AE9542A}">
      <dsp:nvSpPr>
        <dsp:cNvPr id="0" name=""/>
        <dsp:cNvSpPr/>
      </dsp:nvSpPr>
      <dsp:spPr>
        <a:xfrm>
          <a:off x="454074" y="1567496"/>
          <a:ext cx="1518940" cy="964527"/>
        </a:xfrm>
        <a:prstGeom prst="roundRect">
          <a:avLst>
            <a:gd name="adj" fmla="val 10000"/>
          </a:avLst>
        </a:prstGeom>
        <a:solidFill>
          <a:schemeClr val="lt1">
            <a:alpha val="90000"/>
            <a:hueOff val="0"/>
            <a:satOff val="0"/>
            <a:lumOff val="0"/>
            <a:alphaOff val="0"/>
          </a:schemeClr>
        </a:solidFill>
        <a:ln w="9525" cap="flat" cmpd="sng" algn="ctr">
          <a:solidFill>
            <a:schemeClr val="accent6">
              <a:tint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Compile-time</a:t>
          </a:r>
        </a:p>
        <a:p>
          <a:pPr marL="0" lvl="0" indent="0" algn="ctr" defTabSz="755650">
            <a:lnSpc>
              <a:spcPct val="90000"/>
            </a:lnSpc>
            <a:spcBef>
              <a:spcPct val="0"/>
            </a:spcBef>
            <a:spcAft>
              <a:spcPct val="35000"/>
            </a:spcAft>
            <a:buNone/>
          </a:pPr>
          <a:r>
            <a:rPr lang="en-US" sz="1700" kern="1200" dirty="0"/>
            <a:t>Polymorphism</a:t>
          </a:r>
          <a:endParaRPr lang="ru-RU" sz="1700" kern="1200" dirty="0"/>
        </a:p>
      </dsp:txBody>
      <dsp:txXfrm>
        <a:off x="482324" y="1595746"/>
        <a:ext cx="1462440" cy="908027"/>
      </dsp:txXfrm>
    </dsp:sp>
    <dsp:sp modelId="{586C78AB-AD7D-4F8A-A183-C3B7C940F26D}">
      <dsp:nvSpPr>
        <dsp:cNvPr id="0" name=""/>
        <dsp:cNvSpPr/>
      </dsp:nvSpPr>
      <dsp:spPr>
        <a:xfrm>
          <a:off x="285303" y="2813449"/>
          <a:ext cx="1518940" cy="964527"/>
        </a:xfrm>
        <a:prstGeom prst="roundRect">
          <a:avLst>
            <a:gd name="adj" fmla="val 10000"/>
          </a:avLst>
        </a:prstGeom>
        <a:gradFill rotWithShape="0">
          <a:gsLst>
            <a:gs pos="0">
              <a:schemeClr val="accent6">
                <a:alpha val="50000"/>
                <a:hueOff val="0"/>
                <a:satOff val="0"/>
                <a:lumOff val="0"/>
                <a:alphaOff val="0"/>
                <a:shade val="51000"/>
                <a:satMod val="130000"/>
              </a:schemeClr>
            </a:gs>
            <a:gs pos="80000">
              <a:schemeClr val="accent6">
                <a:alpha val="50000"/>
                <a:hueOff val="0"/>
                <a:satOff val="0"/>
                <a:lumOff val="0"/>
                <a:alphaOff val="0"/>
                <a:shade val="93000"/>
                <a:satMod val="130000"/>
              </a:schemeClr>
            </a:gs>
            <a:gs pos="100000">
              <a:schemeClr val="accent6">
                <a:alpha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E7F2319-6C0A-4634-ACE1-5EBE8B3E57C0}">
      <dsp:nvSpPr>
        <dsp:cNvPr id="0" name=""/>
        <dsp:cNvSpPr/>
      </dsp:nvSpPr>
      <dsp:spPr>
        <a:xfrm>
          <a:off x="454074" y="2973781"/>
          <a:ext cx="1518940" cy="964527"/>
        </a:xfrm>
        <a:prstGeom prst="roundRect">
          <a:avLst>
            <a:gd name="adj" fmla="val 10000"/>
          </a:avLst>
        </a:prstGeom>
        <a:solidFill>
          <a:schemeClr val="lt1">
            <a:alpha val="90000"/>
            <a:hueOff val="0"/>
            <a:satOff val="0"/>
            <a:lumOff val="0"/>
            <a:alphaOff val="0"/>
          </a:schemeClr>
        </a:solidFill>
        <a:ln w="9525" cap="flat" cmpd="sng" algn="ctr">
          <a:solidFill>
            <a:schemeClr val="accent6">
              <a:tint val="7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Method Overloading</a:t>
          </a:r>
          <a:endParaRPr lang="ru-RU" sz="1700" kern="1200" dirty="0"/>
        </a:p>
      </dsp:txBody>
      <dsp:txXfrm>
        <a:off x="482324" y="3002031"/>
        <a:ext cx="1462440" cy="908027"/>
      </dsp:txXfrm>
    </dsp:sp>
    <dsp:sp modelId="{F02196B6-F122-4E9D-8DFE-3E2FD6D2043F}">
      <dsp:nvSpPr>
        <dsp:cNvPr id="0" name=""/>
        <dsp:cNvSpPr/>
      </dsp:nvSpPr>
      <dsp:spPr>
        <a:xfrm>
          <a:off x="2141786" y="1407163"/>
          <a:ext cx="1518940" cy="964527"/>
        </a:xfrm>
        <a:prstGeom prst="roundRect">
          <a:avLst>
            <a:gd name="adj" fmla="val 10000"/>
          </a:avLst>
        </a:prstGeom>
        <a:gradFill rotWithShape="0">
          <a:gsLst>
            <a:gs pos="0">
              <a:schemeClr val="accent6">
                <a:alpha val="70000"/>
                <a:hueOff val="0"/>
                <a:satOff val="0"/>
                <a:lumOff val="0"/>
                <a:alphaOff val="0"/>
                <a:shade val="51000"/>
                <a:satMod val="130000"/>
              </a:schemeClr>
            </a:gs>
            <a:gs pos="80000">
              <a:schemeClr val="accent6">
                <a:alpha val="70000"/>
                <a:hueOff val="0"/>
                <a:satOff val="0"/>
                <a:lumOff val="0"/>
                <a:alphaOff val="0"/>
                <a:shade val="93000"/>
                <a:satMod val="130000"/>
              </a:schemeClr>
            </a:gs>
            <a:gs pos="100000">
              <a:schemeClr val="accent6">
                <a:alpha val="7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8F4CF91-25F8-47A8-B8E8-BCB4BEA536CC}">
      <dsp:nvSpPr>
        <dsp:cNvPr id="0" name=""/>
        <dsp:cNvSpPr/>
      </dsp:nvSpPr>
      <dsp:spPr>
        <a:xfrm>
          <a:off x="2310557" y="1567496"/>
          <a:ext cx="1518940" cy="964527"/>
        </a:xfrm>
        <a:prstGeom prst="roundRect">
          <a:avLst>
            <a:gd name="adj" fmla="val 10000"/>
          </a:avLst>
        </a:prstGeom>
        <a:solidFill>
          <a:schemeClr val="lt1">
            <a:alpha val="90000"/>
            <a:hueOff val="0"/>
            <a:satOff val="0"/>
            <a:lumOff val="0"/>
            <a:alphaOff val="0"/>
          </a:schemeClr>
        </a:solidFill>
        <a:ln w="9525" cap="flat" cmpd="sng" algn="ctr">
          <a:solidFill>
            <a:schemeClr val="accent6">
              <a:tint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Run-time</a:t>
          </a:r>
        </a:p>
        <a:p>
          <a:pPr marL="0" lvl="0" indent="0" algn="ctr" defTabSz="755650">
            <a:lnSpc>
              <a:spcPct val="90000"/>
            </a:lnSpc>
            <a:spcBef>
              <a:spcPct val="0"/>
            </a:spcBef>
            <a:spcAft>
              <a:spcPct val="35000"/>
            </a:spcAft>
            <a:buNone/>
          </a:pPr>
          <a:r>
            <a:rPr lang="en-US" sz="1700" kern="1200" dirty="0"/>
            <a:t>Polymorphism</a:t>
          </a:r>
          <a:endParaRPr lang="ru-RU" sz="1700" kern="1200" dirty="0"/>
        </a:p>
      </dsp:txBody>
      <dsp:txXfrm>
        <a:off x="2338807" y="1595746"/>
        <a:ext cx="1462440" cy="908027"/>
      </dsp:txXfrm>
    </dsp:sp>
    <dsp:sp modelId="{05E93505-E850-4845-B8D4-9819A3E5C2D0}">
      <dsp:nvSpPr>
        <dsp:cNvPr id="0" name=""/>
        <dsp:cNvSpPr/>
      </dsp:nvSpPr>
      <dsp:spPr>
        <a:xfrm>
          <a:off x="2141786" y="2813449"/>
          <a:ext cx="1518940" cy="964527"/>
        </a:xfrm>
        <a:prstGeom prst="roundRect">
          <a:avLst>
            <a:gd name="adj" fmla="val 10000"/>
          </a:avLst>
        </a:prstGeom>
        <a:gradFill rotWithShape="0">
          <a:gsLst>
            <a:gs pos="0">
              <a:schemeClr val="accent6">
                <a:alpha val="50000"/>
                <a:hueOff val="0"/>
                <a:satOff val="0"/>
                <a:lumOff val="0"/>
                <a:alphaOff val="0"/>
                <a:shade val="51000"/>
                <a:satMod val="130000"/>
              </a:schemeClr>
            </a:gs>
            <a:gs pos="80000">
              <a:schemeClr val="accent6">
                <a:alpha val="50000"/>
                <a:hueOff val="0"/>
                <a:satOff val="0"/>
                <a:lumOff val="0"/>
                <a:alphaOff val="0"/>
                <a:shade val="93000"/>
                <a:satMod val="130000"/>
              </a:schemeClr>
            </a:gs>
            <a:gs pos="100000">
              <a:schemeClr val="accent6">
                <a:alpha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9E97FA3-FA06-45F8-8157-8FE7DDC6A1C4}">
      <dsp:nvSpPr>
        <dsp:cNvPr id="0" name=""/>
        <dsp:cNvSpPr/>
      </dsp:nvSpPr>
      <dsp:spPr>
        <a:xfrm>
          <a:off x="2310557" y="2973781"/>
          <a:ext cx="1518940" cy="964527"/>
        </a:xfrm>
        <a:prstGeom prst="roundRect">
          <a:avLst>
            <a:gd name="adj" fmla="val 10000"/>
          </a:avLst>
        </a:prstGeom>
        <a:solidFill>
          <a:schemeClr val="lt1">
            <a:alpha val="90000"/>
            <a:hueOff val="0"/>
            <a:satOff val="0"/>
            <a:lumOff val="0"/>
            <a:alphaOff val="0"/>
          </a:schemeClr>
        </a:solidFill>
        <a:ln w="9525" cap="flat" cmpd="sng" algn="ctr">
          <a:solidFill>
            <a:schemeClr val="accent6">
              <a:tint val="7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Method Overriding</a:t>
          </a:r>
          <a:endParaRPr lang="ru-RU" sz="1700" kern="1200" dirty="0"/>
        </a:p>
      </dsp:txBody>
      <dsp:txXfrm>
        <a:off x="2338807" y="3002031"/>
        <a:ext cx="1462440" cy="9080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AEF590-B720-4833-A11C-6D592EC6305E}">
      <dsp:nvSpPr>
        <dsp:cNvPr id="0" name=""/>
        <dsp:cNvSpPr/>
      </dsp:nvSpPr>
      <dsp:spPr>
        <a:xfrm>
          <a:off x="0" y="893686"/>
          <a:ext cx="4577080" cy="96052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public class </a:t>
          </a:r>
          <a:r>
            <a:rPr lang="en-US" sz="1600" kern="1200" dirty="0" err="1"/>
            <a:t>ExampleClass</a:t>
          </a:r>
          <a:r>
            <a:rPr lang="en-US" sz="1600" kern="1200" dirty="0"/>
            <a:t> {}</a:t>
          </a:r>
          <a:endParaRPr lang="ru-RU" sz="1600" kern="1200" dirty="0"/>
        </a:p>
      </dsp:txBody>
      <dsp:txXfrm>
        <a:off x="28133" y="921819"/>
        <a:ext cx="2535047" cy="904254"/>
      </dsp:txXfrm>
    </dsp:sp>
    <dsp:sp modelId="{B9AD0907-ECA2-4987-A937-27DC27D9200B}">
      <dsp:nvSpPr>
        <dsp:cNvPr id="0" name=""/>
        <dsp:cNvSpPr/>
      </dsp:nvSpPr>
      <dsp:spPr>
        <a:xfrm>
          <a:off x="2" y="2429727"/>
          <a:ext cx="4577080" cy="2036683"/>
        </a:xfrm>
        <a:prstGeom prst="roundRect">
          <a:avLst>
            <a:gd name="adj" fmla="val 10000"/>
          </a:avLst>
        </a:prstGeom>
        <a:solidFill>
          <a:schemeClr val="accent2">
            <a:hueOff val="49237"/>
            <a:satOff val="14340"/>
            <a:lumOff val="-1647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public class </a:t>
          </a:r>
          <a:r>
            <a:rPr lang="en-US" sz="1600" kern="1200" dirty="0" err="1"/>
            <a:t>ExampleClass</a:t>
          </a:r>
          <a:r>
            <a:rPr lang="en-US" sz="1600" kern="1200" dirty="0"/>
            <a:t> {</a:t>
          </a:r>
        </a:p>
        <a:p>
          <a:pPr marL="0" lvl="0" indent="0" algn="l" defTabSz="711200">
            <a:lnSpc>
              <a:spcPct val="90000"/>
            </a:lnSpc>
            <a:spcBef>
              <a:spcPct val="0"/>
            </a:spcBef>
            <a:spcAft>
              <a:spcPct val="35000"/>
            </a:spcAft>
            <a:buNone/>
          </a:pPr>
          <a:r>
            <a:rPr lang="en-US" sz="1600" kern="1200" dirty="0"/>
            <a:t>    </a:t>
          </a:r>
          <a:r>
            <a:rPr lang="en-US" sz="1600" kern="1200" dirty="0" err="1"/>
            <a:t>ExampleClass</a:t>
          </a:r>
          <a:r>
            <a:rPr lang="en-US" sz="1600" kern="1200" dirty="0"/>
            <a:t>() {</a:t>
          </a:r>
        </a:p>
        <a:p>
          <a:pPr marL="0" lvl="0" indent="0" algn="l" defTabSz="711200">
            <a:lnSpc>
              <a:spcPct val="90000"/>
            </a:lnSpc>
            <a:spcBef>
              <a:spcPct val="0"/>
            </a:spcBef>
            <a:spcAft>
              <a:spcPct val="35000"/>
            </a:spcAft>
            <a:buNone/>
          </a:pPr>
          <a:r>
            <a:rPr lang="en-US" sz="1600" kern="1200" dirty="0"/>
            <a:t>        super();</a:t>
          </a:r>
        </a:p>
        <a:p>
          <a:pPr marL="0" lvl="0" indent="0" algn="l" defTabSz="711200">
            <a:lnSpc>
              <a:spcPct val="90000"/>
            </a:lnSpc>
            <a:spcBef>
              <a:spcPct val="0"/>
            </a:spcBef>
            <a:spcAft>
              <a:spcPct val="35000"/>
            </a:spcAft>
            <a:buNone/>
          </a:pPr>
          <a:r>
            <a:rPr lang="en-US" sz="1600" kern="1200" dirty="0"/>
            <a:t>    }</a:t>
          </a:r>
          <a:endParaRPr lang="ru-RU" sz="1600" kern="1200" dirty="0"/>
        </a:p>
        <a:p>
          <a:pPr marL="0" lvl="0" indent="0" algn="l" defTabSz="711200">
            <a:lnSpc>
              <a:spcPct val="90000"/>
            </a:lnSpc>
            <a:spcBef>
              <a:spcPct val="0"/>
            </a:spcBef>
            <a:spcAft>
              <a:spcPct val="35000"/>
            </a:spcAft>
            <a:buNone/>
          </a:pPr>
          <a:r>
            <a:rPr lang="en-US" sz="1600" kern="1200" dirty="0"/>
            <a:t>}</a:t>
          </a:r>
          <a:endParaRPr lang="ru-RU" sz="1600" kern="1200" dirty="0"/>
        </a:p>
      </dsp:txBody>
      <dsp:txXfrm>
        <a:off x="59654" y="2489379"/>
        <a:ext cx="2326211" cy="1917379"/>
      </dsp:txXfrm>
    </dsp:sp>
    <dsp:sp modelId="{9812423C-7A81-4339-83D3-950C8C153534}">
      <dsp:nvSpPr>
        <dsp:cNvPr id="0" name=""/>
        <dsp:cNvSpPr/>
      </dsp:nvSpPr>
      <dsp:spPr>
        <a:xfrm>
          <a:off x="3403598" y="1562959"/>
          <a:ext cx="997701" cy="1323844"/>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ru-RU" sz="3600" kern="1200"/>
        </a:p>
      </dsp:txBody>
      <dsp:txXfrm>
        <a:off x="3628081" y="1562959"/>
        <a:ext cx="548735" cy="107691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18DA07-007E-4B49-A812-E84B08BEB23B}" type="datetimeFigureOut">
              <a:rPr lang="ru-RU" smtClean="0"/>
              <a:t>22.07.2025</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8FE428-2D23-4A72-899C-92C807049A51}" type="slidenum">
              <a:rPr lang="ru-RU" smtClean="0"/>
              <a:t>‹#›</a:t>
            </a:fld>
            <a:endParaRPr lang="ru-RU"/>
          </a:p>
        </p:txBody>
      </p:sp>
    </p:spTree>
    <p:extLst>
      <p:ext uri="{BB962C8B-B14F-4D97-AF65-F5344CB8AC3E}">
        <p14:creationId xmlns:p14="http://schemas.microsoft.com/office/powerpoint/2010/main" val="639024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appsdeveloperblog.com/5-constructor-in-java/"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appsdeveloperblog.com/6-keyword-static-in-java/"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Часто возникает путаница при понимании различий между понятиями полиморфизма, переопределения и перегрузки в программировании на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Это связано с тем, что все эти термины относятся к основным принципам объектно-ориентированного программирования (ООП). Для понимания разницы между ними, рассмотрим каждый из них в отдельности.</a:t>
            </a:r>
            <a:endParaRPr lang="en-US" dirty="0"/>
          </a:p>
          <a:p>
            <a:r>
              <a:rPr lang="ru-RU" dirty="0"/>
              <a:t>В языке </a:t>
            </a:r>
            <a:r>
              <a:rPr lang="ru-RU" dirty="0" err="1"/>
              <a:t>Java</a:t>
            </a:r>
            <a:r>
              <a:rPr lang="ru-RU" dirty="0"/>
              <a:t> перегрузка методов и переопределение методов подразумевают создание разных методов с одинаковыми именами. Хотя эти две концепции имеют некоторое сходство, у них разные варианты применения. </a:t>
            </a:r>
          </a:p>
        </p:txBody>
      </p:sp>
      <p:sp>
        <p:nvSpPr>
          <p:cNvPr id="4" name="Slide Number Placeholder 3"/>
          <p:cNvSpPr>
            <a:spLocks noGrp="1"/>
          </p:cNvSpPr>
          <p:nvPr>
            <p:ph type="sldNum" sz="quarter" idx="5"/>
          </p:nvPr>
        </p:nvSpPr>
        <p:spPr/>
        <p:txBody>
          <a:bodyPr/>
          <a:lstStyle/>
          <a:p>
            <a:fld id="{8B8FE428-2D23-4A72-899C-92C807049A51}" type="slidenum">
              <a:rPr lang="ru-RU" smtClean="0"/>
              <a:t>1</a:t>
            </a:fld>
            <a:endParaRPr lang="ru-RU"/>
          </a:p>
        </p:txBody>
      </p:sp>
    </p:spTree>
    <p:extLst>
      <p:ext uri="{BB962C8B-B14F-4D97-AF65-F5344CB8AC3E}">
        <p14:creationId xmlns:p14="http://schemas.microsoft.com/office/powerpoint/2010/main" val="806990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Полиморфизм является одним из основных принципов ООП. </a:t>
            </a:r>
            <a:r>
              <a:rPr lang="ru-RU" sz="1200" b="0" i="0" kern="1200" dirty="0">
                <a:solidFill>
                  <a:schemeClr val="tx1"/>
                </a:solidFill>
                <a:effectLst/>
                <a:latin typeface="+mn-lt"/>
                <a:ea typeface="+mn-ea"/>
                <a:cs typeface="+mn-cs"/>
              </a:rPr>
              <a:t>Полиморфизм означает наличие множества форм. Полиморфизм исследует, как создать и использовать два метода с одинаковыми именами для выполнения двух разных функций</a:t>
            </a:r>
            <a:endParaRPr lang="ru-RU" dirty="0"/>
          </a:p>
          <a:p>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2</a:t>
            </a:fld>
            <a:endParaRPr lang="ru-RU"/>
          </a:p>
        </p:txBody>
      </p:sp>
    </p:spTree>
    <p:extLst>
      <p:ext uri="{BB962C8B-B14F-4D97-AF65-F5344CB8AC3E}">
        <p14:creationId xmlns:p14="http://schemas.microsoft.com/office/powerpoint/2010/main" val="1147359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Полиморфизм времени компиляции также известен как статическое связывание. Этот тип полиморфизма может быть достигнут путем перегрузки функций или перегрузки операторов. Но в </a:t>
            </a:r>
            <a:r>
              <a:rPr lang="ru-RU" dirty="0" err="1"/>
              <a:t>Java</a:t>
            </a:r>
            <a:r>
              <a:rPr lang="ru-RU" dirty="0"/>
              <a:t> это ограничено перегрузкой функций, поскольку </a:t>
            </a:r>
            <a:r>
              <a:rPr lang="ru-RU" dirty="0" err="1"/>
              <a:t>Java</a:t>
            </a:r>
            <a:r>
              <a:rPr lang="ru-RU" dirty="0"/>
              <a:t> не поддерживает перегрузку операторов.</a:t>
            </a:r>
          </a:p>
          <a:p>
            <a:pPr algn="just">
              <a:lnSpc>
                <a:spcPct val="100000"/>
              </a:lnSpc>
              <a:spcBef>
                <a:spcPts val="479"/>
              </a:spcBef>
              <a:tabLst>
                <a:tab pos="0" algn="l"/>
              </a:tabLst>
            </a:pPr>
            <a:endParaRPr lang="en-US" sz="1200" b="0" strike="noStrike" spc="-1" dirty="0">
              <a:solidFill>
                <a:srgbClr val="244061"/>
              </a:solidFill>
              <a:latin typeface="+mn-lt"/>
              <a:ea typeface="DejaVu Sans"/>
            </a:endParaRPr>
          </a:p>
          <a:p>
            <a:pPr algn="just">
              <a:lnSpc>
                <a:spcPct val="100000"/>
              </a:lnSpc>
              <a:spcBef>
                <a:spcPts val="479"/>
              </a:spcBef>
              <a:tabLst>
                <a:tab pos="0" algn="l"/>
              </a:tabLst>
            </a:pPr>
            <a:r>
              <a:rPr lang="ru-RU" sz="1200" b="0" strike="noStrike" spc="-1" dirty="0">
                <a:solidFill>
                  <a:srgbClr val="244061"/>
                </a:solidFill>
                <a:latin typeface="+mn-lt"/>
                <a:ea typeface="DejaVu Sans"/>
              </a:rPr>
              <a:t>Имя метода, число и типы параметров образуют сигнатуру метода. Компилятор различает методы не по их именам, а по сигнатурам. Это позволяет записывать разные методы с одинаковыми именами, различающиеся числом и/или типами параметров.</a:t>
            </a:r>
            <a:endParaRPr lang="ru-RU" sz="1200" b="0" strike="noStrike" spc="-1" dirty="0">
              <a:solidFill>
                <a:srgbClr val="000000"/>
              </a:solidFill>
              <a:latin typeface="Arial"/>
            </a:endParaRPr>
          </a:p>
          <a:p>
            <a:pPr algn="just">
              <a:lnSpc>
                <a:spcPct val="100000"/>
              </a:lnSpc>
              <a:spcBef>
                <a:spcPts val="479"/>
              </a:spcBef>
              <a:tabLst>
                <a:tab pos="0" algn="l"/>
              </a:tabLst>
            </a:pPr>
            <a:r>
              <a:rPr lang="ru-RU" sz="1200" b="0" strike="noStrike" spc="-1" dirty="0">
                <a:solidFill>
                  <a:srgbClr val="244061"/>
                </a:solidFill>
                <a:latin typeface="+mn-lt"/>
                <a:ea typeface="DejaVu Sans"/>
              </a:rPr>
              <a:t>Тип возвращаемого значения не входит в сигнатуру метода, значит методы не могут различаться только типом результата их работы.</a:t>
            </a:r>
            <a:endParaRPr lang="ru-RU" sz="1200" b="0" strike="noStrike" spc="-1" dirty="0">
              <a:solidFill>
                <a:srgbClr val="000000"/>
              </a:solidFill>
              <a:latin typeface="Arial"/>
            </a:endParaRPr>
          </a:p>
          <a:p>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3</a:t>
            </a:fld>
            <a:endParaRPr lang="ru-RU"/>
          </a:p>
        </p:txBody>
      </p:sp>
    </p:spTree>
    <p:extLst>
      <p:ext uri="{BB962C8B-B14F-4D97-AF65-F5344CB8AC3E}">
        <p14:creationId xmlns:p14="http://schemas.microsoft.com/office/powerpoint/2010/main" val="2736042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Перегрузка методов </a:t>
            </a:r>
            <a:endParaRPr lang="en-US" dirty="0"/>
          </a:p>
          <a:p>
            <a:r>
              <a:rPr lang="ru-RU" dirty="0"/>
              <a:t>Когда есть по крайней мере две функции или метода с одинаковым именем функции, но либо число содержащихся в них параметров разное, либо хотя бы один тип данных соответствующего параметра отличается (или оба), тогда это называется функцией или методом перегрузки, и эти функции известны как перегруженные функции.</a:t>
            </a:r>
          </a:p>
          <a:p>
            <a:endParaRPr lang="ru-RU" dirty="0"/>
          </a:p>
          <a:p>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4</a:t>
            </a:fld>
            <a:endParaRPr lang="ru-RU"/>
          </a:p>
        </p:txBody>
      </p:sp>
    </p:spTree>
    <p:extLst>
      <p:ext uri="{BB962C8B-B14F-4D97-AF65-F5344CB8AC3E}">
        <p14:creationId xmlns:p14="http://schemas.microsoft.com/office/powerpoint/2010/main" val="24501760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err="1">
                <a:solidFill>
                  <a:schemeClr val="tx1"/>
                </a:solidFill>
                <a:effectLst/>
                <a:latin typeface="+mn-lt"/>
                <a:ea typeface="+mn-ea"/>
                <a:cs typeface="+mn-cs"/>
              </a:rPr>
              <a:t>Varargs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Variable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Arguments</a:t>
            </a:r>
            <a:r>
              <a:rPr lang="ru-RU" sz="1200" b="0" i="0" kern="1200" dirty="0">
                <a:solidFill>
                  <a:schemeClr val="tx1"/>
                </a:solidFill>
                <a:effectLst/>
                <a:latin typeface="+mn-lt"/>
                <a:ea typeface="+mn-ea"/>
                <a:cs typeface="+mn-cs"/>
              </a:rPr>
              <a:t>) — это синтаксическая возможность в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(и </a:t>
            </a:r>
            <a:r>
              <a:rPr lang="ru-RU" sz="1200" b="0" i="0" kern="1200" dirty="0" err="1">
                <a:solidFill>
                  <a:schemeClr val="tx1"/>
                </a:solidFill>
                <a:effectLst/>
                <a:latin typeface="+mn-lt"/>
                <a:ea typeface="+mn-ea"/>
                <a:cs typeface="+mn-cs"/>
              </a:rPr>
              <a:t>другхи</a:t>
            </a:r>
            <a:r>
              <a:rPr lang="ru-RU" sz="1200" b="0" i="0" kern="1200" dirty="0">
                <a:solidFill>
                  <a:schemeClr val="tx1"/>
                </a:solidFill>
                <a:effectLst/>
                <a:latin typeface="+mn-lt"/>
                <a:ea typeface="+mn-ea"/>
                <a:cs typeface="+mn-cs"/>
              </a:rPr>
              <a:t> языков программирования), позволяющая методам принимать переменное количество аргументов. Это особенно удобно, когда мы заранее не знаем, сколько параметров нужно передать в метод.</a:t>
            </a:r>
            <a:endParaRPr lang="ru-RU" dirty="0"/>
          </a:p>
          <a:p>
            <a:endParaRPr lang="en-US" dirty="0"/>
          </a:p>
          <a:p>
            <a:r>
              <a:rPr lang="ru-RU" dirty="0" err="1"/>
              <a:t>Varargs</a:t>
            </a:r>
            <a:r>
              <a:rPr lang="ru-RU" dirty="0"/>
              <a:t> — это аргументы переменной длины: возможность, которая появилась еще в JDK5. </a:t>
            </a:r>
            <a:r>
              <a:rPr lang="ru-RU" dirty="0" err="1"/>
              <a:t>Varargs</a:t>
            </a:r>
            <a:r>
              <a:rPr lang="ru-RU" dirty="0"/>
              <a:t> позволяют создавать методы с произвольным количеством аргументов.</a:t>
            </a:r>
          </a:p>
          <a:p>
            <a:endParaRPr lang="ru-RU" dirty="0"/>
          </a:p>
          <a:p>
            <a:pPr algn="just">
              <a:lnSpc>
                <a:spcPct val="100000"/>
              </a:lnSpc>
              <a:spcBef>
                <a:spcPts val="360"/>
              </a:spcBef>
              <a:tabLst>
                <a:tab pos="0" algn="l"/>
              </a:tabLst>
            </a:pPr>
            <a:r>
              <a:rPr lang="ru-RU" sz="1200" b="0" i="0" kern="1200" dirty="0">
                <a:solidFill>
                  <a:schemeClr val="tx1"/>
                </a:solidFill>
                <a:effectLst/>
                <a:latin typeface="+mn-lt"/>
                <a:ea typeface="+mn-ea"/>
                <a:cs typeface="+mn-cs"/>
              </a:rPr>
              <a:t>создавать такие методы можно было и раньше. Правда, делать это было не очень удобно. </a:t>
            </a:r>
            <a:r>
              <a:rPr lang="ru-RU" spc="-1" dirty="0">
                <a:solidFill>
                  <a:schemeClr val="accent3"/>
                </a:solidFill>
                <a:latin typeface="Calibri" panose="020F0502020204030204" pitchFamily="34" charset="0"/>
                <a:cs typeface="Calibri" panose="020F0502020204030204" pitchFamily="34" charset="0"/>
              </a:rPr>
              <a:t>П</a:t>
            </a:r>
            <a:r>
              <a:rPr lang="ru-RU" sz="1200" b="0" strike="noStrike" spc="-1" dirty="0">
                <a:solidFill>
                  <a:schemeClr val="accent3"/>
                </a:solidFill>
                <a:latin typeface="Calibri" panose="020F0502020204030204" pitchFamily="34" charset="0"/>
                <a:cs typeface="Calibri" panose="020F0502020204030204" pitchFamily="34" charset="0"/>
              </a:rPr>
              <a:t>ример</a:t>
            </a:r>
            <a:r>
              <a:rPr lang="ru-RU" spc="-1" dirty="0">
                <a:solidFill>
                  <a:schemeClr val="accent3"/>
                </a:solidFill>
                <a:latin typeface="Calibri" panose="020F0502020204030204" pitchFamily="34" charset="0"/>
                <a:cs typeface="Calibri" panose="020F0502020204030204" pitchFamily="34" charset="0"/>
              </a:rPr>
              <a:t>:</a:t>
            </a:r>
            <a:r>
              <a:rPr lang="ru-RU" sz="1200" b="0" strike="noStrike" spc="-1" dirty="0">
                <a:solidFill>
                  <a:schemeClr val="accent3"/>
                </a:solidFill>
                <a:latin typeface="Calibri" panose="020F0502020204030204" pitchFamily="34" charset="0"/>
                <a:cs typeface="Calibri" panose="020F0502020204030204" pitchFamily="34" charset="0"/>
              </a:rPr>
              <a:t> необходимо написать метод, который будет принимать произвольное количество целочисленных аргументов и складывать их вместе. </a:t>
            </a:r>
          </a:p>
          <a:p>
            <a:pPr algn="just">
              <a:lnSpc>
                <a:spcPct val="100000"/>
              </a:lnSpc>
              <a:spcBef>
                <a:spcPts val="360"/>
              </a:spcBef>
              <a:tabLst>
                <a:tab pos="0" algn="l"/>
              </a:tabLst>
            </a:pPr>
            <a:r>
              <a:rPr lang="ru-RU" sz="1200" b="0" strike="noStrike" spc="-1" dirty="0">
                <a:solidFill>
                  <a:schemeClr val="accent3"/>
                </a:solidFill>
                <a:latin typeface="Calibri" panose="020F0502020204030204" pitchFamily="34" charset="0"/>
                <a:cs typeface="Calibri" panose="020F0502020204030204" pitchFamily="34" charset="0"/>
              </a:rPr>
              <a:t>Вариант 1 — перегрузка.</a:t>
            </a:r>
          </a:p>
          <a:p>
            <a:pPr algn="just">
              <a:lnSpc>
                <a:spcPct val="100000"/>
              </a:lnSpc>
              <a:spcBef>
                <a:spcPts val="360"/>
              </a:spcBef>
              <a:tabLst>
                <a:tab pos="0" algn="l"/>
              </a:tabLst>
            </a:pPr>
            <a:r>
              <a:rPr lang="ru-RU" sz="1200" b="0" strike="noStrike" spc="-1" dirty="0">
                <a:solidFill>
                  <a:schemeClr val="accent3"/>
                </a:solidFill>
                <a:latin typeface="Calibri" panose="020F0502020204030204" pitchFamily="34" charset="0"/>
                <a:cs typeface="Calibri" panose="020F0502020204030204" pitchFamily="34" charset="0"/>
              </a:rPr>
              <a:t>Вариант 2 — массивы.</a:t>
            </a:r>
            <a:endParaRPr lang="en-US" sz="1200" b="0" strike="noStrike" spc="-1" dirty="0">
              <a:solidFill>
                <a:schemeClr val="accent3"/>
              </a:solidFill>
              <a:latin typeface="Calibri" panose="020F0502020204030204" pitchFamily="34" charset="0"/>
              <a:cs typeface="Calibri" panose="020F0502020204030204" pitchFamily="34" charset="0"/>
            </a:endParaRPr>
          </a:p>
          <a:p>
            <a:pPr algn="just">
              <a:lnSpc>
                <a:spcPct val="100000"/>
              </a:lnSpc>
              <a:spcBef>
                <a:spcPts val="360"/>
              </a:spcBef>
              <a:tabLst>
                <a:tab pos="0" algn="l"/>
              </a:tabLst>
            </a:pPr>
            <a:r>
              <a:rPr lang="ru-RU" sz="1200" b="0" i="0" kern="1200" dirty="0">
                <a:solidFill>
                  <a:schemeClr val="tx1"/>
                </a:solidFill>
                <a:effectLst/>
                <a:latin typeface="+mn-lt"/>
                <a:ea typeface="+mn-ea"/>
                <a:cs typeface="+mn-cs"/>
              </a:rPr>
              <a:t>Но с перегрузкой возникают две проблемы. Во-первых, не всегда понятно, когда пора остановиться, а во-вторых, это громоздко. С массивом уже не громоздко, и вроде бы массив выглядит ничего так… до тех пор, пока не придет пора вызвать метод:</a:t>
            </a:r>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5</a:t>
            </a:fld>
            <a:endParaRPr lang="ru-RU"/>
          </a:p>
        </p:txBody>
      </p:sp>
    </p:spTree>
    <p:extLst>
      <p:ext uri="{BB962C8B-B14F-4D97-AF65-F5344CB8AC3E}">
        <p14:creationId xmlns:p14="http://schemas.microsoft.com/office/powerpoint/2010/main" val="1948287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не следует часто использовать </a:t>
            </a:r>
            <a:r>
              <a:rPr lang="ru-RU" dirty="0" err="1"/>
              <a:t>varargs</a:t>
            </a:r>
            <a:r>
              <a:rPr lang="ru-RU" dirty="0"/>
              <a:t>”. </a:t>
            </a:r>
            <a:r>
              <a:rPr lang="ru-RU" dirty="0" err="1"/>
              <a:t>Varargs</a:t>
            </a:r>
            <a:r>
              <a:rPr lang="ru-RU" dirty="0"/>
              <a:t> следует использовать только тогда, когда выгода от его использования очевидна. </a:t>
            </a:r>
          </a:p>
          <a:p>
            <a:endParaRPr lang="ru-RU" dirty="0"/>
          </a:p>
          <a:p>
            <a:r>
              <a:rPr lang="ru-RU" dirty="0"/>
              <a:t>Также не следует перегружать методы с </a:t>
            </a:r>
            <a:r>
              <a:rPr lang="ru-RU" dirty="0" err="1"/>
              <a:t>varargs</a:t>
            </a:r>
            <a:r>
              <a:rPr lang="ru-RU" dirty="0"/>
              <a:t>, так как это вызовет у клиентов вашего кода затруднения в понимании, какой из перегруженных методов в действительности вызывается. </a:t>
            </a:r>
          </a:p>
          <a:p>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Написать </a:t>
            </a:r>
            <a:r>
              <a:rPr lang="ru-RU" sz="1200" b="0" i="0" kern="1200" dirty="0" err="1">
                <a:solidFill>
                  <a:schemeClr val="tx1"/>
                </a:solidFill>
                <a:effectLst/>
                <a:latin typeface="+mn-lt"/>
                <a:ea typeface="+mn-ea"/>
                <a:cs typeface="+mn-cs"/>
              </a:rPr>
              <a:t>void</a:t>
            </a:r>
            <a:r>
              <a:rPr lang="ru-RU" sz="1200" b="0" i="0" kern="1200" dirty="0">
                <a:solidFill>
                  <a:schemeClr val="tx1"/>
                </a:solidFill>
                <a:effectLst/>
                <a:latin typeface="+mn-lt"/>
                <a:ea typeface="+mn-ea"/>
                <a:cs typeface="+mn-cs"/>
              </a:rPr>
              <a:t> метод, который принимает ряд целых чисел и возвращает их среднее арифметическое.</a:t>
            </a:r>
          </a:p>
          <a:p>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6</a:t>
            </a:fld>
            <a:endParaRPr lang="ru-RU"/>
          </a:p>
        </p:txBody>
      </p:sp>
    </p:spTree>
    <p:extLst>
      <p:ext uri="{BB962C8B-B14F-4D97-AF65-F5344CB8AC3E}">
        <p14:creationId xmlns:p14="http://schemas.microsoft.com/office/powerpoint/2010/main" val="2795691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Этот тип полиморфизма, также называемый динамическим полиморфизмом, возникает, когда дочерний класс имеет собственное определение одного из методов-членов родительского класса. Это называется переопределением метода. В большинстве случаев полиморфизм среды выполнения связан с повышением приведения типов. Это когда родительский класс указывает на экземпляр дочернего класса.</a:t>
            </a:r>
            <a:endParaRPr lang="en-US" dirty="0"/>
          </a:p>
          <a:p>
            <a:endParaRPr lang="en-US" dirty="0"/>
          </a:p>
          <a:p>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7</a:t>
            </a:fld>
            <a:endParaRPr lang="ru-RU"/>
          </a:p>
        </p:txBody>
      </p:sp>
    </p:spTree>
    <p:extLst>
      <p:ext uri="{BB962C8B-B14F-4D97-AF65-F5344CB8AC3E}">
        <p14:creationId xmlns:p14="http://schemas.microsoft.com/office/powerpoint/2010/main" val="2101655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Это способность объекта использовать методы производного класса, который не существует на момент создания базового класса. Полиморфизм позволяет использовать объекты производного класса как объекты базового класса, выполняя при этом методы производного класса.</a:t>
            </a:r>
          </a:p>
          <a:p>
            <a:endParaRPr lang="ru-RU" dirty="0"/>
          </a:p>
          <a:p>
            <a:r>
              <a:rPr lang="ru-RU" dirty="0"/>
              <a:t>Например, есть базовый класс </a:t>
            </a:r>
            <a:r>
              <a:rPr lang="ru-RU" dirty="0" err="1"/>
              <a:t>Animal</a:t>
            </a:r>
            <a:r>
              <a:rPr lang="ru-RU" dirty="0"/>
              <a:t> и производные от него классы </a:t>
            </a:r>
            <a:r>
              <a:rPr lang="ru-RU" dirty="0" err="1"/>
              <a:t>Dog</a:t>
            </a:r>
            <a:r>
              <a:rPr lang="ru-RU" dirty="0"/>
              <a:t> и </a:t>
            </a:r>
            <a:r>
              <a:rPr lang="ru-RU" dirty="0" err="1"/>
              <a:t>Cat</a:t>
            </a:r>
            <a:r>
              <a:rPr lang="ru-RU" dirty="0"/>
              <a:t>. У всех этих классов есть метод </a:t>
            </a:r>
            <a:r>
              <a:rPr lang="ru-RU" dirty="0" err="1"/>
              <a:t>makeSound</a:t>
            </a:r>
            <a:r>
              <a:rPr lang="ru-RU" dirty="0"/>
              <a:t>(). Если создать массив объектов класса </a:t>
            </a:r>
            <a:r>
              <a:rPr lang="ru-RU" dirty="0" err="1"/>
              <a:t>Animal</a:t>
            </a:r>
            <a:r>
              <a:rPr lang="ru-RU" dirty="0"/>
              <a:t> и поместить в него объекты классов </a:t>
            </a:r>
            <a:r>
              <a:rPr lang="ru-RU" dirty="0" err="1"/>
              <a:t>Dog</a:t>
            </a:r>
            <a:r>
              <a:rPr lang="ru-RU" dirty="0"/>
              <a:t> и </a:t>
            </a:r>
            <a:r>
              <a:rPr lang="ru-RU" dirty="0" err="1"/>
              <a:t>Cat</a:t>
            </a:r>
            <a:r>
              <a:rPr lang="ru-RU" dirty="0"/>
              <a:t>, то при вызове метода </a:t>
            </a:r>
            <a:r>
              <a:rPr lang="ru-RU" dirty="0" err="1"/>
              <a:t>makeSound</a:t>
            </a:r>
            <a:r>
              <a:rPr lang="ru-RU" dirty="0"/>
              <a:t>() для каждого из объектов в массиве, будет вызван соответствующий метод класса, которому принадлежит объект.</a:t>
            </a:r>
          </a:p>
          <a:p>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8</a:t>
            </a:fld>
            <a:endParaRPr lang="ru-RU"/>
          </a:p>
        </p:txBody>
      </p:sp>
    </p:spTree>
    <p:extLst>
      <p:ext uri="{BB962C8B-B14F-4D97-AF65-F5344CB8AC3E}">
        <p14:creationId xmlns:p14="http://schemas.microsoft.com/office/powerpoint/2010/main" val="1664794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Переопределение позволяет взять какой-то метод родительского класса и написать в каждом классе-наследнике свою реализацию этого метода. Новая реализация «заменит» родительскую в дочернем классе.</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rgbClr val="244061"/>
                </a:solidFill>
                <a:latin typeface="+mn-lt"/>
                <a:ea typeface="DejaVu Sans"/>
              </a:rPr>
              <a:t>Переопределение происходит, когда сигнатура у исходного метода и у "нового" метода одинаковая. То есть и название, и возвращаемый тип, и принимаемый тип не меняются.</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sz="1200" b="0" strike="noStrike" spc="-1" dirty="0">
              <a:solidFill>
                <a:srgbClr val="24406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rgbClr val="000000"/>
                </a:solidFill>
                <a:latin typeface="Arial"/>
              </a:rPr>
              <a:t>В </a:t>
            </a:r>
            <a:r>
              <a:rPr lang="ru-RU" sz="1200" b="0" strike="noStrike" spc="-1" dirty="0" err="1">
                <a:solidFill>
                  <a:srgbClr val="000000"/>
                </a:solidFill>
                <a:latin typeface="Arial"/>
              </a:rPr>
              <a:t>Java</a:t>
            </a:r>
            <a:r>
              <a:rPr lang="ru-RU" sz="1200" b="0" strike="noStrike" spc="-1" dirty="0">
                <a:solidFill>
                  <a:srgbClr val="000000"/>
                </a:solidFill>
                <a:latin typeface="Arial"/>
              </a:rPr>
              <a:t>, когда подкласс содержит метод, переопределяющий метод суперкласса, то он может помимо своего метода вызывать и метод суперкласса при помощи ключевого слова </a:t>
            </a:r>
            <a:r>
              <a:rPr lang="ru-RU" sz="1200" b="0" strike="noStrike" spc="-1" dirty="0" err="1">
                <a:solidFill>
                  <a:srgbClr val="000000"/>
                </a:solidFill>
                <a:latin typeface="Arial"/>
              </a:rPr>
              <a:t>super</a:t>
            </a:r>
            <a:r>
              <a:rPr lang="ru-RU" sz="1200" b="0" strike="noStrike" spc="-1" dirty="0">
                <a:solidFill>
                  <a:srgbClr val="000000"/>
                </a:solidFill>
                <a:latin typeface="Arial"/>
              </a:rPr>
              <a:t>. </a:t>
            </a:r>
          </a:p>
          <a:p>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9</a:t>
            </a:fld>
            <a:endParaRPr lang="ru-RU"/>
          </a:p>
        </p:txBody>
      </p:sp>
    </p:spTree>
    <p:extLst>
      <p:ext uri="{BB962C8B-B14F-4D97-AF65-F5344CB8AC3E}">
        <p14:creationId xmlns:p14="http://schemas.microsoft.com/office/powerpoint/2010/main" val="3332845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Абстрагирование – это процесс, в ходе которого от пользователя скрываются многие детали реализации, а предоставляются только те детали, которые действительно важны. Так удаётся сфокусироваться на том, что делает объект, а не как он это делает.</a:t>
            </a:r>
          </a:p>
          <a:p>
            <a:r>
              <a:rPr lang="ru-RU" sz="1200" b="0" i="0" kern="1200" dirty="0">
                <a:solidFill>
                  <a:schemeClr val="tx1"/>
                </a:solidFill>
                <a:effectLst/>
                <a:latin typeface="+mn-lt"/>
                <a:ea typeface="+mn-ea"/>
                <a:cs typeface="+mn-cs"/>
              </a:rPr>
              <a:t>В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абстрактные классы и методы – это основные инструменты для реализации абстракций. Абстрактные классы служат шаблонами для создания </a:t>
            </a:r>
            <a:r>
              <a:rPr lang="ru-RU" sz="1200" b="0" i="0" kern="1200" dirty="0" err="1">
                <a:solidFill>
                  <a:schemeClr val="tx1"/>
                </a:solidFill>
                <a:effectLst/>
                <a:latin typeface="+mn-lt"/>
                <a:ea typeface="+mn-ea"/>
                <a:cs typeface="+mn-cs"/>
              </a:rPr>
              <a:t>субклассов</a:t>
            </a:r>
            <a:r>
              <a:rPr lang="ru-RU" sz="1200" b="0" i="0" kern="1200" dirty="0">
                <a:solidFill>
                  <a:schemeClr val="tx1"/>
                </a:solidFill>
                <a:effectLst/>
                <a:latin typeface="+mn-lt"/>
                <a:ea typeface="+mn-ea"/>
                <a:cs typeface="+mn-cs"/>
              </a:rPr>
              <a:t>, а абстрактные методы можно сравнить с чертежами, описывающими поведение этих </a:t>
            </a:r>
            <a:r>
              <a:rPr lang="ru-RU" sz="1200" b="0" i="0" kern="1200" dirty="0" err="1">
                <a:solidFill>
                  <a:schemeClr val="tx1"/>
                </a:solidFill>
                <a:effectLst/>
                <a:latin typeface="+mn-lt"/>
                <a:ea typeface="+mn-ea"/>
                <a:cs typeface="+mn-cs"/>
              </a:rPr>
              <a:t>субклассов</a:t>
            </a:r>
            <a:r>
              <a:rPr lang="ru-RU" sz="1200" b="0" i="0" kern="1200" dirty="0">
                <a:solidFill>
                  <a:schemeClr val="tx1"/>
                </a:solidFill>
                <a:effectLst/>
                <a:latin typeface="+mn-lt"/>
                <a:ea typeface="+mn-ea"/>
                <a:cs typeface="+mn-cs"/>
              </a:rPr>
              <a:t>.</a:t>
            </a:r>
          </a:p>
          <a:p>
            <a:endParaRPr lang="ru-RU" dirty="0"/>
          </a:p>
          <a:p>
            <a:r>
              <a:rPr lang="ru-RU" dirty="0"/>
              <a:t>По сути, создается шаблон метода. А все другие производные классы от главного класса могут уже реализовать свой код для готового метода. </a:t>
            </a:r>
            <a:r>
              <a:rPr lang="ru-RU" sz="1200" b="0" i="0" kern="1200" dirty="0">
                <a:solidFill>
                  <a:schemeClr val="tx1"/>
                </a:solidFill>
                <a:effectLst/>
                <a:latin typeface="+mn-lt"/>
                <a:ea typeface="+mn-ea"/>
                <a:cs typeface="+mn-cs"/>
              </a:rPr>
              <a:t>Абстрактные методы часто используются в сочетании с абстрактными классами, так как это позволяет предоставить общий интерфейс для группы взаимосвязанных классов.</a:t>
            </a:r>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10</a:t>
            </a:fld>
            <a:endParaRPr lang="ru-RU"/>
          </a:p>
        </p:txBody>
      </p:sp>
    </p:spTree>
    <p:extLst>
      <p:ext uri="{BB962C8B-B14F-4D97-AF65-F5344CB8AC3E}">
        <p14:creationId xmlns:p14="http://schemas.microsoft.com/office/powerpoint/2010/main" val="3302420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00000"/>
              </a:lnSpc>
              <a:spcBef>
                <a:spcPts val="400"/>
              </a:spcBef>
              <a:tabLst>
                <a:tab pos="0" algn="l"/>
              </a:tabLst>
            </a:pPr>
            <a:r>
              <a:rPr lang="ru-RU" sz="1200" b="0" strike="noStrike" spc="-1" dirty="0">
                <a:solidFill>
                  <a:srgbClr val="244061"/>
                </a:solidFill>
                <a:latin typeface="+mn-lt"/>
                <a:ea typeface="DejaVu Sans"/>
              </a:rPr>
              <a:t>Если вы объявляете класс, производный от абстрактного класса, но хотите иметь возможность создания объектов нового типа, вам придётся предоставить определения для всех абстрактных методов базового класса. Если этого не сделать, производный класс тоже останется абстрактным, и компилятор заставит пометить новый класс ключевым словом </a:t>
            </a:r>
            <a:r>
              <a:rPr lang="ru-RU" sz="1200" b="0" strike="noStrike" spc="-1" dirty="0" err="1">
                <a:solidFill>
                  <a:srgbClr val="244061"/>
                </a:solidFill>
                <a:latin typeface="+mn-lt"/>
                <a:ea typeface="DejaVu Sans"/>
              </a:rPr>
              <a:t>abstract</a:t>
            </a:r>
            <a:r>
              <a:rPr lang="ru-RU" sz="1200" b="0" strike="noStrike" spc="-1" dirty="0">
                <a:solidFill>
                  <a:srgbClr val="244061"/>
                </a:solidFill>
                <a:latin typeface="+mn-lt"/>
                <a:ea typeface="DejaVu Sans"/>
              </a:rPr>
              <a:t>.</a:t>
            </a:r>
            <a:endParaRPr lang="ru-RU" sz="1200" b="0" strike="noStrike" spc="-1" dirty="0">
              <a:solidFill>
                <a:srgbClr val="000000"/>
              </a:solidFill>
              <a:latin typeface="Arial"/>
            </a:endParaRPr>
          </a:p>
          <a:p>
            <a:pPr algn="just">
              <a:lnSpc>
                <a:spcPct val="100000"/>
              </a:lnSpc>
              <a:spcBef>
                <a:spcPts val="400"/>
              </a:spcBef>
              <a:tabLst>
                <a:tab pos="0" algn="l"/>
              </a:tabLst>
            </a:pPr>
            <a:r>
              <a:rPr lang="ru-RU" sz="1200" b="0" strike="noStrike" spc="-1" dirty="0">
                <a:solidFill>
                  <a:srgbClr val="244061"/>
                </a:solidFill>
                <a:latin typeface="+mn-lt"/>
                <a:ea typeface="DejaVu Sans"/>
              </a:rPr>
              <a:t>Можно создавать класс с ключевым словом </a:t>
            </a:r>
            <a:r>
              <a:rPr lang="ru-RU" sz="1200" b="0" strike="noStrike" spc="-1" dirty="0" err="1">
                <a:solidFill>
                  <a:srgbClr val="244061"/>
                </a:solidFill>
                <a:latin typeface="+mn-lt"/>
                <a:ea typeface="DejaVu Sans"/>
              </a:rPr>
              <a:t>abstract</a:t>
            </a:r>
            <a:r>
              <a:rPr lang="ru-RU" sz="1200" b="0" strike="noStrike" spc="-1" dirty="0">
                <a:solidFill>
                  <a:srgbClr val="244061"/>
                </a:solidFill>
                <a:latin typeface="+mn-lt"/>
                <a:ea typeface="DejaVu Sans"/>
              </a:rPr>
              <a:t> даже, если в нем не имеется ни одного абстрактного метода. Это бывает полезным в ситуациях, где в классе абстрактные методы просто не нужны, но необходимо запретить создание экземпляров этого класса.</a:t>
            </a:r>
            <a:endParaRPr lang="ru-RU" sz="1200" b="0" strike="noStrike" spc="-1" dirty="0">
              <a:solidFill>
                <a:srgbClr val="000000"/>
              </a:solidFill>
              <a:latin typeface="Arial"/>
            </a:endParaRPr>
          </a:p>
          <a:p>
            <a:pPr algn="just">
              <a:lnSpc>
                <a:spcPct val="100000"/>
              </a:lnSpc>
              <a:spcBef>
                <a:spcPts val="400"/>
              </a:spcBef>
              <a:tabLst>
                <a:tab pos="0" algn="l"/>
              </a:tabLst>
            </a:pPr>
            <a:r>
              <a:rPr lang="ru-RU" sz="1200" b="0" strike="noStrike" spc="-1" dirty="0">
                <a:solidFill>
                  <a:srgbClr val="244061"/>
                </a:solidFill>
                <a:latin typeface="+mn-lt"/>
                <a:ea typeface="DejaVu Sans"/>
              </a:rPr>
              <a:t>В тоже время абстрактный класс не обязательно должен иметь только абстрактные методы. </a:t>
            </a:r>
            <a:r>
              <a:rPr lang="ru-RU" sz="1200" b="0" i="0" kern="1200" dirty="0">
                <a:solidFill>
                  <a:schemeClr val="tx1"/>
                </a:solidFill>
                <a:effectLst/>
                <a:latin typeface="+mn-lt"/>
                <a:ea typeface="+mn-ea"/>
                <a:cs typeface="+mn-cs"/>
              </a:rPr>
              <a:t>абстрактные классы могут содержать как абстрактные, так и неабстрактные методы, а также переменные экземпляров, </a:t>
            </a:r>
            <a:r>
              <a:rPr lang="ru-RU" sz="1200" b="0" i="0" u="none" strike="noStrike" kern="1200" dirty="0">
                <a:solidFill>
                  <a:schemeClr val="tx1"/>
                </a:solidFill>
                <a:effectLst/>
                <a:latin typeface="+mn-lt"/>
                <a:ea typeface="+mn-ea"/>
                <a:cs typeface="+mn-cs"/>
                <a:hlinkClick r:id="rId3"/>
              </a:rPr>
              <a:t>конструкторы</a:t>
            </a:r>
            <a:r>
              <a:rPr lang="ru-RU" sz="1200" b="0" i="0" kern="1200" dirty="0">
                <a:solidFill>
                  <a:schemeClr val="tx1"/>
                </a:solidFill>
                <a:effectLst/>
                <a:latin typeface="+mn-lt"/>
                <a:ea typeface="+mn-ea"/>
                <a:cs typeface="+mn-cs"/>
              </a:rPr>
              <a:t> и другие члены. Правда, напрямую </a:t>
            </a:r>
            <a:r>
              <a:rPr lang="ru-RU" sz="1200" b="0" i="0" kern="1200" dirty="0" err="1">
                <a:solidFill>
                  <a:schemeClr val="tx1"/>
                </a:solidFill>
                <a:effectLst/>
                <a:latin typeface="+mn-lt"/>
                <a:ea typeface="+mn-ea"/>
                <a:cs typeface="+mn-cs"/>
              </a:rPr>
              <a:t>инстанцировать</a:t>
            </a:r>
            <a:r>
              <a:rPr lang="ru-RU" sz="1200" b="0" i="0" kern="1200" dirty="0">
                <a:solidFill>
                  <a:schemeClr val="tx1"/>
                </a:solidFill>
                <a:effectLst/>
                <a:latin typeface="+mn-lt"/>
                <a:ea typeface="+mn-ea"/>
                <a:cs typeface="+mn-cs"/>
              </a:rPr>
              <a:t> абстрактные классы нельзя, а это означает, что их не получится напрямую использовать для создания объектов.</a:t>
            </a:r>
          </a:p>
          <a:p>
            <a:pPr algn="just">
              <a:lnSpc>
                <a:spcPct val="100000"/>
              </a:lnSpc>
              <a:spcBef>
                <a:spcPts val="400"/>
              </a:spcBef>
              <a:tabLst>
                <a:tab pos="0" algn="l"/>
              </a:tabLst>
            </a:pPr>
            <a:endParaRPr lang="ru-RU" sz="1200" b="0" strike="noStrike" spc="-1" dirty="0">
              <a:solidFill>
                <a:srgbClr val="000000"/>
              </a:solidFill>
              <a:latin typeface="Arial"/>
            </a:endParaRPr>
          </a:p>
          <a:p>
            <a:pPr algn="just">
              <a:lnSpc>
                <a:spcPct val="100000"/>
              </a:lnSpc>
              <a:spcBef>
                <a:spcPts val="400"/>
              </a:spcBef>
              <a:tabLst>
                <a:tab pos="0" algn="l"/>
              </a:tabLst>
            </a:pPr>
            <a:r>
              <a:rPr lang="ru-RU" sz="1200" b="0" strike="noStrike" spc="-1" dirty="0">
                <a:solidFill>
                  <a:srgbClr val="244061"/>
                </a:solidFill>
                <a:latin typeface="+mn-lt"/>
                <a:ea typeface="DejaVu Sans"/>
              </a:rPr>
              <a:t>Абстрактный класс не может содержать какие-либо объекты, а также абстрактные конструкторы и абстрактные статические методы. Любой подкласс абстрактного класса должен либо реализовать все абстрактные методы суперкласса, либо сам быть объявлен абстрактным. </a:t>
            </a:r>
            <a:endParaRPr lang="ru-RU" sz="1200" b="0" strike="noStrike" spc="-1" dirty="0">
              <a:solidFill>
                <a:srgbClr val="000000"/>
              </a:solidFill>
              <a:latin typeface="Arial"/>
            </a:endParaRPr>
          </a:p>
          <a:p>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11</a:t>
            </a:fld>
            <a:endParaRPr lang="ru-RU"/>
          </a:p>
        </p:txBody>
      </p:sp>
    </p:spTree>
    <p:extLst>
      <p:ext uri="{BB962C8B-B14F-4D97-AF65-F5344CB8AC3E}">
        <p14:creationId xmlns:p14="http://schemas.microsoft.com/office/powerpoint/2010/main" val="29754392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Пользуйтесь абстрактными классами, чтобы моделировать иерархии взаимосвязанных классов: при помощи абстрактных классов очень удобно представить группу таких взаимосвязанных классов, которые совместно используют некий общий функционал. Создавая абстрактный класс, который определяет общие методы и свойства, вы тем самым избегаете дублирования, повышаете модульность вашего кода и облегчаете его поддержку.</a:t>
            </a:r>
          </a:p>
          <a:p>
            <a:r>
              <a:rPr lang="ru-RU" sz="1200" b="0" i="0" kern="1200" dirty="0">
                <a:solidFill>
                  <a:schemeClr val="tx1"/>
                </a:solidFill>
                <a:effectLst/>
                <a:latin typeface="+mn-lt"/>
                <a:ea typeface="+mn-ea"/>
                <a:cs typeface="+mn-cs"/>
              </a:rPr>
              <a:t>Абстрактные классы часто используются, когда вы хотите определить общий интерфейс для группы подклассов, которые имеют схожие характеристики или поведение. Их также можно использовать для реализации частичного поведения, где некоторые методы определены в абстрактном классе, а другие оставлены для реализации подклассом.</a:t>
            </a:r>
          </a:p>
          <a:p>
            <a:endParaRPr lang="ru-RU" dirty="0"/>
          </a:p>
          <a:p>
            <a:r>
              <a:rPr lang="ru-RU" sz="1200" b="0" i="0" kern="1200" dirty="0">
                <a:solidFill>
                  <a:schemeClr val="tx1"/>
                </a:solidFill>
                <a:effectLst/>
                <a:latin typeface="+mn-lt"/>
                <a:ea typeface="+mn-ea"/>
                <a:cs typeface="+mn-cs"/>
              </a:rPr>
              <a:t>Интерфейсы используются для определения контракта для классов, которые их реализуют, чтобы гарантировать, что они предоставляют определенную функциональность. Они часто используются для предоставления общего интерфейса для различных реализаций одного и того же поведения и для включения множественного наследования в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Интерфейсы также полезны для создания повторно используемого кода, который может работать с различными классами, имеющими общее поведение.</a:t>
            </a:r>
          </a:p>
          <a:p>
            <a:endParaRPr lang="ru-RU" dirty="0"/>
          </a:p>
          <a:p>
            <a:r>
              <a:rPr lang="ru-RU" dirty="0"/>
              <a:t>Использование: интерфейсы предпочтительны, когда необходимо задать общий контракт для множества разных классов, а абстрактные классы — когда нужно предоставить общую функциональность и базовую реализацию для подклассов</a:t>
            </a:r>
          </a:p>
        </p:txBody>
      </p:sp>
      <p:sp>
        <p:nvSpPr>
          <p:cNvPr id="4" name="Slide Number Placeholder 3"/>
          <p:cNvSpPr>
            <a:spLocks noGrp="1"/>
          </p:cNvSpPr>
          <p:nvPr>
            <p:ph type="sldNum" sz="quarter" idx="5"/>
          </p:nvPr>
        </p:nvSpPr>
        <p:spPr/>
        <p:txBody>
          <a:bodyPr/>
          <a:lstStyle/>
          <a:p>
            <a:fld id="{8B8FE428-2D23-4A72-899C-92C807049A51}" type="slidenum">
              <a:rPr lang="ru-RU" smtClean="0"/>
              <a:t>12</a:t>
            </a:fld>
            <a:endParaRPr lang="ru-RU"/>
          </a:p>
        </p:txBody>
      </p:sp>
    </p:spTree>
    <p:extLst>
      <p:ext uri="{BB962C8B-B14F-4D97-AF65-F5344CB8AC3E}">
        <p14:creationId xmlns:p14="http://schemas.microsoft.com/office/powerpoint/2010/main" val="3617575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Наш абстрактный класс </a:t>
            </a:r>
            <a:r>
              <a:rPr lang="ru-RU" dirty="0" err="1"/>
              <a:t>Bird</a:t>
            </a:r>
            <a:r>
              <a:rPr lang="ru-RU" sz="1200" b="0" i="0" kern="1200" dirty="0">
                <a:solidFill>
                  <a:schemeClr val="tx1"/>
                </a:solidFill>
                <a:effectLst/>
                <a:latin typeface="+mn-lt"/>
                <a:ea typeface="+mn-ea"/>
                <a:cs typeface="+mn-cs"/>
              </a:rPr>
              <a:t> нужен, чтобы на его основе создавать птиц. Только птиц и никого больше! Конечно, они будут разными.</a:t>
            </a:r>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14</a:t>
            </a:fld>
            <a:endParaRPr lang="ru-RU"/>
          </a:p>
        </p:txBody>
      </p:sp>
    </p:spTree>
    <p:extLst>
      <p:ext uri="{BB962C8B-B14F-4D97-AF65-F5344CB8AC3E}">
        <p14:creationId xmlns:p14="http://schemas.microsoft.com/office/powerpoint/2010/main" val="1930302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Эти 4 сущности между собой никак не связаны. Что уж там говорить, не все из них даже являются одушевленными. Тем не менее, все они — </a:t>
            </a:r>
            <a:r>
              <a:rPr lang="ru-RU" sz="1200" b="0" i="0" kern="1200" dirty="0" err="1">
                <a:solidFill>
                  <a:schemeClr val="tx1"/>
                </a:solidFill>
                <a:effectLst/>
                <a:latin typeface="+mn-lt"/>
                <a:ea typeface="+mn-ea"/>
                <a:cs typeface="+mn-cs"/>
              </a:rPr>
              <a:t>Flyable</a:t>
            </a:r>
            <a:r>
              <a:rPr lang="ru-RU" sz="1200" b="0" i="0" kern="1200" dirty="0">
                <a:solidFill>
                  <a:schemeClr val="tx1"/>
                </a:solidFill>
                <a:effectLst/>
                <a:latin typeface="+mn-lt"/>
                <a:ea typeface="+mn-ea"/>
                <a:cs typeface="+mn-cs"/>
              </a:rPr>
              <a:t>, способные летать.</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Мы бы не смогли описать их с помощью абстрактного класса. У них нет общего состояния, одинаковых полей. Чтобы дать характеристику самолету, нам, наверное, понадобятся поля «модель», «год выпуска» и «максимальное количество пассажиров». Для Карлсона — поля для всех сладостей, которые он сегодня съел, и список игр, в которые он будет играть с Малышом. Для комара...э-э-э...даже не знаем… Может, «уровень надоедливости»? :)</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Главное, что с помощью абстрактного класса описать их мы не можем. Они слишком разные. Но есть общее поведение: они могут летать. Интерфейс идеально подойдет для описания всего на свете, что умеет летать, плавать, прыгать или обладает каким-то другим поведением.</a:t>
            </a:r>
          </a:p>
        </p:txBody>
      </p:sp>
      <p:sp>
        <p:nvSpPr>
          <p:cNvPr id="4" name="Slide Number Placeholder 3"/>
          <p:cNvSpPr>
            <a:spLocks noGrp="1"/>
          </p:cNvSpPr>
          <p:nvPr>
            <p:ph type="sldNum" sz="quarter" idx="5"/>
          </p:nvPr>
        </p:nvSpPr>
        <p:spPr/>
        <p:txBody>
          <a:bodyPr/>
          <a:lstStyle/>
          <a:p>
            <a:fld id="{8B8FE428-2D23-4A72-899C-92C807049A51}" type="slidenum">
              <a:rPr lang="ru-RU" smtClean="0"/>
              <a:t>15</a:t>
            </a:fld>
            <a:endParaRPr lang="ru-RU"/>
          </a:p>
        </p:txBody>
      </p:sp>
    </p:spTree>
    <p:extLst>
      <p:ext uri="{BB962C8B-B14F-4D97-AF65-F5344CB8AC3E}">
        <p14:creationId xmlns:p14="http://schemas.microsoft.com/office/powerpoint/2010/main" val="3664618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Интерфейсы — это набор абстрактных методов, которые определены, но не реализованы. Они могут содержать только публичные </a:t>
            </a:r>
            <a:r>
              <a:rPr lang="ru-RU" sz="1200" b="0" i="0" u="sng" kern="1200" dirty="0">
                <a:solidFill>
                  <a:schemeClr val="tx1"/>
                </a:solidFill>
                <a:effectLst/>
                <a:latin typeface="+mn-lt"/>
                <a:ea typeface="+mn-ea"/>
                <a:cs typeface="+mn-cs"/>
                <a:hlinkClick r:id="rId3"/>
              </a:rPr>
              <a:t>статические</a:t>
            </a:r>
            <a:r>
              <a:rPr lang="ru-RU" sz="1200" b="0" i="0" kern="1200" dirty="0">
                <a:solidFill>
                  <a:schemeClr val="tx1"/>
                </a:solidFill>
                <a:effectLst/>
                <a:latin typeface="+mn-lt"/>
                <a:ea typeface="+mn-ea"/>
                <a:cs typeface="+mn-cs"/>
              </a:rPr>
              <a:t> конечные константы, методы по умолчанию и статические методы, а также абстрактные методы. Класс может реализовывать несколько интерфейсов. Интерфейсы объявляются с помощью ключевого слова «</a:t>
            </a:r>
            <a:r>
              <a:rPr lang="ru-RU" sz="1200" b="0" i="0" kern="1200" dirty="0" err="1">
                <a:solidFill>
                  <a:schemeClr val="tx1"/>
                </a:solidFill>
                <a:effectLst/>
                <a:latin typeface="+mn-lt"/>
                <a:ea typeface="+mn-ea"/>
                <a:cs typeface="+mn-cs"/>
              </a:rPr>
              <a:t>interface</a:t>
            </a:r>
            <a:r>
              <a:rPr lang="ru-RU" sz="1200" b="0" i="0" kern="1200" dirty="0">
                <a:solidFill>
                  <a:schemeClr val="tx1"/>
                </a:solidFill>
                <a:effectLst/>
                <a:latin typeface="+mn-lt"/>
                <a:ea typeface="+mn-ea"/>
                <a:cs typeface="+mn-cs"/>
              </a:rPr>
              <a:t>», за которым следует имя интерфейса. Все методы, объявленные в интерфейсе, являются публичными по умолчанию.</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Абстрактные классы, с другой стороны, являются классами, которые не могут быть </a:t>
            </a:r>
            <a:r>
              <a:rPr lang="ru-RU" sz="1200" b="0" i="0" kern="1200" dirty="0" err="1">
                <a:solidFill>
                  <a:schemeClr val="tx1"/>
                </a:solidFill>
                <a:effectLst/>
                <a:latin typeface="+mn-lt"/>
                <a:ea typeface="+mn-ea"/>
                <a:cs typeface="+mn-cs"/>
              </a:rPr>
              <a:t>инстанциированы</a:t>
            </a:r>
            <a:r>
              <a:rPr lang="ru-RU" sz="1200" b="0" i="0" kern="1200" dirty="0">
                <a:solidFill>
                  <a:schemeClr val="tx1"/>
                </a:solidFill>
                <a:effectLst/>
                <a:latin typeface="+mn-lt"/>
                <a:ea typeface="+mn-ea"/>
                <a:cs typeface="+mn-cs"/>
              </a:rPr>
              <a:t> и могут содержать как реализованные, так и абстрактные методы. Абстрактные классы могут иметь конструкторы, переменные экземпляра и </a:t>
            </a:r>
            <a:r>
              <a:rPr lang="ru-RU" sz="1200" b="0" i="0" kern="1200" dirty="0" err="1">
                <a:solidFill>
                  <a:schemeClr val="tx1"/>
                </a:solidFill>
                <a:effectLst/>
                <a:latin typeface="+mn-lt"/>
                <a:ea typeface="+mn-ea"/>
                <a:cs typeface="+mn-cs"/>
              </a:rPr>
              <a:t>нефинальные</a:t>
            </a:r>
            <a:r>
              <a:rPr lang="ru-RU" sz="1200" b="0" i="0" kern="1200" dirty="0">
                <a:solidFill>
                  <a:schemeClr val="tx1"/>
                </a:solidFill>
                <a:effectLst/>
                <a:latin typeface="+mn-lt"/>
                <a:ea typeface="+mn-ea"/>
                <a:cs typeface="+mn-cs"/>
              </a:rPr>
              <a:t> методы. Класс может расширять только один абстрактный класс.</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у абстрактных классов могут быть конструкторы, но их нельзя вызывать прямо из </a:t>
            </a:r>
            <a:r>
              <a:rPr lang="ru-RU" sz="1200" b="0" i="0" kern="1200" dirty="0" err="1">
                <a:solidFill>
                  <a:schemeClr val="tx1"/>
                </a:solidFill>
                <a:effectLst/>
                <a:latin typeface="+mn-lt"/>
                <a:ea typeface="+mn-ea"/>
                <a:cs typeface="+mn-cs"/>
              </a:rPr>
              <a:t>субклассов</a:t>
            </a:r>
            <a:r>
              <a:rPr lang="ru-RU" sz="1200" b="0" i="0" kern="1200" dirty="0">
                <a:solidFill>
                  <a:schemeClr val="tx1"/>
                </a:solidFill>
                <a:effectLst/>
                <a:latin typeface="+mn-lt"/>
                <a:ea typeface="+mn-ea"/>
                <a:cs typeface="+mn-cs"/>
              </a:rPr>
              <a:t>. Напротив, конструктор конкретного </a:t>
            </a:r>
            <a:r>
              <a:rPr lang="ru-RU" sz="1200" b="0" i="0" kern="1200" dirty="0" err="1">
                <a:solidFill>
                  <a:schemeClr val="tx1"/>
                </a:solidFill>
                <a:effectLst/>
                <a:latin typeface="+mn-lt"/>
                <a:ea typeface="+mn-ea"/>
                <a:cs typeface="+mn-cs"/>
              </a:rPr>
              <a:t>субкласса</a:t>
            </a:r>
            <a:r>
              <a:rPr lang="ru-RU" sz="1200" b="0" i="0" kern="1200" dirty="0">
                <a:solidFill>
                  <a:schemeClr val="tx1"/>
                </a:solidFill>
                <a:effectLst/>
                <a:latin typeface="+mn-lt"/>
                <a:ea typeface="+mn-ea"/>
                <a:cs typeface="+mn-cs"/>
              </a:rPr>
              <a:t> обязан явно вызывать конструктор соответствующего суперкласса. Для этого вызывается либо </a:t>
            </a:r>
            <a:r>
              <a:rPr lang="ru-RU" dirty="0" err="1"/>
              <a:t>super</a:t>
            </a:r>
            <a:r>
              <a:rPr lang="ru-RU" dirty="0"/>
              <a:t>()</a:t>
            </a:r>
            <a:r>
              <a:rPr lang="ru-RU" sz="1200" b="0" i="0" kern="1200" dirty="0">
                <a:solidFill>
                  <a:schemeClr val="tx1"/>
                </a:solidFill>
                <a:effectLst/>
                <a:latin typeface="+mn-lt"/>
                <a:ea typeface="+mn-ea"/>
                <a:cs typeface="+mn-cs"/>
              </a:rPr>
              <a:t>, либо конкретный конструктор суперкласса.</a:t>
            </a:r>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16</a:t>
            </a:fld>
            <a:endParaRPr lang="ru-RU"/>
          </a:p>
        </p:txBody>
      </p:sp>
    </p:spTree>
    <p:extLst>
      <p:ext uri="{BB962C8B-B14F-4D97-AF65-F5344CB8AC3E}">
        <p14:creationId xmlns:p14="http://schemas.microsoft.com/office/powerpoint/2010/main" val="2704735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Обозначая метод класса модификатором </a:t>
            </a:r>
            <a:r>
              <a:rPr lang="ru-RU" dirty="0" err="1"/>
              <a:t>final</a:t>
            </a:r>
            <a:r>
              <a:rPr lang="ru-RU" dirty="0"/>
              <a:t>, мы имеем ввиду, что ни один производный класс не в состоянии переопределить этот метод, изменив его внутреннюю реализацию. Другими словами, речь идет о финальной версии метода. Класс в целом также может быть помечен как </a:t>
            </a:r>
            <a:r>
              <a:rPr lang="ru-RU" dirty="0" err="1"/>
              <a:t>final</a:t>
            </a:r>
            <a:r>
              <a:rPr lang="ru-RU" dirty="0"/>
              <a:t>.</a:t>
            </a:r>
          </a:p>
          <a:p>
            <a:r>
              <a:rPr lang="ru-RU" sz="1200" b="0" i="0" kern="1200" dirty="0">
                <a:solidFill>
                  <a:schemeClr val="tx1"/>
                </a:solidFill>
                <a:effectLst/>
                <a:latin typeface="+mn-lt"/>
                <a:ea typeface="+mn-ea"/>
                <a:cs typeface="+mn-cs"/>
              </a:rPr>
              <a:t>Класс, помеченный как </a:t>
            </a:r>
            <a:r>
              <a:rPr lang="ru-RU" b="1" dirty="0" err="1">
                <a:effectLst/>
              </a:rPr>
              <a:t>final</a:t>
            </a:r>
            <a:r>
              <a:rPr lang="ru-RU" sz="1200" b="0" i="0" kern="1200" dirty="0">
                <a:solidFill>
                  <a:schemeClr val="tx1"/>
                </a:solidFill>
                <a:effectLst/>
                <a:latin typeface="+mn-lt"/>
                <a:ea typeface="+mn-ea"/>
                <a:cs typeface="+mn-cs"/>
              </a:rPr>
              <a:t>, не поддается наследованию и все его методы косвенным образом приобретают свойство </a:t>
            </a:r>
            <a:r>
              <a:rPr lang="ru-RU" b="1" dirty="0" err="1">
                <a:effectLst/>
              </a:rPr>
              <a:t>final</a:t>
            </a:r>
            <a:endParaRPr lang="ru-RU" b="1" dirty="0">
              <a:effectLst/>
            </a:endParaRPr>
          </a:p>
          <a:p>
            <a:endParaRPr lang="ru-RU" b="1" dirty="0">
              <a:effectLst/>
            </a:endParaRPr>
          </a:p>
        </p:txBody>
      </p:sp>
      <p:sp>
        <p:nvSpPr>
          <p:cNvPr id="4" name="Slide Number Placeholder 3"/>
          <p:cNvSpPr>
            <a:spLocks noGrp="1"/>
          </p:cNvSpPr>
          <p:nvPr>
            <p:ph type="sldNum" sz="quarter" idx="5"/>
          </p:nvPr>
        </p:nvSpPr>
        <p:spPr/>
        <p:txBody>
          <a:bodyPr/>
          <a:lstStyle/>
          <a:p>
            <a:fld id="{8B8FE428-2D23-4A72-899C-92C807049A51}" type="slidenum">
              <a:rPr lang="ru-RU" smtClean="0"/>
              <a:t>17</a:t>
            </a:fld>
            <a:endParaRPr lang="ru-RU"/>
          </a:p>
        </p:txBody>
      </p:sp>
    </p:spTree>
    <p:extLst>
      <p:ext uri="{BB962C8B-B14F-4D97-AF65-F5344CB8AC3E}">
        <p14:creationId xmlns:p14="http://schemas.microsoft.com/office/powerpoint/2010/main" val="2574027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Применение признак а </a:t>
            </a:r>
            <a:r>
              <a:rPr lang="ru-RU" dirty="0" err="1"/>
              <a:t>final</a:t>
            </a:r>
            <a:r>
              <a:rPr lang="ru-RU" dirty="0"/>
              <a:t> в объявлениях классов и методов способно повысить уровень безопасности кода. Если класс снабжен модификатором </a:t>
            </a:r>
            <a:r>
              <a:rPr lang="ru-RU" dirty="0" err="1"/>
              <a:t>final</a:t>
            </a:r>
            <a:r>
              <a:rPr lang="ru-RU" dirty="0"/>
              <a:t>, никто не в Состоянии расширить класс и, вероятно, нарушить при этом его контракт. Если признаком </a:t>
            </a:r>
            <a:r>
              <a:rPr lang="ru-RU" dirty="0" err="1"/>
              <a:t>final</a:t>
            </a:r>
            <a:r>
              <a:rPr lang="ru-RU" dirty="0"/>
              <a:t> обозначен метод, вы можете полностью доверять его внутренней реализации во всех ситуациях, не опасаясь "подделки". Уместно применить </a:t>
            </a:r>
            <a:r>
              <a:rPr lang="ru-RU" dirty="0" err="1"/>
              <a:t>final</a:t>
            </a:r>
            <a:r>
              <a:rPr lang="ru-RU" dirty="0"/>
              <a:t>, например, в объявлении метода, предусматривающего проверку пароля, вводимого пользователем, чтобы гарантировать точное Исполнение того, что методом предусмотрено изначально. Возможному злоумышленнику не удастся изменить исходную реализацию такого метода, "подсунув" программе его переопределенную версию, которая, скажем, всегда возвращает значение </a:t>
            </a:r>
            <a:r>
              <a:rPr lang="ru-RU" dirty="0" err="1"/>
              <a:t>true</a:t>
            </a:r>
            <a:r>
              <a:rPr lang="ru-RU" dirty="0"/>
              <a:t>, свидетельствующее об успешной регистрации пользователя, независимо от того, какой пароль он ввел на самом деле. </a:t>
            </a:r>
          </a:p>
          <a:p>
            <a:r>
              <a:rPr lang="ru-RU" dirty="0"/>
              <a:t>Однако, Пометив признаком </a:t>
            </a:r>
            <a:r>
              <a:rPr lang="ru-RU" dirty="0" err="1"/>
              <a:t>final</a:t>
            </a:r>
            <a:r>
              <a:rPr lang="ru-RU" dirty="0"/>
              <a:t> класс в целом, вы запретите возможность его наследования и, вероятно, существенно снизите его практическую ценность для других. Собравшись применить модификатор </a:t>
            </a:r>
            <a:r>
              <a:rPr lang="ru-RU" dirty="0" err="1"/>
              <a:t>final</a:t>
            </a:r>
            <a:r>
              <a:rPr lang="ru-RU" dirty="0"/>
              <a:t>, убедитесь, готовы ли ВЫ к подобным жертвам и стоит ли их принести. </a:t>
            </a:r>
          </a:p>
          <a:p>
            <a:r>
              <a:rPr lang="ru-RU" dirty="0"/>
              <a:t>Во многих случаях для достижения достаточного уровня безопасности кода вовсе нет необходимости обозначать весь класс как </a:t>
            </a:r>
            <a:r>
              <a:rPr lang="ru-RU" dirty="0" err="1"/>
              <a:t>final</a:t>
            </a:r>
            <a:r>
              <a:rPr lang="ru-RU" dirty="0"/>
              <a:t> – вполне возможно сохранить способность класса к расширению, пометив модификатором </a:t>
            </a:r>
            <a:r>
              <a:rPr lang="ru-RU" dirty="0" err="1"/>
              <a:t>final</a:t>
            </a:r>
            <a:r>
              <a:rPr lang="ru-RU" dirty="0"/>
              <a:t> только его "критические" структурные элементы. </a:t>
            </a:r>
          </a:p>
          <a:p>
            <a:endParaRPr lang="ru-RU" dirty="0"/>
          </a:p>
          <a:p>
            <a:r>
              <a:rPr lang="ru-RU" dirty="0"/>
              <a:t>Еще один эффект применения модификатора </a:t>
            </a:r>
            <a:r>
              <a:rPr lang="ru-RU" dirty="0" err="1"/>
              <a:t>final</a:t>
            </a:r>
            <a:r>
              <a:rPr lang="ru-RU" dirty="0"/>
              <a:t> связан с упрощением задачи оптимизации кода, решаемой компилятором. Вот что происходит, когда вызывается метод, не помеченный как </a:t>
            </a:r>
            <a:r>
              <a:rPr lang="ru-RU" dirty="0" err="1"/>
              <a:t>final</a:t>
            </a:r>
            <a:r>
              <a:rPr lang="ru-RU" dirty="0"/>
              <a:t>, исполняющая система определяет фактический класс объекта, связывает вызов с наиболее подходящим кодом из группы перегруженных методов и передает управление этому коду. Но если бы, например, метод </a:t>
            </a:r>
            <a:r>
              <a:rPr lang="ru-RU" dirty="0" err="1"/>
              <a:t>getName</a:t>
            </a:r>
            <a:r>
              <a:rPr lang="ru-RU" dirty="0"/>
              <a:t> в примере класса </a:t>
            </a:r>
            <a:r>
              <a:rPr lang="ru-RU" dirty="0" err="1"/>
              <a:t>Attr</a:t>
            </a:r>
            <a:r>
              <a:rPr lang="ru-RU" dirty="0"/>
              <a:t>, рассмотренном раньше, был обозначен как </a:t>
            </a:r>
            <a:r>
              <a:rPr lang="ru-RU" dirty="0" err="1"/>
              <a:t>final</a:t>
            </a:r>
            <a:r>
              <a:rPr lang="ru-RU" dirty="0"/>
              <a:t>, операция обращения к нему, возможно, была бы заметно упрощена. В самом тривиальном случае, подобном тому, который касается </a:t>
            </a:r>
            <a:r>
              <a:rPr lang="ru-RU" dirty="0" err="1"/>
              <a:t>getName</a:t>
            </a:r>
            <a:r>
              <a:rPr lang="ru-RU" dirty="0"/>
              <a:t>, компилятор может попросту заменить вызов метода кодом его тела. Такой механизм носит название встраивания кода (</a:t>
            </a:r>
            <a:r>
              <a:rPr lang="ru-RU" dirty="0" err="1"/>
              <a:t>inlining</a:t>
            </a:r>
            <a:r>
              <a:rPr lang="ru-RU" dirty="0"/>
              <a:t>). </a:t>
            </a:r>
            <a:br>
              <a:rPr lang="ru-RU" dirty="0"/>
            </a:br>
            <a:endParaRPr lang="ru-RU" dirty="0"/>
          </a:p>
          <a:p>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18</a:t>
            </a:fld>
            <a:endParaRPr lang="ru-RU"/>
          </a:p>
        </p:txBody>
      </p:sp>
    </p:spTree>
    <p:extLst>
      <p:ext uri="{BB962C8B-B14F-4D97-AF65-F5344CB8AC3E}">
        <p14:creationId xmlns:p14="http://schemas.microsoft.com/office/powerpoint/2010/main" val="40164761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19</a:t>
            </a:fld>
            <a:endParaRPr lang="ru-RU"/>
          </a:p>
        </p:txBody>
      </p:sp>
    </p:spTree>
    <p:extLst>
      <p:ext uri="{BB962C8B-B14F-4D97-AF65-F5344CB8AC3E}">
        <p14:creationId xmlns:p14="http://schemas.microsoft.com/office/powerpoint/2010/main" val="30549216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Конструктор не имеет возвращаемого типа, им не может быть даже тип </a:t>
            </a:r>
            <a:r>
              <a:rPr lang="ru-RU" dirty="0" err="1"/>
              <a:t>void</a:t>
            </a:r>
            <a:r>
              <a:rPr lang="ru-RU" dirty="0"/>
              <a:t>, если возвращается тип </a:t>
            </a:r>
            <a:r>
              <a:rPr lang="ru-RU" dirty="0" err="1"/>
              <a:t>void</a:t>
            </a:r>
            <a:r>
              <a:rPr lang="ru-RU" dirty="0"/>
              <a:t>, то это уже не конструктор а метод, несмотря на совпадение с именем класса.</a:t>
            </a:r>
          </a:p>
          <a:p>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20</a:t>
            </a:fld>
            <a:endParaRPr lang="ru-RU"/>
          </a:p>
        </p:txBody>
      </p:sp>
    </p:spTree>
    <p:extLst>
      <p:ext uri="{BB962C8B-B14F-4D97-AF65-F5344CB8AC3E}">
        <p14:creationId xmlns:p14="http://schemas.microsoft.com/office/powerpoint/2010/main" val="12478003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данном случае явно класса предка не указано, а по умолчанию все классы </a:t>
            </a:r>
            <a:r>
              <a:rPr lang="ru-RU" dirty="0" err="1"/>
              <a:t>Java</a:t>
            </a:r>
            <a:r>
              <a:rPr lang="ru-RU" dirty="0"/>
              <a:t> наследуют класс </a:t>
            </a:r>
            <a:r>
              <a:rPr lang="ru-RU" dirty="0" err="1"/>
              <a:t>Object</a:t>
            </a:r>
            <a:r>
              <a:rPr lang="ru-RU" dirty="0"/>
              <a:t> поэтому вызывается конструктор класса </a:t>
            </a:r>
            <a:r>
              <a:rPr lang="ru-RU" dirty="0" err="1"/>
              <a:t>Object</a:t>
            </a:r>
            <a:r>
              <a:rPr lang="ru-RU" dirty="0"/>
              <a:t>. Если в классе определен конструктор с параметрами, а перегруженного конструктора без параметров нет, то вызов конструктора без параметров является ошибкой. Тем не менее, в </a:t>
            </a:r>
            <a:r>
              <a:rPr lang="ru-RU" dirty="0" err="1"/>
              <a:t>Java</a:t>
            </a:r>
            <a:r>
              <a:rPr lang="ru-RU" dirty="0"/>
              <a:t>, начиная с версии 1.5, можно использовать конструкторы с аргументами переменной длины. И если есть конструктор, имеющий аргумент переменной длины, то вызов конструктора по умолчанию ошибкой не будет. Не будет потому, что аргумент переменной длины может быть пустым.</a:t>
            </a:r>
          </a:p>
          <a:p>
            <a:endParaRPr lang="ru-RU" dirty="0"/>
          </a:p>
        </p:txBody>
      </p:sp>
      <p:sp>
        <p:nvSpPr>
          <p:cNvPr id="4" name="Slide Number Placeholder 3"/>
          <p:cNvSpPr>
            <a:spLocks noGrp="1"/>
          </p:cNvSpPr>
          <p:nvPr>
            <p:ph type="sldNum" sz="quarter" idx="5"/>
          </p:nvPr>
        </p:nvSpPr>
        <p:spPr/>
        <p:txBody>
          <a:bodyPr/>
          <a:lstStyle/>
          <a:p>
            <a:fld id="{8B8FE428-2D23-4A72-899C-92C807049A51}" type="slidenum">
              <a:rPr lang="ru-RU" smtClean="0"/>
              <a:t>22</a:t>
            </a:fld>
            <a:endParaRPr lang="ru-RU"/>
          </a:p>
        </p:txBody>
      </p:sp>
    </p:spTree>
    <p:extLst>
      <p:ext uri="{BB962C8B-B14F-4D97-AF65-F5344CB8AC3E}">
        <p14:creationId xmlns:p14="http://schemas.microsoft.com/office/powerpoint/2010/main" val="11739667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Дата 3"/>
          <p:cNvSpPr>
            <a:spLocks noGrp="1"/>
          </p:cNvSpPr>
          <p:nvPr>
            <p:ph type="dt" sz="half" idx="10"/>
          </p:nvPr>
        </p:nvSpPr>
        <p:spPr/>
        <p:txBody>
          <a:bodyPr/>
          <a:lstStyle/>
          <a:p>
            <a:fld id="{BC77AAEC-1C6F-4885-B660-2C5C155E2079}" type="datetimeFigureOut">
              <a:rPr lang="ru-RU" smtClean="0"/>
              <a:t>22.07.2025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7AF8985-A386-4F90-A32C-BC179DE9D596}" type="slidenum">
              <a:rPr lang="ru-RU" smtClean="0"/>
              <a:t>‹#›</a:t>
            </a:fld>
            <a:endParaRPr lang="ru-RU"/>
          </a:p>
        </p:txBody>
      </p:sp>
    </p:spTree>
    <p:extLst>
      <p:ext uri="{BB962C8B-B14F-4D97-AF65-F5344CB8AC3E}">
        <p14:creationId xmlns:p14="http://schemas.microsoft.com/office/powerpoint/2010/main" val="357494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914400" y="2130426"/>
            <a:ext cx="10363200" cy="1470025"/>
          </a:xfrm>
        </p:spPr>
        <p:txBody>
          <a:bodyPr/>
          <a:lstStyle>
            <a:lvl1pPr>
              <a:defRPr b="1">
                <a:solidFill>
                  <a:schemeClr val="accent6"/>
                </a:solidFill>
              </a:defRPr>
            </a:lvl1pPr>
          </a:lstStyle>
          <a:p>
            <a:r>
              <a:rPr lang="en-US"/>
              <a:t>Click to edit Master title style</a:t>
            </a:r>
            <a:endParaRPr lang="ru-RU" dirty="0"/>
          </a:p>
        </p:txBody>
      </p:sp>
      <p:sp>
        <p:nvSpPr>
          <p:cNvPr id="3" name="Подзаголовок 2"/>
          <p:cNvSpPr>
            <a:spLocks noGrp="1"/>
          </p:cNvSpPr>
          <p:nvPr>
            <p:ph type="subTitle" idx="1"/>
          </p:nvPr>
        </p:nvSpPr>
        <p:spPr>
          <a:xfrm>
            <a:off x="1828800" y="3886200"/>
            <a:ext cx="8534400" cy="1752600"/>
          </a:xfrm>
        </p:spPr>
        <p:txBody>
          <a:bodyPr/>
          <a:lstStyle>
            <a:lvl1pPr marL="0" indent="0" algn="ctr">
              <a:buNone/>
              <a:defRPr>
                <a:solidFill>
                  <a:schemeClr val="accent1">
                    <a:lumMod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ru-RU" dirty="0"/>
          </a:p>
        </p:txBody>
      </p:sp>
      <p:sp>
        <p:nvSpPr>
          <p:cNvPr id="4" name="Дата 3"/>
          <p:cNvSpPr>
            <a:spLocks noGrp="1"/>
          </p:cNvSpPr>
          <p:nvPr>
            <p:ph type="dt" sz="half" idx="10"/>
          </p:nvPr>
        </p:nvSpPr>
        <p:spPr/>
        <p:txBody>
          <a:bodyPr/>
          <a:lstStyle/>
          <a:p>
            <a:fld id="{BC77AAEC-1C6F-4885-B660-2C5C155E2079}" type="datetimeFigureOut">
              <a:rPr lang="ru-RU" smtClean="0"/>
              <a:t>22.07.2025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7AF8985-A386-4F90-A32C-BC179DE9D596}" type="slidenum">
              <a:rPr lang="ru-RU" smtClean="0"/>
              <a:t>‹#›</a:t>
            </a:fld>
            <a:endParaRPr lang="ru-RU"/>
          </a:p>
        </p:txBody>
      </p:sp>
    </p:spTree>
    <p:extLst>
      <p:ext uri="{BB962C8B-B14F-4D97-AF65-F5344CB8AC3E}">
        <p14:creationId xmlns:p14="http://schemas.microsoft.com/office/powerpoint/2010/main" val="3170718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63084" y="4406901"/>
            <a:ext cx="10363200" cy="1362075"/>
          </a:xfrm>
        </p:spPr>
        <p:txBody>
          <a:bodyPr anchor="t"/>
          <a:lstStyle>
            <a:lvl1pPr algn="l">
              <a:defRPr sz="5333" b="1" cap="all"/>
            </a:lvl1pPr>
          </a:lstStyle>
          <a:p>
            <a:r>
              <a:rPr lang="en-US"/>
              <a:t>Click to edit Master title style</a:t>
            </a:r>
            <a:endParaRPr lang="ru-RU"/>
          </a:p>
        </p:txBody>
      </p:sp>
      <p:sp>
        <p:nvSpPr>
          <p:cNvPr id="3" name="Текст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Дата 3"/>
          <p:cNvSpPr>
            <a:spLocks noGrp="1"/>
          </p:cNvSpPr>
          <p:nvPr>
            <p:ph type="dt" sz="half" idx="10"/>
          </p:nvPr>
        </p:nvSpPr>
        <p:spPr/>
        <p:txBody>
          <a:bodyPr/>
          <a:lstStyle/>
          <a:p>
            <a:fld id="{BC77AAEC-1C6F-4885-B660-2C5C155E2079}" type="datetimeFigureOut">
              <a:rPr lang="ru-RU" smtClean="0"/>
              <a:t>22.07.2025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67AF8985-A386-4F90-A32C-BC179DE9D596}" type="slidenum">
              <a:rPr lang="ru-RU" smtClean="0"/>
              <a:t>‹#›</a:t>
            </a:fld>
            <a:endParaRPr lang="ru-RU"/>
          </a:p>
        </p:txBody>
      </p:sp>
    </p:spTree>
    <p:extLst>
      <p:ext uri="{BB962C8B-B14F-4D97-AF65-F5344CB8AC3E}">
        <p14:creationId xmlns:p14="http://schemas.microsoft.com/office/powerpoint/2010/main" val="877699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dirty="0"/>
          </a:p>
        </p:txBody>
      </p:sp>
      <p:sp>
        <p:nvSpPr>
          <p:cNvPr id="3" name="Содержимое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Дата 3"/>
          <p:cNvSpPr>
            <a:spLocks noGrp="1"/>
          </p:cNvSpPr>
          <p:nvPr>
            <p:ph type="dt" sz="half" idx="10"/>
          </p:nvPr>
        </p:nvSpPr>
        <p:spPr/>
        <p:txBody>
          <a:bodyPr/>
          <a:lstStyle>
            <a:lvl1pPr>
              <a:defRPr>
                <a:solidFill>
                  <a:schemeClr val="bg1"/>
                </a:solidFill>
              </a:defRPr>
            </a:lvl1pPr>
          </a:lstStyle>
          <a:p>
            <a:fld id="{BC77AAEC-1C6F-4885-B660-2C5C155E2079}" type="datetimeFigureOut">
              <a:rPr lang="ru-RU" smtClean="0"/>
              <a:t>22.07.2025</a:t>
            </a:fld>
            <a:endParaRPr lang="ru-RU"/>
          </a:p>
        </p:txBody>
      </p:sp>
      <p:sp>
        <p:nvSpPr>
          <p:cNvPr id="5" name="Нижний колонтитул 4"/>
          <p:cNvSpPr>
            <a:spLocks noGrp="1"/>
          </p:cNvSpPr>
          <p:nvPr>
            <p:ph type="ftr" sz="quarter" idx="11"/>
          </p:nvPr>
        </p:nvSpPr>
        <p:spPr/>
        <p:txBody>
          <a:bodyPr/>
          <a:lstStyle>
            <a:lvl1pPr>
              <a:defRPr>
                <a:solidFill>
                  <a:schemeClr val="bg1"/>
                </a:solidFill>
              </a:defRPr>
            </a:lvl1pPr>
          </a:lstStyle>
          <a:p>
            <a:endParaRPr lang="ru-RU"/>
          </a:p>
        </p:txBody>
      </p:sp>
      <p:sp>
        <p:nvSpPr>
          <p:cNvPr id="6" name="Номер слайда 5"/>
          <p:cNvSpPr>
            <a:spLocks noGrp="1"/>
          </p:cNvSpPr>
          <p:nvPr>
            <p:ph type="sldNum" sz="quarter" idx="12"/>
          </p:nvPr>
        </p:nvSpPr>
        <p:spPr/>
        <p:txBody>
          <a:bodyPr/>
          <a:lstStyle>
            <a:lvl1pPr>
              <a:defRPr>
                <a:solidFill>
                  <a:schemeClr val="bg1"/>
                </a:solidFill>
              </a:defRPr>
            </a:lvl1pPr>
          </a:lstStyle>
          <a:p>
            <a:fld id="{67AF8985-A386-4F90-A32C-BC179DE9D596}" type="slidenum">
              <a:rPr lang="ru-RU" smtClean="0"/>
              <a:t>‹#›</a:t>
            </a:fld>
            <a:endParaRPr lang="ru-RU"/>
          </a:p>
        </p:txBody>
      </p:sp>
    </p:spTree>
    <p:extLst>
      <p:ext uri="{BB962C8B-B14F-4D97-AF65-F5344CB8AC3E}">
        <p14:creationId xmlns:p14="http://schemas.microsoft.com/office/powerpoint/2010/main" val="293848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Два объект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a:p>
        </p:txBody>
      </p:sp>
      <p:sp>
        <p:nvSpPr>
          <p:cNvPr id="3" name="Содержимое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Содержимое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Дата 4"/>
          <p:cNvSpPr>
            <a:spLocks noGrp="1"/>
          </p:cNvSpPr>
          <p:nvPr>
            <p:ph type="dt" sz="half" idx="10"/>
          </p:nvPr>
        </p:nvSpPr>
        <p:spPr/>
        <p:txBody>
          <a:bodyPr/>
          <a:lstStyle/>
          <a:p>
            <a:fld id="{BC77AAEC-1C6F-4885-B660-2C5C155E2079}" type="datetimeFigureOut">
              <a:rPr lang="ru-RU" smtClean="0"/>
              <a:t>22.07.2025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67AF8985-A386-4F90-A32C-BC179DE9D596}" type="slidenum">
              <a:rPr lang="ru-RU" smtClean="0"/>
              <a:t>‹#›</a:t>
            </a:fld>
            <a:endParaRPr lang="ru-RU"/>
          </a:p>
        </p:txBody>
      </p:sp>
    </p:spTree>
    <p:extLst>
      <p:ext uri="{BB962C8B-B14F-4D97-AF65-F5344CB8AC3E}">
        <p14:creationId xmlns:p14="http://schemas.microsoft.com/office/powerpoint/2010/main" val="2411236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dirty="0"/>
          </a:p>
        </p:txBody>
      </p:sp>
      <p:sp>
        <p:nvSpPr>
          <p:cNvPr id="3" name="Дата 2"/>
          <p:cNvSpPr>
            <a:spLocks noGrp="1"/>
          </p:cNvSpPr>
          <p:nvPr>
            <p:ph type="dt" sz="half" idx="10"/>
          </p:nvPr>
        </p:nvSpPr>
        <p:spPr/>
        <p:txBody>
          <a:bodyPr/>
          <a:lstStyle/>
          <a:p>
            <a:fld id="{BC77AAEC-1C6F-4885-B660-2C5C155E2079}" type="datetimeFigureOut">
              <a:rPr lang="ru-RU" smtClean="0"/>
              <a:t>22.07.2025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67AF8985-A386-4F90-A32C-BC179DE9D596}" type="slidenum">
              <a:rPr lang="ru-RU" smtClean="0"/>
              <a:t>‹#›</a:t>
            </a:fld>
            <a:endParaRPr lang="ru-RU"/>
          </a:p>
        </p:txBody>
      </p:sp>
    </p:spTree>
    <p:extLst>
      <p:ext uri="{BB962C8B-B14F-4D97-AF65-F5344CB8AC3E}">
        <p14:creationId xmlns:p14="http://schemas.microsoft.com/office/powerpoint/2010/main" val="1186950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BC77AAEC-1C6F-4885-B660-2C5C155E2079}" type="datetimeFigureOut">
              <a:rPr lang="ru-RU" smtClean="0"/>
              <a:t>22.07.2025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67AF8985-A386-4F90-A32C-BC179DE9D596}" type="slidenum">
              <a:rPr lang="ru-RU" smtClean="0"/>
              <a:t>‹#›</a:t>
            </a:fld>
            <a:endParaRPr lang="ru-RU"/>
          </a:p>
        </p:txBody>
      </p:sp>
    </p:spTree>
    <p:extLst>
      <p:ext uri="{BB962C8B-B14F-4D97-AF65-F5344CB8AC3E}">
        <p14:creationId xmlns:p14="http://schemas.microsoft.com/office/powerpoint/2010/main" val="2663413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endParaRPr lang="ru-RU"/>
          </a:p>
        </p:txBody>
      </p:sp>
      <p:sp>
        <p:nvSpPr>
          <p:cNvPr id="3" name="Содержимое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Текст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Дата 4"/>
          <p:cNvSpPr>
            <a:spLocks noGrp="1"/>
          </p:cNvSpPr>
          <p:nvPr>
            <p:ph type="dt" sz="half" idx="10"/>
          </p:nvPr>
        </p:nvSpPr>
        <p:spPr/>
        <p:txBody>
          <a:bodyPr/>
          <a:lstStyle/>
          <a:p>
            <a:fld id="{BC77AAEC-1C6F-4885-B660-2C5C155E2079}" type="datetimeFigureOut">
              <a:rPr lang="ru-RU" smtClean="0"/>
              <a:t>22.07.2025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67AF8985-A386-4F90-A32C-BC179DE9D596}" type="slidenum">
              <a:rPr lang="ru-RU" smtClean="0"/>
              <a:t>‹#›</a:t>
            </a:fld>
            <a:endParaRPr lang="ru-RU"/>
          </a:p>
        </p:txBody>
      </p:sp>
    </p:spTree>
    <p:extLst>
      <p:ext uri="{BB962C8B-B14F-4D97-AF65-F5344CB8AC3E}">
        <p14:creationId xmlns:p14="http://schemas.microsoft.com/office/powerpoint/2010/main" val="2512310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endParaRPr lang="ru-RU"/>
          </a:p>
        </p:txBody>
      </p:sp>
      <p:sp>
        <p:nvSpPr>
          <p:cNvPr id="3" name="Рисунок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ru-RU"/>
          </a:p>
        </p:txBody>
      </p:sp>
      <p:sp>
        <p:nvSpPr>
          <p:cNvPr id="4" name="Текст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Дата 4"/>
          <p:cNvSpPr>
            <a:spLocks noGrp="1"/>
          </p:cNvSpPr>
          <p:nvPr>
            <p:ph type="dt" sz="half" idx="10"/>
          </p:nvPr>
        </p:nvSpPr>
        <p:spPr/>
        <p:txBody>
          <a:bodyPr/>
          <a:lstStyle/>
          <a:p>
            <a:fld id="{BC77AAEC-1C6F-4885-B660-2C5C155E2079}" type="datetimeFigureOut">
              <a:rPr lang="ru-RU" smtClean="0"/>
              <a:t>22.07.2025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67AF8985-A386-4F90-A32C-BC179DE9D596}" type="slidenum">
              <a:rPr lang="ru-RU" smtClean="0"/>
              <a:t>‹#›</a:t>
            </a:fld>
            <a:endParaRPr lang="ru-RU"/>
          </a:p>
        </p:txBody>
      </p:sp>
    </p:spTree>
    <p:extLst>
      <p:ext uri="{BB962C8B-B14F-4D97-AF65-F5344CB8AC3E}">
        <p14:creationId xmlns:p14="http://schemas.microsoft.com/office/powerpoint/2010/main" val="4253838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p:cNvSpPr>
            <a:spLocks noGrp="1"/>
          </p:cNvSpPr>
          <p:nvPr>
            <p:ph type="body" idx="1"/>
          </p:nvPr>
        </p:nvSpPr>
        <p:spPr>
          <a:xfrm>
            <a:off x="609600" y="1904989"/>
            <a:ext cx="10972800" cy="4221175"/>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bg1"/>
                </a:solidFill>
              </a:defRPr>
            </a:lvl1pPr>
          </a:lstStyle>
          <a:p>
            <a:fld id="{BC77AAEC-1C6F-4885-B660-2C5C155E2079}" type="datetimeFigureOut">
              <a:rPr lang="ru-RU" smtClean="0"/>
              <a:t>22.07.2025</a:t>
            </a:fld>
            <a:endParaRPr lang="ru-RU"/>
          </a:p>
        </p:txBody>
      </p:sp>
      <p:sp>
        <p:nvSpPr>
          <p:cNvPr id="5" name="Нижний колонтитул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bg1"/>
                </a:solidFill>
              </a:defRPr>
            </a:lvl1pPr>
          </a:lstStyle>
          <a:p>
            <a:endParaRPr lang="ru-RU"/>
          </a:p>
        </p:txBody>
      </p:sp>
      <p:sp>
        <p:nvSpPr>
          <p:cNvPr id="6" name="Номер слайда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bg1"/>
                </a:solidFill>
              </a:defRPr>
            </a:lvl1pPr>
          </a:lstStyle>
          <a:p>
            <a:fld id="{67AF8985-A386-4F90-A32C-BC179DE9D596}" type="slidenum">
              <a:rPr lang="ru-RU" smtClean="0"/>
              <a:t>‹#›</a:t>
            </a:fld>
            <a:endParaRPr lang="ru-RU"/>
          </a:p>
        </p:txBody>
      </p:sp>
    </p:spTree>
    <p:extLst>
      <p:ext uri="{BB962C8B-B14F-4D97-AF65-F5344CB8AC3E}">
        <p14:creationId xmlns:p14="http://schemas.microsoft.com/office/powerpoint/2010/main" val="19412582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ctr" defTabSz="1219170" rtl="0" eaLnBrk="1" latinLnBrk="0" hangingPunct="1">
        <a:spcBef>
          <a:spcPct val="0"/>
        </a:spcBef>
        <a:buNone/>
        <a:defRPr sz="5867" kern="1200">
          <a:solidFill>
            <a:schemeClr val="accent6"/>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ru-RU"/>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3EAE1-C2C6-4A2A-B0A5-B17A5A86F715}"/>
              </a:ext>
            </a:extLst>
          </p:cNvPr>
          <p:cNvSpPr>
            <a:spLocks noGrp="1"/>
          </p:cNvSpPr>
          <p:nvPr>
            <p:ph type="ctrTitle"/>
          </p:nvPr>
        </p:nvSpPr>
        <p:spPr/>
        <p:txBody>
          <a:bodyPr/>
          <a:lstStyle/>
          <a:p>
            <a:r>
              <a:rPr lang="ru-RU" dirty="0"/>
              <a:t>Программирование на </a:t>
            </a:r>
            <a:r>
              <a:rPr lang="en-US" dirty="0"/>
              <a:t>Java</a:t>
            </a:r>
            <a:endParaRPr lang="ru-RU" dirty="0"/>
          </a:p>
        </p:txBody>
      </p:sp>
      <p:sp>
        <p:nvSpPr>
          <p:cNvPr id="3" name="Subtitle 2">
            <a:extLst>
              <a:ext uri="{FF2B5EF4-FFF2-40B4-BE49-F238E27FC236}">
                <a16:creationId xmlns:a16="http://schemas.microsoft.com/office/drawing/2014/main" id="{1C8A3014-C10D-467C-A1C6-DE309A535486}"/>
              </a:ext>
            </a:extLst>
          </p:cNvPr>
          <p:cNvSpPr>
            <a:spLocks noGrp="1"/>
          </p:cNvSpPr>
          <p:nvPr>
            <p:ph type="subTitle" idx="1"/>
          </p:nvPr>
        </p:nvSpPr>
        <p:spPr/>
        <p:txBody>
          <a:bodyPr/>
          <a:lstStyle/>
          <a:p>
            <a:r>
              <a:rPr lang="ru-RU" dirty="0"/>
              <a:t>Перегрузка, переопределение, абстрактные методы</a:t>
            </a:r>
            <a:r>
              <a:rPr lang="en-US" dirty="0"/>
              <a:t> </a:t>
            </a:r>
            <a:r>
              <a:rPr lang="ru-RU" dirty="0"/>
              <a:t>и классы</a:t>
            </a:r>
          </a:p>
        </p:txBody>
      </p:sp>
    </p:spTree>
    <p:extLst>
      <p:ext uri="{BB962C8B-B14F-4D97-AF65-F5344CB8AC3E}">
        <p14:creationId xmlns:p14="http://schemas.microsoft.com/office/powerpoint/2010/main" val="3060557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932F0-F53A-42DD-898D-C1A075A4415F}"/>
              </a:ext>
            </a:extLst>
          </p:cNvPr>
          <p:cNvSpPr>
            <a:spLocks noGrp="1"/>
          </p:cNvSpPr>
          <p:nvPr>
            <p:ph type="title"/>
          </p:nvPr>
        </p:nvSpPr>
        <p:spPr/>
        <p:txBody>
          <a:bodyPr/>
          <a:lstStyle/>
          <a:p>
            <a:r>
              <a:rPr lang="ru-RU" dirty="0"/>
              <a:t>Полиморфизм</a:t>
            </a:r>
          </a:p>
        </p:txBody>
      </p:sp>
      <p:sp>
        <p:nvSpPr>
          <p:cNvPr id="5" name="Content Placeholder 4">
            <a:extLst>
              <a:ext uri="{FF2B5EF4-FFF2-40B4-BE49-F238E27FC236}">
                <a16:creationId xmlns:a16="http://schemas.microsoft.com/office/drawing/2014/main" id="{062B98E0-C5BB-4FF4-BFCB-8DAD7331FE5F}"/>
              </a:ext>
            </a:extLst>
          </p:cNvPr>
          <p:cNvSpPr>
            <a:spLocks noGrp="1"/>
          </p:cNvSpPr>
          <p:nvPr>
            <p:ph idx="1"/>
          </p:nvPr>
        </p:nvSpPr>
        <p:spPr>
          <a:xfrm>
            <a:off x="609600" y="1904989"/>
            <a:ext cx="7396716" cy="4017345"/>
          </a:xfrm>
        </p:spPr>
        <p:txBody>
          <a:bodyPr>
            <a:normAutofit fontScale="70000" lnSpcReduction="20000"/>
          </a:bodyPr>
          <a:lstStyle/>
          <a:p>
            <a:pPr algn="just"/>
            <a:r>
              <a:rPr lang="ru-RU" dirty="0"/>
              <a:t>Один из основных принципов ООП</a:t>
            </a:r>
          </a:p>
          <a:p>
            <a:r>
              <a:rPr lang="ru-RU" dirty="0"/>
              <a:t>Это способ динамического определения того, какая версия функции будет вызываться</a:t>
            </a:r>
          </a:p>
          <a:p>
            <a:pPr fontAlgn="base"/>
            <a:r>
              <a:rPr lang="ru-RU" dirty="0" err="1"/>
              <a:t>Java</a:t>
            </a:r>
            <a:r>
              <a:rPr lang="ru-RU" dirty="0"/>
              <a:t> поддерживает два типа полиморфизма:</a:t>
            </a:r>
          </a:p>
          <a:p>
            <a:pPr lvl="1" fontAlgn="base"/>
            <a:r>
              <a:rPr lang="ru-RU" dirty="0"/>
              <a:t>Полиморфизм времени компиляции (статический полиморфизм)</a:t>
            </a:r>
          </a:p>
          <a:p>
            <a:pPr lvl="1" fontAlgn="base"/>
            <a:r>
              <a:rPr lang="ru-RU" dirty="0"/>
              <a:t>Полиморфизм времени выполнения (динамический полиморфизм)</a:t>
            </a:r>
          </a:p>
          <a:p>
            <a:endParaRPr lang="ru-RU" dirty="0"/>
          </a:p>
        </p:txBody>
      </p:sp>
      <p:graphicFrame>
        <p:nvGraphicFramePr>
          <p:cNvPr id="2" name="Diagram 1">
            <a:extLst>
              <a:ext uri="{FF2B5EF4-FFF2-40B4-BE49-F238E27FC236}">
                <a16:creationId xmlns:a16="http://schemas.microsoft.com/office/drawing/2014/main" id="{1C31086A-2C5C-4BEF-BA8E-625CA7BBD971}"/>
              </a:ext>
            </a:extLst>
          </p:cNvPr>
          <p:cNvGraphicFramePr/>
          <p:nvPr>
            <p:extLst>
              <p:ext uri="{D42A27DB-BD31-4B8C-83A1-F6EECF244321}">
                <p14:modId xmlns:p14="http://schemas.microsoft.com/office/powerpoint/2010/main" val="1392353092"/>
              </p:ext>
            </p:extLst>
          </p:nvPr>
        </p:nvGraphicFramePr>
        <p:xfrm>
          <a:off x="7549116" y="2005730"/>
          <a:ext cx="4114802" cy="39391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027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E5ADD-3E06-4E04-B0FF-53CAA773D95D}"/>
              </a:ext>
            </a:extLst>
          </p:cNvPr>
          <p:cNvSpPr>
            <a:spLocks noGrp="1"/>
          </p:cNvSpPr>
          <p:nvPr>
            <p:ph type="title"/>
          </p:nvPr>
        </p:nvSpPr>
        <p:spPr/>
        <p:txBody>
          <a:bodyPr>
            <a:normAutofit fontScale="90000"/>
          </a:bodyPr>
          <a:lstStyle/>
          <a:p>
            <a:r>
              <a:rPr lang="ru-RU" dirty="0"/>
              <a:t>Полиморфизм времени компиляции</a:t>
            </a:r>
          </a:p>
        </p:txBody>
      </p:sp>
      <p:sp>
        <p:nvSpPr>
          <p:cNvPr id="3" name="Content Placeholder 2">
            <a:extLst>
              <a:ext uri="{FF2B5EF4-FFF2-40B4-BE49-F238E27FC236}">
                <a16:creationId xmlns:a16="http://schemas.microsoft.com/office/drawing/2014/main" id="{FB7F85A7-9CB4-4907-B072-0E8B2187F108}"/>
              </a:ext>
            </a:extLst>
          </p:cNvPr>
          <p:cNvSpPr>
            <a:spLocks noGrp="1"/>
          </p:cNvSpPr>
          <p:nvPr>
            <p:ph idx="1"/>
          </p:nvPr>
        </p:nvSpPr>
        <p:spPr/>
        <p:txBody>
          <a:bodyPr>
            <a:normAutofit fontScale="92500" lnSpcReduction="10000"/>
          </a:bodyPr>
          <a:lstStyle/>
          <a:p>
            <a:r>
              <a:rPr lang="ru-RU" dirty="0"/>
              <a:t>Еще называется </a:t>
            </a:r>
            <a:r>
              <a:rPr lang="ru-RU" b="1" dirty="0"/>
              <a:t>статическое связывание</a:t>
            </a:r>
            <a:r>
              <a:rPr lang="ru-RU" dirty="0"/>
              <a:t>, </a:t>
            </a:r>
            <a:r>
              <a:rPr lang="ru-RU" b="1" dirty="0"/>
              <a:t>статический полиморфизм</a:t>
            </a:r>
          </a:p>
          <a:p>
            <a:r>
              <a:rPr lang="ru-RU" dirty="0"/>
              <a:t>Достигается </a:t>
            </a:r>
            <a:r>
              <a:rPr lang="ru-RU" b="1" dirty="0"/>
              <a:t>перегрузкой методов</a:t>
            </a:r>
            <a:r>
              <a:rPr lang="ru-RU" dirty="0"/>
              <a:t>, т.е. путем создания нескольких методов с одинаковыми именами в одном классе, но каждый из которых имеет разное количество параметров или параметров разных типов данных.</a:t>
            </a:r>
          </a:p>
        </p:txBody>
      </p:sp>
    </p:spTree>
    <p:extLst>
      <p:ext uri="{BB962C8B-B14F-4D97-AF65-F5344CB8AC3E}">
        <p14:creationId xmlns:p14="http://schemas.microsoft.com/office/powerpoint/2010/main" val="3658122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4F0817DD-F3F1-4590-BF04-AA324B3E8B06}"/>
              </a:ext>
            </a:extLst>
          </p:cNvPr>
          <p:cNvPicPr>
            <a:picLocks noChangeAspect="1"/>
          </p:cNvPicPr>
          <p:nvPr/>
        </p:nvPicPr>
        <p:blipFill>
          <a:blip r:embed="rId3"/>
          <a:stretch>
            <a:fillRect/>
          </a:stretch>
        </p:blipFill>
        <p:spPr>
          <a:xfrm>
            <a:off x="1091165" y="1866313"/>
            <a:ext cx="5879804" cy="4658574"/>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FADE73F8-313A-451F-84E6-67B456F55D65}"/>
              </a:ext>
            </a:extLst>
          </p:cNvPr>
          <p:cNvSpPr>
            <a:spLocks noGrp="1"/>
          </p:cNvSpPr>
          <p:nvPr>
            <p:ph type="title"/>
          </p:nvPr>
        </p:nvSpPr>
        <p:spPr/>
        <p:txBody>
          <a:bodyPr/>
          <a:lstStyle/>
          <a:p>
            <a:r>
              <a:rPr lang="ru-RU" dirty="0"/>
              <a:t>Перегрузка метода</a:t>
            </a:r>
          </a:p>
        </p:txBody>
      </p:sp>
      <p:sp>
        <p:nvSpPr>
          <p:cNvPr id="11" name="Rectangle 10">
            <a:extLst>
              <a:ext uri="{FF2B5EF4-FFF2-40B4-BE49-F238E27FC236}">
                <a16:creationId xmlns:a16="http://schemas.microsoft.com/office/drawing/2014/main" id="{9F177498-EB3A-48DC-97F5-B315AF5DFAC4}"/>
              </a:ext>
            </a:extLst>
          </p:cNvPr>
          <p:cNvSpPr/>
          <p:nvPr/>
        </p:nvSpPr>
        <p:spPr>
          <a:xfrm>
            <a:off x="1116419" y="2200940"/>
            <a:ext cx="5879804" cy="861237"/>
          </a:xfrm>
          <a:prstGeom prst="rect">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ru-RU"/>
          </a:p>
        </p:txBody>
      </p:sp>
      <p:sp>
        <p:nvSpPr>
          <p:cNvPr id="12" name="Rectangle 11">
            <a:extLst>
              <a:ext uri="{FF2B5EF4-FFF2-40B4-BE49-F238E27FC236}">
                <a16:creationId xmlns:a16="http://schemas.microsoft.com/office/drawing/2014/main" id="{AAEC6FB8-7C3E-4243-854D-8FEB160BBAF7}"/>
              </a:ext>
            </a:extLst>
          </p:cNvPr>
          <p:cNvSpPr/>
          <p:nvPr/>
        </p:nvSpPr>
        <p:spPr>
          <a:xfrm>
            <a:off x="1116419" y="3126372"/>
            <a:ext cx="5879804" cy="861237"/>
          </a:xfrm>
          <a:prstGeom prst="rect">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ru-RU"/>
          </a:p>
        </p:txBody>
      </p:sp>
      <p:sp>
        <p:nvSpPr>
          <p:cNvPr id="13" name="Rectangle 12">
            <a:extLst>
              <a:ext uri="{FF2B5EF4-FFF2-40B4-BE49-F238E27FC236}">
                <a16:creationId xmlns:a16="http://schemas.microsoft.com/office/drawing/2014/main" id="{AB846DF5-EB02-427A-96B0-B72A7369E0B1}"/>
              </a:ext>
            </a:extLst>
          </p:cNvPr>
          <p:cNvSpPr/>
          <p:nvPr/>
        </p:nvSpPr>
        <p:spPr>
          <a:xfrm>
            <a:off x="1116419" y="4051805"/>
            <a:ext cx="5879804" cy="861237"/>
          </a:xfrm>
          <a:prstGeom prst="rect">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ru-RU"/>
          </a:p>
        </p:txBody>
      </p:sp>
      <p:cxnSp>
        <p:nvCxnSpPr>
          <p:cNvPr id="15" name="Straight Connector 14">
            <a:extLst>
              <a:ext uri="{FF2B5EF4-FFF2-40B4-BE49-F238E27FC236}">
                <a16:creationId xmlns:a16="http://schemas.microsoft.com/office/drawing/2014/main" id="{4A021276-97A9-431C-94A3-BD9ECB70D141}"/>
              </a:ext>
            </a:extLst>
          </p:cNvPr>
          <p:cNvCxnSpPr>
            <a:stCxn id="11" idx="3"/>
          </p:cNvCxnSpPr>
          <p:nvPr/>
        </p:nvCxnSpPr>
        <p:spPr>
          <a:xfrm>
            <a:off x="6996223" y="2631559"/>
            <a:ext cx="1339703" cy="334925"/>
          </a:xfrm>
          <a:prstGeom prst="line">
            <a:avLst/>
          </a:prstGeom>
          <a:ln>
            <a:solidFill>
              <a:srgbClr val="95373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187E1CB-C4C5-494E-929F-21D767282BA8}"/>
              </a:ext>
            </a:extLst>
          </p:cNvPr>
          <p:cNvCxnSpPr>
            <a:stCxn id="12" idx="3"/>
          </p:cNvCxnSpPr>
          <p:nvPr/>
        </p:nvCxnSpPr>
        <p:spPr>
          <a:xfrm flipV="1">
            <a:off x="6996223" y="3556990"/>
            <a:ext cx="1382233" cy="1"/>
          </a:xfrm>
          <a:prstGeom prst="line">
            <a:avLst/>
          </a:prstGeom>
          <a:ln>
            <a:solidFill>
              <a:srgbClr val="953734"/>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68817C3-3B0E-44F0-B8A0-75FA40266577}"/>
              </a:ext>
            </a:extLst>
          </p:cNvPr>
          <p:cNvCxnSpPr>
            <a:stCxn id="13" idx="3"/>
          </p:cNvCxnSpPr>
          <p:nvPr/>
        </p:nvCxnSpPr>
        <p:spPr>
          <a:xfrm flipV="1">
            <a:off x="6996223" y="4109484"/>
            <a:ext cx="1339703" cy="372940"/>
          </a:xfrm>
          <a:prstGeom prst="line">
            <a:avLst/>
          </a:prstGeom>
          <a:ln>
            <a:solidFill>
              <a:srgbClr val="953734"/>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352DDB6-370A-4A36-BAA9-689E95F12473}"/>
              </a:ext>
            </a:extLst>
          </p:cNvPr>
          <p:cNvSpPr txBox="1"/>
          <p:nvPr/>
        </p:nvSpPr>
        <p:spPr>
          <a:xfrm>
            <a:off x="8686800" y="2952739"/>
            <a:ext cx="2895600" cy="1200329"/>
          </a:xfrm>
          <a:prstGeom prst="rect">
            <a:avLst/>
          </a:prstGeom>
          <a:noFill/>
        </p:spPr>
        <p:txBody>
          <a:bodyPr wrap="square" rtlCol="0">
            <a:spAutoFit/>
          </a:bodyPr>
          <a:lstStyle/>
          <a:p>
            <a:pPr algn="just"/>
            <a:r>
              <a:rPr lang="ru-RU" dirty="0">
                <a:solidFill>
                  <a:srgbClr val="953734"/>
                </a:solidFill>
              </a:rPr>
              <a:t>Методы с одинаковыми именами, но с разным количеством и/или типом параметров</a:t>
            </a:r>
          </a:p>
        </p:txBody>
      </p:sp>
    </p:spTree>
    <p:extLst>
      <p:ext uri="{BB962C8B-B14F-4D97-AF65-F5344CB8AC3E}">
        <p14:creationId xmlns:p14="http://schemas.microsoft.com/office/powerpoint/2010/main" val="3871638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E7F8A-59B7-4C1C-A545-556E847919F3}"/>
              </a:ext>
            </a:extLst>
          </p:cNvPr>
          <p:cNvSpPr>
            <a:spLocks noGrp="1"/>
          </p:cNvSpPr>
          <p:nvPr>
            <p:ph type="title"/>
          </p:nvPr>
        </p:nvSpPr>
        <p:spPr/>
        <p:txBody>
          <a:bodyPr>
            <a:normAutofit fontScale="90000"/>
          </a:bodyPr>
          <a:lstStyle/>
          <a:p>
            <a:r>
              <a:rPr lang="ru-RU" dirty="0"/>
              <a:t>Произвольное количество аргументов</a:t>
            </a:r>
          </a:p>
        </p:txBody>
      </p:sp>
      <p:sp>
        <p:nvSpPr>
          <p:cNvPr id="3" name="Content Placeholder 2">
            <a:extLst>
              <a:ext uri="{FF2B5EF4-FFF2-40B4-BE49-F238E27FC236}">
                <a16:creationId xmlns:a16="http://schemas.microsoft.com/office/drawing/2014/main" id="{437D475B-ED94-4D9B-9B6E-689933E83636}"/>
              </a:ext>
            </a:extLst>
          </p:cNvPr>
          <p:cNvSpPr>
            <a:spLocks noGrp="1"/>
          </p:cNvSpPr>
          <p:nvPr>
            <p:ph idx="1"/>
          </p:nvPr>
        </p:nvSpPr>
        <p:spPr>
          <a:xfrm>
            <a:off x="609600" y="1904989"/>
            <a:ext cx="10972800" cy="1524011"/>
          </a:xfrm>
        </p:spPr>
        <p:txBody>
          <a:bodyPr>
            <a:normAutofit fontScale="62500" lnSpcReduction="20000"/>
          </a:bodyPr>
          <a:lstStyle/>
          <a:p>
            <a:pPr marL="0" indent="0">
              <a:buNone/>
            </a:pPr>
            <a:r>
              <a:rPr lang="ru-RU" sz="5800" dirty="0" err="1"/>
              <a:t>Variable</a:t>
            </a:r>
            <a:r>
              <a:rPr lang="ru-RU" sz="5800" dirty="0"/>
              <a:t> </a:t>
            </a:r>
            <a:r>
              <a:rPr lang="ru-RU" sz="5800" dirty="0" err="1"/>
              <a:t>Arguments</a:t>
            </a:r>
            <a:r>
              <a:rPr lang="ru-RU" sz="5800" dirty="0"/>
              <a:t> — это технология, которая позволяет создавать методы с произвольным количеством аргументов.</a:t>
            </a:r>
            <a:endParaRPr lang="en-US" sz="5800" dirty="0"/>
          </a:p>
        </p:txBody>
      </p:sp>
      <p:pic>
        <p:nvPicPr>
          <p:cNvPr id="6" name="Picture 5">
            <a:extLst>
              <a:ext uri="{FF2B5EF4-FFF2-40B4-BE49-F238E27FC236}">
                <a16:creationId xmlns:a16="http://schemas.microsoft.com/office/drawing/2014/main" id="{45775091-9409-4CBC-90D2-F4697012E683}"/>
              </a:ext>
            </a:extLst>
          </p:cNvPr>
          <p:cNvPicPr>
            <a:picLocks noChangeAspect="1"/>
          </p:cNvPicPr>
          <p:nvPr/>
        </p:nvPicPr>
        <p:blipFill>
          <a:blip r:embed="rId3"/>
          <a:stretch>
            <a:fillRect/>
          </a:stretch>
        </p:blipFill>
        <p:spPr>
          <a:xfrm>
            <a:off x="2585041" y="3390127"/>
            <a:ext cx="7021917" cy="28011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24861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4B2AE-2F49-40CE-A4AB-221AEB681D80}"/>
              </a:ext>
            </a:extLst>
          </p:cNvPr>
          <p:cNvSpPr>
            <a:spLocks noGrp="1"/>
          </p:cNvSpPr>
          <p:nvPr>
            <p:ph type="title"/>
          </p:nvPr>
        </p:nvSpPr>
        <p:spPr/>
        <p:txBody>
          <a:bodyPr>
            <a:normAutofit fontScale="90000"/>
          </a:bodyPr>
          <a:lstStyle/>
          <a:p>
            <a:r>
              <a:rPr lang="ru-RU" dirty="0"/>
              <a:t>Произвольное количество аргументов</a:t>
            </a:r>
          </a:p>
        </p:txBody>
      </p:sp>
      <p:sp>
        <p:nvSpPr>
          <p:cNvPr id="3" name="Content Placeholder 2">
            <a:extLst>
              <a:ext uri="{FF2B5EF4-FFF2-40B4-BE49-F238E27FC236}">
                <a16:creationId xmlns:a16="http://schemas.microsoft.com/office/drawing/2014/main" id="{68E2A83D-7A96-40E5-812C-C3852BB46A80}"/>
              </a:ext>
            </a:extLst>
          </p:cNvPr>
          <p:cNvSpPr>
            <a:spLocks noGrp="1"/>
          </p:cNvSpPr>
          <p:nvPr>
            <p:ph idx="1"/>
          </p:nvPr>
        </p:nvSpPr>
        <p:spPr>
          <a:xfrm>
            <a:off x="609600" y="2009553"/>
            <a:ext cx="10972800" cy="4116611"/>
          </a:xfrm>
        </p:spPr>
        <p:txBody>
          <a:bodyPr>
            <a:normAutofit fontScale="62500" lnSpcReduction="20000"/>
          </a:bodyPr>
          <a:lstStyle/>
          <a:p>
            <a:r>
              <a:rPr lang="ru-RU" dirty="0" err="1"/>
              <a:t>Vararg</a:t>
            </a:r>
            <a:r>
              <a:rPr lang="ru-RU" dirty="0"/>
              <a:t> аргумент (или же аргумент переменной/произвольной длины) обозначается через троеточие.</a:t>
            </a:r>
          </a:p>
          <a:p>
            <a:r>
              <a:rPr lang="ru-RU" dirty="0"/>
              <a:t>Аргумент произвольной длины может быть указан только как аргумент некоторого метода.</a:t>
            </a:r>
            <a:endParaRPr lang="en-US" dirty="0"/>
          </a:p>
          <a:p>
            <a:r>
              <a:rPr lang="ru-RU" sz="4400" spc="-1" dirty="0">
                <a:solidFill>
                  <a:schemeClr val="accent3"/>
                </a:solidFill>
                <a:latin typeface="Calibri" panose="020F0502020204030204" pitchFamily="34" charset="0"/>
                <a:cs typeface="Calibri" panose="020F0502020204030204" pitchFamily="34" charset="0"/>
              </a:rPr>
              <a:t>Каждый такой аргумент переменной длины в теле метода является массивом</a:t>
            </a:r>
          </a:p>
          <a:p>
            <a:r>
              <a:rPr lang="ru-RU" dirty="0" err="1"/>
              <a:t>Vararg</a:t>
            </a:r>
            <a:r>
              <a:rPr lang="ru-RU" dirty="0"/>
              <a:t> аргумент должен быть последним в списке аргументов метода</a:t>
            </a:r>
          </a:p>
          <a:p>
            <a:r>
              <a:rPr lang="ru-RU" dirty="0"/>
              <a:t>Несмотря на то, что </a:t>
            </a:r>
            <a:r>
              <a:rPr lang="ru-RU" dirty="0" err="1"/>
              <a:t>varargs</a:t>
            </a:r>
            <a:r>
              <a:rPr lang="ru-RU" dirty="0"/>
              <a:t> являются массивами, при вызове метода, который принимает аргументы переменной длины, не обязательно создавать массив. Достаточно и даже желательно просто перечислить необходимые аргументы через запятую</a:t>
            </a:r>
          </a:p>
          <a:p>
            <a:endParaRPr lang="ru-RU" dirty="0"/>
          </a:p>
        </p:txBody>
      </p:sp>
    </p:spTree>
    <p:extLst>
      <p:ext uri="{BB962C8B-B14F-4D97-AF65-F5344CB8AC3E}">
        <p14:creationId xmlns:p14="http://schemas.microsoft.com/office/powerpoint/2010/main" val="878145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72E0B-E7BF-4C3A-B7DA-F0215108317D}"/>
              </a:ext>
            </a:extLst>
          </p:cNvPr>
          <p:cNvSpPr>
            <a:spLocks noGrp="1"/>
          </p:cNvSpPr>
          <p:nvPr>
            <p:ph type="title"/>
          </p:nvPr>
        </p:nvSpPr>
        <p:spPr/>
        <p:txBody>
          <a:bodyPr>
            <a:normAutofit fontScale="90000"/>
          </a:bodyPr>
          <a:lstStyle/>
          <a:p>
            <a:r>
              <a:rPr lang="ru-RU" dirty="0"/>
              <a:t>Полиморфизм времени выполнения</a:t>
            </a:r>
          </a:p>
        </p:txBody>
      </p:sp>
      <p:sp>
        <p:nvSpPr>
          <p:cNvPr id="3" name="Content Placeholder 2">
            <a:extLst>
              <a:ext uri="{FF2B5EF4-FFF2-40B4-BE49-F238E27FC236}">
                <a16:creationId xmlns:a16="http://schemas.microsoft.com/office/drawing/2014/main" id="{4832C6C1-4E47-4BC9-AF2E-A4E6AB5FC308}"/>
              </a:ext>
            </a:extLst>
          </p:cNvPr>
          <p:cNvSpPr>
            <a:spLocks noGrp="1"/>
          </p:cNvSpPr>
          <p:nvPr>
            <p:ph idx="1"/>
          </p:nvPr>
        </p:nvSpPr>
        <p:spPr/>
        <p:txBody>
          <a:bodyPr/>
          <a:lstStyle/>
          <a:p>
            <a:r>
              <a:rPr lang="ru-RU" dirty="0"/>
              <a:t>Еще называется </a:t>
            </a:r>
            <a:r>
              <a:rPr lang="ru-RU" b="1" dirty="0"/>
              <a:t>динамическое связывание</a:t>
            </a:r>
            <a:r>
              <a:rPr lang="ru-RU" dirty="0"/>
              <a:t>, </a:t>
            </a:r>
            <a:r>
              <a:rPr lang="ru-RU" b="1" dirty="0"/>
              <a:t>динамический полиморфизм</a:t>
            </a:r>
          </a:p>
          <a:p>
            <a:r>
              <a:rPr lang="ru-RU" dirty="0"/>
              <a:t>Достигается </a:t>
            </a:r>
            <a:r>
              <a:rPr lang="ru-RU" b="1" dirty="0"/>
              <a:t>переопределением методов</a:t>
            </a:r>
            <a:r>
              <a:rPr lang="ru-RU" dirty="0"/>
              <a:t>-членов</a:t>
            </a:r>
            <a:r>
              <a:rPr lang="ru-RU" b="1" dirty="0"/>
              <a:t> </a:t>
            </a:r>
            <a:r>
              <a:rPr lang="ru-RU" dirty="0"/>
              <a:t>родительского класса в дочернем классе</a:t>
            </a:r>
          </a:p>
          <a:p>
            <a:endParaRPr lang="ru-RU" dirty="0"/>
          </a:p>
        </p:txBody>
      </p:sp>
    </p:spTree>
    <p:extLst>
      <p:ext uri="{BB962C8B-B14F-4D97-AF65-F5344CB8AC3E}">
        <p14:creationId xmlns:p14="http://schemas.microsoft.com/office/powerpoint/2010/main" val="914507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E4CAF-1D99-4AA8-9539-0E3DA0B16B6A}"/>
              </a:ext>
            </a:extLst>
          </p:cNvPr>
          <p:cNvSpPr>
            <a:spLocks noGrp="1"/>
          </p:cNvSpPr>
          <p:nvPr>
            <p:ph type="title"/>
          </p:nvPr>
        </p:nvSpPr>
        <p:spPr/>
        <p:txBody>
          <a:bodyPr/>
          <a:lstStyle/>
          <a:p>
            <a:r>
              <a:rPr lang="ru-RU" dirty="0"/>
              <a:t>Переопределение метода</a:t>
            </a:r>
          </a:p>
        </p:txBody>
      </p:sp>
      <p:pic>
        <p:nvPicPr>
          <p:cNvPr id="4" name="Content Placeholder 3">
            <a:extLst>
              <a:ext uri="{FF2B5EF4-FFF2-40B4-BE49-F238E27FC236}">
                <a16:creationId xmlns:a16="http://schemas.microsoft.com/office/drawing/2014/main" id="{58425DF6-7B8A-46DB-8FA1-C6B3C7FDB416}"/>
              </a:ext>
            </a:extLst>
          </p:cNvPr>
          <p:cNvPicPr>
            <a:picLocks noGrp="1" noChangeAspect="1"/>
          </p:cNvPicPr>
          <p:nvPr>
            <p:ph idx="1"/>
          </p:nvPr>
        </p:nvPicPr>
        <p:blipFill>
          <a:blip r:embed="rId3"/>
          <a:stretch>
            <a:fillRect/>
          </a:stretch>
        </p:blipFill>
        <p:spPr>
          <a:xfrm>
            <a:off x="1810134" y="1890715"/>
            <a:ext cx="4066128" cy="4700598"/>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6131F212-934D-495A-9FAB-9CFB8D1709B6}"/>
              </a:ext>
            </a:extLst>
          </p:cNvPr>
          <p:cNvPicPr>
            <a:picLocks noChangeAspect="1"/>
          </p:cNvPicPr>
          <p:nvPr/>
        </p:nvPicPr>
        <p:blipFill>
          <a:blip r:embed="rId4"/>
          <a:stretch>
            <a:fillRect/>
          </a:stretch>
        </p:blipFill>
        <p:spPr>
          <a:xfrm>
            <a:off x="6315739" y="1890715"/>
            <a:ext cx="4728669" cy="2133375"/>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4F55107D-EF6C-41BF-9589-7FE3C43D34FF}"/>
              </a:ext>
            </a:extLst>
          </p:cNvPr>
          <p:cNvPicPr>
            <a:picLocks noChangeAspect="1"/>
          </p:cNvPicPr>
          <p:nvPr/>
        </p:nvPicPr>
        <p:blipFill>
          <a:blip r:embed="rId5"/>
          <a:stretch>
            <a:fillRect/>
          </a:stretch>
        </p:blipFill>
        <p:spPr>
          <a:xfrm>
            <a:off x="6315076" y="4241014"/>
            <a:ext cx="4728670" cy="2154837"/>
          </a:xfrm>
          <a:prstGeom prst="rect">
            <a:avLst/>
          </a:prstGeom>
        </p:spPr>
      </p:pic>
    </p:spTree>
    <p:extLst>
      <p:ext uri="{BB962C8B-B14F-4D97-AF65-F5344CB8AC3E}">
        <p14:creationId xmlns:p14="http://schemas.microsoft.com/office/powerpoint/2010/main" val="2700167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39335-20C5-477D-AD7C-25A1CE205C74}"/>
              </a:ext>
            </a:extLst>
          </p:cNvPr>
          <p:cNvSpPr>
            <a:spLocks noGrp="1"/>
          </p:cNvSpPr>
          <p:nvPr>
            <p:ph type="title"/>
          </p:nvPr>
        </p:nvSpPr>
        <p:spPr/>
        <p:txBody>
          <a:bodyPr/>
          <a:lstStyle/>
          <a:p>
            <a:r>
              <a:rPr lang="ru-RU" dirty="0"/>
              <a:t>Переопределение метода</a:t>
            </a:r>
          </a:p>
        </p:txBody>
      </p:sp>
      <p:sp>
        <p:nvSpPr>
          <p:cNvPr id="4" name="Content Placeholder 3">
            <a:extLst>
              <a:ext uri="{FF2B5EF4-FFF2-40B4-BE49-F238E27FC236}">
                <a16:creationId xmlns:a16="http://schemas.microsoft.com/office/drawing/2014/main" id="{0B23E84D-1894-46CD-A921-231FEEBCD506}"/>
              </a:ext>
            </a:extLst>
          </p:cNvPr>
          <p:cNvSpPr txBox="1">
            <a:spLocks noGrp="1"/>
          </p:cNvSpPr>
          <p:nvPr>
            <p:ph idx="1"/>
          </p:nvPr>
        </p:nvSpPr>
        <p:spPr>
          <a:xfrm>
            <a:off x="609600" y="1809739"/>
            <a:ext cx="8693888" cy="4339650"/>
          </a:xfrm>
          <a:prstGeom prst="rect">
            <a:avLst/>
          </a:prstGeom>
          <a:noFill/>
        </p:spPr>
        <p:txBody>
          <a:bodyPr wrap="square" rtlCol="0">
            <a:spAutoFit/>
          </a:bodyPr>
          <a:lstStyle/>
          <a:p>
            <a:pPr marL="285750" indent="-285750"/>
            <a:r>
              <a:rPr lang="ru-RU" sz="2000" b="1" dirty="0"/>
              <a:t>Переопределение метода </a:t>
            </a:r>
            <a:r>
              <a:rPr lang="ru-RU" sz="2000" dirty="0"/>
              <a:t>(англ. </a:t>
            </a:r>
            <a:r>
              <a:rPr lang="ru-RU" sz="2000" dirty="0" err="1"/>
              <a:t>Method</a:t>
            </a:r>
            <a:r>
              <a:rPr lang="ru-RU" sz="2000" dirty="0"/>
              <a:t> </a:t>
            </a:r>
            <a:r>
              <a:rPr lang="ru-RU" sz="2000" dirty="0" err="1"/>
              <a:t>overriding</a:t>
            </a:r>
            <a:r>
              <a:rPr lang="ru-RU" sz="2000" dirty="0"/>
              <a:t>) — одна из возможностей языка программирования, позволяющая дочернему классу обеспечивать специфическую реализацию метода, уже реализованного в одном из родительских классов.</a:t>
            </a:r>
            <a:endParaRPr lang="en-US" sz="2000" dirty="0"/>
          </a:p>
          <a:p>
            <a:pPr marL="285750" indent="-285750"/>
            <a:r>
              <a:rPr lang="ru-RU" sz="2000" spc="-1" dirty="0">
                <a:solidFill>
                  <a:srgbClr val="244061"/>
                </a:solidFill>
                <a:ea typeface="DejaVu Sans"/>
              </a:rPr>
              <a:t>Переопределение происходит, когда сигнатура у исходного метода и у "нового" метода одинаковая.</a:t>
            </a:r>
            <a:endParaRPr lang="en-US" sz="2000" spc="-1" dirty="0">
              <a:solidFill>
                <a:srgbClr val="244061"/>
              </a:solidFill>
              <a:ea typeface="DejaVu Sans"/>
            </a:endParaRPr>
          </a:p>
          <a:p>
            <a:pPr marL="285750" indent="-285750"/>
            <a:r>
              <a:rPr lang="ru-RU" sz="2000" spc="-1" dirty="0">
                <a:solidFill>
                  <a:srgbClr val="244061"/>
                </a:solidFill>
                <a:ea typeface="DejaVu Sans"/>
                <a:cs typeface="Courier New" panose="02070309020205020404" pitchFamily="49" charset="0"/>
              </a:rPr>
              <a:t>Аннотация</a:t>
            </a:r>
            <a:r>
              <a:rPr lang="ru-RU" sz="2000" spc="-1" dirty="0">
                <a:solidFill>
                  <a:srgbClr val="244061"/>
                </a:solidFill>
                <a:latin typeface="Courier New" panose="02070309020205020404" pitchFamily="49" charset="0"/>
                <a:ea typeface="DejaVu Sans"/>
                <a:cs typeface="Courier New" panose="02070309020205020404" pitchFamily="49" charset="0"/>
              </a:rPr>
              <a:t> </a:t>
            </a:r>
            <a:r>
              <a:rPr lang="ru-RU" sz="2000" i="1" spc="-1" dirty="0">
                <a:solidFill>
                  <a:schemeClr val="accent4">
                    <a:lumMod val="10000"/>
                  </a:schemeClr>
                </a:solidFill>
                <a:latin typeface="Courier New" panose="02070309020205020404" pitchFamily="49" charset="0"/>
                <a:ea typeface="DejaVu Sans"/>
                <a:cs typeface="Courier New" panose="02070309020205020404" pitchFamily="49" charset="0"/>
              </a:rPr>
              <a:t>@</a:t>
            </a:r>
            <a:r>
              <a:rPr lang="ru-RU" sz="2000" i="1" spc="-1" dirty="0" err="1">
                <a:solidFill>
                  <a:schemeClr val="accent4">
                    <a:lumMod val="10000"/>
                  </a:schemeClr>
                </a:solidFill>
                <a:latin typeface="Courier New" panose="02070309020205020404" pitchFamily="49" charset="0"/>
                <a:ea typeface="DejaVu Sans"/>
                <a:cs typeface="Courier New" panose="02070309020205020404" pitchFamily="49" charset="0"/>
              </a:rPr>
              <a:t>Override</a:t>
            </a:r>
            <a:r>
              <a:rPr lang="ru-RU" sz="2000" i="1" spc="-1" dirty="0">
                <a:solidFill>
                  <a:schemeClr val="accent4">
                    <a:lumMod val="10000"/>
                  </a:schemeClr>
                </a:solidFill>
                <a:latin typeface="Courier New" panose="02070309020205020404" pitchFamily="49" charset="0"/>
                <a:ea typeface="DejaVu Sans"/>
                <a:cs typeface="Courier New" panose="02070309020205020404" pitchFamily="49" charset="0"/>
              </a:rPr>
              <a:t> </a:t>
            </a:r>
            <a:r>
              <a:rPr lang="ru-RU" sz="2000" spc="-1" dirty="0">
                <a:solidFill>
                  <a:srgbClr val="244061"/>
                </a:solidFill>
                <a:ea typeface="DejaVu Sans"/>
              </a:rPr>
              <a:t>сигнализирует компилятору о необходимости проверить – переопределяем ли метод.</a:t>
            </a:r>
            <a:endParaRPr lang="en-US" sz="2000" dirty="0"/>
          </a:p>
          <a:p>
            <a:pPr marL="285750" indent="-285750"/>
            <a:r>
              <a:rPr lang="ru-RU" sz="2000" dirty="0"/>
              <a:t>При переопределении метода он должен иметь уровень доступа не меньше, чем уровень доступа в базовом класса. </a:t>
            </a:r>
          </a:p>
          <a:p>
            <a:pPr marL="285750" indent="-285750">
              <a:buFont typeface="Arial" panose="020B0604020202020204" pitchFamily="34" charset="0"/>
              <a:buChar char="•"/>
            </a:pPr>
            <a:r>
              <a:rPr lang="en-US" sz="2000" b="1" dirty="0"/>
              <a:t>Dynamic method lookup</a:t>
            </a:r>
            <a:r>
              <a:rPr lang="ru-RU" sz="2000" b="1" dirty="0"/>
              <a:t> </a:t>
            </a:r>
            <a:r>
              <a:rPr lang="ru-RU" sz="2000" dirty="0"/>
              <a:t>- При вызове переопределенного метода виртуальная машина динамически находит и вызывает именно ту версию метода, которая определена в подклассе.</a:t>
            </a:r>
            <a:endParaRPr lang="ru-RU" sz="2000" b="1" dirty="0"/>
          </a:p>
        </p:txBody>
      </p:sp>
      <p:sp>
        <p:nvSpPr>
          <p:cNvPr id="3" name="TextBox 2">
            <a:extLst>
              <a:ext uri="{FF2B5EF4-FFF2-40B4-BE49-F238E27FC236}">
                <a16:creationId xmlns:a16="http://schemas.microsoft.com/office/drawing/2014/main" id="{E9BBD3DB-1D8A-401F-B204-E2282822D08F}"/>
              </a:ext>
            </a:extLst>
          </p:cNvPr>
          <p:cNvSpPr txBox="1"/>
          <p:nvPr/>
        </p:nvSpPr>
        <p:spPr>
          <a:xfrm>
            <a:off x="9197163" y="2869205"/>
            <a:ext cx="2828260" cy="738664"/>
          </a:xfrm>
          <a:prstGeom prst="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400" dirty="0">
                <a:latin typeface="Courier New" panose="02070309020205020404" pitchFamily="49" charset="0"/>
                <a:cs typeface="Courier New" panose="02070309020205020404" pitchFamily="49" charset="0"/>
              </a:rPr>
              <a:t>class </a:t>
            </a:r>
            <a:r>
              <a:rPr lang="en-US" sz="1400" dirty="0" err="1">
                <a:latin typeface="Courier New" panose="02070309020205020404" pitchFamily="49" charset="0"/>
                <a:cs typeface="Courier New" panose="02070309020205020404" pitchFamily="49" charset="0"/>
              </a:rPr>
              <a:t>ParentClass</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public void method();</a:t>
            </a:r>
          </a:p>
          <a:p>
            <a:r>
              <a:rPr lang="en-US" sz="1400" dirty="0">
                <a:latin typeface="Courier New" panose="02070309020205020404" pitchFamily="49" charset="0"/>
                <a:cs typeface="Courier New" panose="02070309020205020404" pitchFamily="49" charset="0"/>
              </a:rPr>
              <a:t>}</a:t>
            </a:r>
            <a:endParaRPr lang="ru-RU" sz="1400" dirty="0">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EE3C9729-DBBA-4DA1-998B-95EF29381924}"/>
              </a:ext>
            </a:extLst>
          </p:cNvPr>
          <p:cNvSpPr txBox="1"/>
          <p:nvPr/>
        </p:nvSpPr>
        <p:spPr>
          <a:xfrm>
            <a:off x="9197163" y="4273815"/>
            <a:ext cx="2828260" cy="1384995"/>
          </a:xfrm>
          <a:prstGeom prst="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400" dirty="0">
                <a:latin typeface="Courier New" panose="02070309020205020404" pitchFamily="49" charset="0"/>
                <a:cs typeface="Courier New" panose="02070309020205020404" pitchFamily="49" charset="0"/>
              </a:rPr>
              <a:t>class </a:t>
            </a:r>
            <a:r>
              <a:rPr lang="en-US" sz="1400" dirty="0" err="1">
                <a:latin typeface="Courier New" panose="02070309020205020404" pitchFamily="49" charset="0"/>
                <a:cs typeface="Courier New" panose="02070309020205020404" pitchFamily="49" charset="0"/>
              </a:rPr>
              <a:t>ChildClass</a:t>
            </a:r>
            <a:r>
              <a:rPr lang="en-US" sz="1400" dirty="0">
                <a:latin typeface="Courier New" panose="02070309020205020404" pitchFamily="49" charset="0"/>
                <a:cs typeface="Courier New" panose="02070309020205020404" pitchFamily="49" charset="0"/>
              </a:rPr>
              <a:t> extends </a:t>
            </a:r>
            <a:r>
              <a:rPr lang="en-US" sz="1400" dirty="0" err="1">
                <a:latin typeface="Courier New" panose="02070309020205020404" pitchFamily="49" charset="0"/>
                <a:cs typeface="Courier New" panose="02070309020205020404" pitchFamily="49" charset="0"/>
              </a:rPr>
              <a:t>ParentClass</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@Override</a:t>
            </a:r>
          </a:p>
          <a:p>
            <a:r>
              <a:rPr lang="en-US" sz="1400" dirty="0">
                <a:latin typeface="Courier New" panose="02070309020205020404" pitchFamily="49" charset="0"/>
                <a:cs typeface="Courier New" panose="02070309020205020404" pitchFamily="49" charset="0"/>
              </a:rPr>
              <a:t>   public void method(){</a:t>
            </a:r>
          </a:p>
          <a:p>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a:t>
            </a:r>
            <a:endParaRPr lang="ru-RU" sz="1400" dirty="0">
              <a:latin typeface="Courier New" panose="02070309020205020404" pitchFamily="49" charset="0"/>
              <a:cs typeface="Courier New" panose="02070309020205020404" pitchFamily="49" charset="0"/>
            </a:endParaRPr>
          </a:p>
        </p:txBody>
      </p:sp>
      <p:cxnSp>
        <p:nvCxnSpPr>
          <p:cNvPr id="7" name="Straight Arrow Connector 6">
            <a:extLst>
              <a:ext uri="{FF2B5EF4-FFF2-40B4-BE49-F238E27FC236}">
                <a16:creationId xmlns:a16="http://schemas.microsoft.com/office/drawing/2014/main" id="{8139A37D-8C81-4B1A-8979-66B9CEF7AF7C}"/>
              </a:ext>
            </a:extLst>
          </p:cNvPr>
          <p:cNvCxnSpPr>
            <a:stCxn id="3" idx="2"/>
            <a:endCxn id="5" idx="0"/>
          </p:cNvCxnSpPr>
          <p:nvPr/>
        </p:nvCxnSpPr>
        <p:spPr>
          <a:xfrm>
            <a:off x="10611293" y="3607869"/>
            <a:ext cx="0" cy="665946"/>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602107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76794-FF65-43A5-8340-0C2E1E67D8FD}"/>
              </a:ext>
            </a:extLst>
          </p:cNvPr>
          <p:cNvSpPr>
            <a:spLocks noGrp="1"/>
          </p:cNvSpPr>
          <p:nvPr>
            <p:ph type="title"/>
          </p:nvPr>
        </p:nvSpPr>
        <p:spPr/>
        <p:txBody>
          <a:bodyPr/>
          <a:lstStyle/>
          <a:p>
            <a:r>
              <a:rPr lang="ru-RU" dirty="0"/>
              <a:t>Абстрактные методы и классы</a:t>
            </a:r>
          </a:p>
        </p:txBody>
      </p:sp>
      <p:sp>
        <p:nvSpPr>
          <p:cNvPr id="3" name="Content Placeholder 2">
            <a:extLst>
              <a:ext uri="{FF2B5EF4-FFF2-40B4-BE49-F238E27FC236}">
                <a16:creationId xmlns:a16="http://schemas.microsoft.com/office/drawing/2014/main" id="{4BA37005-4467-4A5A-B9A8-AB01D833A121}"/>
              </a:ext>
            </a:extLst>
          </p:cNvPr>
          <p:cNvSpPr>
            <a:spLocks noGrp="1"/>
          </p:cNvSpPr>
          <p:nvPr>
            <p:ph idx="1"/>
          </p:nvPr>
        </p:nvSpPr>
        <p:spPr>
          <a:xfrm>
            <a:off x="609599" y="1904989"/>
            <a:ext cx="8055935" cy="4697830"/>
          </a:xfrm>
        </p:spPr>
        <p:txBody>
          <a:bodyPr>
            <a:noAutofit/>
          </a:bodyPr>
          <a:lstStyle/>
          <a:p>
            <a:r>
              <a:rPr lang="ru-RU" sz="2500" spc="-1" dirty="0">
                <a:solidFill>
                  <a:srgbClr val="244061"/>
                </a:solidFill>
                <a:ea typeface="DejaVu Sans"/>
              </a:rPr>
              <a:t>Абстрактный метод состоит только из объявления и не имеет тела.</a:t>
            </a:r>
          </a:p>
          <a:p>
            <a:r>
              <a:rPr lang="ru-RU" sz="2500" dirty="0"/>
              <a:t>Абстрактный метод не может быть объявлен как </a:t>
            </a:r>
            <a:r>
              <a:rPr lang="ru-RU" sz="2500" i="1" dirty="0" err="1">
                <a:solidFill>
                  <a:schemeClr val="accent4">
                    <a:lumMod val="10000"/>
                  </a:schemeClr>
                </a:solidFill>
                <a:latin typeface="Courier New" panose="02070309020205020404" pitchFamily="49" charset="0"/>
                <a:cs typeface="Courier New" panose="02070309020205020404" pitchFamily="49" charset="0"/>
              </a:rPr>
              <a:t>final</a:t>
            </a:r>
            <a:r>
              <a:rPr lang="ru-RU" sz="2500" dirty="0"/>
              <a:t> или </a:t>
            </a:r>
            <a:r>
              <a:rPr lang="ru-RU" sz="2500" i="1" dirty="0" err="1">
                <a:solidFill>
                  <a:schemeClr val="accent4">
                    <a:lumMod val="10000"/>
                  </a:schemeClr>
                </a:solidFill>
                <a:latin typeface="Courier New" panose="02070309020205020404" pitchFamily="49" charset="0"/>
                <a:cs typeface="Courier New" panose="02070309020205020404" pitchFamily="49" charset="0"/>
              </a:rPr>
              <a:t>private</a:t>
            </a:r>
            <a:r>
              <a:rPr lang="ru-RU" sz="2500" dirty="0"/>
              <a:t>.</a:t>
            </a:r>
          </a:p>
          <a:p>
            <a:r>
              <a:rPr lang="ru-RU" sz="2500" dirty="0"/>
              <a:t>Абстрактный метод обязательно должен объявляться внутри абстрактного класса.</a:t>
            </a:r>
          </a:p>
          <a:p>
            <a:r>
              <a:rPr lang="ru-RU" sz="2500" dirty="0"/>
              <a:t>Класс, содержащий хотя бы один абстрактный метод, называется абстрактным классом. </a:t>
            </a:r>
          </a:p>
          <a:p>
            <a:r>
              <a:rPr lang="ru-RU" sz="2500" spc="-1" dirty="0">
                <a:solidFill>
                  <a:srgbClr val="244061"/>
                </a:solidFill>
                <a:ea typeface="DejaVu Sans"/>
              </a:rPr>
              <a:t>Такие методы и классы помечаются ключевым словом </a:t>
            </a:r>
            <a:r>
              <a:rPr lang="ru-RU" sz="2500" spc="-1" dirty="0" err="1">
                <a:solidFill>
                  <a:schemeClr val="accent4">
                    <a:lumMod val="10000"/>
                  </a:schemeClr>
                </a:solidFill>
                <a:latin typeface="Courier New" panose="02070309020205020404" pitchFamily="49" charset="0"/>
                <a:ea typeface="DejaVu Sans"/>
                <a:cs typeface="Courier New" panose="02070309020205020404" pitchFamily="49" charset="0"/>
              </a:rPr>
              <a:t>abstract</a:t>
            </a:r>
            <a:r>
              <a:rPr lang="ru-RU" sz="2500" spc="-1" dirty="0">
                <a:solidFill>
                  <a:srgbClr val="244061"/>
                </a:solidFill>
                <a:ea typeface="DejaVu Sans"/>
              </a:rPr>
              <a:t>.</a:t>
            </a:r>
          </a:p>
        </p:txBody>
      </p:sp>
      <p:pic>
        <p:nvPicPr>
          <p:cNvPr id="5" name="Picture 4">
            <a:extLst>
              <a:ext uri="{FF2B5EF4-FFF2-40B4-BE49-F238E27FC236}">
                <a16:creationId xmlns:a16="http://schemas.microsoft.com/office/drawing/2014/main" id="{91159D4B-BAD9-4203-8E09-2B15355ADB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7270" y="2197384"/>
            <a:ext cx="2765130" cy="3587196"/>
          </a:xfrm>
          <a:prstGeom prst="rect">
            <a:avLst/>
          </a:prstGeom>
          <a:ln>
            <a:noFill/>
          </a:ln>
          <a:effectLst>
            <a:softEdge rad="112500"/>
          </a:effectLst>
        </p:spPr>
      </p:pic>
    </p:spTree>
    <p:extLst>
      <p:ext uri="{BB962C8B-B14F-4D97-AF65-F5344CB8AC3E}">
        <p14:creationId xmlns:p14="http://schemas.microsoft.com/office/powerpoint/2010/main" val="3550313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5D549-7F32-467C-A716-A9B13D5A4A4F}"/>
              </a:ext>
            </a:extLst>
          </p:cNvPr>
          <p:cNvSpPr>
            <a:spLocks noGrp="1"/>
          </p:cNvSpPr>
          <p:nvPr>
            <p:ph type="title"/>
          </p:nvPr>
        </p:nvSpPr>
        <p:spPr/>
        <p:txBody>
          <a:bodyPr/>
          <a:lstStyle/>
          <a:p>
            <a:r>
              <a:rPr lang="ru-RU" dirty="0"/>
              <a:t>Абстрактные классы</a:t>
            </a:r>
          </a:p>
        </p:txBody>
      </p:sp>
      <p:sp>
        <p:nvSpPr>
          <p:cNvPr id="3" name="Content Placeholder 2">
            <a:extLst>
              <a:ext uri="{FF2B5EF4-FFF2-40B4-BE49-F238E27FC236}">
                <a16:creationId xmlns:a16="http://schemas.microsoft.com/office/drawing/2014/main" id="{B836899F-0FFF-45D9-AA36-AC3B2CC1FFA3}"/>
              </a:ext>
            </a:extLst>
          </p:cNvPr>
          <p:cNvSpPr>
            <a:spLocks noGrp="1"/>
          </p:cNvSpPr>
          <p:nvPr>
            <p:ph idx="1"/>
          </p:nvPr>
        </p:nvSpPr>
        <p:spPr/>
        <p:txBody>
          <a:bodyPr>
            <a:normAutofit fontScale="92500" lnSpcReduction="20000"/>
          </a:bodyPr>
          <a:lstStyle/>
          <a:p>
            <a:r>
              <a:rPr lang="ru-RU" dirty="0"/>
              <a:t>Нельзя создать объект или экземпляр абстрактного класса.</a:t>
            </a:r>
          </a:p>
          <a:p>
            <a:r>
              <a:rPr lang="ru-RU" dirty="0"/>
              <a:t>Производный класс обязан переопределить и реализовать все абстрактные методы, которые имеются в базовом абстрактном классе.</a:t>
            </a:r>
          </a:p>
          <a:p>
            <a:r>
              <a:rPr lang="ru-RU" dirty="0"/>
              <a:t>Абстрактный класс может расширять только один класс и может реализовывать несколько интерфейсов.</a:t>
            </a:r>
          </a:p>
          <a:p>
            <a:endParaRPr lang="ru-RU" dirty="0"/>
          </a:p>
        </p:txBody>
      </p:sp>
    </p:spTree>
    <p:extLst>
      <p:ext uri="{BB962C8B-B14F-4D97-AF65-F5344CB8AC3E}">
        <p14:creationId xmlns:p14="http://schemas.microsoft.com/office/powerpoint/2010/main" val="1835871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6C8F-1BF7-4207-A77A-16E8890A2312}"/>
              </a:ext>
            </a:extLst>
          </p:cNvPr>
          <p:cNvSpPr>
            <a:spLocks noGrp="1"/>
          </p:cNvSpPr>
          <p:nvPr>
            <p:ph type="title"/>
          </p:nvPr>
        </p:nvSpPr>
        <p:spPr/>
        <p:txBody>
          <a:bodyPr/>
          <a:lstStyle/>
          <a:p>
            <a:r>
              <a:rPr lang="ru-RU" dirty="0"/>
              <a:t>Абстрактный класс </a:t>
            </a:r>
            <a:r>
              <a:rPr lang="en-US" dirty="0"/>
              <a:t>vs </a:t>
            </a:r>
            <a:r>
              <a:rPr lang="ru-RU" dirty="0"/>
              <a:t>Интерфейс </a:t>
            </a:r>
          </a:p>
        </p:txBody>
      </p:sp>
      <p:sp>
        <p:nvSpPr>
          <p:cNvPr id="3" name="Content Placeholder 2">
            <a:extLst>
              <a:ext uri="{FF2B5EF4-FFF2-40B4-BE49-F238E27FC236}">
                <a16:creationId xmlns:a16="http://schemas.microsoft.com/office/drawing/2014/main" id="{367C89ED-077B-4A1C-A692-1BAEC91C6B17}"/>
              </a:ext>
            </a:extLst>
          </p:cNvPr>
          <p:cNvSpPr>
            <a:spLocks noGrp="1"/>
          </p:cNvSpPr>
          <p:nvPr>
            <p:ph idx="1"/>
          </p:nvPr>
        </p:nvSpPr>
        <p:spPr>
          <a:xfrm>
            <a:off x="609600" y="1904989"/>
            <a:ext cx="5762625" cy="4437754"/>
          </a:xfrm>
        </p:spPr>
        <p:txBody>
          <a:bodyPr>
            <a:normAutofit fontScale="62500" lnSpcReduction="20000"/>
          </a:bodyPr>
          <a:lstStyle/>
          <a:p>
            <a:pPr marL="285750" indent="-285750"/>
            <a:r>
              <a:rPr lang="ru-RU" dirty="0"/>
              <a:t>Оба используются для обеспечения полиморфизма</a:t>
            </a:r>
            <a:endParaRPr lang="en-US" dirty="0"/>
          </a:p>
          <a:p>
            <a:pPr marL="285750" indent="-285750"/>
            <a:r>
              <a:rPr lang="ru-RU" dirty="0"/>
              <a:t>Абстрактные классы используются для </a:t>
            </a:r>
            <a:r>
              <a:rPr lang="ru-RU" b="1" dirty="0"/>
              <a:t>Моделирования</a:t>
            </a:r>
            <a:r>
              <a:rPr lang="ru-RU" dirty="0"/>
              <a:t> иерархии похожих классов.</a:t>
            </a:r>
          </a:p>
          <a:p>
            <a:pPr marL="285750" indent="-285750"/>
            <a:r>
              <a:rPr lang="ru-RU" dirty="0"/>
              <a:t>Интерфейс используется для </a:t>
            </a:r>
            <a:r>
              <a:rPr lang="ru-RU" b="1" dirty="0"/>
              <a:t>Коммуникации</a:t>
            </a:r>
            <a:r>
              <a:rPr lang="ru-RU" dirty="0"/>
              <a:t> между двумя аналогичными/не похожими классами, которые не заботятся о типе реализующего интерфейс класса.</a:t>
            </a:r>
          </a:p>
        </p:txBody>
      </p:sp>
      <p:pic>
        <p:nvPicPr>
          <p:cNvPr id="5" name="Picture 4">
            <a:extLst>
              <a:ext uri="{FF2B5EF4-FFF2-40B4-BE49-F238E27FC236}">
                <a16:creationId xmlns:a16="http://schemas.microsoft.com/office/drawing/2014/main" id="{7E19AA49-03DD-4F24-B5DB-9C34B6296032}"/>
              </a:ext>
            </a:extLst>
          </p:cNvPr>
          <p:cNvPicPr>
            <a:picLocks noChangeAspect="1"/>
          </p:cNvPicPr>
          <p:nvPr/>
        </p:nvPicPr>
        <p:blipFill>
          <a:blip r:embed="rId3"/>
          <a:stretch>
            <a:fillRect/>
          </a:stretch>
        </p:blipFill>
        <p:spPr>
          <a:xfrm>
            <a:off x="6372225" y="2718928"/>
            <a:ext cx="5524500" cy="2809875"/>
          </a:xfrm>
          <a:prstGeom prst="rect">
            <a:avLst/>
          </a:prstGeom>
        </p:spPr>
      </p:pic>
    </p:spTree>
    <p:extLst>
      <p:ext uri="{BB962C8B-B14F-4D97-AF65-F5344CB8AC3E}">
        <p14:creationId xmlns:p14="http://schemas.microsoft.com/office/powerpoint/2010/main" val="885826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6CFD6A-83FB-44BF-BCF1-56DD9CE4011D}"/>
              </a:ext>
            </a:extLst>
          </p:cNvPr>
          <p:cNvSpPr>
            <a:spLocks noGrp="1"/>
          </p:cNvSpPr>
          <p:nvPr>
            <p:ph type="title"/>
          </p:nvPr>
        </p:nvSpPr>
        <p:spPr/>
        <p:txBody>
          <a:bodyPr/>
          <a:lstStyle/>
          <a:p>
            <a:r>
              <a:rPr lang="ru-RU" dirty="0"/>
              <a:t>Абстрактный класс </a:t>
            </a:r>
            <a:r>
              <a:rPr lang="en-US" dirty="0"/>
              <a:t>vs </a:t>
            </a:r>
            <a:r>
              <a:rPr lang="ru-RU" dirty="0"/>
              <a:t>Интерфейс </a:t>
            </a:r>
          </a:p>
        </p:txBody>
      </p:sp>
      <p:sp>
        <p:nvSpPr>
          <p:cNvPr id="3" name="Content Placeholder 2">
            <a:extLst>
              <a:ext uri="{FF2B5EF4-FFF2-40B4-BE49-F238E27FC236}">
                <a16:creationId xmlns:a16="http://schemas.microsoft.com/office/drawing/2014/main" id="{629BD70D-F363-46AA-83EB-8339242AC2F5}"/>
              </a:ext>
            </a:extLst>
          </p:cNvPr>
          <p:cNvSpPr>
            <a:spLocks noGrp="1"/>
          </p:cNvSpPr>
          <p:nvPr>
            <p:ph sz="half" idx="1"/>
          </p:nvPr>
        </p:nvSpPr>
        <p:spPr>
          <a:xfrm>
            <a:off x="609601" y="1809740"/>
            <a:ext cx="5384800" cy="4120414"/>
          </a:xfrm>
        </p:spPr>
        <p:txBody>
          <a:bodyPr>
            <a:normAutofit fontScale="77500" lnSpcReduction="20000"/>
          </a:bodyPr>
          <a:lstStyle/>
          <a:p>
            <a:r>
              <a:rPr lang="ru-RU" dirty="0"/>
              <a:t>Интерфейс описывает только поведение. У него нет состояния. </a:t>
            </a:r>
          </a:p>
          <a:p>
            <a:r>
              <a:rPr lang="ru-RU" dirty="0"/>
              <a:t>Интерфейс могут реализовать классы, у которых вообще нет ничего общего.</a:t>
            </a:r>
          </a:p>
          <a:p>
            <a:r>
              <a:rPr lang="ru-RU" dirty="0"/>
              <a:t>Классы могут реализовывать сколько угодно интерфейсов, но.</a:t>
            </a:r>
          </a:p>
        </p:txBody>
      </p:sp>
      <p:sp>
        <p:nvSpPr>
          <p:cNvPr id="5" name="Content Placeholder 4">
            <a:extLst>
              <a:ext uri="{FF2B5EF4-FFF2-40B4-BE49-F238E27FC236}">
                <a16:creationId xmlns:a16="http://schemas.microsoft.com/office/drawing/2014/main" id="{1869C499-89DB-4C14-B5BB-2F936E867BB1}"/>
              </a:ext>
            </a:extLst>
          </p:cNvPr>
          <p:cNvSpPr>
            <a:spLocks noGrp="1"/>
          </p:cNvSpPr>
          <p:nvPr>
            <p:ph sz="half" idx="2"/>
          </p:nvPr>
        </p:nvSpPr>
        <p:spPr>
          <a:xfrm>
            <a:off x="6197599" y="1809739"/>
            <a:ext cx="5384800" cy="4120415"/>
          </a:xfrm>
        </p:spPr>
        <p:txBody>
          <a:bodyPr>
            <a:normAutofit fontScale="77500" lnSpcReduction="20000"/>
          </a:bodyPr>
          <a:lstStyle/>
          <a:p>
            <a:r>
              <a:rPr lang="ru-RU" dirty="0"/>
              <a:t>У абстрактного класса состояние есть: он описывает и то, и другое.</a:t>
            </a:r>
            <a:endParaRPr lang="en-US" dirty="0"/>
          </a:p>
          <a:p>
            <a:r>
              <a:rPr lang="ru-RU" dirty="0"/>
              <a:t>Абстрактный класс связывает между собой и объединяет классы, имеющие очень близкую связь. </a:t>
            </a:r>
          </a:p>
          <a:p>
            <a:r>
              <a:rPr lang="ru-RU" dirty="0"/>
              <a:t>Наследоваться можно только от одного класса</a:t>
            </a:r>
          </a:p>
        </p:txBody>
      </p:sp>
      <p:pic>
        <p:nvPicPr>
          <p:cNvPr id="7" name="Picture 6">
            <a:extLst>
              <a:ext uri="{FF2B5EF4-FFF2-40B4-BE49-F238E27FC236}">
                <a16:creationId xmlns:a16="http://schemas.microsoft.com/office/drawing/2014/main" id="{1092836F-05EF-4B68-AEBF-DAF9BD8275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2895" y="4615847"/>
            <a:ext cx="4267708" cy="2400586"/>
          </a:xfrm>
          <a:prstGeom prst="rect">
            <a:avLst/>
          </a:prstGeom>
        </p:spPr>
      </p:pic>
    </p:spTree>
    <p:extLst>
      <p:ext uri="{BB962C8B-B14F-4D97-AF65-F5344CB8AC3E}">
        <p14:creationId xmlns:p14="http://schemas.microsoft.com/office/powerpoint/2010/main" val="2756740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6C8F-1BF7-4207-A77A-16E8890A2312}"/>
              </a:ext>
            </a:extLst>
          </p:cNvPr>
          <p:cNvSpPr>
            <a:spLocks noGrp="1"/>
          </p:cNvSpPr>
          <p:nvPr>
            <p:ph type="title"/>
          </p:nvPr>
        </p:nvSpPr>
        <p:spPr/>
        <p:txBody>
          <a:bodyPr/>
          <a:lstStyle/>
          <a:p>
            <a:r>
              <a:rPr lang="ru-RU" dirty="0"/>
              <a:t>Абстрактный класс </a:t>
            </a:r>
            <a:r>
              <a:rPr lang="en-US" dirty="0"/>
              <a:t>vs </a:t>
            </a:r>
            <a:r>
              <a:rPr lang="ru-RU" dirty="0"/>
              <a:t>Интерфейс </a:t>
            </a:r>
          </a:p>
        </p:txBody>
      </p:sp>
      <p:sp>
        <p:nvSpPr>
          <p:cNvPr id="3" name="Content Placeholder 2">
            <a:extLst>
              <a:ext uri="{FF2B5EF4-FFF2-40B4-BE49-F238E27FC236}">
                <a16:creationId xmlns:a16="http://schemas.microsoft.com/office/drawing/2014/main" id="{367C89ED-077B-4A1C-A692-1BAEC91C6B17}"/>
              </a:ext>
            </a:extLst>
          </p:cNvPr>
          <p:cNvSpPr>
            <a:spLocks noGrp="1"/>
          </p:cNvSpPr>
          <p:nvPr>
            <p:ph idx="1"/>
          </p:nvPr>
        </p:nvSpPr>
        <p:spPr>
          <a:xfrm>
            <a:off x="609601" y="1904990"/>
            <a:ext cx="10972800" cy="1211668"/>
          </a:xfrm>
        </p:spPr>
        <p:txBody>
          <a:bodyPr>
            <a:normAutofit fontScale="70000" lnSpcReduction="20000"/>
          </a:bodyPr>
          <a:lstStyle/>
          <a:p>
            <a:pPr marL="0" indent="0">
              <a:buNone/>
            </a:pPr>
            <a:r>
              <a:rPr lang="ru-RU" dirty="0"/>
              <a:t>Создать базовый класс Птица с методом </a:t>
            </a:r>
            <a:r>
              <a:rPr lang="en-US" dirty="0"/>
              <a:t>fly()</a:t>
            </a:r>
            <a:r>
              <a:rPr lang="ru-RU" dirty="0"/>
              <a:t> и </a:t>
            </a:r>
            <a:r>
              <a:rPr lang="ru-RU" dirty="0" err="1"/>
              <a:t>отнаследовать</a:t>
            </a:r>
            <a:r>
              <a:rPr lang="ru-RU" dirty="0"/>
              <a:t> от него три потомка Соловей, Воробей, Чайка</a:t>
            </a:r>
          </a:p>
          <a:p>
            <a:pPr marL="0" indent="0">
              <a:buNone/>
            </a:pPr>
            <a:endParaRPr lang="ru-RU" dirty="0"/>
          </a:p>
        </p:txBody>
      </p:sp>
      <p:cxnSp>
        <p:nvCxnSpPr>
          <p:cNvPr id="11" name="Straight Connector 10">
            <a:extLst>
              <a:ext uri="{FF2B5EF4-FFF2-40B4-BE49-F238E27FC236}">
                <a16:creationId xmlns:a16="http://schemas.microsoft.com/office/drawing/2014/main" id="{5FD0AFC5-5418-45AE-84AB-9B300B97A611}"/>
              </a:ext>
            </a:extLst>
          </p:cNvPr>
          <p:cNvCxnSpPr>
            <a:cxnSpLocks/>
          </p:cNvCxnSpPr>
          <p:nvPr/>
        </p:nvCxnSpPr>
        <p:spPr>
          <a:xfrm flipH="1">
            <a:off x="11059739" y="3433918"/>
            <a:ext cx="342233" cy="916505"/>
          </a:xfrm>
          <a:prstGeom prst="line">
            <a:avLst/>
          </a:prstGeom>
        </p:spPr>
        <p:style>
          <a:lnRef idx="1">
            <a:schemeClr val="accent3"/>
          </a:lnRef>
          <a:fillRef idx="0">
            <a:schemeClr val="accent3"/>
          </a:fillRef>
          <a:effectRef idx="0">
            <a:schemeClr val="accent3"/>
          </a:effectRef>
          <a:fontRef idx="minor">
            <a:schemeClr val="tx1"/>
          </a:fontRef>
        </p:style>
      </p:cxnSp>
      <p:cxnSp>
        <p:nvCxnSpPr>
          <p:cNvPr id="13" name="Straight Connector 12">
            <a:extLst>
              <a:ext uri="{FF2B5EF4-FFF2-40B4-BE49-F238E27FC236}">
                <a16:creationId xmlns:a16="http://schemas.microsoft.com/office/drawing/2014/main" id="{91D06015-D4E0-4919-B91D-4AF2F1174E82}"/>
              </a:ext>
            </a:extLst>
          </p:cNvPr>
          <p:cNvCxnSpPr>
            <a:cxnSpLocks/>
          </p:cNvCxnSpPr>
          <p:nvPr/>
        </p:nvCxnSpPr>
        <p:spPr>
          <a:xfrm>
            <a:off x="11502877" y="3466408"/>
            <a:ext cx="0" cy="812601"/>
          </a:xfrm>
          <a:prstGeom prst="line">
            <a:avLst/>
          </a:prstGeom>
        </p:spPr>
        <p:style>
          <a:lnRef idx="1">
            <a:schemeClr val="accent3"/>
          </a:lnRef>
          <a:fillRef idx="0">
            <a:schemeClr val="accent3"/>
          </a:fillRef>
          <a:effectRef idx="0">
            <a:schemeClr val="accent3"/>
          </a:effectRef>
          <a:fontRef idx="minor">
            <a:schemeClr val="tx1"/>
          </a:fontRef>
        </p:style>
      </p:cxnSp>
      <p:cxnSp>
        <p:nvCxnSpPr>
          <p:cNvPr id="15" name="Straight Connector 14">
            <a:extLst>
              <a:ext uri="{FF2B5EF4-FFF2-40B4-BE49-F238E27FC236}">
                <a16:creationId xmlns:a16="http://schemas.microsoft.com/office/drawing/2014/main" id="{F3B64BD8-5353-4228-96EC-9FFAE75C8F5B}"/>
              </a:ext>
            </a:extLst>
          </p:cNvPr>
          <p:cNvCxnSpPr>
            <a:cxnSpLocks/>
          </p:cNvCxnSpPr>
          <p:nvPr/>
        </p:nvCxnSpPr>
        <p:spPr>
          <a:xfrm>
            <a:off x="11553150" y="3443020"/>
            <a:ext cx="392865" cy="879436"/>
          </a:xfrm>
          <a:prstGeom prst="line">
            <a:avLst/>
          </a:prstGeom>
        </p:spPr>
        <p:style>
          <a:lnRef idx="1">
            <a:schemeClr val="accent3"/>
          </a:lnRef>
          <a:fillRef idx="0">
            <a:schemeClr val="accent3"/>
          </a:fillRef>
          <a:effectRef idx="0">
            <a:schemeClr val="accent3"/>
          </a:effectRef>
          <a:fontRef idx="minor">
            <a:schemeClr val="tx1"/>
          </a:fontRef>
        </p:style>
      </p:cxnSp>
      <p:pic>
        <p:nvPicPr>
          <p:cNvPr id="18" name="Picture 17">
            <a:extLst>
              <a:ext uri="{FF2B5EF4-FFF2-40B4-BE49-F238E27FC236}">
                <a16:creationId xmlns:a16="http://schemas.microsoft.com/office/drawing/2014/main" id="{71DB1DA5-EEAF-4D16-9817-4A1C985D36A2}"/>
              </a:ext>
            </a:extLst>
          </p:cNvPr>
          <p:cNvPicPr>
            <a:picLocks noChangeAspect="1"/>
          </p:cNvPicPr>
          <p:nvPr/>
        </p:nvPicPr>
        <p:blipFill>
          <a:blip r:embed="rId3"/>
          <a:stretch>
            <a:fillRect/>
          </a:stretch>
        </p:blipFill>
        <p:spPr>
          <a:xfrm>
            <a:off x="256942" y="3036768"/>
            <a:ext cx="5294603" cy="3063688"/>
          </a:xfrm>
          <a:prstGeom prst="rect">
            <a:avLst/>
          </a:prstGeom>
          <a:ln>
            <a:noFill/>
          </a:ln>
          <a:effectLst>
            <a:outerShdw blurRad="292100" dist="139700" dir="2700000" algn="tl" rotWithShape="0">
              <a:srgbClr val="333333">
                <a:alpha val="65000"/>
              </a:srgbClr>
            </a:outerShdw>
          </a:effectLst>
        </p:spPr>
      </p:pic>
      <p:pic>
        <p:nvPicPr>
          <p:cNvPr id="19" name="Picture 18">
            <a:extLst>
              <a:ext uri="{FF2B5EF4-FFF2-40B4-BE49-F238E27FC236}">
                <a16:creationId xmlns:a16="http://schemas.microsoft.com/office/drawing/2014/main" id="{DFCA01D7-6869-4109-9803-4CEEF0B1A9AE}"/>
              </a:ext>
            </a:extLst>
          </p:cNvPr>
          <p:cNvPicPr>
            <a:picLocks noChangeAspect="1"/>
          </p:cNvPicPr>
          <p:nvPr/>
        </p:nvPicPr>
        <p:blipFill>
          <a:blip r:embed="rId4"/>
          <a:stretch>
            <a:fillRect/>
          </a:stretch>
        </p:blipFill>
        <p:spPr>
          <a:xfrm>
            <a:off x="5726169" y="3036768"/>
            <a:ext cx="5372886" cy="3063688"/>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6899A7E4-1C75-494E-824C-8AC2039E7E77}"/>
              </a:ext>
            </a:extLst>
          </p:cNvPr>
          <p:cNvPicPr>
            <a:picLocks noChangeAspect="1"/>
          </p:cNvPicPr>
          <p:nvPr/>
        </p:nvPicPr>
        <p:blipFill>
          <a:blip r:embed="rId5"/>
          <a:stretch>
            <a:fillRect/>
          </a:stretch>
        </p:blipFill>
        <p:spPr>
          <a:xfrm>
            <a:off x="10551599" y="4195996"/>
            <a:ext cx="1779375" cy="1779375"/>
          </a:xfrm>
          <a:prstGeom prst="rect">
            <a:avLst/>
          </a:prstGeom>
        </p:spPr>
      </p:pic>
      <p:pic>
        <p:nvPicPr>
          <p:cNvPr id="6" name="Picture 5">
            <a:extLst>
              <a:ext uri="{FF2B5EF4-FFF2-40B4-BE49-F238E27FC236}">
                <a16:creationId xmlns:a16="http://schemas.microsoft.com/office/drawing/2014/main" id="{AA06B6CE-1D82-45E8-A617-7F1773D4E654}"/>
              </a:ext>
            </a:extLst>
          </p:cNvPr>
          <p:cNvPicPr>
            <a:picLocks noChangeAspect="1"/>
          </p:cNvPicPr>
          <p:nvPr/>
        </p:nvPicPr>
        <p:blipFill>
          <a:blip r:embed="rId6"/>
          <a:stretch>
            <a:fillRect/>
          </a:stretch>
        </p:blipFill>
        <p:spPr>
          <a:xfrm>
            <a:off x="10914192" y="4743909"/>
            <a:ext cx="1356547" cy="1356547"/>
          </a:xfrm>
          <a:prstGeom prst="rect">
            <a:avLst/>
          </a:prstGeom>
        </p:spPr>
      </p:pic>
      <p:pic>
        <p:nvPicPr>
          <p:cNvPr id="5" name="Picture 4">
            <a:extLst>
              <a:ext uri="{FF2B5EF4-FFF2-40B4-BE49-F238E27FC236}">
                <a16:creationId xmlns:a16="http://schemas.microsoft.com/office/drawing/2014/main" id="{84CEDFB8-621B-4C9B-BB66-DD25306C55AB}"/>
              </a:ext>
            </a:extLst>
          </p:cNvPr>
          <p:cNvPicPr>
            <a:picLocks noChangeAspect="1"/>
          </p:cNvPicPr>
          <p:nvPr/>
        </p:nvPicPr>
        <p:blipFill>
          <a:blip r:embed="rId7"/>
          <a:stretch>
            <a:fillRect/>
          </a:stretch>
        </p:blipFill>
        <p:spPr>
          <a:xfrm>
            <a:off x="10642169" y="5146650"/>
            <a:ext cx="1177371" cy="843783"/>
          </a:xfrm>
          <a:prstGeom prst="rect">
            <a:avLst/>
          </a:prstGeom>
        </p:spPr>
      </p:pic>
      <p:sp>
        <p:nvSpPr>
          <p:cNvPr id="31" name="TextBox 30">
            <a:extLst>
              <a:ext uri="{FF2B5EF4-FFF2-40B4-BE49-F238E27FC236}">
                <a16:creationId xmlns:a16="http://schemas.microsoft.com/office/drawing/2014/main" id="{1639C982-D5E3-4AF5-82AE-25C8F10AD2D2}"/>
              </a:ext>
            </a:extLst>
          </p:cNvPr>
          <p:cNvSpPr txBox="1"/>
          <p:nvPr/>
        </p:nvSpPr>
        <p:spPr>
          <a:xfrm>
            <a:off x="11194293" y="2894720"/>
            <a:ext cx="717714" cy="461665"/>
          </a:xfrm>
          <a:prstGeom prst="rect">
            <a:avLst/>
          </a:prstGeom>
          <a:noFill/>
        </p:spPr>
        <p:txBody>
          <a:bodyPr wrap="square" rtlCol="0">
            <a:spAutoFit/>
          </a:bodyPr>
          <a:lstStyle/>
          <a:p>
            <a:r>
              <a:rPr lang="en-US" sz="2400" b="1" dirty="0"/>
              <a:t>Bird</a:t>
            </a:r>
            <a:endParaRPr lang="ru-RU" sz="2400" b="1" dirty="0"/>
          </a:p>
        </p:txBody>
      </p:sp>
    </p:spTree>
    <p:extLst>
      <p:ext uri="{BB962C8B-B14F-4D97-AF65-F5344CB8AC3E}">
        <p14:creationId xmlns:p14="http://schemas.microsoft.com/office/powerpoint/2010/main" val="86171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6C8F-1BF7-4207-A77A-16E8890A2312}"/>
              </a:ext>
            </a:extLst>
          </p:cNvPr>
          <p:cNvSpPr>
            <a:spLocks noGrp="1"/>
          </p:cNvSpPr>
          <p:nvPr>
            <p:ph type="title"/>
          </p:nvPr>
        </p:nvSpPr>
        <p:spPr/>
        <p:txBody>
          <a:bodyPr/>
          <a:lstStyle/>
          <a:p>
            <a:r>
              <a:rPr lang="ru-RU" dirty="0"/>
              <a:t>Абстрактный класс </a:t>
            </a:r>
            <a:r>
              <a:rPr lang="en-US" dirty="0"/>
              <a:t>vs </a:t>
            </a:r>
            <a:r>
              <a:rPr lang="ru-RU" dirty="0"/>
              <a:t>Интерфейс </a:t>
            </a:r>
          </a:p>
        </p:txBody>
      </p:sp>
      <p:sp>
        <p:nvSpPr>
          <p:cNvPr id="3" name="Content Placeholder 2">
            <a:extLst>
              <a:ext uri="{FF2B5EF4-FFF2-40B4-BE49-F238E27FC236}">
                <a16:creationId xmlns:a16="http://schemas.microsoft.com/office/drawing/2014/main" id="{367C89ED-077B-4A1C-A692-1BAEC91C6B17}"/>
              </a:ext>
            </a:extLst>
          </p:cNvPr>
          <p:cNvSpPr>
            <a:spLocks noGrp="1"/>
          </p:cNvSpPr>
          <p:nvPr>
            <p:ph idx="1"/>
          </p:nvPr>
        </p:nvSpPr>
        <p:spPr>
          <a:xfrm>
            <a:off x="609600" y="1904990"/>
            <a:ext cx="10972799" cy="1301649"/>
          </a:xfrm>
        </p:spPr>
        <p:txBody>
          <a:bodyPr>
            <a:normAutofit fontScale="70000" lnSpcReduction="20000"/>
          </a:bodyPr>
          <a:lstStyle/>
          <a:p>
            <a:pPr marL="0" indent="0">
              <a:buNone/>
            </a:pPr>
            <a:r>
              <a:rPr lang="ru-RU" dirty="0"/>
              <a:t>Создать базовый класс Летающий с методом </a:t>
            </a:r>
            <a:r>
              <a:rPr lang="en-US" dirty="0"/>
              <a:t>fly()</a:t>
            </a:r>
            <a:r>
              <a:rPr lang="ru-RU" dirty="0"/>
              <a:t> и </a:t>
            </a:r>
            <a:r>
              <a:rPr lang="ru-RU" dirty="0" err="1"/>
              <a:t>отнаследовать</a:t>
            </a:r>
            <a:r>
              <a:rPr lang="ru-RU" dirty="0"/>
              <a:t> от него три потомка Самолет, Комар, Карлсон</a:t>
            </a:r>
          </a:p>
        </p:txBody>
      </p:sp>
      <p:pic>
        <p:nvPicPr>
          <p:cNvPr id="6" name="Picture 5">
            <a:extLst>
              <a:ext uri="{FF2B5EF4-FFF2-40B4-BE49-F238E27FC236}">
                <a16:creationId xmlns:a16="http://schemas.microsoft.com/office/drawing/2014/main" id="{1E96CF72-5057-407D-99E6-8E4BECF79E3C}"/>
              </a:ext>
            </a:extLst>
          </p:cNvPr>
          <p:cNvPicPr>
            <a:picLocks noChangeAspect="1"/>
          </p:cNvPicPr>
          <p:nvPr/>
        </p:nvPicPr>
        <p:blipFill>
          <a:blip r:embed="rId3"/>
          <a:stretch>
            <a:fillRect/>
          </a:stretch>
        </p:blipFill>
        <p:spPr>
          <a:xfrm>
            <a:off x="9233797" y="4516557"/>
            <a:ext cx="2990850" cy="1524000"/>
          </a:xfrm>
          <a:prstGeom prst="rect">
            <a:avLst/>
          </a:prstGeom>
        </p:spPr>
      </p:pic>
      <p:pic>
        <p:nvPicPr>
          <p:cNvPr id="5" name="Picture 4">
            <a:extLst>
              <a:ext uri="{FF2B5EF4-FFF2-40B4-BE49-F238E27FC236}">
                <a16:creationId xmlns:a16="http://schemas.microsoft.com/office/drawing/2014/main" id="{641FE986-BE07-4E14-82AB-9FD7E518C4C9}"/>
              </a:ext>
            </a:extLst>
          </p:cNvPr>
          <p:cNvPicPr>
            <a:picLocks noChangeAspect="1"/>
          </p:cNvPicPr>
          <p:nvPr/>
        </p:nvPicPr>
        <p:blipFill>
          <a:blip r:embed="rId4"/>
          <a:stretch>
            <a:fillRect/>
          </a:stretch>
        </p:blipFill>
        <p:spPr>
          <a:xfrm>
            <a:off x="10669728" y="4120599"/>
            <a:ext cx="1825341" cy="1349383"/>
          </a:xfrm>
          <a:prstGeom prst="rect">
            <a:avLst/>
          </a:prstGeom>
        </p:spPr>
      </p:pic>
      <p:pic>
        <p:nvPicPr>
          <p:cNvPr id="2052" name="Picture 4" descr="Малыш и карлсон клипарт (44 фото)">
            <a:extLst>
              <a:ext uri="{FF2B5EF4-FFF2-40B4-BE49-F238E27FC236}">
                <a16:creationId xmlns:a16="http://schemas.microsoft.com/office/drawing/2014/main" id="{1BB11114-78DA-438F-AE4B-AAFC7EBF3F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68983" y="3711880"/>
            <a:ext cx="1187169" cy="145739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8D6A139-CA14-415D-891F-AD7779522F4E}"/>
              </a:ext>
            </a:extLst>
          </p:cNvPr>
          <p:cNvSpPr txBox="1"/>
          <p:nvPr/>
        </p:nvSpPr>
        <p:spPr>
          <a:xfrm>
            <a:off x="10244719" y="3079377"/>
            <a:ext cx="1440773" cy="523220"/>
          </a:xfrm>
          <a:prstGeom prst="rect">
            <a:avLst/>
          </a:prstGeom>
          <a:noFill/>
        </p:spPr>
        <p:txBody>
          <a:bodyPr wrap="square" rtlCol="0">
            <a:spAutoFit/>
          </a:bodyPr>
          <a:lstStyle/>
          <a:p>
            <a:r>
              <a:rPr lang="en-US" sz="2800" b="1" dirty="0"/>
              <a:t>Flyable</a:t>
            </a:r>
            <a:endParaRPr lang="ru-RU" sz="2800" b="1" dirty="0"/>
          </a:p>
        </p:txBody>
      </p:sp>
      <p:cxnSp>
        <p:nvCxnSpPr>
          <p:cNvPr id="12" name="Straight Connector 11">
            <a:extLst>
              <a:ext uri="{FF2B5EF4-FFF2-40B4-BE49-F238E27FC236}">
                <a16:creationId xmlns:a16="http://schemas.microsoft.com/office/drawing/2014/main" id="{16292165-2E5D-41D7-B368-564F5A3F8E4F}"/>
              </a:ext>
            </a:extLst>
          </p:cNvPr>
          <p:cNvCxnSpPr>
            <a:stCxn id="10" idx="2"/>
          </p:cNvCxnSpPr>
          <p:nvPr/>
        </p:nvCxnSpPr>
        <p:spPr>
          <a:xfrm flipH="1">
            <a:off x="10932459" y="3602597"/>
            <a:ext cx="32647" cy="804677"/>
          </a:xfrm>
          <a:prstGeom prst="line">
            <a:avLst/>
          </a:prstGeom>
        </p:spPr>
        <p:style>
          <a:lnRef idx="1">
            <a:schemeClr val="accent3"/>
          </a:lnRef>
          <a:fillRef idx="0">
            <a:schemeClr val="accent3"/>
          </a:fillRef>
          <a:effectRef idx="0">
            <a:schemeClr val="accent3"/>
          </a:effectRef>
          <a:fontRef idx="minor">
            <a:schemeClr val="tx1"/>
          </a:fontRef>
        </p:style>
      </p:cxnSp>
      <p:cxnSp>
        <p:nvCxnSpPr>
          <p:cNvPr id="14" name="Straight Connector 13">
            <a:extLst>
              <a:ext uri="{FF2B5EF4-FFF2-40B4-BE49-F238E27FC236}">
                <a16:creationId xmlns:a16="http://schemas.microsoft.com/office/drawing/2014/main" id="{9433D00E-F797-4E87-954E-AC885DBE3CA2}"/>
              </a:ext>
            </a:extLst>
          </p:cNvPr>
          <p:cNvCxnSpPr>
            <a:endCxn id="5" idx="0"/>
          </p:cNvCxnSpPr>
          <p:nvPr/>
        </p:nvCxnSpPr>
        <p:spPr>
          <a:xfrm>
            <a:off x="11120718" y="3602597"/>
            <a:ext cx="461681" cy="518002"/>
          </a:xfrm>
          <a:prstGeom prst="line">
            <a:avLst/>
          </a:prstGeom>
        </p:spPr>
        <p:style>
          <a:lnRef idx="1">
            <a:schemeClr val="accent3"/>
          </a:lnRef>
          <a:fillRef idx="0">
            <a:schemeClr val="accent3"/>
          </a:fillRef>
          <a:effectRef idx="0">
            <a:schemeClr val="accent3"/>
          </a:effectRef>
          <a:fontRef idx="minor">
            <a:schemeClr val="tx1"/>
          </a:fontRef>
        </p:style>
      </p:cxnSp>
      <p:cxnSp>
        <p:nvCxnSpPr>
          <p:cNvPr id="16" name="Straight Connector 15">
            <a:extLst>
              <a:ext uri="{FF2B5EF4-FFF2-40B4-BE49-F238E27FC236}">
                <a16:creationId xmlns:a16="http://schemas.microsoft.com/office/drawing/2014/main" id="{37930622-27DF-400B-8691-A3298A8E4FBA}"/>
              </a:ext>
            </a:extLst>
          </p:cNvPr>
          <p:cNvCxnSpPr/>
          <p:nvPr/>
        </p:nvCxnSpPr>
        <p:spPr>
          <a:xfrm flipH="1">
            <a:off x="10382100" y="3602597"/>
            <a:ext cx="303404" cy="343385"/>
          </a:xfrm>
          <a:prstGeom prst="line">
            <a:avLst/>
          </a:prstGeom>
        </p:spPr>
        <p:style>
          <a:lnRef idx="1">
            <a:schemeClr val="accent3"/>
          </a:lnRef>
          <a:fillRef idx="0">
            <a:schemeClr val="accent3"/>
          </a:fillRef>
          <a:effectRef idx="0">
            <a:schemeClr val="accent3"/>
          </a:effectRef>
          <a:fontRef idx="minor">
            <a:schemeClr val="tx1"/>
          </a:fontRef>
        </p:style>
      </p:cxnSp>
      <p:pic>
        <p:nvPicPr>
          <p:cNvPr id="18" name="Picture 17">
            <a:extLst>
              <a:ext uri="{FF2B5EF4-FFF2-40B4-BE49-F238E27FC236}">
                <a16:creationId xmlns:a16="http://schemas.microsoft.com/office/drawing/2014/main" id="{2399CBEF-4850-4775-A8A6-29805BAFB038}"/>
              </a:ext>
            </a:extLst>
          </p:cNvPr>
          <p:cNvPicPr>
            <a:picLocks noChangeAspect="1"/>
          </p:cNvPicPr>
          <p:nvPr/>
        </p:nvPicPr>
        <p:blipFill>
          <a:blip r:embed="rId6"/>
          <a:stretch>
            <a:fillRect/>
          </a:stretch>
        </p:blipFill>
        <p:spPr>
          <a:xfrm>
            <a:off x="609600" y="2903996"/>
            <a:ext cx="3971925" cy="866775"/>
          </a:xfrm>
          <a:prstGeom prst="rect">
            <a:avLst/>
          </a:prstGeom>
          <a:ln>
            <a:noFill/>
          </a:ln>
          <a:effectLst>
            <a:outerShdw blurRad="292100" dist="139700" dir="2700000" algn="tl" rotWithShape="0">
              <a:srgbClr val="333333">
                <a:alpha val="65000"/>
              </a:srgbClr>
            </a:outerShdw>
          </a:effectLst>
        </p:spPr>
      </p:pic>
      <p:pic>
        <p:nvPicPr>
          <p:cNvPr id="19" name="Picture 18">
            <a:extLst>
              <a:ext uri="{FF2B5EF4-FFF2-40B4-BE49-F238E27FC236}">
                <a16:creationId xmlns:a16="http://schemas.microsoft.com/office/drawing/2014/main" id="{9DBAB492-5216-4304-B6B2-B0084EE2530E}"/>
              </a:ext>
            </a:extLst>
          </p:cNvPr>
          <p:cNvPicPr>
            <a:picLocks noChangeAspect="1"/>
          </p:cNvPicPr>
          <p:nvPr/>
        </p:nvPicPr>
        <p:blipFill>
          <a:blip r:embed="rId7"/>
          <a:stretch>
            <a:fillRect/>
          </a:stretch>
        </p:blipFill>
        <p:spPr>
          <a:xfrm>
            <a:off x="3738124" y="3436310"/>
            <a:ext cx="5262858" cy="30116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3488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6C8F-1BF7-4207-A77A-16E8890A2312}"/>
              </a:ext>
            </a:extLst>
          </p:cNvPr>
          <p:cNvSpPr>
            <a:spLocks noGrp="1"/>
          </p:cNvSpPr>
          <p:nvPr>
            <p:ph type="title"/>
          </p:nvPr>
        </p:nvSpPr>
        <p:spPr/>
        <p:txBody>
          <a:bodyPr/>
          <a:lstStyle/>
          <a:p>
            <a:r>
              <a:rPr lang="ru-RU" dirty="0"/>
              <a:t>Абстрактный класс </a:t>
            </a:r>
            <a:r>
              <a:rPr lang="en-US" dirty="0"/>
              <a:t>vs </a:t>
            </a:r>
            <a:r>
              <a:rPr lang="ru-RU" dirty="0"/>
              <a:t>Интерфейс </a:t>
            </a:r>
          </a:p>
        </p:txBody>
      </p:sp>
      <p:pic>
        <p:nvPicPr>
          <p:cNvPr id="4" name="Picture 3">
            <a:extLst>
              <a:ext uri="{FF2B5EF4-FFF2-40B4-BE49-F238E27FC236}">
                <a16:creationId xmlns:a16="http://schemas.microsoft.com/office/drawing/2014/main" id="{74B1F42D-C208-4DE3-91BD-9C4712369D79}"/>
              </a:ext>
            </a:extLst>
          </p:cNvPr>
          <p:cNvPicPr>
            <a:picLocks noChangeAspect="1"/>
          </p:cNvPicPr>
          <p:nvPr/>
        </p:nvPicPr>
        <p:blipFill>
          <a:blip r:embed="rId3">
            <a:duotone>
              <a:schemeClr val="accent3">
                <a:shade val="45000"/>
                <a:satMod val="135000"/>
              </a:schemeClr>
              <a:prstClr val="white"/>
            </a:duotone>
          </a:blip>
          <a:stretch>
            <a:fillRect/>
          </a:stretch>
        </p:blipFill>
        <p:spPr>
          <a:xfrm>
            <a:off x="609600" y="1809739"/>
            <a:ext cx="6280298" cy="4350990"/>
          </a:xfrm>
          <a:prstGeom prst="rect">
            <a:avLst/>
          </a:prstGeom>
        </p:spPr>
      </p:pic>
      <p:pic>
        <p:nvPicPr>
          <p:cNvPr id="7" name="Picture 6">
            <a:extLst>
              <a:ext uri="{FF2B5EF4-FFF2-40B4-BE49-F238E27FC236}">
                <a16:creationId xmlns:a16="http://schemas.microsoft.com/office/drawing/2014/main" id="{66D1732E-D37B-444A-A868-B4AF8BBB18D5}"/>
              </a:ext>
            </a:extLst>
          </p:cNvPr>
          <p:cNvPicPr>
            <a:picLocks noChangeAspect="1"/>
          </p:cNvPicPr>
          <p:nvPr/>
        </p:nvPicPr>
        <p:blipFill>
          <a:blip r:embed="rId4">
            <a:duotone>
              <a:schemeClr val="accent6">
                <a:shade val="45000"/>
                <a:satMod val="135000"/>
              </a:schemeClr>
              <a:prstClr val="white"/>
            </a:duotone>
          </a:blip>
          <a:stretch>
            <a:fillRect/>
          </a:stretch>
        </p:blipFill>
        <p:spPr>
          <a:xfrm>
            <a:off x="8060276" y="3391786"/>
            <a:ext cx="3345247" cy="928798"/>
          </a:xfrm>
          <a:prstGeom prst="rect">
            <a:avLst/>
          </a:prstGeom>
        </p:spPr>
      </p:pic>
    </p:spTree>
    <p:extLst>
      <p:ext uri="{BB962C8B-B14F-4D97-AF65-F5344CB8AC3E}">
        <p14:creationId xmlns:p14="http://schemas.microsoft.com/office/powerpoint/2010/main" val="638252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AED51-A966-4B98-B8BA-1D66DA56031A}"/>
              </a:ext>
            </a:extLst>
          </p:cNvPr>
          <p:cNvSpPr>
            <a:spLocks noGrp="1"/>
          </p:cNvSpPr>
          <p:nvPr>
            <p:ph type="title"/>
          </p:nvPr>
        </p:nvSpPr>
        <p:spPr/>
        <p:txBody>
          <a:bodyPr/>
          <a:lstStyle/>
          <a:p>
            <a:r>
              <a:rPr lang="en-US" dirty="0"/>
              <a:t>Final </a:t>
            </a:r>
            <a:r>
              <a:rPr lang="ru-RU" dirty="0"/>
              <a:t>методы и классы</a:t>
            </a:r>
          </a:p>
        </p:txBody>
      </p:sp>
      <p:sp>
        <p:nvSpPr>
          <p:cNvPr id="3" name="Content Placeholder 2">
            <a:extLst>
              <a:ext uri="{FF2B5EF4-FFF2-40B4-BE49-F238E27FC236}">
                <a16:creationId xmlns:a16="http://schemas.microsoft.com/office/drawing/2014/main" id="{9F2A4679-FAFC-4A19-8FA8-DECC57E14B2F}"/>
              </a:ext>
            </a:extLst>
          </p:cNvPr>
          <p:cNvSpPr>
            <a:spLocks noGrp="1"/>
          </p:cNvSpPr>
          <p:nvPr>
            <p:ph idx="1"/>
          </p:nvPr>
        </p:nvSpPr>
        <p:spPr>
          <a:xfrm>
            <a:off x="4825931" y="1970086"/>
            <a:ext cx="6756468" cy="4379914"/>
          </a:xfrm>
        </p:spPr>
        <p:txBody>
          <a:bodyPr>
            <a:normAutofit fontScale="47500" lnSpcReduction="20000"/>
          </a:bodyPr>
          <a:lstStyle/>
          <a:p>
            <a:pPr>
              <a:lnSpc>
                <a:spcPct val="120000"/>
              </a:lnSpc>
            </a:pPr>
            <a:r>
              <a:rPr lang="ru-RU" dirty="0"/>
              <a:t>Модификатор </a:t>
            </a:r>
            <a:r>
              <a:rPr lang="ru-RU" i="1" dirty="0" err="1">
                <a:solidFill>
                  <a:schemeClr val="accent4">
                    <a:lumMod val="10000"/>
                  </a:schemeClr>
                </a:solidFill>
                <a:latin typeface="Courier New" panose="02070309020205020404" pitchFamily="49" charset="0"/>
                <a:cs typeface="Courier New" panose="02070309020205020404" pitchFamily="49" charset="0"/>
              </a:rPr>
              <a:t>final</a:t>
            </a:r>
            <a:r>
              <a:rPr lang="ru-RU" dirty="0"/>
              <a:t> может быть использован для переменных, методов, классов и параметров в методах.</a:t>
            </a:r>
          </a:p>
          <a:p>
            <a:pPr algn="just">
              <a:lnSpc>
                <a:spcPct val="120000"/>
              </a:lnSpc>
              <a:spcBef>
                <a:spcPts val="360"/>
              </a:spcBef>
              <a:tabLst>
                <a:tab pos="0" algn="l"/>
              </a:tabLst>
            </a:pPr>
            <a:r>
              <a:rPr lang="ru-RU" sz="4400" spc="-1" dirty="0">
                <a:solidFill>
                  <a:srgbClr val="244061"/>
                </a:solidFill>
                <a:ea typeface="DejaVu Sans"/>
              </a:rPr>
              <a:t>Метод, объявленный с модификатором </a:t>
            </a:r>
            <a:r>
              <a:rPr lang="ru-RU" sz="4400" i="1" spc="-1" dirty="0" err="1">
                <a:solidFill>
                  <a:schemeClr val="accent4">
                    <a:lumMod val="10000"/>
                  </a:schemeClr>
                </a:solidFill>
                <a:latin typeface="Courier New" panose="02070309020205020404" pitchFamily="49" charset="0"/>
                <a:ea typeface="DejaVu Sans"/>
                <a:cs typeface="Courier New" panose="02070309020205020404" pitchFamily="49" charset="0"/>
              </a:rPr>
              <a:t>final</a:t>
            </a:r>
            <a:r>
              <a:rPr lang="ru-RU" sz="4400" spc="-1" dirty="0">
                <a:solidFill>
                  <a:srgbClr val="244061"/>
                </a:solidFill>
                <a:ea typeface="DejaVu Sans"/>
              </a:rPr>
              <a:t> не может быть переопределен.</a:t>
            </a:r>
            <a:endParaRPr lang="ru-RU" sz="4400" spc="-1" dirty="0">
              <a:solidFill>
                <a:srgbClr val="000000"/>
              </a:solidFill>
              <a:latin typeface="Arial"/>
            </a:endParaRPr>
          </a:p>
          <a:p>
            <a:pPr algn="just">
              <a:lnSpc>
                <a:spcPct val="120000"/>
              </a:lnSpc>
              <a:spcBef>
                <a:spcPts val="360"/>
              </a:spcBef>
              <a:tabLst>
                <a:tab pos="0" algn="l"/>
              </a:tabLst>
            </a:pPr>
            <a:r>
              <a:rPr lang="ru-RU" sz="4400" spc="-1" dirty="0">
                <a:solidFill>
                  <a:srgbClr val="244061"/>
                </a:solidFill>
                <a:ea typeface="DejaVu Sans"/>
              </a:rPr>
              <a:t>Переменная и поле класса, объявленные с помощью модификатора </a:t>
            </a:r>
            <a:r>
              <a:rPr lang="ru-RU" sz="4400" i="1" spc="-1" dirty="0" err="1">
                <a:solidFill>
                  <a:schemeClr val="accent4">
                    <a:lumMod val="10000"/>
                  </a:schemeClr>
                </a:solidFill>
                <a:latin typeface="Courier New" panose="02070309020205020404" pitchFamily="49" charset="0"/>
                <a:ea typeface="DejaVu Sans"/>
                <a:cs typeface="Courier New" panose="02070309020205020404" pitchFamily="49" charset="0"/>
              </a:rPr>
              <a:t>final</a:t>
            </a:r>
            <a:r>
              <a:rPr lang="ru-RU" sz="4400" spc="-1" dirty="0">
                <a:solidFill>
                  <a:srgbClr val="244061"/>
                </a:solidFill>
                <a:ea typeface="DejaVu Sans"/>
              </a:rPr>
              <a:t> не меняют значение.</a:t>
            </a:r>
            <a:endParaRPr lang="ru-RU" sz="4400" spc="-1" dirty="0">
              <a:solidFill>
                <a:srgbClr val="000000"/>
              </a:solidFill>
              <a:latin typeface="Arial"/>
            </a:endParaRPr>
          </a:p>
          <a:p>
            <a:pPr algn="just">
              <a:lnSpc>
                <a:spcPct val="120000"/>
              </a:lnSpc>
              <a:spcBef>
                <a:spcPts val="360"/>
              </a:spcBef>
              <a:tabLst>
                <a:tab pos="0" algn="l"/>
              </a:tabLst>
            </a:pPr>
            <a:r>
              <a:rPr lang="ru-RU" sz="4400" spc="-1" dirty="0">
                <a:solidFill>
                  <a:srgbClr val="244061"/>
                </a:solidFill>
                <a:ea typeface="DejaVu Sans"/>
              </a:rPr>
              <a:t>Класс, объявленный с помощью модификатора </a:t>
            </a:r>
            <a:r>
              <a:rPr lang="ru-RU" sz="4400" i="1" spc="-1" dirty="0" err="1">
                <a:solidFill>
                  <a:schemeClr val="accent4">
                    <a:lumMod val="10000"/>
                  </a:schemeClr>
                </a:solidFill>
                <a:latin typeface="Courier New" panose="02070309020205020404" pitchFamily="49" charset="0"/>
                <a:ea typeface="DejaVu Sans"/>
                <a:cs typeface="Courier New" panose="02070309020205020404" pitchFamily="49" charset="0"/>
              </a:rPr>
              <a:t>final</a:t>
            </a:r>
            <a:r>
              <a:rPr lang="ru-RU" sz="4400" spc="-1" dirty="0">
                <a:solidFill>
                  <a:srgbClr val="244061"/>
                </a:solidFill>
                <a:ea typeface="DejaVu Sans"/>
              </a:rPr>
              <a:t> нельзя наследовать.</a:t>
            </a:r>
          </a:p>
          <a:p>
            <a:pPr algn="just">
              <a:lnSpc>
                <a:spcPct val="120000"/>
              </a:lnSpc>
              <a:spcBef>
                <a:spcPts val="360"/>
              </a:spcBef>
              <a:tabLst>
                <a:tab pos="0" algn="l"/>
              </a:tabLst>
            </a:pPr>
            <a:r>
              <a:rPr lang="ru-RU" sz="4400" spc="-1" dirty="0">
                <a:solidFill>
                  <a:srgbClr val="244061"/>
                </a:solidFill>
                <a:ea typeface="DejaVu Sans"/>
              </a:rPr>
              <a:t>Модификатор </a:t>
            </a:r>
            <a:r>
              <a:rPr lang="ru-RU" sz="4400" i="1" spc="-1" dirty="0" err="1">
                <a:solidFill>
                  <a:schemeClr val="accent4">
                    <a:lumMod val="10000"/>
                  </a:schemeClr>
                </a:solidFill>
                <a:latin typeface="Courier New" panose="02070309020205020404" pitchFamily="49" charset="0"/>
                <a:ea typeface="DejaVu Sans"/>
                <a:cs typeface="Courier New" panose="02070309020205020404" pitchFamily="49" charset="0"/>
              </a:rPr>
              <a:t>final</a:t>
            </a:r>
            <a:r>
              <a:rPr lang="ru-RU" sz="4400" spc="-1" dirty="0">
                <a:solidFill>
                  <a:srgbClr val="244061"/>
                </a:solidFill>
                <a:ea typeface="DejaVu Sans"/>
              </a:rPr>
              <a:t>, примененный для параметра метода, не позволяет менять значение параметра внутри метода.</a:t>
            </a:r>
            <a:endParaRPr lang="ru-RU" sz="4400" spc="-1" dirty="0">
              <a:solidFill>
                <a:srgbClr val="000000"/>
              </a:solidFill>
              <a:latin typeface="Arial"/>
            </a:endParaRPr>
          </a:p>
        </p:txBody>
      </p:sp>
      <p:grpSp>
        <p:nvGrpSpPr>
          <p:cNvPr id="25" name="Group 24">
            <a:extLst>
              <a:ext uri="{FF2B5EF4-FFF2-40B4-BE49-F238E27FC236}">
                <a16:creationId xmlns:a16="http://schemas.microsoft.com/office/drawing/2014/main" id="{90C38846-B020-4FCB-9FF9-405067ECEEAA}"/>
              </a:ext>
            </a:extLst>
          </p:cNvPr>
          <p:cNvGrpSpPr/>
          <p:nvPr/>
        </p:nvGrpSpPr>
        <p:grpSpPr>
          <a:xfrm>
            <a:off x="142876" y="2157704"/>
            <a:ext cx="4541242" cy="3214396"/>
            <a:chOff x="142876" y="2157704"/>
            <a:chExt cx="4473568" cy="3035035"/>
          </a:xfrm>
        </p:grpSpPr>
        <p:sp>
          <p:nvSpPr>
            <p:cNvPr id="6" name="TextBox 5">
              <a:extLst>
                <a:ext uri="{FF2B5EF4-FFF2-40B4-BE49-F238E27FC236}">
                  <a16:creationId xmlns:a16="http://schemas.microsoft.com/office/drawing/2014/main" id="{3E0557C9-563D-4510-91C6-F6EFCB2B4054}"/>
                </a:ext>
              </a:extLst>
            </p:cNvPr>
            <p:cNvSpPr txBox="1"/>
            <p:nvPr/>
          </p:nvSpPr>
          <p:spPr>
            <a:xfrm>
              <a:off x="1339850" y="2157704"/>
              <a:ext cx="1930400" cy="369332"/>
            </a:xfrm>
            <a:prstGeom prst="rect">
              <a:avLst/>
            </a:prstGeom>
          </p:spPr>
          <p:style>
            <a:lnRef idx="0">
              <a:schemeClr val="dk1"/>
            </a:lnRef>
            <a:fillRef idx="3">
              <a:schemeClr val="dk1"/>
            </a:fillRef>
            <a:effectRef idx="3">
              <a:schemeClr val="dk1"/>
            </a:effectRef>
            <a:fontRef idx="minor">
              <a:schemeClr val="lt1"/>
            </a:fontRef>
          </p:style>
          <p:txBody>
            <a:bodyPr wrap="square" rtlCol="0" anchor="ctr">
              <a:spAutoFit/>
            </a:bodyPr>
            <a:lstStyle/>
            <a:p>
              <a:pPr algn="ctr"/>
              <a:r>
                <a:rPr lang="en-US" dirty="0"/>
                <a:t>final</a:t>
              </a:r>
              <a:endParaRPr lang="ru-RU" dirty="0"/>
            </a:p>
          </p:txBody>
        </p:sp>
        <p:sp>
          <p:nvSpPr>
            <p:cNvPr id="7" name="TextBox 6">
              <a:extLst>
                <a:ext uri="{FF2B5EF4-FFF2-40B4-BE49-F238E27FC236}">
                  <a16:creationId xmlns:a16="http://schemas.microsoft.com/office/drawing/2014/main" id="{A0C2F1D8-C605-4A03-8919-4DA590550D02}"/>
                </a:ext>
              </a:extLst>
            </p:cNvPr>
            <p:cNvSpPr txBox="1"/>
            <p:nvPr/>
          </p:nvSpPr>
          <p:spPr>
            <a:xfrm>
              <a:off x="146050" y="3244334"/>
              <a:ext cx="1346200" cy="369332"/>
            </a:xfrm>
            <a:prstGeom prst="rect">
              <a:avLst/>
            </a:prstGeom>
          </p:spPr>
          <p:style>
            <a:lnRef idx="0">
              <a:schemeClr val="dk1"/>
            </a:lnRef>
            <a:fillRef idx="3">
              <a:schemeClr val="dk1"/>
            </a:fillRef>
            <a:effectRef idx="3">
              <a:schemeClr val="dk1"/>
            </a:effectRef>
            <a:fontRef idx="minor">
              <a:schemeClr val="lt1"/>
            </a:fontRef>
          </p:style>
          <p:txBody>
            <a:bodyPr wrap="square" rtlCol="0" anchor="ctr">
              <a:spAutoFit/>
            </a:bodyPr>
            <a:lstStyle/>
            <a:p>
              <a:pPr algn="ctr"/>
              <a:r>
                <a:rPr lang="ru-RU" dirty="0"/>
                <a:t>поля</a:t>
              </a:r>
            </a:p>
          </p:txBody>
        </p:sp>
        <p:sp>
          <p:nvSpPr>
            <p:cNvPr id="8" name="TextBox 7">
              <a:extLst>
                <a:ext uri="{FF2B5EF4-FFF2-40B4-BE49-F238E27FC236}">
                  <a16:creationId xmlns:a16="http://schemas.microsoft.com/office/drawing/2014/main" id="{B4779E99-40CF-481A-85CE-EDFF75C67C16}"/>
                </a:ext>
              </a:extLst>
            </p:cNvPr>
            <p:cNvSpPr txBox="1"/>
            <p:nvPr/>
          </p:nvSpPr>
          <p:spPr>
            <a:xfrm>
              <a:off x="1631950" y="3244334"/>
              <a:ext cx="1346200" cy="369332"/>
            </a:xfrm>
            <a:prstGeom prst="rect">
              <a:avLst/>
            </a:prstGeom>
          </p:spPr>
          <p:style>
            <a:lnRef idx="0">
              <a:schemeClr val="dk1"/>
            </a:lnRef>
            <a:fillRef idx="3">
              <a:schemeClr val="dk1"/>
            </a:fillRef>
            <a:effectRef idx="3">
              <a:schemeClr val="dk1"/>
            </a:effectRef>
            <a:fontRef idx="minor">
              <a:schemeClr val="lt1"/>
            </a:fontRef>
          </p:style>
          <p:txBody>
            <a:bodyPr wrap="square" rtlCol="0" anchor="ctr">
              <a:spAutoFit/>
            </a:bodyPr>
            <a:lstStyle/>
            <a:p>
              <a:pPr algn="ctr"/>
              <a:r>
                <a:rPr lang="ru-RU" dirty="0"/>
                <a:t>методы</a:t>
              </a:r>
            </a:p>
          </p:txBody>
        </p:sp>
        <p:sp>
          <p:nvSpPr>
            <p:cNvPr id="9" name="TextBox 8">
              <a:extLst>
                <a:ext uri="{FF2B5EF4-FFF2-40B4-BE49-F238E27FC236}">
                  <a16:creationId xmlns:a16="http://schemas.microsoft.com/office/drawing/2014/main" id="{8029A4EC-04EB-4D3A-90A7-E1FDF4BFBFB5}"/>
                </a:ext>
              </a:extLst>
            </p:cNvPr>
            <p:cNvSpPr txBox="1"/>
            <p:nvPr/>
          </p:nvSpPr>
          <p:spPr>
            <a:xfrm>
              <a:off x="3117850" y="3244334"/>
              <a:ext cx="1346200" cy="369332"/>
            </a:xfrm>
            <a:prstGeom prst="rect">
              <a:avLst/>
            </a:prstGeom>
          </p:spPr>
          <p:style>
            <a:lnRef idx="0">
              <a:schemeClr val="dk1"/>
            </a:lnRef>
            <a:fillRef idx="3">
              <a:schemeClr val="dk1"/>
            </a:fillRef>
            <a:effectRef idx="3">
              <a:schemeClr val="dk1"/>
            </a:effectRef>
            <a:fontRef idx="minor">
              <a:schemeClr val="lt1"/>
            </a:fontRef>
          </p:style>
          <p:txBody>
            <a:bodyPr wrap="square" rtlCol="0" anchor="ctr">
              <a:spAutoFit/>
            </a:bodyPr>
            <a:lstStyle/>
            <a:p>
              <a:pPr algn="ctr"/>
              <a:r>
                <a:rPr lang="ru-RU" dirty="0"/>
                <a:t>классы</a:t>
              </a:r>
            </a:p>
          </p:txBody>
        </p:sp>
        <p:cxnSp>
          <p:nvCxnSpPr>
            <p:cNvPr id="13" name="Straight Arrow Connector 12">
              <a:extLst>
                <a:ext uri="{FF2B5EF4-FFF2-40B4-BE49-F238E27FC236}">
                  <a16:creationId xmlns:a16="http://schemas.microsoft.com/office/drawing/2014/main" id="{E0DD1AAB-26AF-4272-B5B4-A9D8B462C9E8}"/>
                </a:ext>
              </a:extLst>
            </p:cNvPr>
            <p:cNvCxnSpPr>
              <a:stCxn id="6" idx="2"/>
              <a:endCxn id="8" idx="0"/>
            </p:cNvCxnSpPr>
            <p:nvPr/>
          </p:nvCxnSpPr>
          <p:spPr>
            <a:xfrm>
              <a:off x="2305050" y="2527036"/>
              <a:ext cx="0" cy="717298"/>
            </a:xfrm>
            <a:prstGeom prst="straightConnector1">
              <a:avLst/>
            </a:prstGeom>
            <a:ln w="127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Connector: Elbow 14">
              <a:extLst>
                <a:ext uri="{FF2B5EF4-FFF2-40B4-BE49-F238E27FC236}">
                  <a16:creationId xmlns:a16="http://schemas.microsoft.com/office/drawing/2014/main" id="{79AA017F-87EC-45DF-B940-9851EB95FB30}"/>
                </a:ext>
              </a:extLst>
            </p:cNvPr>
            <p:cNvCxnSpPr>
              <a:stCxn id="6" idx="2"/>
              <a:endCxn id="7" idx="0"/>
            </p:cNvCxnSpPr>
            <p:nvPr/>
          </p:nvCxnSpPr>
          <p:spPr>
            <a:xfrm rot="5400000">
              <a:off x="1203451" y="2142735"/>
              <a:ext cx="717298" cy="1485900"/>
            </a:xfrm>
            <a:prstGeom prst="bentConnector3">
              <a:avLst/>
            </a:prstGeom>
            <a:ln w="127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Connector: Elbow 16">
              <a:extLst>
                <a:ext uri="{FF2B5EF4-FFF2-40B4-BE49-F238E27FC236}">
                  <a16:creationId xmlns:a16="http://schemas.microsoft.com/office/drawing/2014/main" id="{B754D8AC-4742-4625-8B2C-0864812A5243}"/>
                </a:ext>
              </a:extLst>
            </p:cNvPr>
            <p:cNvCxnSpPr>
              <a:stCxn id="6" idx="2"/>
              <a:endCxn id="9" idx="0"/>
            </p:cNvCxnSpPr>
            <p:nvPr/>
          </p:nvCxnSpPr>
          <p:spPr>
            <a:xfrm rot="16200000" flipH="1">
              <a:off x="2689351" y="2142735"/>
              <a:ext cx="717298" cy="1485900"/>
            </a:xfrm>
            <a:prstGeom prst="bentConnector3">
              <a:avLst/>
            </a:prstGeom>
            <a:ln w="127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123C6E3D-662C-44C9-9090-5D74150532CD}"/>
                </a:ext>
              </a:extLst>
            </p:cNvPr>
            <p:cNvCxnSpPr>
              <a:stCxn id="7" idx="2"/>
            </p:cNvCxnSpPr>
            <p:nvPr/>
          </p:nvCxnSpPr>
          <p:spPr>
            <a:xfrm flipH="1">
              <a:off x="819149" y="3613666"/>
              <a:ext cx="1" cy="717299"/>
            </a:xfrm>
            <a:prstGeom prst="straightConnector1">
              <a:avLst/>
            </a:prstGeom>
            <a:ln w="127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4506ABB5-C651-468D-B6FA-059CDD24E6C0}"/>
                </a:ext>
              </a:extLst>
            </p:cNvPr>
            <p:cNvCxnSpPr/>
            <p:nvPr/>
          </p:nvCxnSpPr>
          <p:spPr>
            <a:xfrm flipH="1">
              <a:off x="3794125" y="3613666"/>
              <a:ext cx="1" cy="717299"/>
            </a:xfrm>
            <a:prstGeom prst="straightConnector1">
              <a:avLst/>
            </a:prstGeom>
            <a:ln w="127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a:extLst>
                <a:ext uri="{FF2B5EF4-FFF2-40B4-BE49-F238E27FC236}">
                  <a16:creationId xmlns:a16="http://schemas.microsoft.com/office/drawing/2014/main" id="{30A5D116-3800-4320-B5A3-410F65A8F122}"/>
                </a:ext>
              </a:extLst>
            </p:cNvPr>
            <p:cNvCxnSpPr/>
            <p:nvPr/>
          </p:nvCxnSpPr>
          <p:spPr>
            <a:xfrm flipH="1">
              <a:off x="2305050" y="3613666"/>
              <a:ext cx="1" cy="717299"/>
            </a:xfrm>
            <a:prstGeom prst="straightConnector1">
              <a:avLst/>
            </a:prstGeom>
            <a:ln w="127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6910DC3E-B357-4897-B6F9-B2D19E0F1EE7}"/>
                </a:ext>
              </a:extLst>
            </p:cNvPr>
            <p:cNvSpPr txBox="1"/>
            <p:nvPr/>
          </p:nvSpPr>
          <p:spPr>
            <a:xfrm>
              <a:off x="142876" y="4361742"/>
              <a:ext cx="1346200" cy="584775"/>
            </a:xfrm>
            <a:prstGeom prst="rect">
              <a:avLst/>
            </a:prstGeom>
            <a:noFill/>
          </p:spPr>
          <p:txBody>
            <a:bodyPr wrap="square" rtlCol="0" anchor="ctr">
              <a:spAutoFit/>
            </a:bodyPr>
            <a:lstStyle/>
            <a:p>
              <a:pPr algn="ctr"/>
              <a:r>
                <a:rPr lang="ru-RU" sz="1600" dirty="0"/>
                <a:t>создать константу</a:t>
              </a:r>
            </a:p>
          </p:txBody>
        </p:sp>
        <p:sp>
          <p:nvSpPr>
            <p:cNvPr id="23" name="TextBox 22">
              <a:extLst>
                <a:ext uri="{FF2B5EF4-FFF2-40B4-BE49-F238E27FC236}">
                  <a16:creationId xmlns:a16="http://schemas.microsoft.com/office/drawing/2014/main" id="{380E79E3-60C2-48D9-8513-EBE141960418}"/>
                </a:ext>
              </a:extLst>
            </p:cNvPr>
            <p:cNvSpPr txBox="1"/>
            <p:nvPr/>
          </p:nvSpPr>
          <p:spPr>
            <a:xfrm>
              <a:off x="1339858" y="4361742"/>
              <a:ext cx="1930392" cy="830997"/>
            </a:xfrm>
            <a:prstGeom prst="rect">
              <a:avLst/>
            </a:prstGeom>
            <a:noFill/>
          </p:spPr>
          <p:txBody>
            <a:bodyPr wrap="square" rtlCol="0" anchor="ctr">
              <a:spAutoFit/>
            </a:bodyPr>
            <a:lstStyle/>
            <a:p>
              <a:pPr algn="ctr"/>
              <a:r>
                <a:rPr lang="ru-RU" sz="1600" dirty="0"/>
                <a:t>запретить переопределение метода</a:t>
              </a:r>
            </a:p>
          </p:txBody>
        </p:sp>
        <p:sp>
          <p:nvSpPr>
            <p:cNvPr id="24" name="TextBox 23">
              <a:extLst>
                <a:ext uri="{FF2B5EF4-FFF2-40B4-BE49-F238E27FC236}">
                  <a16:creationId xmlns:a16="http://schemas.microsoft.com/office/drawing/2014/main" id="{F0DE3428-07E0-460A-BF22-76272DA18867}"/>
                </a:ext>
              </a:extLst>
            </p:cNvPr>
            <p:cNvSpPr txBox="1"/>
            <p:nvPr/>
          </p:nvSpPr>
          <p:spPr>
            <a:xfrm>
              <a:off x="2974976" y="4356628"/>
              <a:ext cx="1641468" cy="584775"/>
            </a:xfrm>
            <a:prstGeom prst="rect">
              <a:avLst/>
            </a:prstGeom>
            <a:noFill/>
          </p:spPr>
          <p:txBody>
            <a:bodyPr wrap="square" rtlCol="0" anchor="ctr">
              <a:spAutoFit/>
            </a:bodyPr>
            <a:lstStyle/>
            <a:p>
              <a:pPr algn="ctr"/>
              <a:r>
                <a:rPr lang="ru-RU" sz="1600" dirty="0"/>
                <a:t>запретить наследование</a:t>
              </a:r>
            </a:p>
          </p:txBody>
        </p:sp>
      </p:grpSp>
      <p:pic>
        <p:nvPicPr>
          <p:cNvPr id="26" name="Picture 25">
            <a:extLst>
              <a:ext uri="{FF2B5EF4-FFF2-40B4-BE49-F238E27FC236}">
                <a16:creationId xmlns:a16="http://schemas.microsoft.com/office/drawing/2014/main" id="{77748C29-B701-4DE5-B0FC-08FC3A81F184}"/>
              </a:ext>
            </a:extLst>
          </p:cNvPr>
          <p:cNvPicPr>
            <a:picLocks noChangeAspect="1"/>
          </p:cNvPicPr>
          <p:nvPr/>
        </p:nvPicPr>
        <p:blipFill rotWithShape="1">
          <a:blip r:embed="rId3">
            <a:duotone>
              <a:schemeClr val="accent6">
                <a:shade val="45000"/>
                <a:satMod val="135000"/>
              </a:schemeClr>
              <a:prstClr val="white"/>
            </a:duotone>
          </a:blip>
          <a:srcRect l="2244" t="6190" r="4901" b="15238"/>
          <a:stretch/>
        </p:blipFill>
        <p:spPr>
          <a:xfrm>
            <a:off x="1287049" y="1821143"/>
            <a:ext cx="2101416" cy="951984"/>
          </a:xfrm>
          <a:prstGeom prst="rect">
            <a:avLst/>
          </a:prstGeom>
        </p:spPr>
      </p:pic>
    </p:spTree>
    <p:extLst>
      <p:ext uri="{BB962C8B-B14F-4D97-AF65-F5344CB8AC3E}">
        <p14:creationId xmlns:p14="http://schemas.microsoft.com/office/powerpoint/2010/main" val="924182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F2B977-F9E4-4A52-A54C-A58F0FDAEDC6}"/>
              </a:ext>
            </a:extLst>
          </p:cNvPr>
          <p:cNvSpPr>
            <a:spLocks noGrp="1"/>
          </p:cNvSpPr>
          <p:nvPr>
            <p:ph type="title"/>
          </p:nvPr>
        </p:nvSpPr>
        <p:spPr/>
        <p:txBody>
          <a:bodyPr/>
          <a:lstStyle/>
          <a:p>
            <a:r>
              <a:rPr lang="ru-RU" dirty="0"/>
              <a:t>Когда использовать </a:t>
            </a:r>
            <a:r>
              <a:rPr lang="en-US" dirty="0"/>
              <a:t>final?</a:t>
            </a:r>
            <a:endParaRPr lang="ru-RU" dirty="0"/>
          </a:p>
        </p:txBody>
      </p:sp>
      <p:sp>
        <p:nvSpPr>
          <p:cNvPr id="6" name="Content Placeholder 5">
            <a:extLst>
              <a:ext uri="{FF2B5EF4-FFF2-40B4-BE49-F238E27FC236}">
                <a16:creationId xmlns:a16="http://schemas.microsoft.com/office/drawing/2014/main" id="{201ACE04-3AF3-458E-B3E0-E1C36C79ED9A}"/>
              </a:ext>
            </a:extLst>
          </p:cNvPr>
          <p:cNvSpPr>
            <a:spLocks noGrp="1"/>
          </p:cNvSpPr>
          <p:nvPr>
            <p:ph sz="half" idx="1"/>
          </p:nvPr>
        </p:nvSpPr>
        <p:spPr>
          <a:xfrm>
            <a:off x="609600" y="2209800"/>
            <a:ext cx="7594600" cy="3916364"/>
          </a:xfrm>
        </p:spPr>
        <p:txBody>
          <a:bodyPr/>
          <a:lstStyle/>
          <a:p>
            <a:r>
              <a:rPr lang="ru-RU" dirty="0"/>
              <a:t>Повысить уровень безопасности кода</a:t>
            </a:r>
          </a:p>
          <a:p>
            <a:r>
              <a:rPr lang="ru-RU" sz="4000" dirty="0"/>
              <a:t>Упростить задачу оптимизации кода, решаемой компилятором</a:t>
            </a:r>
            <a:endParaRPr lang="ru-RU" dirty="0"/>
          </a:p>
        </p:txBody>
      </p:sp>
      <p:pic>
        <p:nvPicPr>
          <p:cNvPr id="1026" name="Picture 2" descr="Java Final Keyword: A Detailed Exploration">
            <a:extLst>
              <a:ext uri="{FF2B5EF4-FFF2-40B4-BE49-F238E27FC236}">
                <a16:creationId xmlns:a16="http://schemas.microsoft.com/office/drawing/2014/main" id="{76C9D518-E456-495F-B93F-DC7A86F8786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8707438" y="2209800"/>
            <a:ext cx="2874962" cy="287496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131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8DB58-8D9D-413E-B02F-4BA86F4F61C1}"/>
              </a:ext>
            </a:extLst>
          </p:cNvPr>
          <p:cNvSpPr>
            <a:spLocks noGrp="1"/>
          </p:cNvSpPr>
          <p:nvPr>
            <p:ph type="title"/>
          </p:nvPr>
        </p:nvSpPr>
        <p:spPr/>
        <p:txBody>
          <a:bodyPr/>
          <a:lstStyle/>
          <a:p>
            <a:r>
              <a:rPr lang="ru-RU" dirty="0"/>
              <a:t>Конструктор</a:t>
            </a:r>
            <a:r>
              <a:rPr lang="en-US" dirty="0"/>
              <a:t> </a:t>
            </a:r>
            <a:r>
              <a:rPr lang="ru-RU" dirty="0"/>
              <a:t>класса</a:t>
            </a:r>
          </a:p>
        </p:txBody>
      </p:sp>
      <p:sp>
        <p:nvSpPr>
          <p:cNvPr id="3" name="Content Placeholder 2">
            <a:extLst>
              <a:ext uri="{FF2B5EF4-FFF2-40B4-BE49-F238E27FC236}">
                <a16:creationId xmlns:a16="http://schemas.microsoft.com/office/drawing/2014/main" id="{5FDBDAAE-E28C-4166-A0E7-537612FF2CAD}"/>
              </a:ext>
            </a:extLst>
          </p:cNvPr>
          <p:cNvSpPr>
            <a:spLocks noGrp="1"/>
          </p:cNvSpPr>
          <p:nvPr>
            <p:ph sz="half" idx="1"/>
          </p:nvPr>
        </p:nvSpPr>
        <p:spPr>
          <a:xfrm>
            <a:off x="609600" y="1809739"/>
            <a:ext cx="6515100" cy="4525963"/>
          </a:xfrm>
        </p:spPr>
        <p:txBody>
          <a:bodyPr>
            <a:normAutofit fontScale="62500" lnSpcReduction="20000"/>
          </a:bodyPr>
          <a:lstStyle/>
          <a:p>
            <a:pPr algn="just">
              <a:lnSpc>
                <a:spcPct val="100000"/>
              </a:lnSpc>
              <a:spcBef>
                <a:spcPts val="360"/>
              </a:spcBef>
              <a:tabLst>
                <a:tab pos="0" algn="l"/>
              </a:tabLst>
            </a:pPr>
            <a:r>
              <a:rPr lang="ru-RU" sz="4000" spc="-1" dirty="0">
                <a:solidFill>
                  <a:srgbClr val="244061"/>
                </a:solidFill>
                <a:ea typeface="DejaVu Sans"/>
              </a:rPr>
              <a:t>Это схожая c методом структура, назначение которой состоит в создании экземпляра класса. </a:t>
            </a:r>
            <a:endParaRPr lang="ru-RU" sz="4000" spc="-1" dirty="0">
              <a:solidFill>
                <a:srgbClr val="000000"/>
              </a:solidFill>
              <a:latin typeface="Arial"/>
            </a:endParaRPr>
          </a:p>
          <a:p>
            <a:pPr algn="just">
              <a:lnSpc>
                <a:spcPct val="100000"/>
              </a:lnSpc>
              <a:spcBef>
                <a:spcPts val="360"/>
              </a:spcBef>
              <a:tabLst>
                <a:tab pos="0" algn="l"/>
              </a:tabLst>
            </a:pPr>
            <a:r>
              <a:rPr lang="ru-RU" sz="4000" spc="-1" dirty="0">
                <a:solidFill>
                  <a:srgbClr val="244061"/>
                </a:solidFill>
                <a:ea typeface="DejaVu Sans"/>
              </a:rPr>
              <a:t>Имя конструктора должно совпадать с именем класса (по договоренности, первая буква — заглавная, обычно имя существительное);</a:t>
            </a:r>
            <a:endParaRPr lang="ru-RU" sz="4000" spc="-1" dirty="0">
              <a:solidFill>
                <a:srgbClr val="000000"/>
              </a:solidFill>
              <a:latin typeface="Arial"/>
            </a:endParaRPr>
          </a:p>
          <a:p>
            <a:pPr algn="just">
              <a:lnSpc>
                <a:spcPct val="100000"/>
              </a:lnSpc>
              <a:spcBef>
                <a:spcPts val="360"/>
              </a:spcBef>
              <a:tabLst>
                <a:tab pos="0" algn="l"/>
              </a:tabLst>
            </a:pPr>
            <a:r>
              <a:rPr lang="ru-RU" sz="4000" spc="-1" dirty="0">
                <a:solidFill>
                  <a:srgbClr val="244061"/>
                </a:solidFill>
                <a:ea typeface="DejaVu Sans"/>
              </a:rPr>
              <a:t>Конструктор имеется в любом классе. Даже если вы его не написали, компилятор </a:t>
            </a:r>
            <a:r>
              <a:rPr lang="ru-RU" sz="4000" spc="-1" dirty="0" err="1">
                <a:solidFill>
                  <a:srgbClr val="244061"/>
                </a:solidFill>
                <a:ea typeface="DejaVu Sans"/>
              </a:rPr>
              <a:t>Java</a:t>
            </a:r>
            <a:r>
              <a:rPr lang="ru-RU" sz="4000" spc="-1" dirty="0">
                <a:solidFill>
                  <a:srgbClr val="244061"/>
                </a:solidFill>
                <a:ea typeface="DejaVu Sans"/>
              </a:rPr>
              <a:t> сам создаст конструктор по умолчанию (</a:t>
            </a:r>
            <a:r>
              <a:rPr lang="ru-RU" sz="4000" spc="-1" dirty="0" err="1">
                <a:solidFill>
                  <a:srgbClr val="244061"/>
                </a:solidFill>
                <a:ea typeface="DejaVu Sans"/>
              </a:rPr>
              <a:t>default</a:t>
            </a:r>
            <a:r>
              <a:rPr lang="ru-RU" sz="4000" spc="-1" dirty="0">
                <a:solidFill>
                  <a:srgbClr val="244061"/>
                </a:solidFill>
                <a:ea typeface="DejaVu Sans"/>
              </a:rPr>
              <a:t> </a:t>
            </a:r>
            <a:r>
              <a:rPr lang="ru-RU" sz="4000" spc="-1" dirty="0" err="1">
                <a:solidFill>
                  <a:srgbClr val="244061"/>
                </a:solidFill>
                <a:ea typeface="DejaVu Sans"/>
              </a:rPr>
              <a:t>constructor</a:t>
            </a:r>
            <a:r>
              <a:rPr lang="ru-RU" sz="4000" spc="-1" dirty="0">
                <a:solidFill>
                  <a:srgbClr val="244061"/>
                </a:solidFill>
                <a:ea typeface="DejaVu Sans"/>
              </a:rPr>
              <a:t>), который будет пустым и не делает ничего, кроме вызова конструктора суперкласса.</a:t>
            </a:r>
            <a:endParaRPr lang="ru-RU" sz="4000" spc="-1" dirty="0">
              <a:solidFill>
                <a:srgbClr val="000000"/>
              </a:solidFill>
              <a:latin typeface="Arial"/>
            </a:endParaRPr>
          </a:p>
          <a:p>
            <a:endParaRPr lang="ru-RU" dirty="0"/>
          </a:p>
        </p:txBody>
      </p:sp>
      <p:pic>
        <p:nvPicPr>
          <p:cNvPr id="6" name="Content Placeholder 5">
            <a:extLst>
              <a:ext uri="{FF2B5EF4-FFF2-40B4-BE49-F238E27FC236}">
                <a16:creationId xmlns:a16="http://schemas.microsoft.com/office/drawing/2014/main" id="{D62A744D-6107-4252-9CAF-AEDF8ECBF4E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342982" y="1619261"/>
            <a:ext cx="4572000" cy="4572000"/>
          </a:xfrm>
        </p:spPr>
      </p:pic>
    </p:spTree>
    <p:extLst>
      <p:ext uri="{BB962C8B-B14F-4D97-AF65-F5344CB8AC3E}">
        <p14:creationId xmlns:p14="http://schemas.microsoft.com/office/powerpoint/2010/main" val="1611737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051C5-C96D-493A-92F6-D56BFB4ABD4A}"/>
              </a:ext>
            </a:extLst>
          </p:cNvPr>
          <p:cNvSpPr>
            <a:spLocks noGrp="1"/>
          </p:cNvSpPr>
          <p:nvPr>
            <p:ph type="title"/>
          </p:nvPr>
        </p:nvSpPr>
        <p:spPr/>
        <p:txBody>
          <a:bodyPr/>
          <a:lstStyle/>
          <a:p>
            <a:r>
              <a:rPr lang="ru-RU" dirty="0"/>
              <a:t>Характеристики конструктора</a:t>
            </a:r>
          </a:p>
        </p:txBody>
      </p:sp>
      <p:sp>
        <p:nvSpPr>
          <p:cNvPr id="3" name="Content Placeholder 2">
            <a:extLst>
              <a:ext uri="{FF2B5EF4-FFF2-40B4-BE49-F238E27FC236}">
                <a16:creationId xmlns:a16="http://schemas.microsoft.com/office/drawing/2014/main" id="{1741A52B-9FFD-4EC9-8B55-5BFACA7A6601}"/>
              </a:ext>
            </a:extLst>
          </p:cNvPr>
          <p:cNvSpPr>
            <a:spLocks noGrp="1"/>
          </p:cNvSpPr>
          <p:nvPr>
            <p:ph idx="1"/>
          </p:nvPr>
        </p:nvSpPr>
        <p:spPr/>
        <p:txBody>
          <a:bodyPr>
            <a:normAutofit fontScale="62500" lnSpcReduction="20000"/>
          </a:bodyPr>
          <a:lstStyle/>
          <a:p>
            <a:r>
              <a:rPr lang="ru-RU" dirty="0"/>
              <a:t>Конструктор нельзя наследовать или переопределить в подклассе</a:t>
            </a:r>
            <a:r>
              <a:rPr lang="en-US" dirty="0"/>
              <a:t>;</a:t>
            </a:r>
          </a:p>
          <a:p>
            <a:r>
              <a:rPr lang="ru-RU" sz="4000" spc="-1" dirty="0">
                <a:solidFill>
                  <a:srgbClr val="244061"/>
                </a:solidFill>
                <a:ea typeface="DejaVu Sans"/>
              </a:rPr>
              <a:t>Конструкторов может быть несколько в классе. В этом случае конструкторы называют перегруженными;</a:t>
            </a:r>
            <a:endParaRPr lang="en-US" sz="4000" spc="-1" dirty="0">
              <a:solidFill>
                <a:srgbClr val="244061"/>
              </a:solidFill>
              <a:ea typeface="DejaVu Sans"/>
            </a:endParaRPr>
          </a:p>
          <a:p>
            <a:r>
              <a:rPr lang="ru-RU" sz="4000" spc="-1" dirty="0">
                <a:solidFill>
                  <a:srgbClr val="244061"/>
                </a:solidFill>
                <a:ea typeface="DejaVu Sans"/>
              </a:rPr>
              <a:t>Конструктор не имеет возвращаемого типа</a:t>
            </a:r>
            <a:r>
              <a:rPr lang="en-US" sz="4000" spc="-1" dirty="0">
                <a:solidFill>
                  <a:srgbClr val="244061"/>
                </a:solidFill>
                <a:ea typeface="DejaVu Sans"/>
              </a:rPr>
              <a:t>;</a:t>
            </a:r>
          </a:p>
          <a:p>
            <a:r>
              <a:rPr lang="ru-RU" sz="4000" spc="-1" dirty="0">
                <a:solidFill>
                  <a:srgbClr val="244061"/>
                </a:solidFill>
                <a:ea typeface="DejaVu Sans"/>
              </a:rPr>
              <a:t>В конструкторе допускается оператор </a:t>
            </a:r>
            <a:r>
              <a:rPr lang="ru-RU" sz="4000" i="1" spc="-1" dirty="0" err="1">
                <a:solidFill>
                  <a:schemeClr val="accent4">
                    <a:lumMod val="10000"/>
                  </a:schemeClr>
                </a:solidFill>
                <a:latin typeface="Courier New" panose="02070309020205020404" pitchFamily="49" charset="0"/>
                <a:ea typeface="DejaVu Sans"/>
                <a:cs typeface="Courier New" panose="02070309020205020404" pitchFamily="49" charset="0"/>
              </a:rPr>
              <a:t>return</a:t>
            </a:r>
            <a:r>
              <a:rPr lang="ru-RU" sz="4000" spc="-1" dirty="0">
                <a:solidFill>
                  <a:srgbClr val="244061"/>
                </a:solidFill>
                <a:ea typeface="DejaVu Sans"/>
              </a:rPr>
              <a:t>, но только пустой, без всякого возвращаемого значения;</a:t>
            </a:r>
            <a:endParaRPr lang="en-US" sz="4000" spc="-1" dirty="0">
              <a:solidFill>
                <a:srgbClr val="244061"/>
              </a:solidFill>
              <a:ea typeface="DejaVu Sans"/>
            </a:endParaRPr>
          </a:p>
          <a:p>
            <a:r>
              <a:rPr lang="ru-RU" sz="4000" spc="-1" dirty="0">
                <a:solidFill>
                  <a:srgbClr val="244061"/>
                </a:solidFill>
                <a:ea typeface="DejaVu Sans"/>
              </a:rPr>
              <a:t>В конструкторе допускается применение модификаторов доступа, можно задать один из модификаторов: </a:t>
            </a:r>
            <a:r>
              <a:rPr lang="ru-RU" sz="4000" i="1" spc="-1" dirty="0" err="1">
                <a:solidFill>
                  <a:schemeClr val="accent4">
                    <a:lumMod val="10000"/>
                  </a:schemeClr>
                </a:solidFill>
                <a:latin typeface="Courier New" panose="02070309020205020404" pitchFamily="49" charset="0"/>
                <a:ea typeface="DejaVu Sans"/>
                <a:cs typeface="Courier New" panose="02070309020205020404" pitchFamily="49" charset="0"/>
              </a:rPr>
              <a:t>public</a:t>
            </a:r>
            <a:r>
              <a:rPr lang="ru-RU" sz="4000" spc="-1" dirty="0">
                <a:solidFill>
                  <a:srgbClr val="244061"/>
                </a:solidFill>
                <a:ea typeface="DejaVu Sans"/>
              </a:rPr>
              <a:t>, </a:t>
            </a:r>
            <a:r>
              <a:rPr lang="ru-RU" sz="4000" i="1" spc="-1" dirty="0" err="1">
                <a:solidFill>
                  <a:schemeClr val="accent4">
                    <a:lumMod val="10000"/>
                  </a:schemeClr>
                </a:solidFill>
                <a:latin typeface="Courier New" panose="02070309020205020404" pitchFamily="49" charset="0"/>
                <a:ea typeface="DejaVu Sans"/>
                <a:cs typeface="Courier New" panose="02070309020205020404" pitchFamily="49" charset="0"/>
              </a:rPr>
              <a:t>protected</a:t>
            </a:r>
            <a:r>
              <a:rPr lang="ru-RU" sz="4000" spc="-1" dirty="0">
                <a:solidFill>
                  <a:srgbClr val="244061"/>
                </a:solidFill>
                <a:ea typeface="DejaVu Sans"/>
              </a:rPr>
              <a:t>, </a:t>
            </a:r>
            <a:r>
              <a:rPr lang="ru-RU" sz="4000" i="1" spc="-1" dirty="0" err="1">
                <a:solidFill>
                  <a:schemeClr val="accent4">
                    <a:lumMod val="10000"/>
                  </a:schemeClr>
                </a:solidFill>
                <a:latin typeface="Courier New" panose="02070309020205020404" pitchFamily="49" charset="0"/>
                <a:ea typeface="DejaVu Sans"/>
                <a:cs typeface="Courier New" panose="02070309020205020404" pitchFamily="49" charset="0"/>
              </a:rPr>
              <a:t>private</a:t>
            </a:r>
            <a:r>
              <a:rPr lang="ru-RU" sz="4000" spc="-1" dirty="0">
                <a:solidFill>
                  <a:srgbClr val="244061"/>
                </a:solidFill>
                <a:ea typeface="DejaVu Sans"/>
              </a:rPr>
              <a:t> или без модификатора</a:t>
            </a:r>
            <a:r>
              <a:rPr lang="en-US" sz="4000" spc="-1" dirty="0">
                <a:solidFill>
                  <a:srgbClr val="244061"/>
                </a:solidFill>
                <a:ea typeface="DejaVu Sans"/>
              </a:rPr>
              <a:t>;</a:t>
            </a:r>
          </a:p>
          <a:p>
            <a:r>
              <a:rPr lang="ru-RU" sz="4000" spc="-1" dirty="0">
                <a:solidFill>
                  <a:srgbClr val="244061"/>
                </a:solidFill>
                <a:ea typeface="DejaVu Sans"/>
              </a:rPr>
              <a:t>Конструктор не может иметь модификаторов </a:t>
            </a:r>
            <a:r>
              <a:rPr lang="ru-RU" sz="4000" i="1" spc="-1" dirty="0" err="1">
                <a:solidFill>
                  <a:schemeClr val="accent4">
                    <a:lumMod val="10000"/>
                  </a:schemeClr>
                </a:solidFill>
                <a:latin typeface="Courier New" panose="02070309020205020404" pitchFamily="49" charset="0"/>
                <a:ea typeface="DejaVu Sans"/>
                <a:cs typeface="Courier New" panose="02070309020205020404" pitchFamily="49" charset="0"/>
              </a:rPr>
              <a:t>abstract</a:t>
            </a:r>
            <a:r>
              <a:rPr lang="ru-RU" sz="4000" spc="-1" dirty="0">
                <a:solidFill>
                  <a:srgbClr val="244061"/>
                </a:solidFill>
                <a:ea typeface="DejaVu Sans"/>
              </a:rPr>
              <a:t>, </a:t>
            </a:r>
            <a:r>
              <a:rPr lang="ru-RU" sz="4000" i="1" spc="-1" dirty="0" err="1">
                <a:solidFill>
                  <a:schemeClr val="accent4">
                    <a:lumMod val="10000"/>
                  </a:schemeClr>
                </a:solidFill>
                <a:latin typeface="Courier New" panose="02070309020205020404" pitchFamily="49" charset="0"/>
                <a:ea typeface="DejaVu Sans"/>
                <a:cs typeface="Courier New" panose="02070309020205020404" pitchFamily="49" charset="0"/>
              </a:rPr>
              <a:t>final</a:t>
            </a:r>
            <a:r>
              <a:rPr lang="ru-RU" sz="4000" spc="-1" dirty="0">
                <a:solidFill>
                  <a:srgbClr val="244061"/>
                </a:solidFill>
                <a:ea typeface="DejaVu Sans"/>
              </a:rPr>
              <a:t>, </a:t>
            </a:r>
            <a:r>
              <a:rPr lang="ru-RU" sz="4000" i="1" spc="-1" dirty="0" err="1">
                <a:solidFill>
                  <a:schemeClr val="accent4">
                    <a:lumMod val="10000"/>
                  </a:schemeClr>
                </a:solidFill>
                <a:latin typeface="Courier New" panose="02070309020205020404" pitchFamily="49" charset="0"/>
                <a:ea typeface="DejaVu Sans"/>
                <a:cs typeface="Courier New" panose="02070309020205020404" pitchFamily="49" charset="0"/>
              </a:rPr>
              <a:t>native</a:t>
            </a:r>
            <a:r>
              <a:rPr lang="ru-RU" sz="4000" spc="-1" dirty="0">
                <a:solidFill>
                  <a:srgbClr val="244061"/>
                </a:solidFill>
                <a:ea typeface="DejaVu Sans"/>
              </a:rPr>
              <a:t>, </a:t>
            </a:r>
            <a:r>
              <a:rPr lang="ru-RU" sz="4000" i="1" spc="-1" dirty="0" err="1">
                <a:solidFill>
                  <a:schemeClr val="accent4">
                    <a:lumMod val="10000"/>
                  </a:schemeClr>
                </a:solidFill>
                <a:latin typeface="Courier New" panose="02070309020205020404" pitchFamily="49" charset="0"/>
                <a:ea typeface="DejaVu Sans"/>
                <a:cs typeface="Courier New" panose="02070309020205020404" pitchFamily="49" charset="0"/>
              </a:rPr>
              <a:t>static</a:t>
            </a:r>
            <a:r>
              <a:rPr lang="ru-RU" sz="4000" spc="-1" dirty="0">
                <a:solidFill>
                  <a:srgbClr val="244061"/>
                </a:solidFill>
                <a:ea typeface="DejaVu Sans"/>
              </a:rPr>
              <a:t> или </a:t>
            </a:r>
            <a:r>
              <a:rPr lang="ru-RU" sz="4000" i="1" spc="-1" dirty="0" err="1">
                <a:solidFill>
                  <a:schemeClr val="accent4">
                    <a:lumMod val="10000"/>
                  </a:schemeClr>
                </a:solidFill>
                <a:latin typeface="Courier New" panose="02070309020205020404" pitchFamily="49" charset="0"/>
                <a:ea typeface="DejaVu Sans"/>
                <a:cs typeface="Courier New" panose="02070309020205020404" pitchFamily="49" charset="0"/>
              </a:rPr>
              <a:t>synchronized</a:t>
            </a:r>
            <a:r>
              <a:rPr lang="ru-RU" sz="4000" spc="-1" dirty="0">
                <a:solidFill>
                  <a:srgbClr val="244061"/>
                </a:solidFill>
                <a:ea typeface="DejaVu Sans"/>
              </a:rPr>
              <a:t>;</a:t>
            </a:r>
            <a:endParaRPr lang="ru-RU" sz="4000" spc="-1" dirty="0">
              <a:solidFill>
                <a:srgbClr val="000000"/>
              </a:solidFill>
              <a:latin typeface="Arial"/>
            </a:endParaRPr>
          </a:p>
          <a:p>
            <a:endParaRPr lang="ru-RU" dirty="0"/>
          </a:p>
        </p:txBody>
      </p:sp>
    </p:spTree>
    <p:extLst>
      <p:ext uri="{BB962C8B-B14F-4D97-AF65-F5344CB8AC3E}">
        <p14:creationId xmlns:p14="http://schemas.microsoft.com/office/powerpoint/2010/main" val="2305673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FA81-5FA1-4C32-A51C-667EFED4A080}"/>
              </a:ext>
            </a:extLst>
          </p:cNvPr>
          <p:cNvSpPr>
            <a:spLocks noGrp="1"/>
          </p:cNvSpPr>
          <p:nvPr>
            <p:ph type="title"/>
          </p:nvPr>
        </p:nvSpPr>
        <p:spPr/>
        <p:txBody>
          <a:bodyPr/>
          <a:lstStyle/>
          <a:p>
            <a:r>
              <a:rPr lang="ru-RU" dirty="0"/>
              <a:t>Конструктор</a:t>
            </a:r>
            <a:r>
              <a:rPr lang="en-US" dirty="0"/>
              <a:t> </a:t>
            </a:r>
            <a:r>
              <a:rPr lang="ru-RU" dirty="0"/>
              <a:t>класса</a:t>
            </a:r>
          </a:p>
        </p:txBody>
      </p:sp>
      <p:sp>
        <p:nvSpPr>
          <p:cNvPr id="3" name="Content Placeholder 2">
            <a:extLst>
              <a:ext uri="{FF2B5EF4-FFF2-40B4-BE49-F238E27FC236}">
                <a16:creationId xmlns:a16="http://schemas.microsoft.com/office/drawing/2014/main" id="{5B5CBABD-4F23-4DF7-A594-634F52CEC81E}"/>
              </a:ext>
            </a:extLst>
          </p:cNvPr>
          <p:cNvSpPr>
            <a:spLocks noGrp="1"/>
          </p:cNvSpPr>
          <p:nvPr>
            <p:ph idx="1"/>
          </p:nvPr>
        </p:nvSpPr>
        <p:spPr/>
        <p:txBody>
          <a:bodyPr>
            <a:normAutofit fontScale="70000" lnSpcReduction="20000"/>
          </a:bodyPr>
          <a:lstStyle/>
          <a:p>
            <a:r>
              <a:rPr lang="ru-RU" dirty="0"/>
              <a:t>Ключевое слово </a:t>
            </a:r>
            <a:r>
              <a:rPr lang="ru-RU" i="1" dirty="0" err="1">
                <a:solidFill>
                  <a:schemeClr val="accent4">
                    <a:lumMod val="10000"/>
                  </a:schemeClr>
                </a:solidFill>
                <a:latin typeface="Courier New" panose="02070309020205020404" pitchFamily="49" charset="0"/>
                <a:cs typeface="Courier New" panose="02070309020205020404" pitchFamily="49" charset="0"/>
              </a:rPr>
              <a:t>this</a:t>
            </a:r>
            <a:r>
              <a:rPr lang="ru-RU" dirty="0"/>
              <a:t> ссылается на другой конструктор в этом же классе. Если используется, то обращение должно к нему быть первой строкой конструктора;</a:t>
            </a:r>
          </a:p>
          <a:p>
            <a:r>
              <a:rPr lang="ru-RU" dirty="0"/>
              <a:t>Ключевое слово </a:t>
            </a:r>
            <a:r>
              <a:rPr lang="ru-RU" i="1" dirty="0" err="1">
                <a:solidFill>
                  <a:schemeClr val="accent4">
                    <a:lumMod val="10000"/>
                  </a:schemeClr>
                </a:solidFill>
                <a:latin typeface="Courier New" panose="02070309020205020404" pitchFamily="49" charset="0"/>
                <a:cs typeface="Courier New" panose="02070309020205020404" pitchFamily="49" charset="0"/>
              </a:rPr>
              <a:t>super</a:t>
            </a:r>
            <a:r>
              <a:rPr lang="ru-RU" dirty="0"/>
              <a:t> вызывает конструктор родительского класса. Если используется, должно обращение к нему быть первой строкой конструктора;</a:t>
            </a:r>
          </a:p>
          <a:p>
            <a:r>
              <a:rPr lang="ru-RU" dirty="0"/>
              <a:t>Если конструктор не делает вызов конструктора </a:t>
            </a:r>
            <a:r>
              <a:rPr lang="ru-RU" i="1" dirty="0" err="1">
                <a:solidFill>
                  <a:schemeClr val="accent4">
                    <a:lumMod val="10000"/>
                  </a:schemeClr>
                </a:solidFill>
                <a:latin typeface="Courier New" panose="02070309020205020404" pitchFamily="49" charset="0"/>
                <a:cs typeface="Courier New" panose="02070309020205020404" pitchFamily="49" charset="0"/>
              </a:rPr>
              <a:t>super</a:t>
            </a:r>
            <a:r>
              <a:rPr lang="ru-RU" dirty="0"/>
              <a:t> класса-предка (с аргументами или без аргументов), компилятор автоматически добавляет код вызова конструктора класса-предка без аргументов;</a:t>
            </a:r>
          </a:p>
          <a:p>
            <a:endParaRPr lang="ru-RU" dirty="0"/>
          </a:p>
        </p:txBody>
      </p:sp>
    </p:spTree>
    <p:extLst>
      <p:ext uri="{BB962C8B-B14F-4D97-AF65-F5344CB8AC3E}">
        <p14:creationId xmlns:p14="http://schemas.microsoft.com/office/powerpoint/2010/main" val="4498458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22E5D-3F3E-4E95-867E-C0EDF245A5E0}"/>
              </a:ext>
            </a:extLst>
          </p:cNvPr>
          <p:cNvSpPr>
            <a:spLocks noGrp="1"/>
          </p:cNvSpPr>
          <p:nvPr>
            <p:ph type="title"/>
          </p:nvPr>
        </p:nvSpPr>
        <p:spPr/>
        <p:txBody>
          <a:bodyPr/>
          <a:lstStyle/>
          <a:p>
            <a:r>
              <a:rPr lang="ru-RU" dirty="0"/>
              <a:t>Конструктор по умолчанию</a:t>
            </a:r>
          </a:p>
        </p:txBody>
      </p:sp>
      <p:sp>
        <p:nvSpPr>
          <p:cNvPr id="4" name="Content Placeholder 3">
            <a:extLst>
              <a:ext uri="{FF2B5EF4-FFF2-40B4-BE49-F238E27FC236}">
                <a16:creationId xmlns:a16="http://schemas.microsoft.com/office/drawing/2014/main" id="{A2209808-FA9F-43CC-8E9A-75EA5429BA38}"/>
              </a:ext>
            </a:extLst>
          </p:cNvPr>
          <p:cNvSpPr>
            <a:spLocks noGrp="1"/>
          </p:cNvSpPr>
          <p:nvPr>
            <p:ph sz="half" idx="1"/>
          </p:nvPr>
        </p:nvSpPr>
        <p:spPr>
          <a:xfrm>
            <a:off x="609600" y="1809739"/>
            <a:ext cx="5905500" cy="4525963"/>
          </a:xfrm>
        </p:spPr>
        <p:txBody>
          <a:bodyPr>
            <a:normAutofit/>
          </a:bodyPr>
          <a:lstStyle/>
          <a:p>
            <a:r>
              <a:rPr lang="ru-RU" sz="2800" dirty="0"/>
              <a:t>Конструктор имеется в любом классе.</a:t>
            </a:r>
          </a:p>
          <a:p>
            <a:r>
              <a:rPr lang="ru-RU" sz="2800" spc="-1" dirty="0">
                <a:solidFill>
                  <a:srgbClr val="244061"/>
                </a:solidFill>
                <a:ea typeface="DejaVu Sans"/>
              </a:rPr>
              <a:t>Компилятор </a:t>
            </a:r>
            <a:r>
              <a:rPr lang="ru-RU" sz="2800" spc="-1" dirty="0" err="1">
                <a:solidFill>
                  <a:srgbClr val="244061"/>
                </a:solidFill>
                <a:ea typeface="DejaVu Sans"/>
              </a:rPr>
              <a:t>Java</a:t>
            </a:r>
            <a:r>
              <a:rPr lang="ru-RU" sz="2800" spc="-1" dirty="0">
                <a:solidFill>
                  <a:srgbClr val="244061"/>
                </a:solidFill>
                <a:ea typeface="DejaVu Sans"/>
              </a:rPr>
              <a:t> сам создаст конструктор по умолчанию (</a:t>
            </a:r>
            <a:r>
              <a:rPr lang="ru-RU" sz="2800" spc="-1" dirty="0" err="1">
                <a:solidFill>
                  <a:srgbClr val="244061"/>
                </a:solidFill>
                <a:ea typeface="DejaVu Sans"/>
              </a:rPr>
              <a:t>default</a:t>
            </a:r>
            <a:r>
              <a:rPr lang="ru-RU" sz="2800" spc="-1" dirty="0">
                <a:solidFill>
                  <a:srgbClr val="244061"/>
                </a:solidFill>
                <a:ea typeface="DejaVu Sans"/>
              </a:rPr>
              <a:t> </a:t>
            </a:r>
            <a:r>
              <a:rPr lang="ru-RU" sz="2800" spc="-1" dirty="0" err="1">
                <a:solidFill>
                  <a:srgbClr val="244061"/>
                </a:solidFill>
                <a:ea typeface="DejaVu Sans"/>
              </a:rPr>
              <a:t>constructor</a:t>
            </a:r>
            <a:r>
              <a:rPr lang="ru-RU" sz="2800" spc="-1" dirty="0">
                <a:solidFill>
                  <a:srgbClr val="244061"/>
                </a:solidFill>
                <a:ea typeface="DejaVu Sans"/>
              </a:rPr>
              <a:t>) в случае, если вы не написали конструктор сами.</a:t>
            </a:r>
          </a:p>
          <a:p>
            <a:r>
              <a:rPr lang="ru-RU" sz="2800" spc="-1" dirty="0">
                <a:solidFill>
                  <a:srgbClr val="244061"/>
                </a:solidFill>
                <a:ea typeface="DejaVu Sans"/>
              </a:rPr>
              <a:t>Этот конструктор пустой и не делает ничего, кроме вызова конструктора суперкласса.</a:t>
            </a:r>
            <a:endParaRPr lang="ru-RU" sz="2800" dirty="0"/>
          </a:p>
        </p:txBody>
      </p:sp>
      <p:graphicFrame>
        <p:nvGraphicFramePr>
          <p:cNvPr id="6" name="Content Placeholder 5">
            <a:extLst>
              <a:ext uri="{FF2B5EF4-FFF2-40B4-BE49-F238E27FC236}">
                <a16:creationId xmlns:a16="http://schemas.microsoft.com/office/drawing/2014/main" id="{8B22ECFA-61E3-48C5-A317-C16732A3EF9E}"/>
              </a:ext>
            </a:extLst>
          </p:cNvPr>
          <p:cNvGraphicFramePr>
            <a:graphicFrameLocks noGrp="1"/>
          </p:cNvGraphicFramePr>
          <p:nvPr>
            <p:ph sz="half" idx="2"/>
            <p:extLst>
              <p:ext uri="{D42A27DB-BD31-4B8C-83A1-F6EECF244321}">
                <p14:modId xmlns:p14="http://schemas.microsoft.com/office/powerpoint/2010/main" val="100067339"/>
              </p:ext>
            </p:extLst>
          </p:nvPr>
        </p:nvGraphicFramePr>
        <p:xfrm>
          <a:off x="6807200" y="1435100"/>
          <a:ext cx="53848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9284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E2D22-E034-4D41-B7F2-DF6206AD3621}"/>
              </a:ext>
            </a:extLst>
          </p:cNvPr>
          <p:cNvSpPr>
            <a:spLocks noGrp="1"/>
          </p:cNvSpPr>
          <p:nvPr>
            <p:ph type="title"/>
          </p:nvPr>
        </p:nvSpPr>
        <p:spPr/>
        <p:txBody>
          <a:bodyPr>
            <a:normAutofit fontScale="90000"/>
          </a:bodyPr>
          <a:lstStyle/>
          <a:p>
            <a:r>
              <a:rPr lang="ru-RU" dirty="0"/>
              <a:t>Создание объекта и конструкторы</a:t>
            </a:r>
          </a:p>
        </p:txBody>
      </p:sp>
      <p:sp>
        <p:nvSpPr>
          <p:cNvPr id="5" name="Content Placeholder 4">
            <a:extLst>
              <a:ext uri="{FF2B5EF4-FFF2-40B4-BE49-F238E27FC236}">
                <a16:creationId xmlns:a16="http://schemas.microsoft.com/office/drawing/2014/main" id="{EF37110E-5E4B-471B-A614-847E39011809}"/>
              </a:ext>
            </a:extLst>
          </p:cNvPr>
          <p:cNvSpPr>
            <a:spLocks noGrp="1"/>
          </p:cNvSpPr>
          <p:nvPr>
            <p:ph idx="1"/>
          </p:nvPr>
        </p:nvSpPr>
        <p:spPr>
          <a:xfrm>
            <a:off x="419100" y="1904989"/>
            <a:ext cx="8483600" cy="4286272"/>
          </a:xfrm>
        </p:spPr>
        <p:txBody>
          <a:bodyPr>
            <a:noAutofit/>
          </a:bodyPr>
          <a:lstStyle/>
          <a:p>
            <a:pPr marL="0" indent="0">
              <a:spcBef>
                <a:spcPts val="0"/>
              </a:spcBef>
              <a:buNone/>
            </a:pPr>
            <a:r>
              <a:rPr lang="ru-RU" sz="2000" dirty="0"/>
              <a:t>При создании объекта последовательно выполняются следующие действия:</a:t>
            </a:r>
          </a:p>
          <a:p>
            <a:pPr marL="355600" indent="-355600">
              <a:spcBef>
                <a:spcPts val="0"/>
              </a:spcBef>
              <a:buFont typeface="+mj-lt"/>
              <a:buAutoNum type="arabicPeriod"/>
            </a:pPr>
            <a:r>
              <a:rPr lang="ru-RU" sz="2000" dirty="0"/>
              <a:t>Ищется класс объекта среди уже используемых в программе классов. Если его нет, то он ищется во всех доступных программе каталогах и библиотеках. </a:t>
            </a:r>
          </a:p>
          <a:p>
            <a:pPr marL="355600" indent="-355600">
              <a:spcBef>
                <a:spcPts val="0"/>
              </a:spcBef>
              <a:buFont typeface="+mj-lt"/>
              <a:buAutoNum type="arabicPeriod"/>
            </a:pPr>
            <a:r>
              <a:rPr lang="ru-RU" sz="2000" dirty="0"/>
              <a:t>После обнаружения класса в каталоге или библиотеке выполняется создание, и инициализация статических полей класса. Т.е. для каждого класса статические поля инициализируются только один раз.</a:t>
            </a:r>
          </a:p>
          <a:p>
            <a:pPr marL="355600" indent="-355600">
              <a:spcBef>
                <a:spcPts val="0"/>
              </a:spcBef>
              <a:buFont typeface="+mj-lt"/>
              <a:buAutoNum type="arabicPeriod"/>
            </a:pPr>
            <a:r>
              <a:rPr lang="ru-RU" sz="2000" dirty="0"/>
              <a:t>Выделяется память под объект.</a:t>
            </a:r>
          </a:p>
          <a:p>
            <a:pPr marL="355600" indent="-355600">
              <a:spcBef>
                <a:spcPts val="0"/>
              </a:spcBef>
              <a:buFont typeface="+mj-lt"/>
              <a:buAutoNum type="arabicPeriod"/>
            </a:pPr>
            <a:r>
              <a:rPr lang="ru-RU" sz="2000" dirty="0"/>
              <a:t>Выполняется инициализация полей класса.</a:t>
            </a:r>
          </a:p>
          <a:p>
            <a:pPr marL="355600" indent="-355600" algn="just">
              <a:lnSpc>
                <a:spcPct val="100000"/>
              </a:lnSpc>
              <a:spcBef>
                <a:spcPts val="0"/>
              </a:spcBef>
              <a:buFont typeface="+mj-lt"/>
              <a:buAutoNum type="arabicPeriod"/>
              <a:tabLst>
                <a:tab pos="0" algn="l"/>
              </a:tabLst>
            </a:pPr>
            <a:r>
              <a:rPr lang="ru-RU" sz="2000" spc="-1" dirty="0">
                <a:solidFill>
                  <a:srgbClr val="244061"/>
                </a:solidFill>
                <a:ea typeface="DejaVu Sans"/>
              </a:rPr>
              <a:t>Отрабатывает конструктор класса.</a:t>
            </a:r>
            <a:endParaRPr lang="ru-RU" sz="2000" spc="-1" dirty="0">
              <a:solidFill>
                <a:srgbClr val="000000"/>
              </a:solidFill>
            </a:endParaRPr>
          </a:p>
          <a:p>
            <a:pPr marL="355600" indent="-355600" algn="just">
              <a:lnSpc>
                <a:spcPct val="100000"/>
              </a:lnSpc>
              <a:spcBef>
                <a:spcPts val="0"/>
              </a:spcBef>
              <a:buFont typeface="+mj-lt"/>
              <a:buAutoNum type="arabicPeriod"/>
              <a:tabLst>
                <a:tab pos="0" algn="l"/>
              </a:tabLst>
            </a:pPr>
            <a:r>
              <a:rPr lang="ru-RU" sz="2000" spc="-1" dirty="0">
                <a:solidFill>
                  <a:srgbClr val="244061"/>
                </a:solidFill>
                <a:ea typeface="DejaVu Sans"/>
              </a:rPr>
              <a:t>Формируется ссылка на созданный и инициализированный объект. Эта ссылка и является значением выражения, создающего объект.</a:t>
            </a:r>
            <a:endParaRPr lang="ru-RU" sz="2000" dirty="0"/>
          </a:p>
        </p:txBody>
      </p:sp>
      <p:pic>
        <p:nvPicPr>
          <p:cNvPr id="7" name="Picture 6">
            <a:extLst>
              <a:ext uri="{FF2B5EF4-FFF2-40B4-BE49-F238E27FC236}">
                <a16:creationId xmlns:a16="http://schemas.microsoft.com/office/drawing/2014/main" id="{1EFD039F-4D72-4F2C-BCCF-A035A9265248}"/>
              </a:ext>
            </a:extLst>
          </p:cNvPr>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02700" y="2571756"/>
            <a:ext cx="3007927" cy="2038344"/>
          </a:xfrm>
          <a:prstGeom prst="rect">
            <a:avLst/>
          </a:prstGeom>
        </p:spPr>
      </p:pic>
    </p:spTree>
    <p:extLst>
      <p:ext uri="{BB962C8B-B14F-4D97-AF65-F5344CB8AC3E}">
        <p14:creationId xmlns:p14="http://schemas.microsoft.com/office/powerpoint/2010/main" val="722443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E8B80-AD4F-4A84-9C54-E3D96CE9E732}"/>
              </a:ext>
            </a:extLst>
          </p:cNvPr>
          <p:cNvSpPr>
            <a:spLocks noGrp="1"/>
          </p:cNvSpPr>
          <p:nvPr>
            <p:ph type="title"/>
          </p:nvPr>
        </p:nvSpPr>
        <p:spPr/>
        <p:txBody>
          <a:bodyPr/>
          <a:lstStyle/>
          <a:p>
            <a:r>
              <a:rPr lang="ru-RU" dirty="0"/>
              <a:t>Задание</a:t>
            </a:r>
          </a:p>
        </p:txBody>
      </p:sp>
      <p:pic>
        <p:nvPicPr>
          <p:cNvPr id="1026" name="Picture 2" descr="Will the AI jobs revolution bring about human revolt, too?">
            <a:extLst>
              <a:ext uri="{FF2B5EF4-FFF2-40B4-BE49-F238E27FC236}">
                <a16:creationId xmlns:a16="http://schemas.microsoft.com/office/drawing/2014/main" id="{1E9A292F-D4F9-4B47-80FD-73B4531674B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 y="4814047"/>
            <a:ext cx="12191999" cy="204395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6560A8B-F7CE-4D7D-ABFF-3F52F1253E1E}"/>
              </a:ext>
            </a:extLst>
          </p:cNvPr>
          <p:cNvSpPr txBox="1"/>
          <p:nvPr/>
        </p:nvSpPr>
        <p:spPr>
          <a:xfrm>
            <a:off x="609600" y="1963271"/>
            <a:ext cx="10672482" cy="2308324"/>
          </a:xfrm>
          <a:prstGeom prst="rect">
            <a:avLst/>
          </a:prstGeom>
          <a:noFill/>
        </p:spPr>
        <p:txBody>
          <a:bodyPr wrap="square" rtlCol="0">
            <a:spAutoFit/>
          </a:bodyPr>
          <a:lstStyle/>
          <a:p>
            <a:r>
              <a:rPr lang="ru-RU" sz="3600" dirty="0"/>
              <a:t>Создать иерархию классов, характеризующие социальные роль человека (Родитель, Ребенок, Работник, Друг и т.д.) и в </a:t>
            </a:r>
            <a:r>
              <a:rPr lang="ru-RU" sz="3600" dirty="0" err="1"/>
              <a:t>рандомном</a:t>
            </a:r>
            <a:r>
              <a:rPr lang="ru-RU" sz="3600" dirty="0"/>
              <a:t> порядке обращаться к этим ролям.</a:t>
            </a:r>
          </a:p>
        </p:txBody>
      </p:sp>
    </p:spTree>
    <p:extLst>
      <p:ext uri="{BB962C8B-B14F-4D97-AF65-F5344CB8AC3E}">
        <p14:creationId xmlns:p14="http://schemas.microsoft.com/office/powerpoint/2010/main" val="363393662"/>
      </p:ext>
    </p:extLst>
  </p:cSld>
  <p:clrMapOvr>
    <a:masterClrMapping/>
  </p:clrMapOvr>
</p:sld>
</file>

<file path=ppt/theme/theme1.xml><?xml version="1.0" encoding="utf-8"?>
<a:theme xmlns:a="http://schemas.openxmlformats.org/drawingml/2006/main" name="GIS_theme">
  <a:themeElements>
    <a:clrScheme name="Другая 1">
      <a:dk1>
        <a:srgbClr val="244061"/>
      </a:dk1>
      <a:lt1>
        <a:srgbClr val="DBE5F1"/>
      </a:lt1>
      <a:dk2>
        <a:srgbClr val="953734"/>
      </a:dk2>
      <a:lt2>
        <a:srgbClr val="F2DCDB"/>
      </a:lt2>
      <a:accent1>
        <a:srgbClr val="95B3D7"/>
      </a:accent1>
      <a:accent2>
        <a:srgbClr val="366092"/>
      </a:accent2>
      <a:accent3>
        <a:srgbClr val="17365D"/>
      </a:accent3>
      <a:accent4>
        <a:srgbClr val="E5B9B7"/>
      </a:accent4>
      <a:accent5>
        <a:srgbClr val="D99694"/>
      </a:accent5>
      <a:accent6>
        <a:srgbClr val="953734"/>
      </a:accent6>
      <a:hlink>
        <a:srgbClr val="C00000"/>
      </a:hlink>
      <a:folHlink>
        <a:srgbClr val="00206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IS_theme" id="{4ABA2DA3-FC12-4F6D-A63F-F49808B2745D}" vid="{ED545FA1-F0DD-4A91-AB56-FB9C25E1D6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GIS_theme</Template>
  <TotalTime>42061</TotalTime>
  <Words>3261</Words>
  <Application>Microsoft Office PowerPoint</Application>
  <PresentationFormat>Widescreen</PresentationFormat>
  <Paragraphs>210</Paragraphs>
  <Slides>24</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Courier New</vt:lpstr>
      <vt:lpstr>DejaVu Sans</vt:lpstr>
      <vt:lpstr>GIS_theme</vt:lpstr>
      <vt:lpstr>Программирование на Java</vt:lpstr>
      <vt:lpstr>Полиморфизм</vt:lpstr>
      <vt:lpstr>Полиморфизм времени компиляции</vt:lpstr>
      <vt:lpstr>Перегрузка метода</vt:lpstr>
      <vt:lpstr>Произвольное количество аргументов</vt:lpstr>
      <vt:lpstr>Произвольное количество аргументов</vt:lpstr>
      <vt:lpstr>Полиморфизм времени выполнения</vt:lpstr>
      <vt:lpstr>Переопределение метода</vt:lpstr>
      <vt:lpstr>Переопределение метода</vt:lpstr>
      <vt:lpstr>Абстрактные методы и классы</vt:lpstr>
      <vt:lpstr>Абстрактные классы</vt:lpstr>
      <vt:lpstr>Абстрактный класс vs Интерфейс </vt:lpstr>
      <vt:lpstr>Абстрактный класс vs Интерфейс </vt:lpstr>
      <vt:lpstr>Абстрактный класс vs Интерфейс </vt:lpstr>
      <vt:lpstr>Абстрактный класс vs Интерфейс </vt:lpstr>
      <vt:lpstr>Абстрактный класс vs Интерфейс </vt:lpstr>
      <vt:lpstr>Final методы и классы</vt:lpstr>
      <vt:lpstr>Когда использовать final?</vt:lpstr>
      <vt:lpstr>Конструктор класса</vt:lpstr>
      <vt:lpstr>Характеристики конструктора</vt:lpstr>
      <vt:lpstr>Конструктор класса</vt:lpstr>
      <vt:lpstr>Конструктор по умолчанию</vt:lpstr>
      <vt:lpstr>Создание объекта и конструкторы</vt:lpstr>
      <vt:lpstr>Задание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Программирование на Java</dc:title>
  <dc:creator>Yulia Filinskikh</dc:creator>
  <cp:lastModifiedBy>Yulia Filinskikh</cp:lastModifiedBy>
  <cp:revision>54</cp:revision>
  <dcterms:created xsi:type="dcterms:W3CDTF">2025-05-16T14:26:32Z</dcterms:created>
  <dcterms:modified xsi:type="dcterms:W3CDTF">2025-07-22T17:00:57Z</dcterms:modified>
</cp:coreProperties>
</file>