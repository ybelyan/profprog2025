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sldIdLst>
    <p:sldId id="256" r:id="rId2"/>
    <p:sldId id="302" r:id="rId3"/>
    <p:sldId id="301" r:id="rId4"/>
    <p:sldId id="303" r:id="rId5"/>
    <p:sldId id="304" r:id="rId6"/>
    <p:sldId id="305" r:id="rId7"/>
    <p:sldId id="306" r:id="rId8"/>
    <p:sldId id="310" r:id="rId9"/>
    <p:sldId id="307" r:id="rId10"/>
    <p:sldId id="308" r:id="rId11"/>
    <p:sldId id="334" r:id="rId12"/>
    <p:sldId id="312" r:id="rId13"/>
    <p:sldId id="309" r:id="rId14"/>
    <p:sldId id="268" r:id="rId15"/>
    <p:sldId id="313" r:id="rId16"/>
    <p:sldId id="314" r:id="rId17"/>
    <p:sldId id="315" r:id="rId18"/>
    <p:sldId id="316" r:id="rId19"/>
    <p:sldId id="317" r:id="rId20"/>
    <p:sldId id="328" r:id="rId21"/>
    <p:sldId id="318" r:id="rId22"/>
    <p:sldId id="329" r:id="rId23"/>
    <p:sldId id="331" r:id="rId24"/>
    <p:sldId id="330" r:id="rId25"/>
    <p:sldId id="332" r:id="rId26"/>
    <p:sldId id="319" r:id="rId27"/>
    <p:sldId id="320" r:id="rId28"/>
    <p:sldId id="321" r:id="rId29"/>
    <p:sldId id="322" r:id="rId30"/>
    <p:sldId id="323" r:id="rId31"/>
    <p:sldId id="324" r:id="rId32"/>
    <p:sldId id="325" r:id="rId33"/>
    <p:sldId id="327" r:id="rId34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83D2517-1BEC-4DD2-A4D5-A7EECA4EB92D}">
          <p14:sldIdLst>
            <p14:sldId id="256"/>
            <p14:sldId id="302"/>
            <p14:sldId id="301"/>
            <p14:sldId id="303"/>
            <p14:sldId id="304"/>
            <p14:sldId id="305"/>
            <p14:sldId id="306"/>
            <p14:sldId id="310"/>
            <p14:sldId id="307"/>
            <p14:sldId id="308"/>
            <p14:sldId id="334"/>
            <p14:sldId id="312"/>
            <p14:sldId id="309"/>
            <p14:sldId id="268"/>
            <p14:sldId id="313"/>
            <p14:sldId id="314"/>
            <p14:sldId id="315"/>
            <p14:sldId id="316"/>
            <p14:sldId id="317"/>
            <p14:sldId id="328"/>
            <p14:sldId id="318"/>
            <p14:sldId id="329"/>
            <p14:sldId id="331"/>
            <p14:sldId id="330"/>
            <p14:sldId id="332"/>
            <p14:sldId id="319"/>
            <p14:sldId id="320"/>
            <p14:sldId id="321"/>
            <p14:sldId id="322"/>
            <p14:sldId id="323"/>
            <p14:sldId id="324"/>
            <p14:sldId id="325"/>
            <p14:sldId id="32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2" autoAdjust="0"/>
    <p:restoredTop sz="70175" autoAdjust="0"/>
  </p:normalViewPr>
  <p:slideViewPr>
    <p:cSldViewPr>
      <p:cViewPr varScale="1">
        <p:scale>
          <a:sx n="76" d="100"/>
          <a:sy n="76" d="100"/>
        </p:scale>
        <p:origin x="1598" y="53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7ECBA1-FD47-485C-BB7A-7189E34C34FD}" type="doc">
      <dgm:prSet loTypeId="urn:microsoft.com/office/officeart/2005/8/layout/process1" loCatId="process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ru-RU"/>
        </a:p>
      </dgm:t>
    </dgm:pt>
    <dgm:pt modelId="{ECEDBE33-CAF4-4DE8-B841-91EAF82E9F58}">
      <dgm:prSet custT="1"/>
      <dgm:spPr/>
      <dgm:t>
        <a:bodyPr/>
        <a:lstStyle/>
        <a:p>
          <a:r>
            <a:rPr lang="ru-RU" sz="1800" b="1" dirty="0"/>
            <a:t>Источник данных </a:t>
          </a:r>
          <a:r>
            <a:rPr lang="ru-RU" sz="1400" dirty="0"/>
            <a:t>коллекция или другая структура, содержащая элементы</a:t>
          </a:r>
        </a:p>
      </dgm:t>
    </dgm:pt>
    <dgm:pt modelId="{4F5DAC9C-313A-4451-922C-F3A15898784D}" type="parTrans" cxnId="{15ADF099-A7B5-4D00-A759-C293A074D666}">
      <dgm:prSet/>
      <dgm:spPr/>
      <dgm:t>
        <a:bodyPr/>
        <a:lstStyle/>
        <a:p>
          <a:endParaRPr lang="ru-RU"/>
        </a:p>
      </dgm:t>
    </dgm:pt>
    <dgm:pt modelId="{90D85109-7532-4179-8608-5A171846B9E1}" type="sibTrans" cxnId="{15ADF099-A7B5-4D00-A759-C293A074D666}">
      <dgm:prSet/>
      <dgm:spPr/>
      <dgm:t>
        <a:bodyPr/>
        <a:lstStyle/>
        <a:p>
          <a:endParaRPr lang="ru-RU"/>
        </a:p>
      </dgm:t>
    </dgm:pt>
    <dgm:pt modelId="{62E198F9-5524-4726-A7FE-065CF2C86E1A}">
      <dgm:prSet custT="1"/>
      <dgm:spPr/>
      <dgm:t>
        <a:bodyPr/>
        <a:lstStyle/>
        <a:p>
          <a:r>
            <a:rPr lang="ru-RU" sz="1800" b="1" dirty="0"/>
            <a:t>Выполнение преобразований </a:t>
          </a:r>
          <a:r>
            <a:rPr lang="ru-RU" sz="1400" dirty="0"/>
            <a:t>фильтрация, сортировка, маппинг и другие операции над элементами</a:t>
          </a:r>
        </a:p>
      </dgm:t>
    </dgm:pt>
    <dgm:pt modelId="{1E3CE114-440D-494E-9909-84EBC68CB9D8}" type="parTrans" cxnId="{DB045CCC-A0EB-49CF-848B-7B6413133ED9}">
      <dgm:prSet/>
      <dgm:spPr/>
      <dgm:t>
        <a:bodyPr/>
        <a:lstStyle/>
        <a:p>
          <a:endParaRPr lang="ru-RU"/>
        </a:p>
      </dgm:t>
    </dgm:pt>
    <dgm:pt modelId="{FAEC41F8-F2B4-4830-9A47-8F363AEE7E41}" type="sibTrans" cxnId="{DB045CCC-A0EB-49CF-848B-7B6413133ED9}">
      <dgm:prSet/>
      <dgm:spPr/>
      <dgm:t>
        <a:bodyPr/>
        <a:lstStyle/>
        <a:p>
          <a:endParaRPr lang="ru-RU"/>
        </a:p>
      </dgm:t>
    </dgm:pt>
    <dgm:pt modelId="{C4EFF4B4-542F-4ABA-9E12-92874CE0579C}">
      <dgm:prSet custT="1"/>
      <dgm:spPr/>
      <dgm:t>
        <a:bodyPr/>
        <a:lstStyle/>
        <a:p>
          <a:r>
            <a:rPr lang="ru-RU" sz="1800" b="1" dirty="0"/>
            <a:t>Сохранение результата </a:t>
          </a:r>
          <a:r>
            <a:rPr lang="ru-RU" sz="1400" dirty="0"/>
            <a:t>помещение преобразованных данных в новую структуру (список, множество и т.д.)</a:t>
          </a:r>
        </a:p>
      </dgm:t>
    </dgm:pt>
    <dgm:pt modelId="{AC2E957A-9866-45B7-BE96-1995379AE412}" type="parTrans" cxnId="{53258F71-9059-4831-A9FA-D6D9EE5BAD64}">
      <dgm:prSet/>
      <dgm:spPr/>
      <dgm:t>
        <a:bodyPr/>
        <a:lstStyle/>
        <a:p>
          <a:endParaRPr lang="ru-RU"/>
        </a:p>
      </dgm:t>
    </dgm:pt>
    <dgm:pt modelId="{093AD443-460C-43A5-BA6D-301788D43C6A}" type="sibTrans" cxnId="{53258F71-9059-4831-A9FA-D6D9EE5BAD64}">
      <dgm:prSet/>
      <dgm:spPr/>
      <dgm:t>
        <a:bodyPr/>
        <a:lstStyle/>
        <a:p>
          <a:endParaRPr lang="ru-RU"/>
        </a:p>
      </dgm:t>
    </dgm:pt>
    <dgm:pt modelId="{7C966C5F-3579-4349-BF1C-13AA5F9491B3}" type="pres">
      <dgm:prSet presAssocID="{1F7ECBA1-FD47-485C-BB7A-7189E34C34FD}" presName="Name0" presStyleCnt="0">
        <dgm:presLayoutVars>
          <dgm:dir/>
          <dgm:resizeHandles val="exact"/>
        </dgm:presLayoutVars>
      </dgm:prSet>
      <dgm:spPr/>
    </dgm:pt>
    <dgm:pt modelId="{EF02C1E6-E93D-4B8D-92B4-7940484B6B15}" type="pres">
      <dgm:prSet presAssocID="{ECEDBE33-CAF4-4DE8-B841-91EAF82E9F58}" presName="node" presStyleLbl="node1" presStyleIdx="0" presStyleCnt="3">
        <dgm:presLayoutVars>
          <dgm:bulletEnabled val="1"/>
        </dgm:presLayoutVars>
      </dgm:prSet>
      <dgm:spPr/>
    </dgm:pt>
    <dgm:pt modelId="{03ECA1D6-2EA1-4C44-B022-90696617D6CB}" type="pres">
      <dgm:prSet presAssocID="{90D85109-7532-4179-8608-5A171846B9E1}" presName="sibTrans" presStyleLbl="sibTrans2D1" presStyleIdx="0" presStyleCnt="2"/>
      <dgm:spPr/>
    </dgm:pt>
    <dgm:pt modelId="{5A66D124-0FA4-42BE-9C65-4B91E12A63B0}" type="pres">
      <dgm:prSet presAssocID="{90D85109-7532-4179-8608-5A171846B9E1}" presName="connectorText" presStyleLbl="sibTrans2D1" presStyleIdx="0" presStyleCnt="2"/>
      <dgm:spPr/>
    </dgm:pt>
    <dgm:pt modelId="{0B2FAB3F-02AB-440E-AC82-E2CA77DB2583}" type="pres">
      <dgm:prSet presAssocID="{62E198F9-5524-4726-A7FE-065CF2C86E1A}" presName="node" presStyleLbl="node1" presStyleIdx="1" presStyleCnt="3" custScaleX="129347">
        <dgm:presLayoutVars>
          <dgm:bulletEnabled val="1"/>
        </dgm:presLayoutVars>
      </dgm:prSet>
      <dgm:spPr/>
    </dgm:pt>
    <dgm:pt modelId="{75E9BDD3-B683-48A2-9CD8-59C2E40150AC}" type="pres">
      <dgm:prSet presAssocID="{FAEC41F8-F2B4-4830-9A47-8F363AEE7E41}" presName="sibTrans" presStyleLbl="sibTrans2D1" presStyleIdx="1" presStyleCnt="2"/>
      <dgm:spPr/>
    </dgm:pt>
    <dgm:pt modelId="{4AD52463-991B-4BBC-B20A-56F8BBE79810}" type="pres">
      <dgm:prSet presAssocID="{FAEC41F8-F2B4-4830-9A47-8F363AEE7E41}" presName="connectorText" presStyleLbl="sibTrans2D1" presStyleIdx="1" presStyleCnt="2"/>
      <dgm:spPr/>
    </dgm:pt>
    <dgm:pt modelId="{B72279F8-BE39-4EE5-BDC2-BF54E26EA4E6}" type="pres">
      <dgm:prSet presAssocID="{C4EFF4B4-542F-4ABA-9E12-92874CE0579C}" presName="node" presStyleLbl="node1" presStyleIdx="2" presStyleCnt="3">
        <dgm:presLayoutVars>
          <dgm:bulletEnabled val="1"/>
        </dgm:presLayoutVars>
      </dgm:prSet>
      <dgm:spPr/>
    </dgm:pt>
  </dgm:ptLst>
  <dgm:cxnLst>
    <dgm:cxn modelId="{48A4BC32-A7B4-4AA8-8A25-F7920CC8BA4C}" type="presOf" srcId="{90D85109-7532-4179-8608-5A171846B9E1}" destId="{03ECA1D6-2EA1-4C44-B022-90696617D6CB}" srcOrd="0" destOrd="0" presId="urn:microsoft.com/office/officeart/2005/8/layout/process1"/>
    <dgm:cxn modelId="{4C84BE5C-8957-4685-BB25-BEE934284583}" type="presOf" srcId="{62E198F9-5524-4726-A7FE-065CF2C86E1A}" destId="{0B2FAB3F-02AB-440E-AC82-E2CA77DB2583}" srcOrd="0" destOrd="0" presId="urn:microsoft.com/office/officeart/2005/8/layout/process1"/>
    <dgm:cxn modelId="{FF17E46D-E00D-494A-A5A3-FB225143183A}" type="presOf" srcId="{90D85109-7532-4179-8608-5A171846B9E1}" destId="{5A66D124-0FA4-42BE-9C65-4B91E12A63B0}" srcOrd="1" destOrd="0" presId="urn:microsoft.com/office/officeart/2005/8/layout/process1"/>
    <dgm:cxn modelId="{53258F71-9059-4831-A9FA-D6D9EE5BAD64}" srcId="{1F7ECBA1-FD47-485C-BB7A-7189E34C34FD}" destId="{C4EFF4B4-542F-4ABA-9E12-92874CE0579C}" srcOrd="2" destOrd="0" parTransId="{AC2E957A-9866-45B7-BE96-1995379AE412}" sibTransId="{093AD443-460C-43A5-BA6D-301788D43C6A}"/>
    <dgm:cxn modelId="{15ADF099-A7B5-4D00-A759-C293A074D666}" srcId="{1F7ECBA1-FD47-485C-BB7A-7189E34C34FD}" destId="{ECEDBE33-CAF4-4DE8-B841-91EAF82E9F58}" srcOrd="0" destOrd="0" parTransId="{4F5DAC9C-313A-4451-922C-F3A15898784D}" sibTransId="{90D85109-7532-4179-8608-5A171846B9E1}"/>
    <dgm:cxn modelId="{321A54B8-EE90-4701-B7C8-8BB42BFBC728}" type="presOf" srcId="{1F7ECBA1-FD47-485C-BB7A-7189E34C34FD}" destId="{7C966C5F-3579-4349-BF1C-13AA5F9491B3}" srcOrd="0" destOrd="0" presId="urn:microsoft.com/office/officeart/2005/8/layout/process1"/>
    <dgm:cxn modelId="{DB045CCC-A0EB-49CF-848B-7B6413133ED9}" srcId="{1F7ECBA1-FD47-485C-BB7A-7189E34C34FD}" destId="{62E198F9-5524-4726-A7FE-065CF2C86E1A}" srcOrd="1" destOrd="0" parTransId="{1E3CE114-440D-494E-9909-84EBC68CB9D8}" sibTransId="{FAEC41F8-F2B4-4830-9A47-8F363AEE7E41}"/>
    <dgm:cxn modelId="{B19E37CE-AC34-4493-9187-94C15577C64F}" type="presOf" srcId="{C4EFF4B4-542F-4ABA-9E12-92874CE0579C}" destId="{B72279F8-BE39-4EE5-BDC2-BF54E26EA4E6}" srcOrd="0" destOrd="0" presId="urn:microsoft.com/office/officeart/2005/8/layout/process1"/>
    <dgm:cxn modelId="{7772CFD8-5E77-46B3-A99F-522D5FB95E16}" type="presOf" srcId="{FAEC41F8-F2B4-4830-9A47-8F363AEE7E41}" destId="{75E9BDD3-B683-48A2-9CD8-59C2E40150AC}" srcOrd="0" destOrd="0" presId="urn:microsoft.com/office/officeart/2005/8/layout/process1"/>
    <dgm:cxn modelId="{26EC6CE7-A7F2-4FF1-BB32-671F76F24168}" type="presOf" srcId="{FAEC41F8-F2B4-4830-9A47-8F363AEE7E41}" destId="{4AD52463-991B-4BBC-B20A-56F8BBE79810}" srcOrd="1" destOrd="0" presId="urn:microsoft.com/office/officeart/2005/8/layout/process1"/>
    <dgm:cxn modelId="{DBC7F1F6-F5E2-47E8-917E-B36E8366AF33}" type="presOf" srcId="{ECEDBE33-CAF4-4DE8-B841-91EAF82E9F58}" destId="{EF02C1E6-E93D-4B8D-92B4-7940484B6B15}" srcOrd="0" destOrd="0" presId="urn:microsoft.com/office/officeart/2005/8/layout/process1"/>
    <dgm:cxn modelId="{8231A2D6-9AA9-4D06-B7D3-32CEEE7AA1EC}" type="presParOf" srcId="{7C966C5F-3579-4349-BF1C-13AA5F9491B3}" destId="{EF02C1E6-E93D-4B8D-92B4-7940484B6B15}" srcOrd="0" destOrd="0" presId="urn:microsoft.com/office/officeart/2005/8/layout/process1"/>
    <dgm:cxn modelId="{2EF4EEB9-B74F-43B4-942A-C184F9AD0B4C}" type="presParOf" srcId="{7C966C5F-3579-4349-BF1C-13AA5F9491B3}" destId="{03ECA1D6-2EA1-4C44-B022-90696617D6CB}" srcOrd="1" destOrd="0" presId="urn:microsoft.com/office/officeart/2005/8/layout/process1"/>
    <dgm:cxn modelId="{770CF9AE-5539-4477-9F99-3BF3B8CF7599}" type="presParOf" srcId="{03ECA1D6-2EA1-4C44-B022-90696617D6CB}" destId="{5A66D124-0FA4-42BE-9C65-4B91E12A63B0}" srcOrd="0" destOrd="0" presId="urn:microsoft.com/office/officeart/2005/8/layout/process1"/>
    <dgm:cxn modelId="{35F1EE53-A249-4EC5-98ED-74DB2C05FCC2}" type="presParOf" srcId="{7C966C5F-3579-4349-BF1C-13AA5F9491B3}" destId="{0B2FAB3F-02AB-440E-AC82-E2CA77DB2583}" srcOrd="2" destOrd="0" presId="urn:microsoft.com/office/officeart/2005/8/layout/process1"/>
    <dgm:cxn modelId="{3417130B-F255-4E5B-A3D6-4256A9B81518}" type="presParOf" srcId="{7C966C5F-3579-4349-BF1C-13AA5F9491B3}" destId="{75E9BDD3-B683-48A2-9CD8-59C2E40150AC}" srcOrd="3" destOrd="0" presId="urn:microsoft.com/office/officeart/2005/8/layout/process1"/>
    <dgm:cxn modelId="{412AB2B4-50F9-4451-B654-3E42F70427B9}" type="presParOf" srcId="{75E9BDD3-B683-48A2-9CD8-59C2E40150AC}" destId="{4AD52463-991B-4BBC-B20A-56F8BBE79810}" srcOrd="0" destOrd="0" presId="urn:microsoft.com/office/officeart/2005/8/layout/process1"/>
    <dgm:cxn modelId="{C45E4FE4-9451-4F15-BF02-181CF1106442}" type="presParOf" srcId="{7C966C5F-3579-4349-BF1C-13AA5F9491B3}" destId="{B72279F8-BE39-4EE5-BDC2-BF54E26EA4E6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02C1E6-E93D-4B8D-92B4-7940484B6B15}">
      <dsp:nvSpPr>
        <dsp:cNvPr id="0" name=""/>
        <dsp:cNvSpPr/>
      </dsp:nvSpPr>
      <dsp:spPr>
        <a:xfrm>
          <a:off x="5450" y="547433"/>
          <a:ext cx="1668476" cy="17345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kern="1200" dirty="0"/>
            <a:t>Источник данных </a:t>
          </a:r>
          <a:r>
            <a:rPr lang="ru-RU" sz="1400" kern="1200" dirty="0"/>
            <a:t>коллекция или другая структура, содержащая элементы</a:t>
          </a:r>
        </a:p>
      </dsp:txBody>
      <dsp:txXfrm>
        <a:off x="54318" y="596301"/>
        <a:ext cx="1570740" cy="1636794"/>
      </dsp:txXfrm>
    </dsp:sp>
    <dsp:sp modelId="{03ECA1D6-2EA1-4C44-B022-90696617D6CB}">
      <dsp:nvSpPr>
        <dsp:cNvPr id="0" name=""/>
        <dsp:cNvSpPr/>
      </dsp:nvSpPr>
      <dsp:spPr>
        <a:xfrm>
          <a:off x="1840774" y="1207807"/>
          <a:ext cx="353717" cy="4137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700" kern="1200"/>
        </a:p>
      </dsp:txBody>
      <dsp:txXfrm>
        <a:off x="1840774" y="1290563"/>
        <a:ext cx="247602" cy="248270"/>
      </dsp:txXfrm>
    </dsp:sp>
    <dsp:sp modelId="{0B2FAB3F-02AB-440E-AC82-E2CA77DB2583}">
      <dsp:nvSpPr>
        <dsp:cNvPr id="0" name=""/>
        <dsp:cNvSpPr/>
      </dsp:nvSpPr>
      <dsp:spPr>
        <a:xfrm>
          <a:off x="2341317" y="547433"/>
          <a:ext cx="2158124" cy="17345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kern="1200" dirty="0"/>
            <a:t>Выполнение преобразований </a:t>
          </a:r>
          <a:r>
            <a:rPr lang="ru-RU" sz="1400" kern="1200" dirty="0"/>
            <a:t>фильтрация, сортировка, маппинг и другие операции над элементами</a:t>
          </a:r>
        </a:p>
      </dsp:txBody>
      <dsp:txXfrm>
        <a:off x="2392120" y="598236"/>
        <a:ext cx="2056518" cy="1632924"/>
      </dsp:txXfrm>
    </dsp:sp>
    <dsp:sp modelId="{75E9BDD3-B683-48A2-9CD8-59C2E40150AC}">
      <dsp:nvSpPr>
        <dsp:cNvPr id="0" name=""/>
        <dsp:cNvSpPr/>
      </dsp:nvSpPr>
      <dsp:spPr>
        <a:xfrm>
          <a:off x="4666289" y="1207807"/>
          <a:ext cx="353717" cy="4137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700" kern="1200"/>
        </a:p>
      </dsp:txBody>
      <dsp:txXfrm>
        <a:off x="4666289" y="1290563"/>
        <a:ext cx="247602" cy="248270"/>
      </dsp:txXfrm>
    </dsp:sp>
    <dsp:sp modelId="{B72279F8-BE39-4EE5-BDC2-BF54E26EA4E6}">
      <dsp:nvSpPr>
        <dsp:cNvPr id="0" name=""/>
        <dsp:cNvSpPr/>
      </dsp:nvSpPr>
      <dsp:spPr>
        <a:xfrm>
          <a:off x="5166832" y="547433"/>
          <a:ext cx="1668476" cy="17345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kern="1200" dirty="0"/>
            <a:t>Сохранение результата </a:t>
          </a:r>
          <a:r>
            <a:rPr lang="ru-RU" sz="1400" kern="1200" dirty="0"/>
            <a:t>помещение преобразованных данных в новую структуру (список, множество и т.д.)</a:t>
          </a:r>
        </a:p>
      </dsp:txBody>
      <dsp:txXfrm>
        <a:off x="5215700" y="596301"/>
        <a:ext cx="1570740" cy="16367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FED33-D328-45C2-B91A-83B438B4C415}" type="datetimeFigureOut">
              <a:rPr lang="ru-RU" smtClean="0"/>
              <a:t>11.03.2025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550DF4-E479-4FC1-BAC7-78E3D4666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936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truchkov.dev/blog/ru/java-collection-framework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Java</a:t>
            </a:r>
            <a:r>
              <a:rPr lang="ru-RU" dirty="0"/>
              <a:t> изначально полностью объектно-ориентированный язык. За исключением примитивных типов, все в </a:t>
            </a:r>
            <a:r>
              <a:rPr lang="ru-RU" dirty="0" err="1"/>
              <a:t>Java</a:t>
            </a:r>
            <a:r>
              <a:rPr lang="ru-RU" dirty="0"/>
              <a:t> – это объекты. Даже массивы являются объектами. Экземпляры каждого класса – объекты. Не существует ни единой возможности определить отдельно (вне класса – прим. перев.) какую-нибудь функцию. И нет никакой возможности передать метод как аргумент или вернуть тело метода как результат другого метода.</a:t>
            </a:r>
          </a:p>
          <a:p>
            <a:endParaRPr lang="ru-RU" dirty="0"/>
          </a:p>
          <a:p>
            <a:r>
              <a:rPr lang="ru-RU" dirty="0"/>
              <a:t>Со времен старого доброго </a:t>
            </a:r>
            <a:r>
              <a:rPr lang="ru-RU" dirty="0" err="1"/>
              <a:t>Swing</a:t>
            </a:r>
            <a:r>
              <a:rPr lang="ru-RU" dirty="0"/>
              <a:t>, надо было писать анонимные классы, когда нужно было передать некую функциональность в какой-нибудь метод.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Здесь мы хотим добавить некоторый код в слушатель событий от кнопки. Мы определили анонимный класс </a:t>
            </a:r>
            <a:r>
              <a:rPr lang="en-US" dirty="0"/>
              <a:t>ActionListener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сразу создали объект из него. Таким способом мы передали дополнительную функциональность в метод </a:t>
            </a:r>
            <a:r>
              <a:rPr lang="ru-RU" dirty="0" err="1"/>
              <a:t>add</a:t>
            </a:r>
            <a:r>
              <a:rPr lang="en-US" dirty="0"/>
              <a:t>Action</a:t>
            </a:r>
            <a:r>
              <a:rPr lang="ru-RU" dirty="0" err="1"/>
              <a:t>Listener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dirty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822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Функции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сами по себе нельзя встретить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 функциональных языках программирования на первый план выходят функции. Они существуют сами по себе. Можно присваивать их переменным и передавать через аргументы другим функциям.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один из лучших примеров функциональных языков программирования. 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Lambda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-выражения привносят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функциональное звено, которого так давно не хватало.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Lambda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-выражения вносят в язык функциональность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равне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объектами.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lambda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-выражения – представляются объектами, и должны быть связаны с конкретным объектным типом, который называется функциональный интерфейс.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Lambda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-выражения – это анонимные функции. Проще говоря, это метод без объявления, т.е. без модификаторов доступа, возвращающие значение и имя.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они позволяют написать метод и сразу же использовать его. Особенно полезно в случае однократного вызова метода, т.к. сокращает время на объявление и написание метода без необходимости создавать класс.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Структура лямбда-выражения проста и состоит из трех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частей: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Параметры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Они перечислены в круглых скобках. Например, в (x, y), символы x и y являются параметрами.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Токен стрелки: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Символ -&gt; отделяет параметры от тела выражения.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Тело (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Body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Содержит выражения и инструкции для выполнения. Оно может быть одним выражением или блоком кода.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754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Функциональные интерфейсы могут иметь методы по умолчанию или статические методы, но они должны содержать только один абстрактный метод.</a:t>
            </a:r>
            <a:endParaRPr lang="ru-RU" dirty="0"/>
          </a:p>
          <a:p>
            <a:r>
              <a:rPr lang="ru-RU" dirty="0" err="1"/>
              <a:t>java.lang.Runnable</a:t>
            </a:r>
            <a:r>
              <a:rPr lang="ru-RU" dirty="0"/>
              <a:t> – это пример функционального интерфейса. В нем объявлен только один метод </a:t>
            </a:r>
            <a:r>
              <a:rPr lang="ru-RU" dirty="0" err="1"/>
              <a:t>void</a:t>
            </a:r>
            <a:r>
              <a:rPr lang="ru-RU" dirty="0"/>
              <a:t> </a:t>
            </a:r>
            <a:r>
              <a:rPr lang="ru-RU" dirty="0" err="1"/>
              <a:t>run</a:t>
            </a:r>
            <a:r>
              <a:rPr lang="ru-RU" dirty="0"/>
              <a:t>(). Также есть интерфейс </a:t>
            </a:r>
            <a:r>
              <a:rPr lang="ru-RU" dirty="0" err="1"/>
              <a:t>ActionListener</a:t>
            </a:r>
            <a:r>
              <a:rPr lang="ru-RU" dirty="0"/>
              <a:t> – тоже функциональный. Раньше нам приходилось использовать анонимные классы для создания объектов, реализующих функциональный интерфейс. С </a:t>
            </a:r>
            <a:r>
              <a:rPr lang="ru-RU" dirty="0" err="1"/>
              <a:t>Lambda</a:t>
            </a:r>
            <a:r>
              <a:rPr lang="ru-RU" dirty="0"/>
              <a:t>-выражениями, все стало проще.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5323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Подобное преобразование всегда осуществляется неявно, когда мы не указываем функциональный интерфейс: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8922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этом примере, мы принимаем анонимный класс для вызова метода. Это помогало писать программы с меньшим количеством строк кода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7. Однако, синтаксис оставался достаточно сложным и громоздким.</a:t>
            </a:r>
            <a:br>
              <a:rPr lang="ru-RU" dirty="0"/>
            </a:br>
            <a:br>
              <a:rPr lang="ru-RU" dirty="0"/>
            </a:b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 расширила возможности SAM, сделав шаг вперед. Как мы знаем, функциональный интерфейс содержит только один метод, следовательно, нам не нужно указывать название метода при передаче его в качестве аргумента. Именно это и позволяет нам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lambda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-выражения.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9506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предотвратить добавление новых функций в этот интерфейс, что привело бы к необходимости реализации нескольких функций (и, как следствие, сделало бы его нефункциональным интерфейсом), можно добавить аннотацию @</a:t>
            </a:r>
            <a:r>
              <a:rPr lang="ru-RU" dirty="0" err="1"/>
              <a:t>FunctionalInterface</a:t>
            </a:r>
            <a:r>
              <a:rPr lang="ru-RU" dirty="0"/>
              <a:t>. Это гарантирует, что никто не сможет добавить в интерфейс новые функции.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799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Хотя лямбда-выражения значительно упрощают код, они имеют свои ограничения. Рассмотрим ключевые ограничения лямбд в </a:t>
            </a:r>
            <a:r>
              <a:rPr lang="ru-RU" dirty="0" err="1"/>
              <a:t>Java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Переменные должны быть </a:t>
            </a:r>
            <a:r>
              <a:rPr lang="ru-RU" dirty="0" err="1"/>
              <a:t>effectively</a:t>
            </a:r>
            <a:r>
              <a:rPr lang="ru-RU" dirty="0"/>
              <a:t> </a:t>
            </a:r>
            <a:r>
              <a:rPr lang="ru-RU" dirty="0" err="1"/>
              <a:t>final</a:t>
            </a:r>
            <a:r>
              <a:rPr lang="ru-RU" dirty="0"/>
              <a:t>: Переменные, которые используются внутри лямбды, должны быть либо </a:t>
            </a:r>
            <a:r>
              <a:rPr lang="ru-RU" dirty="0" err="1"/>
              <a:t>final</a:t>
            </a:r>
            <a:r>
              <a:rPr lang="ru-RU" dirty="0"/>
              <a:t>, либо </a:t>
            </a:r>
            <a:r>
              <a:rPr lang="ru-RU" dirty="0" err="1"/>
              <a:t>effectively</a:t>
            </a:r>
            <a:r>
              <a:rPr lang="ru-RU" dirty="0"/>
              <a:t> </a:t>
            </a:r>
            <a:r>
              <a:rPr lang="ru-RU" dirty="0" err="1"/>
              <a:t>final</a:t>
            </a:r>
            <a:r>
              <a:rPr lang="ru-RU" dirty="0"/>
              <a:t> — это значит, что их значение не должно изменяться после инициализации.</a:t>
            </a:r>
          </a:p>
          <a:p>
            <a:endParaRPr lang="ru-RU" dirty="0"/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Лямбды не могут иметь состояния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Лямбда-выражения не могут содержать поля или изменяемые внутренние переменные. В отличие от анонимных классов, лямбды не могут хранить своё состояние, что ограничивает их в ситуациях, где требуется сохранять данные внутри объекта.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Лямбда-выражения не могут бросать проверяемые исключения.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Если метод интерфейса не объявляет исключений, лямбда не может напрямую бросать проверяемые исключения без их обработки. Это требует оборачивать вызовы методов, которые могут бросать проверяемые исключения, в блок </a:t>
            </a:r>
            <a:r>
              <a:rPr lang="ru-RU" dirty="0" err="1"/>
              <a:t>try-catch</a:t>
            </a:r>
            <a:endParaRPr lang="ru-RU" dirty="0"/>
          </a:p>
          <a:p>
            <a:endParaRPr lang="ru-RU" dirty="0"/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Ограниченная гибкость в наследовании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Лямбда-выражения не поддерживают наследование. В отличие от анонимных классов, которые могут наследовать другие классы или реализовывать несколько интерфейсов, лямбда всегда может реализовать только один функциональный интерфейс.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Отсутствие метаинформации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Лямбды не имеют имени и не могут содержать аннотации.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86295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Ссылки на методы (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это ещё один способ работы с функциональными интерфейсами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введённый вместе с лямбда-выражениями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их помощью можно ссылаться на существующие методы или конструкторы и передавать их в качестве аргументов.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Ссылка на статический метод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метод является статическим, мы можем ссылаться на него с помощью синтаксиса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ClassName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::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methodName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Ссылка на метод объекта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у нас есть объект, мы можем ссылаться на его метод с помощью синтаксиса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::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methodName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Ссылка на метод экземпляра через класс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Этот тип ссылки на метод используется, когда метод будет вызван на объекте, переданном в качестве аргумента. Синтаксис —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ClassName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::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methodName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Ссылка на конструктор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 можем использовать ссылки на конструкторы для создания объектов через функциональные интерфейсы, которые возвращают новые экземпляры. Синтаксис —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ClassName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::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40287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ru-RU" dirty="0" err="1"/>
              <a:t>Java</a:t>
            </a:r>
            <a:r>
              <a:rPr lang="ru-RU" dirty="0"/>
              <a:t> 8 в пакете </a:t>
            </a:r>
            <a:r>
              <a:rPr lang="ru-RU" dirty="0" err="1"/>
              <a:t>java.util.function</a:t>
            </a:r>
            <a:r>
              <a:rPr lang="ru-RU" dirty="0"/>
              <a:t> появилось несколько встроенных функциональных интерфейсов, которые предназначены для покрытия большинства распространенных случаев использования лямбда-выражений. Некоторые из широко используемых функциональных интерфейсов включают в себя:</a:t>
            </a:r>
            <a:endParaRPr lang="en-US" dirty="0"/>
          </a:p>
          <a:p>
            <a:endParaRPr lang="en-US" dirty="0"/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Supplier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&lt;T&gt; — генерация значений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Supplier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&lt;T&gt; — это функция, которая не принимает аргументов, но возвращает значение типа T. Он полезен в тех случаях, когда необходимо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отложенно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генерировать или предоставлять значения.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55709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cs typeface="Times New Roman" panose="02020603050405020304" pitchFamily="18" charset="0"/>
              </a:rPr>
              <a:t>В JDK 8 добавлен новый пакет </a:t>
            </a:r>
            <a:r>
              <a:rPr lang="ru-RU" sz="1200" dirty="0" err="1">
                <a:cs typeface="Times New Roman" panose="02020603050405020304" pitchFamily="18" charset="0"/>
              </a:rPr>
              <a:t>java.util.stream</a:t>
            </a:r>
            <a:r>
              <a:rPr lang="ru-RU" sz="1200" dirty="0">
                <a:cs typeface="Times New Roman" panose="02020603050405020304" pitchFamily="18" charset="0"/>
              </a:rPr>
              <a:t>, который позволяет </a:t>
            </a:r>
            <a:r>
              <a:rPr lang="ru-RU" sz="1200" dirty="0" err="1">
                <a:cs typeface="Times New Roman" panose="02020603050405020304" pitchFamily="18" charset="0"/>
              </a:rPr>
              <a:t>java</a:t>
            </a:r>
            <a:r>
              <a:rPr lang="ru-RU" sz="1200" dirty="0">
                <a:cs typeface="Times New Roman" panose="02020603050405020304" pitchFamily="18" charset="0"/>
              </a:rPr>
              <a:t>-разработчикам выполнять такие операции, как поиск, фильтрация, сопоставление, объединение или манипулирование </a:t>
            </a:r>
            <a:r>
              <a:rPr lang="ru-RU" dirty="0"/>
              <a:t>последовательностью элементов, включая массивы, коллекции или ресурсы ввода-вывода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37528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 появления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API, работа с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коллекциями в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часто осуществлялась через циклы и условные операторы для фильтрации, преобразования и агрегации данных. Этот подход был громоздким, трудно читаемым и часто подвержен ошибкам. С введением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 подобные задачи решаются гораздо проще и элегантнее. 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 обеспечивает функциональный стиль работы с данными, предлагая более компактный, выразительный и читаемый код, а также облегчая параллельное выполнение операций.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0418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Stream</a:t>
            </a:r>
            <a:r>
              <a:rPr lang="ru-RU" dirty="0"/>
              <a:t> API — это мощный инструмент для обработки данных, который идеально подходит для ряда задач, но не является универсальным решением. Его применение оправдано, если ваша задача вписывается в следующий шаблон: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7959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dirty="0"/>
              <a:t>Источник данных </a:t>
            </a:r>
            <a:r>
              <a:rPr lang="ru-RU" sz="1200" dirty="0"/>
              <a:t>— это различные морские существа. Их множество символизирует исходные данные, которые мы собираемся обрабатывать</a:t>
            </a:r>
          </a:p>
          <a:p>
            <a:r>
              <a:rPr lang="ru-RU" sz="1200" b="1" dirty="0"/>
              <a:t>Выполнение преобразований</a:t>
            </a:r>
            <a:r>
              <a:rPr lang="ru-RU" sz="1200" dirty="0"/>
              <a:t>  - отбор только нужных видов рыб из всего улова, исключая ненужные виды. В коде это фильтрация элементов с помощью метода </a:t>
            </a:r>
            <a:r>
              <a:rPr lang="ru-RU" sz="1200" b="1" dirty="0" err="1"/>
              <a:t>filter</a:t>
            </a:r>
            <a:r>
              <a:rPr lang="ru-RU" sz="1200" b="1" dirty="0"/>
              <a:t>() </a:t>
            </a:r>
            <a:r>
              <a:rPr lang="ru-RU" sz="1200" dirty="0"/>
              <a:t>и процесс упаковки рыбы в контейнеры. Этот шаг трансформирует элементы (рыбу) в другой вид данных — “упаковка”. В </a:t>
            </a:r>
            <a:r>
              <a:rPr lang="ru-RU" sz="1200" dirty="0" err="1"/>
              <a:t>Stream</a:t>
            </a:r>
            <a:r>
              <a:rPr lang="ru-RU" sz="1200" dirty="0"/>
              <a:t> API это делается с помощью метода </a:t>
            </a:r>
            <a:r>
              <a:rPr lang="ru-RU" sz="1200" b="1" dirty="0" err="1"/>
              <a:t>map</a:t>
            </a:r>
            <a:r>
              <a:rPr lang="ru-RU" sz="1200" b="1" dirty="0"/>
              <a:t>().</a:t>
            </a:r>
          </a:p>
          <a:p>
            <a:r>
              <a:rPr lang="ru-RU" sz="1200" b="1" dirty="0"/>
              <a:t>Сохранение результата – </a:t>
            </a:r>
            <a:r>
              <a:rPr lang="ru-RU" sz="1200" dirty="0"/>
              <a:t>погрузка упаковок в грузовик В </a:t>
            </a:r>
            <a:r>
              <a:rPr lang="ru-RU" sz="1200" dirty="0" err="1"/>
              <a:t>Stream</a:t>
            </a:r>
            <a:r>
              <a:rPr lang="ru-RU" sz="1200" dirty="0"/>
              <a:t> API это финальная операция </a:t>
            </a:r>
            <a:r>
              <a:rPr lang="ru-RU" sz="1200" dirty="0" err="1"/>
              <a:t>collect</a:t>
            </a:r>
            <a:r>
              <a:rPr lang="ru-RU" sz="1200" dirty="0"/>
              <a:t>(), которая собирает все результаты в конечную структуру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7855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Существует несколько способов создать поток в </a:t>
            </a:r>
            <a:r>
              <a:rPr lang="ru-RU" dirty="0" err="1"/>
              <a:t>Java</a:t>
            </a:r>
            <a:r>
              <a:rPr lang="ru-RU" dirty="0"/>
              <a:t>. Например, можно получить поток из коллекции с помощью метода </a:t>
            </a:r>
            <a:r>
              <a:rPr lang="ru-RU" dirty="0" err="1"/>
              <a:t>stream</a:t>
            </a:r>
            <a:r>
              <a:rPr lang="ru-RU" dirty="0"/>
              <a:t>() или создать его из массива с помощью метода </a:t>
            </a:r>
            <a:r>
              <a:rPr lang="ru-RU" dirty="0" err="1"/>
              <a:t>Arrays.stream</a:t>
            </a:r>
            <a:r>
              <a:rPr lang="ru-RU" dirty="0"/>
              <a:t>(). </a:t>
            </a:r>
            <a:endParaRPr lang="en-US" dirty="0"/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создания потока символов строки используется метод </a:t>
            </a:r>
            <a:r>
              <a:rPr lang="ru-RU" dirty="0" err="1"/>
              <a:t>chars</a:t>
            </a:r>
            <a:r>
              <a:rPr lang="ru-RU" dirty="0"/>
              <a:t>()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возвращает поток типа </a:t>
            </a:r>
            <a:r>
              <a:rPr lang="ru-RU" dirty="0" err="1"/>
              <a:t>IntStream</a:t>
            </a:r>
            <a:endParaRPr lang="en-US" dirty="0"/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Поток можно создать из строк файла с помощью метода </a:t>
            </a:r>
            <a:r>
              <a:rPr lang="ru-RU" dirty="0" err="1"/>
              <a:t>Files.lines</a:t>
            </a:r>
            <a:r>
              <a:rPr lang="ru-RU" dirty="0"/>
              <a:t>()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Этот метод считывает файл построчно и возвращает поток строк.</a:t>
            </a:r>
            <a:endParaRPr lang="en-US" dirty="0"/>
          </a:p>
          <a:p>
            <a:r>
              <a:rPr lang="ru-RU" dirty="0"/>
              <a:t>Как только поток создан, над ним можно выполнять различные операции, которые предоставляет </a:t>
            </a:r>
            <a:r>
              <a:rPr lang="ru-RU" dirty="0" err="1"/>
              <a:t>Stream</a:t>
            </a:r>
            <a:r>
              <a:rPr lang="ru-RU" dirty="0"/>
              <a:t>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8058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Генерирование</a:t>
            </a:r>
          </a:p>
          <a:p>
            <a:r>
              <a:rPr lang="ru-RU" dirty="0"/>
              <a:t>Поток можно также создать с помощью метода </a:t>
            </a:r>
            <a:r>
              <a:rPr lang="ru-RU" dirty="0" err="1"/>
              <a:t>Stream.generate</a:t>
            </a:r>
            <a:r>
              <a:rPr lang="ru-RU" dirty="0"/>
              <a:t>(), который использует интерфейс </a:t>
            </a:r>
            <a:r>
              <a:rPr lang="ru-RU" dirty="0" err="1"/>
              <a:t>Supplier</a:t>
            </a:r>
            <a:r>
              <a:rPr lang="ru-RU" dirty="0"/>
              <a:t>. При каждом вызове </a:t>
            </a:r>
            <a:r>
              <a:rPr lang="ru-RU" dirty="0" err="1"/>
              <a:t>Supplier</a:t>
            </a:r>
            <a:r>
              <a:rPr lang="ru-RU" dirty="0"/>
              <a:t> возвращает новое значение. Это удобно для генерации бесконечных потоков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30213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Промежуточные операции не выполняются немедленно — они откладываются до тех пор, пока не будет вызвана терминальная операция. </a:t>
            </a:r>
          </a:p>
          <a:p>
            <a:endParaRPr lang="ru-RU" dirty="0"/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Терминальные операции завершают обработку потока и возвращают результат. Они могут включать такие действия, как подсчет, сбор в коллекцию, поиск или перебор элементов. </a:t>
            </a:r>
            <a:r>
              <a:rPr lang="ru-RU" dirty="0"/>
              <a:t>После вызова терминальной операции поток больше нельзя использовать повторно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это приведет к ошибке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47707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 err="1"/>
              <a:t>filter</a:t>
            </a:r>
            <a:r>
              <a:rPr lang="ru-RU" b="1" dirty="0"/>
              <a:t>(</a:t>
            </a:r>
            <a:r>
              <a:rPr lang="ru-RU" b="1" dirty="0" err="1"/>
              <a:t>Predicate</a:t>
            </a:r>
            <a:r>
              <a:rPr lang="ru-RU" b="1" dirty="0"/>
              <a:t>)</a:t>
            </a:r>
          </a:p>
          <a:p>
            <a:r>
              <a:rPr lang="ru-RU" dirty="0"/>
              <a:t>Метод </a:t>
            </a:r>
            <a:r>
              <a:rPr lang="ru-RU" dirty="0" err="1"/>
              <a:t>filter</a:t>
            </a:r>
            <a:r>
              <a:rPr lang="ru-RU" dirty="0"/>
              <a:t>() используется для создания нового потока, который содержит только те элементы, которые удовлетворяют определённому условию. Этот метод принимает функциональный интерфейс </a:t>
            </a:r>
            <a:r>
              <a:rPr lang="ru-RU" dirty="0" err="1"/>
              <a:t>Predicate</a:t>
            </a:r>
            <a:r>
              <a:rPr lang="ru-RU" dirty="0"/>
              <a:t>, который задаёт условие для фильтрации.</a:t>
            </a:r>
          </a:p>
          <a:p>
            <a:r>
              <a:rPr lang="ru-RU" dirty="0"/>
              <a:t>Пример: Фильтрация списка чисел, оставляя только чётные числа.</a:t>
            </a:r>
            <a:endParaRPr lang="en-US" dirty="0"/>
          </a:p>
          <a:p>
            <a:endParaRPr lang="en-US" dirty="0"/>
          </a:p>
          <a:p>
            <a:r>
              <a:rPr lang="ru-RU" b="1" dirty="0" err="1"/>
              <a:t>map</a:t>
            </a:r>
            <a:r>
              <a:rPr lang="ru-RU" b="1" dirty="0"/>
              <a:t>(</a:t>
            </a:r>
            <a:r>
              <a:rPr lang="ru-RU" b="1" dirty="0" err="1"/>
              <a:t>Function</a:t>
            </a:r>
            <a:r>
              <a:rPr lang="ru-RU" b="1" dirty="0"/>
              <a:t>)</a:t>
            </a:r>
          </a:p>
          <a:p>
            <a:r>
              <a:rPr lang="ru-RU" dirty="0"/>
              <a:t>Метод </a:t>
            </a:r>
            <a:r>
              <a:rPr lang="ru-RU" dirty="0" err="1"/>
              <a:t>map</a:t>
            </a:r>
            <a:r>
              <a:rPr lang="ru-RU" dirty="0"/>
              <a:t>() преобразует каждый элемент потока с помощью функции, переданной в виде лямбда-выражения или ссылки на метод. В результате создаётся новый поток, содержащий преобразованные элементы, без изменения исходного потока.</a:t>
            </a:r>
          </a:p>
          <a:p>
            <a:r>
              <a:rPr lang="ru-RU" dirty="0"/>
              <a:t>Пример: Преобразование строк в их длины.</a:t>
            </a:r>
          </a:p>
          <a:p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flatMap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Метод </a:t>
            </a:r>
            <a:r>
              <a:rPr lang="ru-RU" dirty="0" err="1"/>
              <a:t>flatMap</a:t>
            </a:r>
            <a:r>
              <a:rPr lang="ru-RU" dirty="0"/>
              <a:t>()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используется для преобразования каждого элемента потока в поток и “разворачивания” всех потоков в один общий поток. </a:t>
            </a:r>
            <a:r>
              <a:rPr lang="ru-RU" dirty="0"/>
              <a:t>Это особенно полезно для работы с вложенными структурами данных, такими как списки списков.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Пример: Преобразование списка списков в один плоский поток.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distinct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Метод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distinct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 возвращает новый поток, содержащий только уникальные элементы исходного потока. Уникальность элементов определяется на основе их естественного порядка (метод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equals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()), если это объекты, или с использованием переданного компаратора. Эта операция полезна, когда необходимо устранить дубликаты из набора данных.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Пример: Удаление дубликатов из потока чисел.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(n)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Метод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(n) возвращает новый поток, содержащий не более n элементов исходного потока. Если исходный поток содержит меньше элементов, поток будет содержать все доступные элементы. Этот метод полезен для ограничения размера выборки.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Пример: Ограничение потока до первых пяти элементов.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77800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(n)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Метод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(n) возвращает новый поток, исключающий первые n элементов исходного потока. Если исходный поток содержит меньше n элементов, возвращённый поток будет пустым. Этот метод удобен, если нужно пропустить определённое количество элементов в начале потока.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Пример: Пропуск первых пяти элементов потока.</a:t>
            </a:r>
          </a:p>
          <a:p>
            <a:endParaRPr lang="ru-RU" dirty="0"/>
          </a:p>
          <a:p>
            <a:r>
              <a:rPr lang="ru-RU" b="1" dirty="0" err="1"/>
              <a:t>sorted</a:t>
            </a:r>
            <a:r>
              <a:rPr lang="ru-RU" dirty="0"/>
              <a:t>()</a:t>
            </a:r>
          </a:p>
          <a:p>
            <a:r>
              <a:rPr lang="ru-RU" dirty="0"/>
              <a:t>Метод </a:t>
            </a:r>
            <a:r>
              <a:rPr lang="ru-RU" dirty="0" err="1"/>
              <a:t>sorted</a:t>
            </a:r>
            <a:r>
              <a:rPr lang="ru-RU" dirty="0"/>
              <a:t>() создает новый поток, содержащий элементы исходного потока, отсортированные в естественном порядке (для объектов, реализующих интерфейс </a:t>
            </a:r>
            <a:r>
              <a:rPr lang="ru-RU" dirty="0" err="1"/>
              <a:t>Comparable</a:t>
            </a:r>
            <a:r>
              <a:rPr lang="ru-RU" dirty="0"/>
              <a:t>), либо в порядке, заданном переданным компаратором. Эта операция полезна для сортировки элементов в потоке перед дальнейшими операциями, такими как фильтрация или агрегация.</a:t>
            </a:r>
          </a:p>
          <a:p>
            <a:r>
              <a:rPr lang="ru-RU" dirty="0"/>
              <a:t>Пример: Сортировка списка строк в алфавитном порядке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элементы в потоке не реализуют интерфейс </a:t>
            </a:r>
            <a:r>
              <a:rPr lang="ru-RU" dirty="0" err="1"/>
              <a:t>Comparable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возникнет исключение </a:t>
            </a:r>
            <a:r>
              <a:rPr lang="ru-RU" dirty="0" err="1"/>
              <a:t>ClassCastException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Чтобы избежать этого, можно передать свой компаратор в метод </a:t>
            </a:r>
            <a:r>
              <a:rPr lang="ru-RU" dirty="0" err="1"/>
              <a:t>sorted</a:t>
            </a:r>
            <a:r>
              <a:rPr lang="ru-RU" dirty="0"/>
              <a:t>()</a:t>
            </a:r>
          </a:p>
          <a:p>
            <a:endParaRPr lang="ru-RU" dirty="0"/>
          </a:p>
          <a:p>
            <a:r>
              <a:rPr lang="ru-RU" b="1" dirty="0" err="1"/>
              <a:t>takeWhile</a:t>
            </a:r>
            <a:r>
              <a:rPr lang="ru-RU" b="1" dirty="0"/>
              <a:t>(</a:t>
            </a:r>
            <a:r>
              <a:rPr lang="ru-RU" b="1" dirty="0" err="1"/>
              <a:t>Predicate</a:t>
            </a:r>
            <a:r>
              <a:rPr lang="ru-RU" b="1" dirty="0"/>
              <a:t>)</a:t>
            </a:r>
          </a:p>
          <a:p>
            <a:r>
              <a:rPr lang="ru-RU" dirty="0"/>
              <a:t>Метод </a:t>
            </a:r>
            <a:r>
              <a:rPr lang="ru-RU" dirty="0" err="1"/>
              <a:t>takeWhile</a:t>
            </a:r>
            <a:r>
              <a:rPr lang="ru-RU" dirty="0"/>
              <a:t>() создает новый поток, который включает элементы исходного потока до тех пор, пока они удовлетворяют указанному условию (</a:t>
            </a:r>
            <a:r>
              <a:rPr lang="ru-RU" dirty="0" err="1"/>
              <a:t>Predicate</a:t>
            </a:r>
            <a:r>
              <a:rPr lang="ru-RU" dirty="0"/>
              <a:t>). Как только условие становится ложным, поток завершается. Если первый элемент не соответствует предикату, возвращается пустой поток.</a:t>
            </a:r>
          </a:p>
          <a:p>
            <a:r>
              <a:rPr lang="ru-RU" dirty="0"/>
              <a:t>Пример: Возвращение чисел, меньших 5, из потока чисел.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только первое несоответствие условию найдено, поток прекращает работу, даже если последующие элементы соответствуют предикату.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b="1" dirty="0" err="1"/>
              <a:t>dropWhile</a:t>
            </a:r>
            <a:r>
              <a:rPr lang="ru-RU" b="1" dirty="0"/>
              <a:t>(</a:t>
            </a:r>
            <a:r>
              <a:rPr lang="ru-RU" b="1" dirty="0" err="1"/>
              <a:t>Predicate</a:t>
            </a:r>
            <a:r>
              <a:rPr lang="ru-RU" b="1" dirty="0"/>
              <a:t>)</a:t>
            </a:r>
          </a:p>
          <a:p>
            <a:r>
              <a:rPr lang="ru-RU" dirty="0"/>
              <a:t>Метод </a:t>
            </a:r>
            <a:r>
              <a:rPr lang="ru-RU" dirty="0" err="1"/>
              <a:t>dropWhile</a:t>
            </a:r>
            <a:r>
              <a:rPr lang="ru-RU" dirty="0"/>
              <a:t>() возвращает новый поток, исключающий все элементы исходного потока, которые удовлетворяют указанному условию (</a:t>
            </a:r>
            <a:r>
              <a:rPr lang="ru-RU" dirty="0" err="1"/>
              <a:t>Predicate</a:t>
            </a:r>
            <a:r>
              <a:rPr lang="ru-RU" dirty="0"/>
              <a:t>), до тех пор, пока не встретится элемент, не соответствующий условию. Как только первый элемент не удовлетворяет предикату, все последующие элементы включаются в новый поток, независимо от того, соответствуют ли они условию.</a:t>
            </a:r>
          </a:p>
          <a:p>
            <a:r>
              <a:rPr lang="ru-RU" dirty="0"/>
              <a:t>Пример: Исключение чисел, меньших 5, из потока. В данном примере все числа меньше 5 будут пропущены, а поток начнется с 5.</a:t>
            </a:r>
          </a:p>
          <a:p>
            <a:endParaRPr lang="ru-RU" dirty="0"/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peek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Consumer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Метод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peek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 позволяет добавить промежуточную операцию в поток, которая выполняет действия над каждым элементом, не изменяя сам поток. Это полезно для таких задач, как логирование, отладка или других вспомогательных задач, но не для изменения элементов.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56843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Терминальные методы в </a:t>
            </a:r>
            <a:r>
              <a:rPr lang="ru-RU" dirty="0" err="1"/>
              <a:t>Stream</a:t>
            </a:r>
            <a:r>
              <a:rPr lang="ru-RU" dirty="0"/>
              <a:t> API запускают обработку потока и завершают его. После их вызова поток больше не может быть использован.</a:t>
            </a:r>
          </a:p>
          <a:p>
            <a:endParaRPr lang="ru-RU" dirty="0"/>
          </a:p>
          <a:p>
            <a:r>
              <a:rPr lang="ru-RU" b="1" dirty="0" err="1"/>
              <a:t>forEach</a:t>
            </a:r>
            <a:r>
              <a:rPr lang="ru-RU" b="1" dirty="0"/>
              <a:t>(</a:t>
            </a:r>
            <a:r>
              <a:rPr lang="ru-RU" b="1" dirty="0" err="1"/>
              <a:t>Consumer</a:t>
            </a:r>
            <a:r>
              <a:rPr lang="ru-RU" b="1" dirty="0"/>
              <a:t>)</a:t>
            </a:r>
          </a:p>
          <a:p>
            <a:r>
              <a:rPr lang="ru-RU" dirty="0"/>
              <a:t>Метод </a:t>
            </a:r>
            <a:r>
              <a:rPr lang="ru-RU" dirty="0" err="1"/>
              <a:t>forEach</a:t>
            </a:r>
            <a:r>
              <a:rPr lang="ru-RU" dirty="0"/>
              <a:t>() применяет переданную функцию (объект интерфейса </a:t>
            </a:r>
            <a:r>
              <a:rPr lang="ru-RU" dirty="0" err="1"/>
              <a:t>Consumer</a:t>
            </a:r>
            <a:r>
              <a:rPr lang="ru-RU" dirty="0"/>
              <a:t>) к каждому элементу потока.</a:t>
            </a:r>
          </a:p>
          <a:p>
            <a:r>
              <a:rPr lang="ru-RU" dirty="0"/>
              <a:t>Не рекомендуется использовать в </a:t>
            </a:r>
            <a:r>
              <a:rPr lang="ru-RU" dirty="0" err="1"/>
              <a:t>продакшене</a:t>
            </a:r>
            <a:r>
              <a:rPr lang="ru-RU" dirty="0"/>
              <a:t>, так как он не возвращает результат, а работает только за счёт "побочных эффектов". Это делает его неудобным и потенциально проблемным при параллельном выполнении потоков, где могут возникнуть сложности с синхронизацией.</a:t>
            </a:r>
          </a:p>
          <a:p>
            <a:endParaRPr lang="ru-RU" dirty="0"/>
          </a:p>
          <a:p>
            <a:r>
              <a:rPr lang="ru-RU" b="1" dirty="0" err="1"/>
              <a:t>сollect</a:t>
            </a:r>
            <a:r>
              <a:rPr lang="ru-RU" b="1" dirty="0"/>
              <a:t>(</a:t>
            </a:r>
            <a:r>
              <a:rPr lang="ru-RU" b="1" dirty="0" err="1"/>
              <a:t>Collector</a:t>
            </a:r>
            <a:r>
              <a:rPr lang="ru-RU" b="1" dirty="0"/>
              <a:t>)</a:t>
            </a:r>
          </a:p>
          <a:p>
            <a:r>
              <a:rPr lang="ru-RU" dirty="0"/>
              <a:t>Метод </a:t>
            </a:r>
            <a:r>
              <a:rPr lang="ru-RU" dirty="0" err="1"/>
              <a:t>collect</a:t>
            </a:r>
            <a:r>
              <a:rPr lang="ru-RU" dirty="0"/>
              <a:t>() — это один из самых полезных и часто используемых терминальных методов. Он применяется для преобразования элементов потока в определённую структуру данных (например, </a:t>
            </a:r>
            <a:r>
              <a:rPr lang="ru-RU" dirty="0" err="1"/>
              <a:t>List</a:t>
            </a:r>
            <a:r>
              <a:rPr lang="ru-RU" dirty="0"/>
              <a:t>, </a:t>
            </a:r>
            <a:r>
              <a:rPr lang="ru-RU" dirty="0" err="1"/>
              <a:t>Set</a:t>
            </a:r>
            <a:r>
              <a:rPr lang="ru-RU" dirty="0"/>
              <a:t>, </a:t>
            </a:r>
            <a:r>
              <a:rPr lang="ru-RU" dirty="0" err="1"/>
              <a:t>Map</a:t>
            </a:r>
            <a:r>
              <a:rPr lang="ru-RU" dirty="0"/>
              <a:t>), строку или агрегированное значение.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Этот метод принимает объект типа </a:t>
            </a:r>
            <a:r>
              <a:rPr lang="ru-RU" dirty="0" err="1"/>
              <a:t>Collector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определяет, как именно будут собраны элементы.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Optional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&lt;T&gt;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findFirst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Метод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findFirst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 возвращает первый элемент потока в виде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&lt;T&gt;. Этот метод полезен, когда важно получить именно первый элемент (например, при упорядоченном потоке), обычно в сочетании с фильтрацией.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Пример: Извлечение первого элемента, удовлетворяющего условию.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Optional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&lt;T&gt;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findAny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Метод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findAny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 возвращает любой элемент потока в виде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&lt;T&gt;. В однопоточных сценариях его поведение идентично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findFirst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(), но при параллельной обработке потока он может вернуть любой элемент, что может улучшить производительность за счёт отсутствия необходимости ожидания первого элемента в последовательности.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findAny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 может быть полезен, когда порядок элементов не важен, а нужно просто получить результат как можно быстрее.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Дополнительная информация о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Optional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Методы, такие как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findFirst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 и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findAny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(), возвращают объект типа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&lt;T&gt;, что помогает избегать возможного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NullPointerException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обрабатывая ситуации, когда результат может отсутствовать. Использование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позволяет безопасно работать с отсутствующими значениями.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Метод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 используется для объединения всех элементов потока в одно итоговое значение. Он отличается от метода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collect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 тем, что работает с бинарной ассоциативной функцией, которая принимает два значения и возвращает одно.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 особенно полезен для таких задач, как суммирование, нахождение максимального или минимального значения в потоке.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Пример: Суммирование чисел с помощью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anyMatch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Predicate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Метод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anyMatch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 проверяет, соответствует ли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хотя бы один элемент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потока заданному условию (предикату). Если хотя бы один элемент удовлетворяет предикату, возвращается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иначе —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Пример: Проверка, содержит ли поток чётные числа.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allMatch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Predicate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Метод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allMatch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возвращает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если все элементы потока удовлетворяют заданному предикату. Если хотя бы один элемент не соответствует предикату, метод возвращает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Пример: Проверка, являются ли все элементы потока положительными числами.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55452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ru-RU" dirty="0" err="1"/>
              <a:t>Collectors</a:t>
            </a:r>
            <a:r>
              <a:rPr lang="ru-RU" dirty="0"/>
              <a:t> содержит набор предопределённых статических методов для выполнения общих операций, таких как преобразование элементов в списки, множества и другие структуры данных.</a:t>
            </a:r>
          </a:p>
          <a:p>
            <a:endParaRPr lang="ru-RU" dirty="0"/>
          </a:p>
          <a:p>
            <a:r>
              <a:rPr lang="ru-RU" dirty="0"/>
              <a:t>Некоторые популярные методы класса </a:t>
            </a:r>
            <a:r>
              <a:rPr lang="ru-RU" dirty="0" err="1"/>
              <a:t>Collectors</a:t>
            </a:r>
            <a:r>
              <a:rPr lang="ru-RU" dirty="0"/>
              <a:t>:</a:t>
            </a:r>
          </a:p>
          <a:p>
            <a:endParaRPr lang="ru-RU" dirty="0"/>
          </a:p>
          <a:p>
            <a:r>
              <a:rPr lang="ru-RU" dirty="0" err="1"/>
              <a:t>toList</a:t>
            </a:r>
            <a:r>
              <a:rPr lang="ru-RU" dirty="0"/>
              <a:t>(): Возвращает коллектор, который собирает элементы в список.</a:t>
            </a:r>
          </a:p>
          <a:p>
            <a:r>
              <a:rPr lang="ru-RU" dirty="0" err="1"/>
              <a:t>toSet</a:t>
            </a:r>
            <a:r>
              <a:rPr lang="ru-RU" dirty="0"/>
              <a:t>(): Собирает элементы в множество.</a:t>
            </a:r>
          </a:p>
          <a:p>
            <a:r>
              <a:rPr lang="ru-RU" dirty="0" err="1"/>
              <a:t>joining</a:t>
            </a:r>
            <a:r>
              <a:rPr lang="ru-RU" dirty="0"/>
              <a:t>(): Объединяет элементы потока в одну строку.</a:t>
            </a:r>
          </a:p>
          <a:p>
            <a:r>
              <a:rPr lang="ru-RU" dirty="0" err="1"/>
              <a:t>counting</a:t>
            </a:r>
            <a:r>
              <a:rPr lang="ru-RU" dirty="0"/>
              <a:t>(): Подсчитывает количество элементов в потоке.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45635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Stream</a:t>
            </a:r>
            <a:r>
              <a:rPr lang="ru-RU" dirty="0"/>
              <a:t> API в </a:t>
            </a:r>
            <a:r>
              <a:rPr lang="ru-RU" dirty="0" err="1"/>
              <a:t>Java</a:t>
            </a:r>
            <a:r>
              <a:rPr lang="ru-RU" dirty="0"/>
              <a:t> обрабатывает данные с помощью цепочек промежуточных и терминальных операций, но важная особенность заключается в том, что каждый элемент потока проходит через весь </a:t>
            </a:r>
            <a:r>
              <a:rPr lang="ru-RU" dirty="0" err="1"/>
              <a:t>пайплайн</a:t>
            </a:r>
            <a:r>
              <a:rPr lang="ru-RU" dirty="0"/>
              <a:t> поэтапно. Операции не применяются к коллекции целиком, а работают над каждым элементом поочередно.</a:t>
            </a:r>
          </a:p>
          <a:p>
            <a:endParaRPr lang="ru-RU" dirty="0"/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этом примере последовательно применяются три операции: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 — фильтрует строки, длина которых меньше или равна 3 символам.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 — преобразует оставшиеся строки в верхний регистр.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forEach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 — выводит каждый элемент на консоль.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первый взгляд может показаться, что весь список сначала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отфильтруется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затем преобразуется, а после этого будет выведен на консоль. Однако, благодаря ленивой обработке, это происходит не так. Вместо того, чтобы обрабатывать все элементы на каждом этапе,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 последовательно пропускает каждый элемент через весь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пайплайн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операций.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5493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последовательно применяются три операции:</a:t>
            </a:r>
          </a:p>
          <a:p>
            <a:endParaRPr lang="ru-RU" dirty="0"/>
          </a:p>
          <a:p>
            <a:r>
              <a:rPr lang="ru-RU" dirty="0" err="1"/>
              <a:t>filter</a:t>
            </a:r>
            <a:r>
              <a:rPr lang="ru-RU" dirty="0"/>
              <a:t>() — фильтрует строки, длина которых меньше или равна 3 символам.</a:t>
            </a:r>
          </a:p>
          <a:p>
            <a:r>
              <a:rPr lang="ru-RU" dirty="0" err="1"/>
              <a:t>map</a:t>
            </a:r>
            <a:r>
              <a:rPr lang="ru-RU" dirty="0"/>
              <a:t>() — преобразует оставшиеся строки в верхний регистр.</a:t>
            </a:r>
          </a:p>
          <a:p>
            <a:r>
              <a:rPr lang="ru-RU" dirty="0" err="1"/>
              <a:t>forEach</a:t>
            </a:r>
            <a:r>
              <a:rPr lang="ru-RU" dirty="0"/>
              <a:t>() — выводит каждый элемент на консоль.</a:t>
            </a:r>
          </a:p>
          <a:p>
            <a:r>
              <a:rPr lang="ru-RU" dirty="0"/>
              <a:t>На первый взгляд может показаться, что весь список сначала </a:t>
            </a:r>
            <a:r>
              <a:rPr lang="ru-RU" dirty="0" err="1"/>
              <a:t>отфильтруется</a:t>
            </a:r>
            <a:r>
              <a:rPr lang="ru-RU" dirty="0"/>
              <a:t>, затем преобразуется, а после этого будет выведен на консоль. Однако, благодаря ленивой обработке, это происходит не так. Вместо того, чтобы обрабатывать все элементы на каждом этапе, </a:t>
            </a:r>
            <a:r>
              <a:rPr lang="ru-RU" dirty="0" err="1"/>
              <a:t>Stream</a:t>
            </a:r>
            <a:r>
              <a:rPr lang="ru-RU" dirty="0"/>
              <a:t> API последовательно пропускает каждый элемент через весь </a:t>
            </a:r>
            <a:r>
              <a:rPr lang="ru-RU" dirty="0" err="1"/>
              <a:t>пайплайн</a:t>
            </a:r>
            <a:r>
              <a:rPr lang="ru-RU" dirty="0"/>
              <a:t> операций.</a:t>
            </a:r>
            <a:endParaRPr lang="en-US" dirty="0"/>
          </a:p>
          <a:p>
            <a:endParaRPr lang="en-US" dirty="0"/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Сначала первый элемент проходит через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пайплайн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затем второй, а третий не проходит проверку в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(), поэтому его обработка прекращается на этом этапе. Это важно для эффективности и надлежащего функционирования потоков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Почему?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Этот поэтапный подход делает параллелизм более простым и безопасным. Поскольку каждый элемент обрабатывается независимо, легко перейти от последовательного к параллельному потоку.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3629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Они не требуют информации о предыдущих или последующих элементах для своей работы, что делает их идеально подходящими для параллельной обработки. Например, в методе </a:t>
            </a:r>
            <a:r>
              <a:rPr lang="ru-RU" dirty="0" err="1"/>
              <a:t>filter</a:t>
            </a:r>
            <a:r>
              <a:rPr lang="ru-RU" dirty="0"/>
              <a:t>() каждый элемент проверяется по заданному условию отдельно, и его результат не зависит от других элементов.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2418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Операции с состоянием, такие как </a:t>
            </a:r>
            <a:r>
              <a:rPr lang="ru-RU" dirty="0" err="1"/>
              <a:t>sorted</a:t>
            </a:r>
            <a:r>
              <a:rPr lang="ru-RU" dirty="0"/>
              <a:t>(), </a:t>
            </a:r>
            <a:r>
              <a:rPr lang="ru-RU" dirty="0" err="1"/>
              <a:t>distinct</a:t>
            </a:r>
            <a:r>
              <a:rPr lang="ru-RU" dirty="0"/>
              <a:t>() или </a:t>
            </a:r>
            <a:r>
              <a:rPr lang="ru-RU" dirty="0" err="1"/>
              <a:t>limit</a:t>
            </a:r>
            <a:r>
              <a:rPr lang="ru-RU" dirty="0"/>
              <a:t>(), требуют информации о других элементах потока. Эти операции не могут начать возвращать результаты, пока не обработают часть или весь поток. Например, </a:t>
            </a:r>
            <a:r>
              <a:rPr lang="ru-RU" dirty="0" err="1"/>
              <a:t>sorted</a:t>
            </a:r>
            <a:r>
              <a:rPr lang="ru-RU" dirty="0"/>
              <a:t>() должна сначала собрать все элементы, чтобы их отсортировать, а затем уже передать их на последующие этапы.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03707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отличие от предыдущего примера, добавление </a:t>
            </a:r>
            <a:r>
              <a:rPr lang="ru-RU" dirty="0" err="1"/>
              <a:t>sorted</a:t>
            </a:r>
            <a:r>
              <a:rPr lang="ru-RU" dirty="0"/>
              <a:t>() меняет порядок выполнения:</a:t>
            </a:r>
          </a:p>
          <a:p>
            <a:endParaRPr lang="ru-RU" dirty="0"/>
          </a:p>
          <a:p>
            <a:r>
              <a:rPr lang="ru-RU" dirty="0"/>
              <a:t>Для каждого элемента сначала выполняется </a:t>
            </a:r>
            <a:r>
              <a:rPr lang="ru-RU" dirty="0" err="1"/>
              <a:t>filter</a:t>
            </a:r>
            <a:r>
              <a:rPr lang="ru-RU" dirty="0"/>
              <a:t>, затем </a:t>
            </a:r>
            <a:r>
              <a:rPr lang="ru-RU" dirty="0" err="1"/>
              <a:t>map</a:t>
            </a:r>
            <a:r>
              <a:rPr lang="ru-RU" dirty="0"/>
              <a:t>.</a:t>
            </a:r>
          </a:p>
          <a:p>
            <a:r>
              <a:rPr lang="ru-RU" dirty="0" err="1"/>
              <a:t>sorted</a:t>
            </a:r>
            <a:r>
              <a:rPr lang="ru-RU" dirty="0"/>
              <a:t>() необходимо увидеть все элементы, чтобы выполнить сортировку.</a:t>
            </a:r>
          </a:p>
          <a:p>
            <a:r>
              <a:rPr lang="ru-RU" dirty="0"/>
              <a:t>Порядок вывода в </a:t>
            </a:r>
            <a:r>
              <a:rPr lang="ru-RU" dirty="0" err="1"/>
              <a:t>forEach</a:t>
            </a:r>
            <a:r>
              <a:rPr lang="ru-RU" dirty="0"/>
              <a:t>() соответствует результату сортировки.</a:t>
            </a:r>
          </a:p>
          <a:p>
            <a:r>
              <a:rPr lang="ru-RU" dirty="0"/>
              <a:t>Таким образом, операция </a:t>
            </a:r>
            <a:r>
              <a:rPr lang="ru-RU" dirty="0" err="1"/>
              <a:t>sorted</a:t>
            </a:r>
            <a:r>
              <a:rPr lang="ru-RU" dirty="0"/>
              <a:t>() создает “точку синхронизации”, когда необходимо сначала обработать все элементы до завершения </a:t>
            </a:r>
            <a:r>
              <a:rPr lang="ru-RU" dirty="0" err="1"/>
              <a:t>пайплайна</a:t>
            </a:r>
            <a:r>
              <a:rPr lang="ru-RU" dirty="0"/>
              <a:t>. Это может быть полезно в некоторых случаях, но может и замедлить обработку, особенно для больших наборов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3450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Java</a:t>
            </a:r>
            <a:r>
              <a:rPr lang="ru-RU" dirty="0"/>
              <a:t> </a:t>
            </a:r>
            <a:r>
              <a:rPr lang="ru-RU" dirty="0" err="1"/>
              <a:t>Stream</a:t>
            </a:r>
            <a:r>
              <a:rPr lang="ru-RU" dirty="0"/>
              <a:t> API предоставляет возможность параллельной обработки данных, что может значительно повысить производительность на многоядерных процессорах. Однако важно помнить, что параллельное выполнение может добавить сложность и накладные расходы, такие как управление потоками и синхронизация данных. Поэтому использование параллельных потоков должно быть тщательно обосновано и применяться только в случаях, когда ожидается реальная выгода от </a:t>
            </a:r>
            <a:r>
              <a:rPr lang="ru-RU" dirty="0" err="1"/>
              <a:t>параллелизации</a:t>
            </a:r>
            <a:r>
              <a:rPr lang="ru-RU" dirty="0"/>
              <a:t>.</a:t>
            </a:r>
          </a:p>
          <a:p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По умолчанию потоки выполняются последовательно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вызове методов данные разделяются на подзадачи, которые затем могут быть распределены между несколькими потоками. Каждая часть обрабатывается независимо, и результаты объединяются после завершения работы всех потоков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точки зрения выполнения, параллельная обработка потоков похожа на последовательную. Разница заключается в том, что </a:t>
            </a:r>
            <a:r>
              <a:rPr lang="ru-RU" dirty="0"/>
              <a:t>вместо одного набора операций используется несколько их копий — каждая копия выполняется на своем сегменте данных. Например, операции фильтрации, преобразования и агрегации применяются параллельно к каждому фрагменту данных, и по завершении результаты собираются в единый итог.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8791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C938B-0DA2-4448-9396-E3D6B6592B57}" type="datetime1">
              <a:rPr lang="ru-RU" smtClean="0"/>
              <a:t>11.03.2025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="1">
                <a:solidFill>
                  <a:schemeClr val="accent6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C938B-0DA2-4448-9396-E3D6B6592B57}" type="datetime1">
              <a:rPr lang="ru-RU" smtClean="0"/>
              <a:t>11.03.2025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10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8473-29C1-4E38-9693-78112B8E8A00}" type="datetime1">
              <a:rPr lang="ru-RU" smtClean="0"/>
              <a:t>11.03.2025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43326F-15DF-455F-B9E6-C0CE4A481B5D}" type="datetime1">
              <a:rPr lang="ru-RU" smtClean="0"/>
              <a:pPr/>
              <a:t>11.03.2025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69F336-2DD4-44CE-8205-AE3F61CEB7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04C6E-9B24-454D-9475-909125905394}" type="datetime1">
              <a:rPr lang="ru-RU" smtClean="0"/>
              <a:t>11.03.2025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E23A4-FFB4-4197-8E90-81B496FF21F2}" type="datetime1">
              <a:rPr lang="ru-RU" smtClean="0"/>
              <a:t>11.03.2025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06EA0-727C-425F-9DC7-DF28038F580D}" type="datetime1">
              <a:rPr lang="ru-RU" smtClean="0"/>
              <a:t>11.03.2025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5BD2C-6379-4ADB-895E-EA14E58B08BD}" type="datetime1">
              <a:rPr lang="ru-RU" smtClean="0"/>
              <a:t>11.03.2025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02FBE-660B-4788-93E5-23F80C221E14}" type="datetime1">
              <a:rPr lang="ru-RU" smtClean="0"/>
              <a:t>11.03.2025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054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428741"/>
            <a:ext cx="8229600" cy="31658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88AE213-E076-4E30-856F-02825387B9E6}" type="datetime1">
              <a:rPr lang="ru-RU" smtClean="0"/>
              <a:pPr/>
              <a:t>11.03.2025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A69F336-2DD4-44CE-8205-AE3F61CEB7C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0" r:id="rId4"/>
    <p:sldLayoutId id="2147483652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Программирование на </a:t>
            </a:r>
            <a:r>
              <a:rPr lang="en-US" dirty="0"/>
              <a:t>Java</a:t>
            </a:r>
            <a:endParaRPr lang="ru-RU" dirty="0"/>
          </a:p>
        </p:txBody>
      </p:sp>
      <p:sp>
        <p:nvSpPr>
          <p:cNvPr id="7" name="Подзаголовок 6"/>
          <p:cNvSpPr>
            <a:spLocks noGrp="1"/>
          </p:cNvSpPr>
          <p:nvPr>
            <p:ph type="subTitle" idx="1"/>
          </p:nvPr>
        </p:nvSpPr>
        <p:spPr>
          <a:xfrm>
            <a:off x="685800" y="2499742"/>
            <a:ext cx="7772400" cy="1314450"/>
          </a:xfrm>
        </p:spPr>
        <p:txBody>
          <a:bodyPr>
            <a:normAutofit/>
          </a:bodyPr>
          <a:lstStyle/>
          <a:p>
            <a:r>
              <a:rPr lang="ru-RU" dirty="0"/>
              <a:t>Лямбда выражения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192DF44-5750-4184-B385-0BAB20A77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До </a:t>
            </a:r>
            <a:r>
              <a:rPr lang="en-US" dirty="0"/>
              <a:t>Java 8: </a:t>
            </a:r>
            <a:r>
              <a:rPr lang="ru-RU" dirty="0"/>
              <a:t>передача функциональности в метод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0A47B-704A-4878-92CA-BEA69BA38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2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C2711E-EE5B-45C1-90A7-BB31AA4EDC6E}"/>
              </a:ext>
            </a:extLst>
          </p:cNvPr>
          <p:cNvSpPr txBox="1"/>
          <p:nvPr/>
        </p:nvSpPr>
        <p:spPr>
          <a:xfrm>
            <a:off x="457200" y="1707654"/>
            <a:ext cx="35387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Нет возможности определить метод вне класса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Нет возможности передать метод в качестве аргумента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Необходимо писать анонимные классы, когда нужно было передать некую функциональность в какой-нибудь метод</a:t>
            </a:r>
          </a:p>
          <a:p>
            <a:endParaRPr lang="ru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07965E-1AF9-4CF4-8C15-0A5C794EC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62844"/>
            <a:ext cx="4206443" cy="14222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05448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4FB5A-FB2D-43B6-ACD3-9FA7835CD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3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A324902B-F5DF-4DB2-A7E6-8740C6E27EB4}"/>
              </a:ext>
            </a:extLst>
          </p:cNvPr>
          <p:cNvSpPr txBox="1">
            <a:spLocks/>
          </p:cNvSpPr>
          <p:nvPr/>
        </p:nvSpPr>
        <p:spPr>
          <a:xfrm>
            <a:off x="457200" y="500054"/>
            <a:ext cx="8229600" cy="85725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Лямбда выражения</a:t>
            </a:r>
            <a:endParaRPr lang="ru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22B809-C63D-437E-B05D-676F23344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002" y="1829259"/>
            <a:ext cx="1679996" cy="246604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563C848-0D7E-4AC0-AF20-39CED26F2D6C}"/>
              </a:ext>
            </a:extLst>
          </p:cNvPr>
          <p:cNvSpPr/>
          <p:nvPr/>
        </p:nvSpPr>
        <p:spPr>
          <a:xfrm>
            <a:off x="457200" y="1371583"/>
            <a:ext cx="555496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Lambda-</a:t>
            </a:r>
            <a:r>
              <a:rPr lang="ru-RU" sz="2800" dirty="0"/>
              <a:t>выражения – это анонимные функции или метод без объявления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err="1"/>
              <a:t>Lambda</a:t>
            </a:r>
            <a:r>
              <a:rPr lang="ru-RU" sz="2800" dirty="0"/>
              <a:t>-выражения привносят в </a:t>
            </a:r>
            <a:r>
              <a:rPr lang="ru-RU" sz="2800" dirty="0" err="1"/>
              <a:t>Java</a:t>
            </a:r>
            <a:r>
              <a:rPr lang="ru-RU" sz="2800" dirty="0"/>
              <a:t> функциональное звено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Имеют следующий синтаксис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C1EE80-7E54-4BAC-9741-F9A1E9FEE3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32" y="4086760"/>
            <a:ext cx="2707173" cy="3100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873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092534-92DC-4579-8EC4-8C7062C3D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лямбда выражений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3811E2-A924-410B-A339-AC712B7B8B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1613" y="1901947"/>
            <a:ext cx="5100774" cy="1884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E3EC38-E08A-4D2B-861E-670504BF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2627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DB5DB-000E-4342-95BF-E40EFD5FC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</a:t>
            </a:r>
            <a:r>
              <a:rPr lang="en-US" dirty="0"/>
              <a:t>Lambda-</a:t>
            </a:r>
            <a:r>
              <a:rPr lang="ru-RU" dirty="0"/>
              <a:t>выражений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9B242-47F8-4A1B-8874-045D35B6E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ru-RU" dirty="0" err="1"/>
              <a:t>Lambda</a:t>
            </a:r>
            <a:r>
              <a:rPr lang="ru-RU" dirty="0"/>
              <a:t>-выражения могут иметь от 0 и более входных параметров.</a:t>
            </a:r>
          </a:p>
          <a:p>
            <a:r>
              <a:rPr lang="ru-RU" dirty="0"/>
              <a:t>Тип параметров можно указывать явно либо может быть получен из контекста. Например </a:t>
            </a:r>
            <a:r>
              <a:rPr lang="ru-RU" b="1" i="1" dirty="0"/>
              <a:t>(</a:t>
            </a:r>
            <a:r>
              <a:rPr lang="ru-RU" b="1" i="1" dirty="0" err="1"/>
              <a:t>int</a:t>
            </a:r>
            <a:r>
              <a:rPr lang="ru-RU" b="1" i="1" dirty="0"/>
              <a:t> a)</a:t>
            </a:r>
            <a:r>
              <a:rPr lang="ru-RU" dirty="0"/>
              <a:t> можно записать и так </a:t>
            </a:r>
            <a:r>
              <a:rPr lang="ru-RU" b="1" i="1" dirty="0"/>
              <a:t>(a)</a:t>
            </a:r>
          </a:p>
          <a:p>
            <a:r>
              <a:rPr lang="ru-RU" dirty="0"/>
              <a:t>Параметры заключаются в круглые скобки и разделяются запятыми. Например </a:t>
            </a:r>
            <a:r>
              <a:rPr lang="ru-RU" b="1" i="1" dirty="0"/>
              <a:t>(a, b) </a:t>
            </a:r>
            <a:r>
              <a:rPr lang="ru-RU" dirty="0"/>
              <a:t>или </a:t>
            </a:r>
            <a:r>
              <a:rPr lang="ru-RU" b="1" i="1" dirty="0"/>
              <a:t>(</a:t>
            </a:r>
            <a:r>
              <a:rPr lang="ru-RU" b="1" i="1" dirty="0" err="1"/>
              <a:t>int</a:t>
            </a:r>
            <a:r>
              <a:rPr lang="ru-RU" b="1" i="1" dirty="0"/>
              <a:t> a, </a:t>
            </a:r>
            <a:r>
              <a:rPr lang="ru-RU" b="1" i="1" dirty="0" err="1"/>
              <a:t>int</a:t>
            </a:r>
            <a:r>
              <a:rPr lang="ru-RU" b="1" i="1" dirty="0"/>
              <a:t> b)</a:t>
            </a:r>
            <a:r>
              <a:rPr lang="ru-RU" dirty="0"/>
              <a:t> или </a:t>
            </a:r>
            <a:r>
              <a:rPr lang="ru-RU" b="1" i="1" dirty="0"/>
              <a:t>(</a:t>
            </a:r>
            <a:r>
              <a:rPr lang="ru-RU" b="1" i="1" dirty="0" err="1"/>
              <a:t>String</a:t>
            </a:r>
            <a:r>
              <a:rPr lang="ru-RU" b="1" i="1" dirty="0"/>
              <a:t> a, </a:t>
            </a:r>
            <a:r>
              <a:rPr lang="ru-RU" b="1" i="1" dirty="0" err="1"/>
              <a:t>int</a:t>
            </a:r>
            <a:r>
              <a:rPr lang="ru-RU" b="1" i="1" dirty="0"/>
              <a:t> b, </a:t>
            </a:r>
            <a:r>
              <a:rPr lang="ru-RU" b="1" i="1" dirty="0" err="1"/>
              <a:t>float</a:t>
            </a:r>
            <a:r>
              <a:rPr lang="ru-RU" b="1" i="1" dirty="0"/>
              <a:t> c)</a:t>
            </a:r>
          </a:p>
          <a:p>
            <a:r>
              <a:rPr lang="ru-RU" dirty="0"/>
              <a:t>Если параметров нет, то нужно использовать пустые круглые скобки. Пример </a:t>
            </a:r>
            <a:r>
              <a:rPr lang="ru-RU" b="1" i="1" dirty="0"/>
              <a:t>() -&gt; </a:t>
            </a:r>
            <a:r>
              <a:rPr lang="en-US" b="1" i="1" dirty="0"/>
              <a:t>3.1415</a:t>
            </a:r>
            <a:endParaRPr lang="ru-RU" b="1" i="1" dirty="0"/>
          </a:p>
          <a:p>
            <a:r>
              <a:rPr lang="ru-RU" dirty="0"/>
              <a:t>Когда параметр один, если тип не указывается явно, скобки можно опустить. Пример: </a:t>
            </a:r>
            <a:r>
              <a:rPr lang="ru-RU" b="1" i="1" dirty="0"/>
              <a:t>a -&gt; a*a</a:t>
            </a:r>
          </a:p>
          <a:p>
            <a:r>
              <a:rPr lang="ru-RU" dirty="0"/>
              <a:t>Тело </a:t>
            </a:r>
            <a:r>
              <a:rPr lang="ru-RU" dirty="0" err="1"/>
              <a:t>Lambda</a:t>
            </a:r>
            <a:r>
              <a:rPr lang="ru-RU" dirty="0"/>
              <a:t>-выражения может содержать от 0 и более выражений.</a:t>
            </a:r>
          </a:p>
          <a:p>
            <a:r>
              <a:rPr lang="ru-RU" dirty="0"/>
              <a:t>Если тело состоит из одного оператора, его можно не заключать в фигурные скобки, а возвращаемое значение можно указывать без ключевого слова </a:t>
            </a:r>
            <a:r>
              <a:rPr lang="ru-RU" b="1" i="1" dirty="0" err="1"/>
              <a:t>return</a:t>
            </a:r>
            <a:r>
              <a:rPr lang="ru-RU" dirty="0"/>
              <a:t>.</a:t>
            </a:r>
          </a:p>
          <a:p>
            <a:r>
              <a:rPr lang="ru-RU" dirty="0"/>
              <a:t>В противном случае фигурные скобки обязательны (блок кода), а в конце надо указывать возвращаемое значение с использованием ключевого слова </a:t>
            </a:r>
            <a:r>
              <a:rPr lang="ru-RU" b="1" i="1" dirty="0" err="1"/>
              <a:t>return</a:t>
            </a:r>
            <a:r>
              <a:rPr lang="ru-RU" dirty="0"/>
              <a:t> (в противном случае типом возвращаемого значения будет </a:t>
            </a:r>
            <a:r>
              <a:rPr lang="ru-RU" b="1" i="1" dirty="0" err="1"/>
              <a:t>void</a:t>
            </a:r>
            <a:r>
              <a:rPr lang="ru-RU" dirty="0"/>
              <a:t>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D9349-2499-470D-BC06-B27DF762A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0783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7BEA9-B27E-4E0B-80D5-8EE4A28A6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Функциональный интерфейс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7270E-63FF-4C23-A5CF-71BCF0DDB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b="1" dirty="0"/>
              <a:t>Функциональные интерфейсы (</a:t>
            </a:r>
            <a:r>
              <a:rPr lang="ru-RU" sz="2800" b="1" dirty="0" err="1"/>
              <a:t>Functional</a:t>
            </a:r>
            <a:r>
              <a:rPr lang="ru-RU" sz="2800" b="1" dirty="0"/>
              <a:t> </a:t>
            </a:r>
            <a:r>
              <a:rPr lang="ru-RU" sz="2800" b="1" dirty="0" err="1"/>
              <a:t>Interface</a:t>
            </a:r>
            <a:r>
              <a:rPr lang="ru-RU" sz="2800" b="1" dirty="0"/>
              <a:t>) </a:t>
            </a:r>
            <a:r>
              <a:rPr lang="ru-RU" sz="2800" dirty="0"/>
              <a:t>– это интерфейсы только с одним абстрактным методом, объявленным в нем.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EE6EF-2218-48A3-AA85-0C60D0F8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6</a:t>
            </a:fld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771D7C-1000-4A81-B54C-1C5D6109C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76" y="2871880"/>
            <a:ext cx="4725749" cy="17227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9732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518E5-BB82-410C-9939-B3E835CBC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Функциональный интерфейс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4BA3A-4B4E-4E1A-8BCF-05EE7A7E1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41"/>
            <a:ext cx="8229600" cy="3165881"/>
          </a:xfrm>
        </p:spPr>
        <p:txBody>
          <a:bodyPr/>
          <a:lstStyle/>
          <a:p>
            <a:r>
              <a:rPr lang="ru-RU" sz="2800" dirty="0"/>
              <a:t>Каждое </a:t>
            </a:r>
            <a:r>
              <a:rPr lang="ru-RU" sz="2800" dirty="0" err="1"/>
              <a:t>lambda</a:t>
            </a:r>
            <a:r>
              <a:rPr lang="ru-RU" sz="2800" dirty="0"/>
              <a:t>-выражение может быть неявно привязано к какому-нибудь функциональному интерфейсу.</a:t>
            </a:r>
          </a:p>
          <a:p>
            <a:endParaRPr lang="ru-RU" dirty="0"/>
          </a:p>
          <a:p>
            <a:r>
              <a:rPr lang="ru-RU" sz="2800" dirty="0"/>
              <a:t>Даже когда интерфейс не указан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FE3D3-8FEE-46B3-9031-3344B7795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4E0C26-5755-4C50-BBD0-15F894C01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50353"/>
            <a:ext cx="7992380" cy="3226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FB3D6A-E3E8-4784-A32A-F7C0A51EB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39902"/>
            <a:ext cx="7894749" cy="3891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6924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8D94E-1D32-4B5D-B692-DF46A004D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Функциональный интерфейс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14FE3-2C1A-47C6-B169-81ED7D50C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8</a:t>
            </a:fld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19B675-29D9-407B-AC92-45C3CEACF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14" y="1357304"/>
            <a:ext cx="4300228" cy="27231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887FCF-6674-47F4-8D50-B8A318CC34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008" y="2273687"/>
            <a:ext cx="4327971" cy="23874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Arrow: Bent 9">
            <a:extLst>
              <a:ext uri="{FF2B5EF4-FFF2-40B4-BE49-F238E27FC236}">
                <a16:creationId xmlns:a16="http://schemas.microsoft.com/office/drawing/2014/main" id="{43B3BC86-6C09-4CEE-819A-847DA648E48C}"/>
              </a:ext>
            </a:extLst>
          </p:cNvPr>
          <p:cNvSpPr/>
          <p:nvPr/>
        </p:nvSpPr>
        <p:spPr>
          <a:xfrm rot="5400000">
            <a:off x="4644008" y="1707654"/>
            <a:ext cx="288032" cy="216024"/>
          </a:xfrm>
          <a:prstGeom prst="ben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177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F02F6-32BA-494E-9E56-35D5C2964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Аннотация @</a:t>
            </a:r>
            <a:r>
              <a:rPr lang="en-US" dirty="0" err="1"/>
              <a:t>FunctionalInterface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6BA76-29ED-4027-8D8C-E128A30F1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Проверяет является ли объявляемый интерфейс функциональным</a:t>
            </a:r>
          </a:p>
          <a:p>
            <a:r>
              <a:rPr lang="ru-RU" sz="2400" dirty="0"/>
              <a:t>Выдаст ошибку компиляции, если объявляемый интерфейс не будет функциональным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2751F-340D-46E9-894F-377893053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9</a:t>
            </a:fld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D3FE0D-1CD5-4E20-AFC6-94D462DD0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544" y="3219822"/>
            <a:ext cx="7128456" cy="12516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47245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7634B-6994-49CA-8722-63FD201D4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Отличие </a:t>
            </a:r>
            <a:r>
              <a:rPr lang="ru-RU" dirty="0" err="1"/>
              <a:t>Lambda</a:t>
            </a:r>
            <a:r>
              <a:rPr lang="ru-RU" dirty="0"/>
              <a:t>-выражений от анонимных </a:t>
            </a:r>
            <a:r>
              <a:rPr lang="ru-RU" dirty="0" err="1"/>
              <a:t>класов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42D18-2C6C-423A-A593-2766DB0E9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1382"/>
            <a:ext cx="8229600" cy="3165881"/>
          </a:xfrm>
        </p:spPr>
        <p:txBody>
          <a:bodyPr>
            <a:noAutofit/>
          </a:bodyPr>
          <a:lstStyle/>
          <a:p>
            <a:r>
              <a:rPr lang="ru-RU" sz="2400" dirty="0"/>
              <a:t>Использование ключевого слова </a:t>
            </a:r>
            <a:r>
              <a:rPr lang="en-US" sz="2400" b="1" i="1" dirty="0"/>
              <a:t>this</a:t>
            </a:r>
            <a:r>
              <a:rPr lang="ru-RU" sz="2400" dirty="0"/>
              <a:t>:</a:t>
            </a:r>
          </a:p>
          <a:p>
            <a:pPr lvl="1"/>
            <a:r>
              <a:rPr lang="ru-RU" sz="2000" dirty="0"/>
              <a:t>Для анонимных классов ключевое слово </a:t>
            </a:r>
            <a:r>
              <a:rPr lang="ru-RU" sz="2000" b="1" i="1" dirty="0" err="1"/>
              <a:t>this</a:t>
            </a:r>
            <a:r>
              <a:rPr lang="ru-RU" sz="2000" dirty="0"/>
              <a:t> обозначает объект анонимного класса</a:t>
            </a:r>
          </a:p>
          <a:p>
            <a:pPr lvl="1"/>
            <a:r>
              <a:rPr lang="ru-RU" sz="2000" dirty="0"/>
              <a:t>в </a:t>
            </a:r>
            <a:r>
              <a:rPr lang="ru-RU" sz="2000" dirty="0" err="1"/>
              <a:t>lambda</a:t>
            </a:r>
            <a:r>
              <a:rPr lang="ru-RU" sz="2000" dirty="0"/>
              <a:t>-выражении </a:t>
            </a:r>
            <a:r>
              <a:rPr lang="ru-RU" sz="2000" b="1" i="1" dirty="0" err="1"/>
              <a:t>this</a:t>
            </a:r>
            <a:r>
              <a:rPr lang="ru-RU" sz="2000" dirty="0"/>
              <a:t> обозначает объект класса, в котором </a:t>
            </a:r>
            <a:r>
              <a:rPr lang="ru-RU" sz="2000" dirty="0" err="1"/>
              <a:t>lambda</a:t>
            </a:r>
            <a:r>
              <a:rPr lang="ru-RU" sz="2000" dirty="0"/>
              <a:t>-выражение используется</a:t>
            </a:r>
          </a:p>
          <a:p>
            <a:r>
              <a:rPr lang="ru-RU" sz="2400" dirty="0"/>
              <a:t>Способ компиляции:</a:t>
            </a:r>
          </a:p>
          <a:p>
            <a:pPr lvl="1"/>
            <a:r>
              <a:rPr lang="ru-RU" sz="2000" dirty="0" err="1"/>
              <a:t>lambda</a:t>
            </a:r>
            <a:r>
              <a:rPr lang="ru-RU" sz="2000" dirty="0"/>
              <a:t>-выражения компилируются с преобразованием их в </a:t>
            </a:r>
            <a:r>
              <a:rPr lang="ru-RU" sz="2000" dirty="0" err="1"/>
              <a:t>private</a:t>
            </a:r>
            <a:r>
              <a:rPr lang="ru-RU" sz="2000" dirty="0"/>
              <a:t>-методы класса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250B7-0B24-46B9-8821-24EC30B24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2832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D25E-F875-4FA8-9645-1A3EF12B0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лямбда-выражений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ECF0B-8BC7-4A15-8175-EC236324D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Переменные должны быть </a:t>
            </a:r>
            <a:r>
              <a:rPr lang="ru-RU" sz="2800" dirty="0" err="1"/>
              <a:t>effectively</a:t>
            </a:r>
            <a:r>
              <a:rPr lang="ru-RU" sz="2800" dirty="0"/>
              <a:t> </a:t>
            </a:r>
            <a:r>
              <a:rPr lang="ru-RU" sz="2800" dirty="0" err="1"/>
              <a:t>final</a:t>
            </a:r>
            <a:endParaRPr lang="ru-RU" sz="2800" dirty="0"/>
          </a:p>
          <a:p>
            <a:r>
              <a:rPr lang="ru-RU" sz="2800" dirty="0"/>
              <a:t>Лямбды не могут иметь состояния</a:t>
            </a:r>
          </a:p>
          <a:p>
            <a:r>
              <a:rPr lang="ru-RU" sz="2800" dirty="0"/>
              <a:t>Лямбда-выражения не могут бросать проверяемые исключения</a:t>
            </a:r>
          </a:p>
          <a:p>
            <a:r>
              <a:rPr lang="ru-RU" sz="2800" dirty="0"/>
              <a:t>Ограниченная гибкость в наследовании</a:t>
            </a:r>
          </a:p>
          <a:p>
            <a:r>
              <a:rPr lang="ru-RU" sz="2800" dirty="0"/>
              <a:t>Отсутствие метаинформации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B3F9C-C245-42F9-82C3-6740A6320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341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D7082-0BE0-4057-B76B-E9F416C26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Ссылки на метод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23E22-805A-4F67-8E01-A2390FFDB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sz="4000" dirty="0"/>
              <a:t>С их помощью можно ссылаться на существующие методы или конструкторы и передавать их в качестве аргументов:</a:t>
            </a:r>
          </a:p>
          <a:p>
            <a:pPr marL="361950" indent="0"/>
            <a:r>
              <a:rPr lang="ru-RU" sz="3800" dirty="0"/>
              <a:t>Ссылка на статический метод</a:t>
            </a:r>
            <a:r>
              <a:rPr lang="ru-RU" sz="3800" b="1" dirty="0"/>
              <a:t> </a:t>
            </a:r>
            <a:r>
              <a:rPr lang="ru-RU" sz="3800" b="1" dirty="0" err="1"/>
              <a:t>имя_класса</a:t>
            </a:r>
            <a:r>
              <a:rPr lang="ru-RU" sz="3800" b="1" dirty="0"/>
              <a:t>::</a:t>
            </a:r>
            <a:r>
              <a:rPr lang="ru-RU" sz="3800" b="1" dirty="0" err="1"/>
              <a:t>имя_статического_метода</a:t>
            </a:r>
            <a:endParaRPr lang="ru-RU" sz="3800" dirty="0"/>
          </a:p>
          <a:p>
            <a:pPr marL="361950" indent="0"/>
            <a:r>
              <a:rPr lang="ru-RU" sz="3800" dirty="0"/>
              <a:t>Ссылка на метод объекта </a:t>
            </a:r>
            <a:r>
              <a:rPr lang="ru-RU" sz="3800" b="1" dirty="0" err="1"/>
              <a:t>объект_класса</a:t>
            </a:r>
            <a:r>
              <a:rPr lang="ru-RU" sz="3800" b="1" dirty="0"/>
              <a:t>::</a:t>
            </a:r>
            <a:r>
              <a:rPr lang="ru-RU" sz="3800" b="1" dirty="0" err="1"/>
              <a:t>имя_метода</a:t>
            </a:r>
            <a:endParaRPr lang="ru-RU" sz="3800" dirty="0"/>
          </a:p>
          <a:p>
            <a:pPr marL="361950" indent="0"/>
            <a:r>
              <a:rPr lang="ru-RU" sz="3800" dirty="0"/>
              <a:t>Ссылка на метод класса через объект </a:t>
            </a:r>
            <a:r>
              <a:rPr lang="ru-RU" sz="3800" b="1" dirty="0" err="1"/>
              <a:t>имя_класса</a:t>
            </a:r>
            <a:r>
              <a:rPr lang="ru-RU" sz="3800" b="1" dirty="0"/>
              <a:t>::</a:t>
            </a:r>
            <a:r>
              <a:rPr lang="ru-RU" sz="3800" b="1" dirty="0" err="1"/>
              <a:t>имя_метода</a:t>
            </a:r>
            <a:endParaRPr lang="ru-RU" sz="3800" dirty="0"/>
          </a:p>
          <a:p>
            <a:pPr marL="361950" indent="0"/>
            <a:r>
              <a:rPr lang="ru-RU" sz="3800" dirty="0"/>
              <a:t>Ссылка на конструктор </a:t>
            </a:r>
          </a:p>
          <a:p>
            <a:pPr marL="361950" indent="0">
              <a:buNone/>
            </a:pPr>
            <a:r>
              <a:rPr lang="ru-RU" sz="3800" b="1" dirty="0" err="1"/>
              <a:t>имя_класса</a:t>
            </a:r>
            <a:r>
              <a:rPr lang="ru-RU" sz="3800" b="1" dirty="0"/>
              <a:t>::</a:t>
            </a:r>
            <a:r>
              <a:rPr lang="en-US" sz="3800" b="1" dirty="0"/>
              <a:t>new</a:t>
            </a:r>
            <a:endParaRPr lang="ru-RU" sz="3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009EC-D242-45E0-884D-396D85A9C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0401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86A25-CAA7-415E-A85F-F82AA328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Встроенные функциональные интерфейсы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657E8-831C-46AB-8F34-F1D5F2CC4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1600" b="1" dirty="0" err="1"/>
              <a:t>Predicate</a:t>
            </a:r>
            <a:r>
              <a:rPr lang="ru-RU" sz="1600" b="1" dirty="0"/>
              <a:t>&lt;T&gt;</a:t>
            </a:r>
            <a:r>
              <a:rPr lang="ru-RU" sz="1600" b="1" i="1" dirty="0"/>
              <a:t> </a:t>
            </a:r>
            <a:r>
              <a:rPr lang="ru-RU" sz="1600" b="1" dirty="0"/>
              <a:t>— проверка условий</a:t>
            </a:r>
          </a:p>
          <a:p>
            <a:pPr marL="0" indent="0">
              <a:buNone/>
            </a:pPr>
            <a:r>
              <a:rPr lang="ru-RU" sz="1600" dirty="0"/>
              <a:t> Принимает аргумент типа T и возвращает логическое значение. Обычно используется для фильтрации данных.</a:t>
            </a:r>
            <a:endParaRPr lang="en-US" sz="1600" dirty="0"/>
          </a:p>
          <a:p>
            <a:r>
              <a:rPr lang="ru-RU" sz="1600" b="1" dirty="0" err="1"/>
              <a:t>Function</a:t>
            </a:r>
            <a:r>
              <a:rPr lang="ru-RU" sz="1600" b="1" dirty="0"/>
              <a:t>&lt;T, R&gt;</a:t>
            </a:r>
            <a:r>
              <a:rPr lang="ru-RU" sz="1600" dirty="0"/>
              <a:t>  </a:t>
            </a:r>
            <a:r>
              <a:rPr lang="ru-RU" sz="1600" b="1" dirty="0"/>
              <a:t>— преобразование значений</a:t>
            </a:r>
          </a:p>
          <a:p>
            <a:pPr marL="0" indent="0">
              <a:buNone/>
            </a:pPr>
            <a:r>
              <a:rPr lang="ru-RU" sz="1600" dirty="0"/>
              <a:t> Принимает аргумент типа T и возвращает результат типа R. Часто используется для преобразования данных. </a:t>
            </a:r>
          </a:p>
          <a:p>
            <a:r>
              <a:rPr lang="ru-RU" sz="1600" b="1" dirty="0" err="1"/>
              <a:t>Consumer</a:t>
            </a:r>
            <a:r>
              <a:rPr lang="ru-RU" sz="1600" b="1" dirty="0"/>
              <a:t>&lt;T&gt;</a:t>
            </a:r>
            <a:r>
              <a:rPr lang="ru-RU" sz="1600" b="1" i="1" dirty="0"/>
              <a:t>  </a:t>
            </a:r>
            <a:r>
              <a:rPr lang="ru-RU" sz="1600" b="1" dirty="0"/>
              <a:t>— выполнение действий без возврата</a:t>
            </a:r>
          </a:p>
          <a:p>
            <a:pPr marL="0" indent="0">
              <a:buNone/>
            </a:pPr>
            <a:r>
              <a:rPr lang="ru-RU" sz="1600" dirty="0"/>
              <a:t> Принимает аргумент типа T и не возвращает результат (</a:t>
            </a:r>
            <a:r>
              <a:rPr lang="ru-RU" sz="1600" dirty="0" err="1"/>
              <a:t>void</a:t>
            </a:r>
            <a:r>
              <a:rPr lang="ru-RU" sz="1600" dirty="0"/>
              <a:t>). Обычно используется для выполнения действий над объектами.</a:t>
            </a:r>
          </a:p>
          <a:p>
            <a:r>
              <a:rPr lang="ru-RU" sz="1600" b="1" dirty="0" err="1"/>
              <a:t>Supplier</a:t>
            </a:r>
            <a:r>
              <a:rPr lang="ru-RU" sz="1600" b="1" dirty="0"/>
              <a:t>&lt;T&gt;</a:t>
            </a:r>
            <a:r>
              <a:rPr lang="ru-RU" sz="1600" b="1" i="1" dirty="0"/>
              <a:t> </a:t>
            </a:r>
            <a:r>
              <a:rPr lang="ru-RU" sz="1600" b="1" dirty="0"/>
              <a:t>— генерация значений</a:t>
            </a:r>
            <a:endParaRPr lang="ru-RU" sz="1800" b="1" dirty="0"/>
          </a:p>
          <a:p>
            <a:pPr marL="0" indent="0">
              <a:buNone/>
            </a:pPr>
            <a:r>
              <a:rPr lang="ru-RU" sz="1600" dirty="0"/>
              <a:t>Представляет поставщика (</a:t>
            </a:r>
            <a:r>
              <a:rPr lang="ru-RU" sz="1600" dirty="0" err="1"/>
              <a:t>supplier</a:t>
            </a:r>
            <a:r>
              <a:rPr lang="ru-RU" sz="1600" dirty="0"/>
              <a:t>) результатов без входных аргументов.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F2FA5-270C-47B9-BEAB-0998773A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13</a:t>
            </a:fld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8A087F-5CF8-4D25-AA81-1A7C532018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0862"/>
          <a:stretch/>
        </p:blipFill>
        <p:spPr>
          <a:xfrm>
            <a:off x="3219424" y="2076864"/>
            <a:ext cx="5467376" cy="2111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6AC0CD-AE58-4F49-B62B-A1CA816A1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0810" y="2895078"/>
            <a:ext cx="4835990" cy="2111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365179-B3C5-474B-9F6C-8B68C54A2B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9672" y="3736125"/>
            <a:ext cx="4367128" cy="2286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D200FC-82DD-46C2-A6A9-6315F36122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9581" y="4594621"/>
            <a:ext cx="5097219" cy="2111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80326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054"/>
            <a:ext cx="8229600" cy="857250"/>
          </a:xfrm>
        </p:spPr>
        <p:txBody>
          <a:bodyPr>
            <a:normAutofit/>
          </a:bodyPr>
          <a:lstStyle/>
          <a:p>
            <a:r>
              <a:rPr lang="ru-RU" dirty="0"/>
              <a:t>Лямбда-выражения и </a:t>
            </a:r>
            <a:r>
              <a:rPr lang="en-US" dirty="0"/>
              <a:t>Stream API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14</a:t>
            </a:fld>
            <a:endParaRPr lang="ru-RU"/>
          </a:p>
        </p:txBody>
      </p:sp>
      <p:sp>
        <p:nvSpPr>
          <p:cNvPr id="16" name="Подзаголовок 6">
            <a:extLst>
              <a:ext uri="{FF2B5EF4-FFF2-40B4-BE49-F238E27FC236}">
                <a16:creationId xmlns:a16="http://schemas.microsoft.com/office/drawing/2014/main" id="{F8E89ABA-374F-4401-8445-7A09744BF987}"/>
              </a:ext>
            </a:extLst>
          </p:cNvPr>
          <p:cNvSpPr txBox="1">
            <a:spLocks/>
          </p:cNvSpPr>
          <p:nvPr/>
        </p:nvSpPr>
        <p:spPr>
          <a:xfrm>
            <a:off x="467404" y="1545193"/>
            <a:ext cx="5184716" cy="13144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1800" dirty="0">
                <a:cs typeface="Times New Roman" panose="02020603050405020304" pitchFamily="18" charset="0"/>
              </a:rPr>
              <a:t>В JDK 8 добавлен новый пакет </a:t>
            </a:r>
            <a:r>
              <a:rPr lang="ru-RU" sz="1800" dirty="0" err="1">
                <a:cs typeface="Times New Roman" panose="02020603050405020304" pitchFamily="18" charset="0"/>
              </a:rPr>
              <a:t>java.util.stream</a:t>
            </a:r>
            <a:r>
              <a:rPr lang="ru-RU" sz="1800" dirty="0">
                <a:cs typeface="Times New Roman" panose="02020603050405020304" pitchFamily="18" charset="0"/>
              </a:rPr>
              <a:t>, который содержит </a:t>
            </a:r>
            <a:r>
              <a:rPr lang="en-US" sz="1800" dirty="0">
                <a:cs typeface="Times New Roman" panose="02020603050405020304" pitchFamily="18" charset="0"/>
              </a:rPr>
              <a:t>Stream API</a:t>
            </a:r>
          </a:p>
          <a:p>
            <a:pPr algn="just"/>
            <a:r>
              <a:rPr lang="ru-RU" sz="1800" dirty="0" err="1"/>
              <a:t>Stream</a:t>
            </a:r>
            <a:r>
              <a:rPr lang="ru-RU" sz="1800" dirty="0"/>
              <a:t> API обеспечивает абстракцию высокого уровня для обработки последовательностей элементов, включая массивы, коллекции или ресурсы ввода-вывода.</a:t>
            </a:r>
          </a:p>
          <a:p>
            <a:pPr algn="just"/>
            <a:endParaRPr lang="ru-RU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C2B3C-B53C-4187-B850-0F8068A7C327}"/>
              </a:ext>
            </a:extLst>
          </p:cNvPr>
          <p:cNvSpPr txBox="1"/>
          <p:nvPr/>
        </p:nvSpPr>
        <p:spPr>
          <a:xfrm>
            <a:off x="467404" y="336383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Stream</a:t>
            </a:r>
            <a:r>
              <a:rPr lang="ru-RU" dirty="0"/>
              <a:t> API предназначен для поддержки операций функционального стиля, где лямбда-выражения играют ключевую роль.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A445E4-93EC-4902-BDA8-DC2AF21581A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72200" y="1549437"/>
            <a:ext cx="1966377" cy="163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682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ABB59-0321-4CB9-BC94-56B608D71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API</a:t>
            </a:r>
            <a:endParaRPr lang="ru-R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8466BA2-0F0E-46F6-ACFC-467D9DB47F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591081"/>
            <a:ext cx="3538736" cy="3365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BBFE7-B046-438B-B436-3453A75CA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15</a:t>
            </a:fld>
            <a:endParaRPr lang="ru-R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72841D-4EF0-47EC-BD60-506CA2A55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6142" y="1591081"/>
            <a:ext cx="3960658" cy="15792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52618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2BDC9-AD19-498D-8827-BB1871525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Основы </a:t>
            </a:r>
            <a:r>
              <a:rPr lang="en-US" dirty="0"/>
              <a:t>Stream API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FF211-2C81-4042-B245-B0EB54D74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41"/>
            <a:ext cx="8229600" cy="9989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Stream API </a:t>
            </a:r>
            <a:r>
              <a:rPr lang="ru-RU" dirty="0"/>
              <a:t>решает задачи, которые можно описать следующим шаблоном: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132B9-5A23-4766-88A6-6F20B05E2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16</a:t>
            </a:fld>
            <a:endParaRPr lang="ru-RU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0A2475F-C5DF-4A98-AE52-41084EE9FC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5175912"/>
              </p:ext>
            </p:extLst>
          </p:nvPr>
        </p:nvGraphicFramePr>
        <p:xfrm>
          <a:off x="1151620" y="2182800"/>
          <a:ext cx="6840760" cy="28293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3916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66F48-25B1-4C7E-88CC-7F7D0C715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для </a:t>
            </a:r>
            <a:r>
              <a:rPr lang="en-US" dirty="0"/>
              <a:t>Stream API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5A334-DC03-45AF-8974-74671C4AF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17</a:t>
            </a:fld>
            <a:endParaRPr lang="ru-RU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F00C250-7A4C-4941-A8D1-D64E412D69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7443" y="1601789"/>
            <a:ext cx="2912430" cy="290788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8047BF4-374D-4247-BBBF-3D6064CB3EBD}"/>
              </a:ext>
            </a:extLst>
          </p:cNvPr>
          <p:cNvSpPr/>
          <p:nvPr/>
        </p:nvSpPr>
        <p:spPr>
          <a:xfrm>
            <a:off x="3657662" y="1601789"/>
            <a:ext cx="5162810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900" b="1" dirty="0"/>
              <a:t>Источник данных </a:t>
            </a:r>
            <a:r>
              <a:rPr lang="ru-RU" sz="1900" dirty="0"/>
              <a:t>— множество различных морских существ. </a:t>
            </a:r>
          </a:p>
          <a:p>
            <a:r>
              <a:rPr lang="ru-RU" sz="1900" b="1" dirty="0"/>
              <a:t>Выполнение преобразований</a:t>
            </a:r>
            <a:r>
              <a:rPr lang="ru-RU" sz="1900" dirty="0"/>
              <a:t>  - отбор только нужных видов рыб из всего улова, исключая ненужные виды, и процесс упаковки рыбы в контейнеры. Этот шаг трансформирует элементы (рыба) в другой вид данных — “упаковка”</a:t>
            </a:r>
            <a:endParaRPr lang="ru-RU" sz="1900" b="1" dirty="0"/>
          </a:p>
          <a:p>
            <a:r>
              <a:rPr lang="ru-RU" sz="1900" b="1" dirty="0"/>
              <a:t>Сохранение результата – </a:t>
            </a:r>
            <a:r>
              <a:rPr lang="ru-RU" sz="1900" dirty="0"/>
              <a:t>погрузка упаковок в грузовик</a:t>
            </a:r>
          </a:p>
        </p:txBody>
      </p:sp>
    </p:spTree>
    <p:extLst>
      <p:ext uri="{BB962C8B-B14F-4D97-AF65-F5344CB8AC3E}">
        <p14:creationId xmlns:p14="http://schemas.microsoft.com/office/powerpoint/2010/main" val="918131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18838-3658-4300-99C6-0DC7873DD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Компоненты </a:t>
            </a:r>
            <a:r>
              <a:rPr lang="en-US" dirty="0"/>
              <a:t>Stream API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27F5B-53C1-4315-8F90-C4D4538F8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41"/>
            <a:ext cx="4618856" cy="3165881"/>
          </a:xfrm>
        </p:spPr>
        <p:txBody>
          <a:bodyPr>
            <a:normAutofit fontScale="40000" lnSpcReduction="20000"/>
          </a:bodyPr>
          <a:lstStyle/>
          <a:p>
            <a:r>
              <a:rPr lang="ru-RU" b="1" dirty="0"/>
              <a:t>Источник (</a:t>
            </a:r>
            <a:r>
              <a:rPr lang="ru-RU" b="1" dirty="0" err="1"/>
              <a:t>Source</a:t>
            </a:r>
            <a:r>
              <a:rPr lang="ru-RU" b="1" dirty="0"/>
              <a:t>) </a:t>
            </a:r>
            <a:r>
              <a:rPr lang="ru-RU" dirty="0"/>
              <a:t>- это место, откуда поступают данные для обработки. Источником может быть коллекция, массив, строка, файл, генератор или другой источник данных.</a:t>
            </a:r>
          </a:p>
          <a:p>
            <a:r>
              <a:rPr lang="ru-RU" b="1" dirty="0"/>
              <a:t>Операции (</a:t>
            </a:r>
            <a:r>
              <a:rPr lang="ru-RU" b="1" dirty="0" err="1"/>
              <a:t>Operations</a:t>
            </a:r>
            <a:r>
              <a:rPr lang="ru-RU" b="1" dirty="0"/>
              <a:t>)</a:t>
            </a:r>
            <a:r>
              <a:rPr lang="ru-RU" dirty="0"/>
              <a:t> — преобразования и/или манипуляции над данными в потоке, которые делятся на промежуточные и терминальные.</a:t>
            </a:r>
          </a:p>
          <a:p>
            <a:r>
              <a:rPr lang="ru-RU" b="1" dirty="0"/>
              <a:t>Поток (</a:t>
            </a:r>
            <a:r>
              <a:rPr lang="ru-RU" b="1" dirty="0" err="1"/>
              <a:t>Stream</a:t>
            </a:r>
            <a:r>
              <a:rPr lang="ru-RU" b="1" dirty="0"/>
              <a:t>)</a:t>
            </a:r>
            <a:r>
              <a:rPr lang="ru-RU" dirty="0"/>
              <a:t> - последовательность элементов, которая подлежит обработке. Он может обрабатываться как в однопоточном, так и в многопоточном режиме.</a:t>
            </a:r>
          </a:p>
          <a:p>
            <a:r>
              <a:rPr lang="ru-RU" b="1" dirty="0" err="1"/>
              <a:t>Пайплайн</a:t>
            </a:r>
            <a:r>
              <a:rPr lang="ru-RU" b="1" dirty="0"/>
              <a:t> (</a:t>
            </a:r>
            <a:r>
              <a:rPr lang="ru-RU" b="1" dirty="0" err="1"/>
              <a:t>Pipeline</a:t>
            </a:r>
            <a:r>
              <a:rPr lang="ru-RU" b="1" dirty="0"/>
              <a:t>) </a:t>
            </a:r>
            <a:r>
              <a:rPr lang="ru-RU" dirty="0"/>
              <a:t>- цепочка промежуточных операций, которая применяется к данным, образуя последовательность преобразований.</a:t>
            </a:r>
          </a:p>
          <a:p>
            <a:r>
              <a:rPr lang="ru-RU" b="1" dirty="0"/>
              <a:t>Терминал (</a:t>
            </a:r>
            <a:r>
              <a:rPr lang="ru-RU" b="1" dirty="0" err="1"/>
              <a:t>Terminal</a:t>
            </a:r>
            <a:r>
              <a:rPr lang="ru-RU" b="1" dirty="0"/>
              <a:t>) </a:t>
            </a:r>
            <a:r>
              <a:rPr lang="ru-RU" dirty="0"/>
              <a:t>- завершающая операция, после которой поток закрывается, а данные выводятся или преобразуются в конечную структуру.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17C7E-8A31-49EF-BFE2-5DB829F2D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18</a:t>
            </a:fld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8C3980-B2FA-40B5-90C6-F8D675331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72" y="1749889"/>
            <a:ext cx="3548849" cy="23581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67349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4C1BC-1A6F-444C-8082-57583D034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 данных для потоков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281D8-BAA0-4235-8092-43D741FC6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42"/>
            <a:ext cx="8229600" cy="92381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 err="1"/>
              <a:t>Stream</a:t>
            </a:r>
            <a:r>
              <a:rPr lang="ru-RU" dirty="0"/>
              <a:t> API поддерживает множество типов источников данных. Поток может быть создан из коллекций, массивов, строк, файлов и других структур: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FBC12-526F-4FE9-B692-3D4B0AB12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19</a:t>
            </a:fld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558B46-5FEB-4343-AE60-5046DE29E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940" y="2682039"/>
            <a:ext cx="4896544" cy="4730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E059AC-0758-43AA-9E83-0F81DB51F3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940" y="3843251"/>
            <a:ext cx="4608511" cy="4774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DF0D8A-81D2-4E16-B837-EA2E8AF835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0112" y="3780335"/>
            <a:ext cx="3375210" cy="3110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B42B12-68B5-4C01-BEFA-4F91AE023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0112" y="3015997"/>
            <a:ext cx="3444441" cy="5089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8334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B9C92-E873-4294-9B9E-8606D326D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</a:t>
            </a:r>
            <a:r>
              <a:rPr lang="ru-RU" dirty="0" err="1"/>
              <a:t>стримов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A58D3-748C-4DB4-8D7C-775BA8B84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Генерирование</a:t>
            </a:r>
          </a:p>
          <a:p>
            <a:pPr marL="0" indent="0">
              <a:buNone/>
            </a:pPr>
            <a:r>
              <a:rPr lang="ru-RU" sz="2000" dirty="0"/>
              <a:t>Поток можно также создать с помощью метода </a:t>
            </a:r>
            <a:r>
              <a:rPr lang="ru-RU" sz="2000" b="1" dirty="0" err="1"/>
              <a:t>Stream.generate</a:t>
            </a:r>
            <a:r>
              <a:rPr lang="ru-RU" sz="2000" b="1" dirty="0"/>
              <a:t>()</a:t>
            </a:r>
            <a:r>
              <a:rPr lang="ru-RU" sz="2000" dirty="0"/>
              <a:t>, который использует интерфейс </a:t>
            </a:r>
            <a:r>
              <a:rPr lang="ru-RU" sz="2000" b="1" dirty="0" err="1"/>
              <a:t>Supplier</a:t>
            </a:r>
            <a:r>
              <a:rPr lang="en-US" sz="2000" dirty="0"/>
              <a:t>. </a:t>
            </a:r>
            <a:r>
              <a:rPr lang="ru-RU" sz="2000" dirty="0"/>
              <a:t>При каждом вызове </a:t>
            </a:r>
            <a:r>
              <a:rPr lang="ru-RU" sz="2000" dirty="0" err="1"/>
              <a:t>Supplier</a:t>
            </a:r>
            <a:r>
              <a:rPr lang="ru-RU" sz="2000" dirty="0"/>
              <a:t> возвращает новое значение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ru-RU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Билдер</a:t>
            </a:r>
            <a:endParaRPr lang="ru-RU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ru-RU" sz="2000" dirty="0"/>
              <a:t>Для более гибкого создания потока можно использовать </a:t>
            </a:r>
            <a:r>
              <a:rPr lang="ru-RU" sz="2000" b="1" dirty="0" err="1"/>
              <a:t>Stream.Builder</a:t>
            </a:r>
            <a:r>
              <a:rPr lang="ru-RU" sz="2000" dirty="0"/>
              <a:t>. Он позволяет поэтапно добавлять элементы в поток, а затем создать поток с помощью метода </a:t>
            </a:r>
            <a:r>
              <a:rPr lang="ru-RU" sz="2000" b="1" dirty="0" err="1"/>
              <a:t>build</a:t>
            </a:r>
            <a:r>
              <a:rPr lang="ru-RU" sz="2000" dirty="0"/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A4D7E-B5DC-47DC-9744-E2D62A536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20</a:t>
            </a:fld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9821F3-FB62-4A21-A6D2-B7ED3A839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996" y="2787774"/>
            <a:ext cx="6923112" cy="3398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C48A37-1F06-4F4C-B647-6FF154531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0223" y="4020987"/>
            <a:ext cx="3953739" cy="10741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06944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98315-6A68-4198-84B5-23B119E5F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над потоком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DA103-D3F7-4C37-86DC-48D0785B2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41"/>
            <a:ext cx="5338936" cy="316588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/>
              <a:t>Операции </a:t>
            </a:r>
            <a:r>
              <a:rPr lang="ru-RU" dirty="0" err="1"/>
              <a:t>Stream</a:t>
            </a:r>
            <a:r>
              <a:rPr lang="ru-RU" dirty="0"/>
              <a:t> API можно разделить на два типа: </a:t>
            </a:r>
          </a:p>
          <a:p>
            <a:r>
              <a:rPr lang="ru-RU" b="1" dirty="0"/>
              <a:t>Промежуточные</a:t>
            </a:r>
            <a:r>
              <a:rPr lang="ru-RU" dirty="0"/>
              <a:t> - операции описываются декларативно, часто с помощью лямбда-выражений, возвращают новый поток, что позволяет строить “цепочки” операций (</a:t>
            </a:r>
            <a:r>
              <a:rPr lang="ru-RU" dirty="0" err="1"/>
              <a:t>pipeline</a:t>
            </a:r>
            <a:r>
              <a:rPr lang="ru-RU" dirty="0"/>
              <a:t>). Промежуточные операции не должны хранить какое-либо состояние и не должны вызывать побочных эффектов.</a:t>
            </a:r>
          </a:p>
          <a:p>
            <a:r>
              <a:rPr lang="ru-RU" b="1" dirty="0"/>
              <a:t>Терминальные - </a:t>
            </a:r>
            <a:r>
              <a:rPr lang="ru-RU" dirty="0"/>
              <a:t>завершают обработку потока и возвращают результат. После вызова терминальной операции поток больше нельзя использовать повторно</a:t>
            </a:r>
            <a:endParaRPr lang="ru-RU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FDE83-8670-42E2-9D55-8B34BF3D3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56B64-91C8-41B1-A95F-CA02CF4777DA}"/>
              </a:ext>
            </a:extLst>
          </p:cNvPr>
          <p:cNvSpPr/>
          <p:nvPr/>
        </p:nvSpPr>
        <p:spPr>
          <a:xfrm>
            <a:off x="5940152" y="1428741"/>
            <a:ext cx="2952328" cy="1978010"/>
          </a:xfrm>
          <a:prstGeom prst="rect">
            <a:avLst/>
          </a:prstGeom>
          <a:gradFill>
            <a:gsLst>
              <a:gs pos="0">
                <a:schemeClr val="accent6">
                  <a:shade val="51000"/>
                  <a:satMod val="130000"/>
                  <a:alpha val="8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108000" tIns="144000" rIns="108000" bIns="108000">
            <a:spAutoFit/>
          </a:bodyPr>
          <a:lstStyle/>
          <a:p>
            <a:pPr algn="ctr">
              <a:tabLst>
                <a:tab pos="2420938" algn="l"/>
              </a:tabLst>
            </a:pPr>
            <a:r>
              <a:rPr lang="ru-RU" sz="1600" dirty="0"/>
              <a:t>Именно терминальная операция запускает выполнение потока. После ее вызова происходит анализ операций в </a:t>
            </a:r>
            <a:r>
              <a:rPr lang="ru-RU" sz="1600" dirty="0" err="1"/>
              <a:t>пайплайне</a:t>
            </a:r>
            <a:r>
              <a:rPr lang="ru-RU" sz="1600" dirty="0"/>
              <a:t>, и определяется эффективная стратегия его выполнения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4F21C9-4FED-417A-843A-D3130C97FA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96" t="5105" r="2971" b="8998"/>
          <a:stretch/>
        </p:blipFill>
        <p:spPr>
          <a:xfrm>
            <a:off x="5900592" y="3603755"/>
            <a:ext cx="2952327" cy="1176143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483026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0526-459B-4786-9D87-1A8F382AD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Промежуточные методы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7BE20-3687-4EB5-BCE4-045DC05B3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filter(Predicate)</a:t>
            </a:r>
            <a:r>
              <a:rPr lang="en-US" dirty="0"/>
              <a:t> - </a:t>
            </a:r>
            <a:r>
              <a:rPr lang="ru-RU" dirty="0"/>
              <a:t>используется для создания нового потока, который содержит только те элементы, которые удовлетворяют определённому условию, заданного с помощью </a:t>
            </a:r>
            <a:r>
              <a:rPr lang="en-US" b="1" i="1" dirty="0"/>
              <a:t>Predicate</a:t>
            </a:r>
            <a:endParaRPr lang="ru-RU" b="1" i="1" dirty="0"/>
          </a:p>
          <a:p>
            <a:r>
              <a:rPr lang="en-US" b="1" dirty="0"/>
              <a:t>map(Function) </a:t>
            </a:r>
            <a:r>
              <a:rPr lang="en-US" dirty="0"/>
              <a:t>- </a:t>
            </a:r>
            <a:r>
              <a:rPr lang="ru-RU" dirty="0"/>
              <a:t>преобразует каждый элемент потока с помощью функции, переданной в виде лямбда-выражения или ссылки на метод</a:t>
            </a:r>
            <a:endParaRPr lang="en-US" dirty="0"/>
          </a:p>
          <a:p>
            <a:r>
              <a:rPr lang="en-US" b="1" dirty="0" err="1"/>
              <a:t>flatMap</a:t>
            </a:r>
            <a:r>
              <a:rPr lang="en-US" b="1" dirty="0"/>
              <a:t>()</a:t>
            </a:r>
            <a:r>
              <a:rPr lang="en-US" dirty="0"/>
              <a:t> - </a:t>
            </a:r>
            <a:r>
              <a:rPr lang="ru-RU" dirty="0"/>
              <a:t>преобразует каждый элемент потока в поток и “разворачивает” все потоки в один общий поток</a:t>
            </a:r>
          </a:p>
          <a:p>
            <a:r>
              <a:rPr lang="en-US" b="1" dirty="0"/>
              <a:t>distinct()</a:t>
            </a:r>
            <a:r>
              <a:rPr lang="ru-RU" b="1" dirty="0"/>
              <a:t> </a:t>
            </a:r>
            <a:r>
              <a:rPr lang="ru-RU" dirty="0"/>
              <a:t>- возвращает новый поток, содержащий только уникальные на основе </a:t>
            </a:r>
            <a:r>
              <a:rPr lang="en-US" b="1" i="1" dirty="0"/>
              <a:t>equals()</a:t>
            </a:r>
            <a:r>
              <a:rPr lang="ru-RU" b="1" i="1" dirty="0"/>
              <a:t> </a:t>
            </a:r>
            <a:r>
              <a:rPr lang="ru-RU" dirty="0"/>
              <a:t>элементы исходного потока</a:t>
            </a:r>
          </a:p>
          <a:p>
            <a:r>
              <a:rPr lang="en-US" b="1" dirty="0"/>
              <a:t>limit(n)</a:t>
            </a:r>
            <a:r>
              <a:rPr lang="ru-RU" b="1" dirty="0"/>
              <a:t> </a:t>
            </a:r>
            <a:r>
              <a:rPr lang="ru-RU" dirty="0"/>
              <a:t>-  возвращает новый поток, содержащий не более </a:t>
            </a:r>
            <a:r>
              <a:rPr lang="ru-RU" b="1" i="1" dirty="0"/>
              <a:t>n</a:t>
            </a:r>
            <a:r>
              <a:rPr lang="ru-RU" dirty="0"/>
              <a:t> элементов исходного потока</a:t>
            </a:r>
            <a:endParaRPr lang="en-US" dirty="0"/>
          </a:p>
          <a:p>
            <a:endParaRPr lang="en-US" dirty="0"/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3BAF9-1142-4652-B9DE-0312BF52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91721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0526-459B-4786-9D87-1A8F382AD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Промежуточные методы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7BE20-3687-4EB5-BCE4-045DC05B3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ru-RU" sz="3800" b="1" dirty="0" err="1"/>
              <a:t>skip</a:t>
            </a:r>
            <a:r>
              <a:rPr lang="ru-RU" sz="3800" b="1" dirty="0"/>
              <a:t>(n) </a:t>
            </a:r>
            <a:r>
              <a:rPr lang="ru-RU" sz="3800" dirty="0"/>
              <a:t>возвращает новый поток, исключающий первые n элементов исходного потока</a:t>
            </a:r>
          </a:p>
          <a:p>
            <a:r>
              <a:rPr lang="ru-RU" sz="3800" b="1" dirty="0" err="1"/>
              <a:t>sorted</a:t>
            </a:r>
            <a:r>
              <a:rPr lang="ru-RU" sz="3800" b="1" dirty="0"/>
              <a:t>() </a:t>
            </a:r>
            <a:r>
              <a:rPr lang="ru-RU" sz="3800" dirty="0"/>
              <a:t>создает новый поток, содержащий элементы исходного потока, отсортированные в естественном порядке из </a:t>
            </a:r>
            <a:r>
              <a:rPr lang="ru-RU" sz="3800" b="1" i="1" dirty="0" err="1"/>
              <a:t>Comparable</a:t>
            </a:r>
            <a:r>
              <a:rPr lang="ru-RU" sz="3800" dirty="0"/>
              <a:t>, либо в порядке, заданном переданным компаратором</a:t>
            </a:r>
          </a:p>
          <a:p>
            <a:r>
              <a:rPr lang="ru-RU" sz="3800" b="1" dirty="0" err="1"/>
              <a:t>takeWhile</a:t>
            </a:r>
            <a:r>
              <a:rPr lang="ru-RU" sz="3800" b="1" dirty="0"/>
              <a:t>(</a:t>
            </a:r>
            <a:r>
              <a:rPr lang="ru-RU" sz="3800" b="1" dirty="0" err="1"/>
              <a:t>Predicate</a:t>
            </a:r>
            <a:r>
              <a:rPr lang="ru-RU" sz="3800" b="1" dirty="0"/>
              <a:t>) </a:t>
            </a:r>
            <a:r>
              <a:rPr lang="ru-RU" sz="3800" dirty="0"/>
              <a:t>создает новый поток, который включает элементы исходного потока до тех пор, пока они удовлетворяют указанному условию </a:t>
            </a:r>
            <a:r>
              <a:rPr lang="ru-RU" sz="3800" b="1" i="1" dirty="0" err="1"/>
              <a:t>Predicate</a:t>
            </a:r>
            <a:endParaRPr lang="ru-RU" sz="3800" b="1" i="1" dirty="0"/>
          </a:p>
          <a:p>
            <a:r>
              <a:rPr lang="ru-RU" sz="3800" b="1" dirty="0" err="1"/>
              <a:t>dropWhile</a:t>
            </a:r>
            <a:r>
              <a:rPr lang="ru-RU" sz="3800" b="1" dirty="0"/>
              <a:t>(</a:t>
            </a:r>
            <a:r>
              <a:rPr lang="ru-RU" sz="3800" b="1" dirty="0" err="1"/>
              <a:t>Predicate</a:t>
            </a:r>
            <a:r>
              <a:rPr lang="ru-RU" sz="3800" b="1" dirty="0"/>
              <a:t>)</a:t>
            </a:r>
            <a:r>
              <a:rPr lang="ru-RU" sz="3800" b="1" i="1" dirty="0"/>
              <a:t> </a:t>
            </a:r>
            <a:r>
              <a:rPr lang="ru-RU" sz="3800" dirty="0"/>
              <a:t>возвращает новый поток, исключающий все элементы исходного потока, которые удовлетворяют указанному условию </a:t>
            </a:r>
            <a:r>
              <a:rPr lang="ru-RU" sz="3800" b="1" i="1" dirty="0" err="1"/>
              <a:t>Predicate</a:t>
            </a:r>
            <a:r>
              <a:rPr lang="ru-RU" sz="3800" dirty="0"/>
              <a:t>, до тех пор, пока не встретится элемент, не соответствующий условию</a:t>
            </a:r>
          </a:p>
          <a:p>
            <a:r>
              <a:rPr lang="ru-RU" sz="3800" b="1" dirty="0" err="1"/>
              <a:t>peek</a:t>
            </a:r>
            <a:r>
              <a:rPr lang="ru-RU" sz="3800" b="1" dirty="0"/>
              <a:t>() </a:t>
            </a:r>
            <a:r>
              <a:rPr lang="ru-RU" sz="3800" dirty="0"/>
              <a:t>позволяет добавить промежуточную операцию в поток, которая выполняет действия над каждым элементом, не изменяя сам поток. </a:t>
            </a:r>
            <a:endParaRPr lang="ru-RU" b="1" i="1" dirty="0"/>
          </a:p>
          <a:p>
            <a:endParaRPr lang="ru-RU" b="1" i="1" dirty="0"/>
          </a:p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3BAF9-1142-4652-B9DE-0312BF52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0595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AFCA0-250A-4C4F-9DF5-315A341A4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Терминальные методы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963C5-132F-49A1-B264-093B6B175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5003"/>
            <a:ext cx="8363272" cy="3338522"/>
          </a:xfrm>
        </p:spPr>
        <p:txBody>
          <a:bodyPr>
            <a:noAutofit/>
          </a:bodyPr>
          <a:lstStyle/>
          <a:p>
            <a:r>
              <a:rPr lang="en-US" sz="1700" b="1" dirty="0" err="1"/>
              <a:t>forEach</a:t>
            </a:r>
            <a:r>
              <a:rPr lang="en-US" sz="1700" b="1" dirty="0"/>
              <a:t>(Consumer)</a:t>
            </a:r>
            <a:r>
              <a:rPr lang="ru-RU" sz="1700" b="1" dirty="0"/>
              <a:t> </a:t>
            </a:r>
            <a:r>
              <a:rPr lang="ru-RU" sz="1700" dirty="0"/>
              <a:t>- применяет переданную функцию (объект интерфейса </a:t>
            </a:r>
            <a:r>
              <a:rPr lang="ru-RU" sz="1700" b="1" i="1" dirty="0" err="1"/>
              <a:t>Consumer</a:t>
            </a:r>
            <a:r>
              <a:rPr lang="ru-RU" sz="1700" dirty="0"/>
              <a:t>) к каждому элементу потока</a:t>
            </a:r>
          </a:p>
          <a:p>
            <a:r>
              <a:rPr lang="ru-RU" sz="1700" b="1" dirty="0"/>
              <a:t>с</a:t>
            </a:r>
            <a:r>
              <a:rPr lang="en-US" sz="1700" b="1" dirty="0" err="1"/>
              <a:t>ollect</a:t>
            </a:r>
            <a:r>
              <a:rPr lang="en-US" sz="1700" b="1" dirty="0"/>
              <a:t>(Collector)</a:t>
            </a:r>
            <a:r>
              <a:rPr lang="ru-RU" sz="1700" dirty="0"/>
              <a:t> - преобразует элементы потока в определённую структуру данных (например, </a:t>
            </a:r>
            <a:r>
              <a:rPr lang="ru-RU" sz="1700" b="1" i="1" dirty="0" err="1"/>
              <a:t>List</a:t>
            </a:r>
            <a:r>
              <a:rPr lang="ru-RU" sz="1700" b="1" i="1" dirty="0"/>
              <a:t>, </a:t>
            </a:r>
            <a:r>
              <a:rPr lang="ru-RU" sz="1700" b="1" i="1" dirty="0" err="1"/>
              <a:t>Set</a:t>
            </a:r>
            <a:r>
              <a:rPr lang="ru-RU" sz="1700" b="1" i="1" dirty="0"/>
              <a:t>, </a:t>
            </a:r>
            <a:r>
              <a:rPr lang="ru-RU" sz="1700" b="1" i="1" dirty="0" err="1"/>
              <a:t>Map</a:t>
            </a:r>
            <a:r>
              <a:rPr lang="ru-RU" sz="1700" dirty="0"/>
              <a:t>), строку или агрегированное значение</a:t>
            </a:r>
          </a:p>
          <a:p>
            <a:r>
              <a:rPr lang="en-US" sz="1700" b="1" dirty="0"/>
              <a:t>Optional&lt;T&gt;</a:t>
            </a:r>
            <a:r>
              <a:rPr lang="ru-RU" sz="1700" b="1" dirty="0"/>
              <a:t> </a:t>
            </a:r>
            <a:r>
              <a:rPr lang="en-US" sz="1700" b="1" dirty="0" err="1"/>
              <a:t>findFirst</a:t>
            </a:r>
            <a:r>
              <a:rPr lang="en-US" sz="1700" b="1" dirty="0"/>
              <a:t>()</a:t>
            </a:r>
            <a:r>
              <a:rPr lang="ru-RU" sz="1700" b="1" dirty="0"/>
              <a:t> </a:t>
            </a:r>
            <a:r>
              <a:rPr lang="ru-RU" sz="1700" dirty="0"/>
              <a:t>- возвращает первый элемент потока в виде </a:t>
            </a:r>
            <a:r>
              <a:rPr lang="ru-RU" sz="1700" dirty="0" err="1"/>
              <a:t>Optional</a:t>
            </a:r>
            <a:r>
              <a:rPr lang="ru-RU" sz="1700" dirty="0"/>
              <a:t>&lt;T&gt;</a:t>
            </a:r>
          </a:p>
          <a:p>
            <a:r>
              <a:rPr lang="en-US" sz="1700" b="1" dirty="0"/>
              <a:t>Optional&lt;T&gt; </a:t>
            </a:r>
            <a:r>
              <a:rPr lang="en-US" sz="1700" b="1" dirty="0" err="1"/>
              <a:t>findAny</a:t>
            </a:r>
            <a:r>
              <a:rPr lang="en-US" sz="1700" b="1" dirty="0"/>
              <a:t>()</a:t>
            </a:r>
            <a:r>
              <a:rPr lang="ru-RU" sz="1700" b="1" dirty="0"/>
              <a:t> </a:t>
            </a:r>
            <a:r>
              <a:rPr lang="ru-RU" sz="1700" dirty="0"/>
              <a:t>- возвращает любой элемент потока в виде </a:t>
            </a:r>
            <a:r>
              <a:rPr lang="ru-RU" sz="1700" b="1" i="1" dirty="0" err="1"/>
              <a:t>Optional</a:t>
            </a:r>
            <a:r>
              <a:rPr lang="ru-RU" sz="1700" b="1" i="1" dirty="0"/>
              <a:t>&lt;T&gt;</a:t>
            </a:r>
          </a:p>
          <a:p>
            <a:r>
              <a:rPr lang="ru-RU" sz="1700" b="1" dirty="0" err="1"/>
              <a:t>reduce</a:t>
            </a:r>
            <a:r>
              <a:rPr lang="ru-RU" sz="1700" b="1" dirty="0"/>
              <a:t>()</a:t>
            </a:r>
            <a:r>
              <a:rPr lang="ru-RU" sz="1700" dirty="0"/>
              <a:t> - объединяет все элементы потока в одно итоговое значение</a:t>
            </a:r>
          </a:p>
          <a:p>
            <a:r>
              <a:rPr lang="en-US" sz="1700" b="1" dirty="0" err="1"/>
              <a:t>anyMatch</a:t>
            </a:r>
            <a:r>
              <a:rPr lang="en-US" sz="1700" b="1" dirty="0"/>
              <a:t>(Predicate)</a:t>
            </a:r>
            <a:r>
              <a:rPr lang="ru-RU" sz="1700" dirty="0"/>
              <a:t> - проверяет, соответствует ли </a:t>
            </a:r>
            <a:r>
              <a:rPr lang="ru-RU" sz="1700" b="1" dirty="0"/>
              <a:t>хотя бы один элемент</a:t>
            </a:r>
            <a:r>
              <a:rPr lang="ru-RU" sz="1700" dirty="0"/>
              <a:t> потока заданному условию (предикату)</a:t>
            </a:r>
          </a:p>
          <a:p>
            <a:r>
              <a:rPr lang="en-US" sz="1700" b="1" dirty="0" err="1"/>
              <a:t>allMatch</a:t>
            </a:r>
            <a:r>
              <a:rPr lang="en-US" sz="1700" b="1" dirty="0"/>
              <a:t>(Predicate)</a:t>
            </a:r>
            <a:r>
              <a:rPr lang="ru-RU" sz="1700" dirty="0"/>
              <a:t> - проверяет, соответствует ли </a:t>
            </a:r>
            <a:r>
              <a:rPr lang="ru-RU" sz="1700" b="1" dirty="0"/>
              <a:t>все элементы</a:t>
            </a:r>
            <a:r>
              <a:rPr lang="ru-RU" sz="1700" dirty="0"/>
              <a:t> потока заданному условию (предикату)</a:t>
            </a:r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38FE5-43B1-45BD-A8E1-BE5F93857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57254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F7335-8EA1-4414-AF67-50BEDE0C1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</a:t>
            </a:r>
            <a:r>
              <a:rPr lang="en-US" dirty="0"/>
              <a:t>Collectors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1F8A9-05E1-415D-BDDC-696CD104C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7565"/>
            <a:ext cx="8229600" cy="25343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/>
              <a:t>Класс </a:t>
            </a:r>
            <a:r>
              <a:rPr lang="ru-RU" sz="1800" b="1" dirty="0" err="1"/>
              <a:t>Collectors</a:t>
            </a:r>
            <a:r>
              <a:rPr lang="ru-RU" sz="1800" dirty="0"/>
              <a:t> содержит набор предопределённых статических методов для выполнения преобразования элементов в списки, множества и др.</a:t>
            </a:r>
          </a:p>
          <a:p>
            <a:pPr marL="0" indent="0">
              <a:buNone/>
            </a:pPr>
            <a:endParaRPr lang="ru-RU" sz="1100" dirty="0"/>
          </a:p>
          <a:p>
            <a:r>
              <a:rPr lang="en-US" sz="1800" b="1" dirty="0" err="1"/>
              <a:t>groupingBy</a:t>
            </a:r>
            <a:r>
              <a:rPr lang="en-US" sz="1800" b="1" dirty="0"/>
              <a:t>()</a:t>
            </a:r>
            <a:r>
              <a:rPr lang="ru-RU" sz="1800" dirty="0"/>
              <a:t>: группировать элементы по различным параметрам</a:t>
            </a:r>
            <a:endParaRPr lang="ru-RU" sz="1800" b="1" dirty="0"/>
          </a:p>
          <a:p>
            <a:r>
              <a:rPr lang="ru-RU" sz="1800" b="1" dirty="0" err="1"/>
              <a:t>joining</a:t>
            </a:r>
            <a:r>
              <a:rPr lang="ru-RU" sz="1800" b="1" dirty="0"/>
              <a:t>()</a:t>
            </a:r>
            <a:r>
              <a:rPr lang="ru-RU" sz="1800" dirty="0"/>
              <a:t>: Объединяет элементы потока в одну строку.</a:t>
            </a:r>
          </a:p>
          <a:p>
            <a:r>
              <a:rPr lang="ru-RU" sz="1800" b="1" dirty="0" err="1"/>
              <a:t>counting</a:t>
            </a:r>
            <a:r>
              <a:rPr lang="ru-RU" sz="1800" b="1" dirty="0"/>
              <a:t>()</a:t>
            </a:r>
            <a:r>
              <a:rPr lang="ru-RU" sz="1800" dirty="0"/>
              <a:t>: Подсчитывает количество элементов в потоке.</a:t>
            </a:r>
          </a:p>
          <a:p>
            <a:r>
              <a:rPr lang="ru-RU" sz="1800" b="1" dirty="0" err="1"/>
              <a:t>toList</a:t>
            </a:r>
            <a:r>
              <a:rPr lang="ru-RU" sz="1800" b="1" dirty="0"/>
              <a:t>(): </a:t>
            </a:r>
            <a:r>
              <a:rPr lang="ru-RU" sz="1800" dirty="0"/>
              <a:t>Собирает элементы в список.</a:t>
            </a:r>
          </a:p>
          <a:p>
            <a:r>
              <a:rPr lang="ru-RU" sz="1800" b="1" dirty="0" err="1"/>
              <a:t>toSet</a:t>
            </a:r>
            <a:r>
              <a:rPr lang="ru-RU" sz="1800" b="1" dirty="0"/>
              <a:t>()</a:t>
            </a:r>
            <a:r>
              <a:rPr lang="ru-RU" sz="1800" dirty="0"/>
              <a:t>: Собирает элементы в множество.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9F6A2-775F-4CF6-ADD5-46DE5DCED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25</a:t>
            </a:fld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4486EB-D67F-492F-AEC7-12851237C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3309268"/>
            <a:ext cx="3669086" cy="145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4668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B35B4-12F8-403B-B3E4-97531FAD6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работает </a:t>
            </a:r>
            <a:r>
              <a:rPr lang="en-US" dirty="0"/>
              <a:t>Stream?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917A-BFB4-4DF4-84F3-34D63E2CE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41"/>
            <a:ext cx="7787208" cy="3165881"/>
          </a:xfrm>
        </p:spPr>
        <p:txBody>
          <a:bodyPr>
            <a:normAutofit fontScale="85000" lnSpcReduction="20000"/>
          </a:bodyPr>
          <a:lstStyle/>
          <a:p>
            <a:r>
              <a:rPr lang="ru-RU" dirty="0" err="1"/>
              <a:t>Stream</a:t>
            </a:r>
            <a:r>
              <a:rPr lang="ru-RU" dirty="0"/>
              <a:t> API в </a:t>
            </a:r>
            <a:r>
              <a:rPr lang="ru-RU" dirty="0" err="1"/>
              <a:t>Java</a:t>
            </a:r>
            <a:r>
              <a:rPr lang="ru-RU" dirty="0"/>
              <a:t> обрабатывает данные с помощью цепочек промежуточных и терминальных операций</a:t>
            </a:r>
          </a:p>
          <a:p>
            <a:r>
              <a:rPr lang="ru-RU" dirty="0"/>
              <a:t>Каждый элемент потока проходит через весь </a:t>
            </a:r>
            <a:r>
              <a:rPr lang="ru-RU" dirty="0" err="1"/>
              <a:t>пайплайн</a:t>
            </a:r>
            <a:r>
              <a:rPr lang="ru-RU" dirty="0"/>
              <a:t> поэтапно</a:t>
            </a:r>
          </a:p>
          <a:p>
            <a:r>
              <a:rPr lang="ru-RU" dirty="0"/>
              <a:t>Операции не применяются к коллекции целиком, а работают над каждым элементом поочередно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01A87-C673-499B-A80E-500741C7F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230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3348E-1863-4CB6-AEC4-1015DB4E7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работает </a:t>
            </a:r>
            <a:r>
              <a:rPr lang="en-US" dirty="0"/>
              <a:t>Stream?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B92AA-FFFC-4DA2-8A8D-396718345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27</a:t>
            </a:fld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1C7580-9B77-42C8-9BC7-8A1BF2944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35646"/>
            <a:ext cx="5391889" cy="28600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FA30B7-7B33-4E6C-A2FA-7532A95F5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0" y="2571750"/>
            <a:ext cx="3634943" cy="22213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4347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B35B0-4A3C-427D-BA4C-066682FAA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операций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4280B-29B1-4EB6-88B7-4F50D49AB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41"/>
            <a:ext cx="4474840" cy="316588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/>
              <a:t>Операции в </a:t>
            </a:r>
            <a:r>
              <a:rPr lang="ru-RU" dirty="0" err="1"/>
              <a:t>Stream</a:t>
            </a:r>
            <a:r>
              <a:rPr lang="ru-RU" dirty="0"/>
              <a:t> API делятся на два типа:</a:t>
            </a:r>
          </a:p>
          <a:p>
            <a:r>
              <a:rPr lang="ru-RU" b="1" dirty="0" err="1"/>
              <a:t>stateless</a:t>
            </a:r>
            <a:r>
              <a:rPr lang="ru-RU" dirty="0"/>
              <a:t> (без состояния) и </a:t>
            </a:r>
          </a:p>
          <a:p>
            <a:r>
              <a:rPr lang="ru-RU" b="1" dirty="0" err="1"/>
              <a:t>stateful</a:t>
            </a:r>
            <a:r>
              <a:rPr lang="ru-RU" dirty="0"/>
              <a:t> (с состоянием), </a:t>
            </a:r>
          </a:p>
          <a:p>
            <a:pPr marL="0" indent="0">
              <a:buNone/>
            </a:pPr>
            <a:r>
              <a:rPr lang="ru-RU" dirty="0"/>
              <a:t>в зависимости от того, как они обрабатывают элементы потока.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7FEDF-492A-45D8-A760-A43B18F52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28</a:t>
            </a:fld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FB7130-1E44-474D-90F3-A6F167874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1635646"/>
            <a:ext cx="3784558" cy="246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5305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ED310-D646-453A-B821-6982A5699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без состояния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CBB4A-421D-4D1E-8340-E90CACAD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Операции без состояния</a:t>
            </a:r>
            <a:r>
              <a:rPr lang="en-US" dirty="0"/>
              <a:t> </a:t>
            </a:r>
            <a:r>
              <a:rPr lang="ru-RU" dirty="0"/>
              <a:t>обрабатывают каждый элемент потока независимо от других. </a:t>
            </a:r>
          </a:p>
          <a:p>
            <a:r>
              <a:rPr lang="ru-RU" dirty="0"/>
              <a:t>Такие как </a:t>
            </a:r>
            <a:r>
              <a:rPr lang="ru-RU" dirty="0" err="1"/>
              <a:t>map</a:t>
            </a:r>
            <a:r>
              <a:rPr lang="ru-RU" dirty="0"/>
              <a:t>() и </a:t>
            </a:r>
            <a:r>
              <a:rPr lang="ru-RU" dirty="0" err="1"/>
              <a:t>filter</a:t>
            </a:r>
            <a:r>
              <a:rPr lang="ru-RU" dirty="0"/>
              <a:t>()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9D95F-1E71-44C4-8DFE-F777B57F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15941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42F2E-17DF-466F-8820-B955280F6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с состоянием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302D4-05BA-4983-9EE7-D596C39ED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Требуют информации о других элементах потока</a:t>
            </a:r>
          </a:p>
          <a:p>
            <a:r>
              <a:rPr lang="ru-RU" dirty="0"/>
              <a:t>Эти операции не могут начать возвращать результаты, пока не обработают часть или весь поток</a:t>
            </a:r>
          </a:p>
          <a:p>
            <a:r>
              <a:rPr lang="ru-RU" dirty="0"/>
              <a:t>Такие как </a:t>
            </a:r>
            <a:r>
              <a:rPr lang="en-US" dirty="0"/>
              <a:t>sorted(), distinct() </a:t>
            </a:r>
            <a:r>
              <a:rPr lang="ru-RU" dirty="0"/>
              <a:t>или </a:t>
            </a:r>
            <a:r>
              <a:rPr lang="en-US" dirty="0"/>
              <a:t>limit()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1AEBF-5E1A-4183-8725-9E65622C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0898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8BEAB-7C93-4C85-B2A5-5D138CA41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работает </a:t>
            </a:r>
            <a:r>
              <a:rPr lang="en-US" dirty="0"/>
              <a:t>Stream?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9C496-DA66-4FF4-842F-0B0082DFA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Если в </a:t>
            </a:r>
            <a:r>
              <a:rPr lang="ru-RU" dirty="0" err="1"/>
              <a:t>пайплайне</a:t>
            </a:r>
            <a:r>
              <a:rPr lang="ru-RU" dirty="0"/>
              <a:t> используются только операции без состояния, то поток может быть обработан “в один проход”, что делает выполнение быстрым и эффективным. </a:t>
            </a:r>
          </a:p>
          <a:p>
            <a:r>
              <a:rPr lang="ru-RU" dirty="0"/>
              <a:t>При добавлении операций с состоянием поток делится на секции, и каждая секция должна завершить свою обработку перед началом следующей.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113F3-413B-4F3A-BCD1-F1E245CCC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86053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AA45F-F2D0-4524-B072-1228B032B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Точка синхронизации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288E49-5495-4D23-BA99-4150A47DB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357304"/>
            <a:ext cx="5609636" cy="3165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E5C88-171C-4EDF-B93A-097AB3F21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32</a:t>
            </a:fld>
            <a:endParaRPr lang="ru-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339D93-D31F-4AFB-A346-A2ECE4402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28" y="2129894"/>
            <a:ext cx="2136699" cy="27742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5547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3A82C-B1C4-479D-BEB6-4E2EB4CB5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Параллельное выполнение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45F40-8A82-4353-841F-CE373DDB4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41"/>
            <a:ext cx="5050904" cy="3165881"/>
          </a:xfrm>
        </p:spPr>
        <p:txBody>
          <a:bodyPr>
            <a:noAutofit/>
          </a:bodyPr>
          <a:lstStyle/>
          <a:p>
            <a:r>
              <a:rPr lang="ru-RU" sz="1800" dirty="0"/>
              <a:t>Для запуска потоков в параллельном режиме можно использовать методы </a:t>
            </a:r>
            <a:r>
              <a:rPr lang="ru-RU" sz="1800" b="1" dirty="0" err="1"/>
              <a:t>parallelStream</a:t>
            </a:r>
            <a:r>
              <a:rPr lang="ru-RU" sz="1800" dirty="0"/>
              <a:t>() или </a:t>
            </a:r>
            <a:r>
              <a:rPr lang="ru-RU" sz="1800" b="1" dirty="0" err="1"/>
              <a:t>parallel</a:t>
            </a:r>
            <a:r>
              <a:rPr lang="ru-RU" sz="1800" dirty="0"/>
              <a:t>()</a:t>
            </a:r>
          </a:p>
          <a:p>
            <a:r>
              <a:rPr lang="ru-RU" sz="1800" dirty="0"/>
              <a:t>Данные разделяются на подзадачи, которые затем могут быть распределены между несколькими потоками</a:t>
            </a:r>
          </a:p>
          <a:p>
            <a:r>
              <a:rPr lang="ru-RU" sz="1800" dirty="0"/>
              <a:t>Каждая часть обрабатывается независимо, и результаты объединяются после завершения работы всех потоков</a:t>
            </a:r>
          </a:p>
          <a:p>
            <a:r>
              <a:rPr lang="en-US" sz="1800" dirty="0"/>
              <a:t>P</a:t>
            </a:r>
            <a:r>
              <a:rPr lang="ru-RU" sz="1800" dirty="0" err="1"/>
              <a:t>асположение</a:t>
            </a:r>
            <a:r>
              <a:rPr lang="ru-RU" sz="1800" dirty="0"/>
              <a:t> метода в цепочке не влияет на поведение потока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A9C5D-8E53-4975-9F8F-6F93B14D6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33</a:t>
            </a:fld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6E9F00-B5D4-43F5-91DA-2D049A1D7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20" y="1433040"/>
            <a:ext cx="3141928" cy="321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1080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1">
      <a:dk1>
        <a:srgbClr val="244061"/>
      </a:dk1>
      <a:lt1>
        <a:srgbClr val="DBE5F1"/>
      </a:lt1>
      <a:dk2>
        <a:srgbClr val="953734"/>
      </a:dk2>
      <a:lt2>
        <a:srgbClr val="F2DCDB"/>
      </a:lt2>
      <a:accent1>
        <a:srgbClr val="95B3D7"/>
      </a:accent1>
      <a:accent2>
        <a:srgbClr val="366092"/>
      </a:accent2>
      <a:accent3>
        <a:srgbClr val="17365D"/>
      </a:accent3>
      <a:accent4>
        <a:srgbClr val="E5B9B7"/>
      </a:accent4>
      <a:accent5>
        <a:srgbClr val="D99694"/>
      </a:accent5>
      <a:accent6>
        <a:srgbClr val="953734"/>
      </a:accent6>
      <a:hlink>
        <a:srgbClr val="C00000"/>
      </a:hlink>
      <a:folHlink>
        <a:srgbClr val="00206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7275</TotalTime>
  <Words>4933</Words>
  <Application>Microsoft Office PowerPoint</Application>
  <PresentationFormat>On-screen Show (16:9)</PresentationFormat>
  <Paragraphs>380</Paragraphs>
  <Slides>33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Times New Roman</vt:lpstr>
      <vt:lpstr>Тема Office</vt:lpstr>
      <vt:lpstr>Программирование на Java</vt:lpstr>
      <vt:lpstr>До Java 8: передача функциональности в метод</vt:lpstr>
      <vt:lpstr>PowerPoint Presentation</vt:lpstr>
      <vt:lpstr>Пример лямбда выражений</vt:lpstr>
      <vt:lpstr>Структура Lambda-выражений</vt:lpstr>
      <vt:lpstr>Функциональный интерфейс</vt:lpstr>
      <vt:lpstr>Функциональный интерфейс</vt:lpstr>
      <vt:lpstr>Функциональный интерфейс</vt:lpstr>
      <vt:lpstr>Аннотация @FunctionalInterface</vt:lpstr>
      <vt:lpstr>Отличие Lambda-выражений от анонимных класов</vt:lpstr>
      <vt:lpstr>Ограничения лямбда-выражений</vt:lpstr>
      <vt:lpstr>Ссылки на метод</vt:lpstr>
      <vt:lpstr>Встроенные функциональные интерфейсы</vt:lpstr>
      <vt:lpstr>Лямбда-выражения и Stream API</vt:lpstr>
      <vt:lpstr>Stream API</vt:lpstr>
      <vt:lpstr>Основы Stream API</vt:lpstr>
      <vt:lpstr>Задачи для Stream API</vt:lpstr>
      <vt:lpstr>Компоненты Stream API</vt:lpstr>
      <vt:lpstr>Источники данных для потоков</vt:lpstr>
      <vt:lpstr>Создание стримов</vt:lpstr>
      <vt:lpstr>Операции над потоком</vt:lpstr>
      <vt:lpstr>Промежуточные методы</vt:lpstr>
      <vt:lpstr>Промежуточные методы</vt:lpstr>
      <vt:lpstr>Терминальные методы</vt:lpstr>
      <vt:lpstr>Интерфейс Collectors</vt:lpstr>
      <vt:lpstr>Как работает Stream?</vt:lpstr>
      <vt:lpstr>Как работает Stream?</vt:lpstr>
      <vt:lpstr>Виды операций</vt:lpstr>
      <vt:lpstr>Операции без состояния</vt:lpstr>
      <vt:lpstr>Операции с состоянием</vt:lpstr>
      <vt:lpstr>Как работает Stream?</vt:lpstr>
      <vt:lpstr>Точка синхронизации</vt:lpstr>
      <vt:lpstr>Параллельное выполнение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HP</dc:creator>
  <cp:lastModifiedBy>Yulia Filinskikh</cp:lastModifiedBy>
  <cp:revision>243</cp:revision>
  <dcterms:created xsi:type="dcterms:W3CDTF">2020-04-22T07:05:13Z</dcterms:created>
  <dcterms:modified xsi:type="dcterms:W3CDTF">2025-03-11T17:11:23Z</dcterms:modified>
</cp:coreProperties>
</file>