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61" r:id="rId4"/>
    <p:sldId id="274" r:id="rId5"/>
    <p:sldId id="265" r:id="rId6"/>
    <p:sldId id="262" r:id="rId7"/>
    <p:sldId id="266" r:id="rId8"/>
    <p:sldId id="264" r:id="rId9"/>
    <p:sldId id="280" r:id="rId10"/>
    <p:sldId id="270" r:id="rId11"/>
    <p:sldId id="269" r:id="rId12"/>
    <p:sldId id="276" r:id="rId13"/>
    <p:sldId id="275" r:id="rId14"/>
    <p:sldId id="273" r:id="rId15"/>
    <p:sldId id="272" r:id="rId16"/>
    <p:sldId id="279" r:id="rId17"/>
    <p:sldId id="278" r:id="rId18"/>
    <p:sldId id="259" r:id="rId19"/>
    <p:sldId id="260" r:id="rId20"/>
    <p:sldId id="263" r:id="rId21"/>
    <p:sldId id="271" r:id="rId2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9474" autoAdjust="0"/>
  </p:normalViewPr>
  <p:slideViewPr>
    <p:cSldViewPr>
      <p:cViewPr varScale="1">
        <p:scale>
          <a:sx n="75" d="100"/>
          <a:sy n="75" d="100"/>
        </p:scale>
        <p:origin x="1594" y="53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FED33-D328-45C2-B91A-83B438B4C415}" type="datetimeFigureOut">
              <a:rPr lang="ru-RU" smtClean="0"/>
              <a:t>12.03.2025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50DF4-E479-4FC1-BAC7-78E3D46664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936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один из самых популярных фреймворков. Его применяют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-разработчики, которые работают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Kotlin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Groovy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платформа, которая предоставляет богатый набор средств и инструментов для создания довольно сложных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приложений с необыкновенной легкостью. Платформа популярна у разработчиков благодаря тому, что вместе со снижением объема кода приложения позволяет сосредоточиться на предметной области, не беспокоясь о многих сопутствующих задачах, таких как безопасность, доступ к данным, транзакции или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логгирование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помощью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разработчики создают серверное ПО для работы с современными десктопными, мобильными и веб-приложениями.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полезен как для простых сервисов, так и для больших проектов из множества модулей и сотен функций.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65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программист установит и освоит </a:t>
            </a:r>
            <a:r>
              <a:rPr lang="ru-RU" dirty="0" err="1"/>
              <a:t>Spring</a:t>
            </a:r>
            <a:r>
              <a:rPr lang="ru-RU" dirty="0"/>
              <a:t>, то получит доступ сразу к нескольким инструментам, которые уже настроены и связаны в единую систему.</a:t>
            </a:r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подойдёт для решения большинства задач разработки. </a:t>
            </a:r>
          </a:p>
          <a:p>
            <a:r>
              <a:rPr lang="ru-RU" dirty="0"/>
              <a:t>Архитектура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предоставляет 20 модулей, которые можно использовать в зависимости от требований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Рассмотрим несколько самых популярных компонентов, с которыми программисты чаще всего сталкиваются в работе: </a:t>
            </a:r>
            <a:endParaRPr lang="en-US" dirty="0"/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496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Модуль </a:t>
            </a:r>
            <a:r>
              <a:rPr lang="ru-RU" dirty="0" err="1"/>
              <a:t>Core</a:t>
            </a:r>
            <a:r>
              <a:rPr lang="ru-RU" dirty="0"/>
              <a:t> предоставляет все основные компоненты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. Он включает функции </a:t>
            </a:r>
            <a:r>
              <a:rPr lang="ru-RU" dirty="0" err="1"/>
              <a:t>IoC</a:t>
            </a:r>
            <a:r>
              <a:rPr lang="ru-RU" dirty="0"/>
              <a:t> (инверсия управления) и внедрение зависимостей..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607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Было бы намного лучше, если бы мы открыли только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источник данных и использовали его повторно, вместо того, чтобы открывать и закрывать их тонны.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у этого решения есть еще несколько недостатков:</a:t>
            </a:r>
          </a:p>
          <a:p>
            <a:br>
              <a:rPr lang="ru-RU" dirty="0"/>
            </a:br>
            <a:r>
              <a:rPr lang="en-US" dirty="0"/>
              <a:t>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активно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должен знать, где получить свои зависимости, он должен вызвать класс приложения →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.INSTANCE.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databaseConnector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pPr marL="171450" indent="-171450">
              <a:buFontTx/>
              <a:buChar char="-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ваша программа становится больше, и вы получаете все больше и больше зависимостей, у вас будет один монстр класс Application.java, который обрабатывает все ваши зависимости. В этот момент вы захотите разделить вещи на несколько классов / фабрик и т.д.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того, чтобы активно вызывать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.INSTANCE.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databaseConnector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мог бы (как-то) сообщать, что он ему нужен, но больше не контролирует, когда / как / откуда он его получает?</a:t>
            </a:r>
          </a:p>
          <a:p>
            <a:pPr marL="0" indent="0">
              <a:buFontTx/>
              <a:buNone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то, что называется 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инверсией управления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Inversion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Всякий раз, когда вызывающий создает новый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через конструктор, вызывающий также должен передать действительный источник данных.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Однако нам все еще придется создавать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databaseConnector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вручную, чтобы передать в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было бы здорово, если б кто-то знал, что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аппликейшн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есть зависимость от базы, и знал,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его создать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Этим к-то и является Контейнер внедрения зависимостей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ru-RU" dirty="0"/>
              <a:t>в основе лежит возможность конфигурирования зависимостей между компонентами прикладной программной системы не на этапе разработки, а либо во время ее запуска, либо вообще уже в процессе функционирования. В результате такого подхода обеспечение взаимосвязи различных составных частей системы не зависит от конкретной технологии и, к примеру, на этапе тестирования не составляет труда заменить заглушками некоторые объекты, зависящие от нижестоящего слоя.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684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Ключевая особенность приложения, написанного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состоит в том что большую часть объектов создаем не мы, 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  <a:p>
            <a:r>
              <a:rPr lang="ru-RU" dirty="0" err="1"/>
              <a:t>Dependency</a:t>
            </a:r>
            <a:r>
              <a:rPr lang="ru-RU" dirty="0"/>
              <a:t> </a:t>
            </a:r>
            <a:r>
              <a:rPr lang="ru-RU" dirty="0" err="1"/>
              <a:t>Injection</a:t>
            </a:r>
            <a:r>
              <a:rPr lang="ru-RU" dirty="0"/>
              <a:t> (DI), называемый также часто </a:t>
            </a:r>
            <a:r>
              <a:rPr lang="ru-RU" dirty="0" err="1"/>
              <a:t>Inversion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Control</a:t>
            </a:r>
            <a:r>
              <a:rPr lang="ru-RU" dirty="0"/>
              <a:t> (</a:t>
            </a:r>
            <a:r>
              <a:rPr lang="ru-RU" dirty="0" err="1"/>
              <a:t>IoC</a:t>
            </a:r>
            <a:r>
              <a:rPr lang="ru-RU" dirty="0"/>
              <a:t>) (в русскоязычном мире также используется термин внедрение зависимости), является одним из основополагающих принципов современных контейнеров программного обеспечения.</a:t>
            </a:r>
          </a:p>
          <a:p>
            <a:endParaRPr lang="ru-RU" dirty="0"/>
          </a:p>
          <a:p>
            <a:r>
              <a:rPr lang="ru-RU" dirty="0"/>
              <a:t>Кому передаем обязанности?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642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Spring</a:t>
            </a:r>
            <a:r>
              <a:rPr lang="ru-RU" dirty="0"/>
              <a:t> объекты, которые составляют основу вашего приложения и управляются </a:t>
            </a:r>
            <a:r>
              <a:rPr lang="ru-RU" dirty="0" err="1"/>
              <a:t>IoC</a:t>
            </a:r>
            <a:r>
              <a:rPr lang="ru-RU" dirty="0"/>
              <a:t>-контейнером </a:t>
            </a:r>
            <a:r>
              <a:rPr lang="ru-RU" dirty="0" err="1"/>
              <a:t>Spring</a:t>
            </a:r>
            <a:r>
              <a:rPr lang="ru-RU" dirty="0"/>
              <a:t>, называются </a:t>
            </a:r>
            <a:r>
              <a:rPr lang="ru-RU" dirty="0" err="1"/>
              <a:t>бинами</a:t>
            </a:r>
            <a:r>
              <a:rPr lang="ru-RU" dirty="0"/>
              <a:t> (</a:t>
            </a:r>
            <a:r>
              <a:rPr lang="ru-RU" dirty="0" err="1"/>
              <a:t>beans</a:t>
            </a:r>
            <a:r>
              <a:rPr lang="ru-RU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060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Бины</a:t>
            </a:r>
            <a:r>
              <a:rPr lang="ru-RU" dirty="0"/>
              <a:t> и зависимости между ними отражены в конфигурационных метаданных, используемых контейнером.</a:t>
            </a:r>
            <a:endParaRPr lang="en-US" dirty="0"/>
          </a:p>
          <a:p>
            <a:endParaRPr lang="en-US" dirty="0"/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Контекст — это набор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бинов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(объектов). Обращаясь к контексту — мы можем получить нужный нам бин (объект) по его имени например, или по его типу, или еще как-то. 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764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Каждый из этих видов </a:t>
            </a:r>
            <a:r>
              <a:rPr lang="ru-RU" dirty="0" err="1"/>
              <a:t>bean</a:t>
            </a:r>
            <a:r>
              <a:rPr lang="ru-RU" dirty="0"/>
              <a:t> </a:t>
            </a:r>
            <a:r>
              <a:rPr lang="ru-RU" dirty="0" err="1"/>
              <a:t>scope</a:t>
            </a:r>
            <a:r>
              <a:rPr lang="ru-RU" dirty="0"/>
              <a:t> имеет свои особенности и подходит для определенных сценариев использования. Выбор подходящего </a:t>
            </a:r>
            <a:r>
              <a:rPr lang="ru-RU" dirty="0" err="1"/>
              <a:t>scope</a:t>
            </a:r>
            <a:r>
              <a:rPr lang="ru-RU" dirty="0"/>
              <a:t> зависит от требований вашего приложения и контекста, в котором используется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err="1"/>
              <a:t>Singleton</a:t>
            </a:r>
            <a:r>
              <a:rPr lang="ru-RU" sz="1200" dirty="0"/>
              <a:t>: Контейнер создает только один экземпляр </a:t>
            </a:r>
            <a:r>
              <a:rPr lang="ru-RU" sz="1200" dirty="0" err="1"/>
              <a:t>бина</a:t>
            </a:r>
            <a:r>
              <a:rPr lang="ru-RU" sz="1200" dirty="0"/>
              <a:t> и делит его между всеми запросами. Т.е. все компоненты, которые зависят от этого </a:t>
            </a:r>
            <a:r>
              <a:rPr lang="ru-RU" sz="1200" dirty="0" err="1"/>
              <a:t>бина</a:t>
            </a:r>
            <a:r>
              <a:rPr lang="ru-RU" sz="1200" dirty="0"/>
              <a:t>, будут использовать один и тот же экземпляр.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 err="1"/>
              <a:t>Prototype</a:t>
            </a:r>
            <a:r>
              <a:rPr lang="ru-RU" sz="1200" dirty="0"/>
              <a:t>: контейнер создает новый экземпляр </a:t>
            </a:r>
            <a:r>
              <a:rPr lang="ru-RU" sz="1200" dirty="0" err="1"/>
              <a:t>бина</a:t>
            </a:r>
            <a:r>
              <a:rPr lang="ru-RU" sz="1200" dirty="0"/>
              <a:t> каждый раз, когда он запрашивается. Т.е. каждый компонент, который зависит от этого </a:t>
            </a:r>
            <a:r>
              <a:rPr lang="ru-RU" sz="1200" dirty="0" err="1"/>
              <a:t>бина</a:t>
            </a:r>
            <a:r>
              <a:rPr lang="ru-RU" sz="1200" dirty="0"/>
              <a:t>, будет использовать свой собственный экземпляр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455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Кроме того, мы можем попросить </a:t>
            </a:r>
            <a:r>
              <a:rPr lang="ru-RU" dirty="0" err="1"/>
              <a:t>спринг</a:t>
            </a:r>
            <a:r>
              <a:rPr lang="ru-RU" dirty="0"/>
              <a:t> самого сходить поискать в своем контексте нужный нам бин и передать его в наш метод.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4622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Например, функциональность логирования или поддержки транзакций может быть вынесена из метода в аспект.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829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способ организации кода, который предполагает выделение блоков, отвечающих за решение разных задач. Один блок отвечает за данные приложения, другой отвечает за внешний вид, а третий контролирует работу приложения.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781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Основной механизм, реализуемый в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— репозиторий. Это набор интерфейсов, использующих JPA </a:t>
            </a:r>
            <a:r>
              <a:rPr lang="ru-RU" dirty="0" err="1"/>
              <a:t>Entity</a:t>
            </a:r>
            <a:r>
              <a:rPr lang="ru-RU" dirty="0"/>
              <a:t> для взаимодействия с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2943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Преимущества </a:t>
            </a:r>
            <a:r>
              <a:rPr lang="ru-RU" dirty="0" err="1"/>
              <a:t>Spring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сравнивать с J2EE, </a:t>
            </a:r>
            <a:r>
              <a:rPr lang="ru-RU" dirty="0" err="1"/>
              <a:t>Spring</a:t>
            </a:r>
            <a:r>
              <a:rPr lang="ru-RU" dirty="0"/>
              <a:t> значительно легче и меньше по размеру и может работать в гораздо более стесненных условиях. В минимальном виде этот фреймворк занимает всего около 2 Мб. Зачастую </a:t>
            </a:r>
            <a:r>
              <a:rPr lang="ru-RU" dirty="0" err="1"/>
              <a:t>Spring</a:t>
            </a:r>
            <a:r>
              <a:rPr lang="ru-RU" dirty="0"/>
              <a:t> используется даже в разработке обычных </a:t>
            </a:r>
            <a:r>
              <a:rPr lang="ru-RU" dirty="0" err="1"/>
              <a:t>Java</a:t>
            </a:r>
            <a:r>
              <a:rPr lang="ru-RU" dirty="0"/>
              <a:t> приложений не уровня </a:t>
            </a:r>
            <a:r>
              <a:rPr lang="ru-RU" dirty="0" err="1"/>
              <a:t>Enterprise</a:t>
            </a:r>
            <a:r>
              <a:rPr lang="ru-RU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Spring</a:t>
            </a:r>
            <a:r>
              <a:rPr lang="ru-RU" dirty="0"/>
              <a:t> обладает модульной архитектурой. При наличии достаточно большого количества компонентов и классов, можно использовать только те, которые необходимы для реализации требуемого функционала.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Одна из проблем </a:t>
            </a:r>
            <a:r>
              <a:rPr lang="ru-RU" dirty="0" err="1"/>
              <a:t>Java</a:t>
            </a:r>
            <a:r>
              <a:rPr lang="ru-RU" dirty="0"/>
              <a:t> EE заключается в том, что при использовании </a:t>
            </a:r>
            <a:r>
              <a:rPr lang="ru-RU" dirty="0" err="1"/>
              <a:t>Enterprise</a:t>
            </a:r>
            <a:r>
              <a:rPr lang="ru-RU" dirty="0"/>
              <a:t> </a:t>
            </a:r>
            <a:r>
              <a:rPr lang="ru-RU" dirty="0" err="1"/>
              <a:t>JavaBeans</a:t>
            </a:r>
            <a:r>
              <a:rPr lang="ru-RU" dirty="0"/>
              <a:t> требуется наличие EJB контейнера, куда размещается приложение. Эти контейнеры предоставляются серверами приложений, например </a:t>
            </a:r>
            <a:r>
              <a:rPr lang="ru-RU" dirty="0" err="1"/>
              <a:t>Geronimo</a:t>
            </a:r>
            <a:r>
              <a:rPr lang="ru-RU" dirty="0"/>
              <a:t>, </a:t>
            </a:r>
            <a:r>
              <a:rPr lang="ru-RU" dirty="0" err="1"/>
              <a:t>JBoss</a:t>
            </a:r>
            <a:r>
              <a:rPr lang="ru-RU" dirty="0"/>
              <a:t>, </a:t>
            </a:r>
            <a:r>
              <a:rPr lang="ru-RU" dirty="0" err="1"/>
              <a:t>WebSphere</a:t>
            </a:r>
            <a:r>
              <a:rPr lang="ru-RU" dirty="0"/>
              <a:t> и тому подобными. </a:t>
            </a:r>
            <a:r>
              <a:rPr lang="ru-RU" dirty="0" err="1"/>
              <a:t>Spring</a:t>
            </a:r>
            <a:r>
              <a:rPr lang="ru-RU" dirty="0"/>
              <a:t> же не требует сервера приложений и может быть запущен в веб-контейнере, например, </a:t>
            </a:r>
            <a:r>
              <a:rPr lang="ru-RU" dirty="0" err="1"/>
              <a:t>Tomcat</a:t>
            </a:r>
            <a:r>
              <a:rPr lang="ru-RU" dirty="0"/>
              <a:t> или же вообще как отдельное приложение.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Spring</a:t>
            </a:r>
            <a:r>
              <a:rPr lang="ru-RU" dirty="0"/>
              <a:t> использует внедрение зависимостей (</a:t>
            </a:r>
            <a:r>
              <a:rPr lang="ru-RU" dirty="0" err="1"/>
              <a:t>Dependency</a:t>
            </a:r>
            <a:r>
              <a:rPr lang="ru-RU" dirty="0"/>
              <a:t> </a:t>
            </a:r>
            <a:r>
              <a:rPr lang="ru-RU" dirty="0" err="1"/>
              <a:t>Injection</a:t>
            </a:r>
            <a:r>
              <a:rPr lang="ru-RU" dirty="0"/>
              <a:t>, DI), что позволяет программисту больше концентрироваться на бизнес-логике, а не на том, как координировать взаимодействие и обеспечивать зависимости между объектами и компонентами.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Spring</a:t>
            </a:r>
            <a:r>
              <a:rPr lang="ru-RU" dirty="0"/>
              <a:t> также предоставляет применение принципа разделения ответственности (</a:t>
            </a:r>
            <a:r>
              <a:rPr lang="ru-RU" dirty="0" err="1"/>
              <a:t>Separation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Concerns</a:t>
            </a:r>
            <a:r>
              <a:rPr lang="ru-RU" dirty="0"/>
              <a:t>, </a:t>
            </a:r>
            <a:r>
              <a:rPr lang="ru-RU" dirty="0" err="1"/>
              <a:t>SoC</a:t>
            </a:r>
            <a:r>
              <a:rPr lang="ru-RU" dirty="0"/>
              <a:t>), когда различные концепции, такие как запись в лог или безопасность, не относящиеся непосредственно к бизнес логике и не пересекающиеся друг с другом, могут быть увязаны в единое целое.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Spring</a:t>
            </a:r>
            <a:r>
              <a:rPr lang="ru-RU" dirty="0"/>
              <a:t> предоставляет готовое решение в том числе и для тестирования, позволяя запускать код в нужном окружении и писать тесты в основном именно для бизнес логики, поскольку инфраструктурная часть, использованная в приложении, уже реализована самим </a:t>
            </a:r>
            <a:r>
              <a:rPr lang="ru-RU" dirty="0" err="1"/>
              <a:t>Spring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767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Опытный разработчик может справиться с большинством этих недостатков. А вот для начинающего программиста гораздо больше подойдет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Boot</a:t>
            </a:r>
            <a:r>
              <a:rPr lang="ru-RU" dirty="0"/>
              <a:t>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не магическая серебряная пуля, а сложный, хорошо настроенный инструмент, облегчающий использование разных технологий. Он позволит быстро реализовать идеи, но если нарушать базовые принципы архитектуры, то можно столкнуться с трудностями. Фреймворк погружает в комфортные условия разработки, но решает рабочие задачи за специалиста. Поэтому вместе с реализацией прикладных программ с помощью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нужно одновременно изучать принципы и основы фреймворка. Разработчик, который понимает, как всё устроено «под капотом», будет эффективнее в решении задач.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588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Авторы </a:t>
            </a:r>
            <a:r>
              <a:rPr lang="ru-RU" dirty="0" err="1"/>
              <a:t>Spring</a:t>
            </a:r>
            <a:r>
              <a:rPr lang="ru-RU" dirty="0"/>
              <a:t> решили предоставить разработчикам некоторые утилиты, которые автоматизируют процедуру настройки и ускоряют процесс создания и развертывания </a:t>
            </a:r>
            <a:r>
              <a:rPr lang="ru-RU" dirty="0" err="1"/>
              <a:t>Spring</a:t>
            </a:r>
            <a:r>
              <a:rPr lang="ru-RU" dirty="0"/>
              <a:t>-приложений, под общим названием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Boot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550DF4-E479-4FC1-BAC7-78E3D466646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819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C938B-0DA2-4448-9396-E3D6B6592B57}" type="datetime1">
              <a:rPr lang="ru-RU" smtClean="0"/>
              <a:t>12.03.2025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>
                <a:solidFill>
                  <a:schemeClr val="accent6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C938B-0DA2-4448-9396-E3D6B6592B57}" type="datetime1">
              <a:rPr lang="ru-RU" smtClean="0"/>
              <a:t>12.03.2025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0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78473-29C1-4E38-9693-78112B8E8A00}" type="datetime1">
              <a:rPr lang="ru-RU" smtClean="0"/>
              <a:t>12.03.2025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043326F-15DF-455F-B9E6-C0CE4A481B5D}" type="datetime1">
              <a:rPr lang="ru-RU" smtClean="0"/>
              <a:pPr/>
              <a:t>12.03.2025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69F336-2DD4-44CE-8205-AE3F61CEB7C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04C6E-9B24-454D-9475-909125905394}" type="datetime1">
              <a:rPr lang="ru-RU" smtClean="0"/>
              <a:t>12.03.2025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E23A4-FFB4-4197-8E90-81B496FF21F2}" type="datetime1">
              <a:rPr lang="ru-RU" smtClean="0"/>
              <a:t>12.03.2025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6EA0-727C-425F-9DC7-DF28038F580D}" type="datetime1">
              <a:rPr lang="ru-RU" smtClean="0"/>
              <a:t>12.03.2025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5BD2C-6379-4ADB-895E-EA14E58B08BD}" type="datetime1">
              <a:rPr lang="ru-RU" smtClean="0"/>
              <a:t>12.03.2025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02FBE-660B-4788-93E5-23F80C221E14}" type="datetime1">
              <a:rPr lang="ru-RU" smtClean="0"/>
              <a:t>12.03.2025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054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428741"/>
            <a:ext cx="8229600" cy="3165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88AE213-E076-4E30-856F-02825387B9E6}" type="datetime1">
              <a:rPr lang="ru-RU" smtClean="0"/>
              <a:pPr/>
              <a:t>12.03.2025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A69F336-2DD4-44CE-8205-AE3F61CEB7C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0" r:id="rId4"/>
    <p:sldLayoutId id="2147483652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Программирование на </a:t>
            </a:r>
            <a:r>
              <a:rPr lang="en-US" dirty="0"/>
              <a:t>Java</a:t>
            </a:r>
            <a:endParaRPr lang="ru-RU" dirty="0"/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685800" y="2499742"/>
            <a:ext cx="7772400" cy="1314450"/>
          </a:xfrm>
        </p:spPr>
        <p:txBody>
          <a:bodyPr>
            <a:normAutofit/>
          </a:bodyPr>
          <a:lstStyle/>
          <a:p>
            <a:r>
              <a:rPr lang="en-US" dirty="0"/>
              <a:t>Spring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054"/>
            <a:ext cx="8229600" cy="857250"/>
          </a:xfrm>
        </p:spPr>
        <p:txBody>
          <a:bodyPr>
            <a:normAutofit/>
          </a:bodyPr>
          <a:lstStyle/>
          <a:p>
            <a:r>
              <a:rPr lang="en-US" dirty="0"/>
              <a:t>Spring framework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t>2</a:t>
            </a:fld>
            <a:endParaRPr lang="ru-RU"/>
          </a:p>
        </p:txBody>
      </p:sp>
      <p:sp>
        <p:nvSpPr>
          <p:cNvPr id="16" name="Подзаголовок 6">
            <a:extLst>
              <a:ext uri="{FF2B5EF4-FFF2-40B4-BE49-F238E27FC236}">
                <a16:creationId xmlns:a16="http://schemas.microsoft.com/office/drawing/2014/main" id="{F8E89ABA-374F-4401-8445-7A09744BF987}"/>
              </a:ext>
            </a:extLst>
          </p:cNvPr>
          <p:cNvSpPr txBox="1">
            <a:spLocks/>
          </p:cNvSpPr>
          <p:nvPr/>
        </p:nvSpPr>
        <p:spPr>
          <a:xfrm>
            <a:off x="251520" y="1491629"/>
            <a:ext cx="6120680" cy="28083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000" b="1" dirty="0" err="1">
                <a:cs typeface="Times New Roman" panose="02020603050405020304" pitchFamily="18" charset="0"/>
              </a:rPr>
              <a:t>Spring</a:t>
            </a:r>
            <a:r>
              <a:rPr lang="ru-RU" sz="2000" b="1" dirty="0"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cs typeface="Times New Roman" panose="02020603050405020304" pitchFamily="18" charset="0"/>
              </a:rPr>
              <a:t>Framework</a:t>
            </a:r>
            <a:r>
              <a:rPr lang="ru-RU" sz="2000" b="1" dirty="0">
                <a:cs typeface="Times New Roman" panose="02020603050405020304" pitchFamily="18" charset="0"/>
              </a:rPr>
              <a:t> (или коротко </a:t>
            </a:r>
            <a:r>
              <a:rPr lang="ru-RU" sz="2000" b="1" dirty="0" err="1">
                <a:cs typeface="Times New Roman" panose="02020603050405020304" pitchFamily="18" charset="0"/>
              </a:rPr>
              <a:t>Spring</a:t>
            </a:r>
            <a:r>
              <a:rPr lang="ru-RU" sz="2000" b="1" dirty="0">
                <a:cs typeface="Times New Roman" panose="02020603050405020304" pitchFamily="18" charset="0"/>
              </a:rPr>
              <a:t>) </a:t>
            </a:r>
            <a:r>
              <a:rPr lang="ru-RU" sz="2000" dirty="0">
                <a:cs typeface="Times New Roman" panose="02020603050405020304" pitchFamily="18" charset="0"/>
              </a:rPr>
              <a:t>— универсальная платформа с открытым исходным кодом для </a:t>
            </a:r>
            <a:r>
              <a:rPr lang="ru-RU" sz="2000" dirty="0" err="1">
                <a:cs typeface="Times New Roman" panose="02020603050405020304" pitchFamily="18" charset="0"/>
              </a:rPr>
              <a:t>Java</a:t>
            </a:r>
            <a:r>
              <a:rPr lang="ru-RU" sz="2000" dirty="0">
                <a:cs typeface="Times New Roman" panose="02020603050405020304" pitchFamily="18" charset="0"/>
              </a:rPr>
              <a:t>-платформы.</a:t>
            </a:r>
          </a:p>
          <a:p>
            <a:pPr algn="just"/>
            <a:r>
              <a:rPr lang="ru-RU" sz="2000" dirty="0" err="1">
                <a:cs typeface="Times New Roman" panose="02020603050405020304" pitchFamily="18" charset="0"/>
              </a:rPr>
              <a:t>Spring</a:t>
            </a:r>
            <a:r>
              <a:rPr lang="ru-RU" sz="2000" dirty="0">
                <a:cs typeface="Times New Roman" panose="02020603050405020304" pitchFamily="18" charset="0"/>
              </a:rPr>
              <a:t> - </a:t>
            </a:r>
            <a:r>
              <a:rPr lang="ru-RU" sz="2000" dirty="0"/>
              <a:t>набор средств и инструментов для</a:t>
            </a:r>
            <a:r>
              <a:rPr lang="ru-RU" sz="2000" dirty="0">
                <a:cs typeface="Times New Roman" panose="02020603050405020304" pitchFamily="18" charset="0"/>
              </a:rPr>
              <a:t> решения многих задач, с которыми сталкиваются </a:t>
            </a:r>
            <a:r>
              <a:rPr lang="ru-RU" sz="2000" dirty="0" err="1">
                <a:cs typeface="Times New Roman" panose="02020603050405020304" pitchFamily="18" charset="0"/>
              </a:rPr>
              <a:t>Java</a:t>
            </a:r>
            <a:r>
              <a:rPr lang="ru-RU" sz="2000" dirty="0">
                <a:cs typeface="Times New Roman" panose="02020603050405020304" pitchFamily="18" charset="0"/>
              </a:rPr>
              <a:t>-разработчики и организации. </a:t>
            </a:r>
          </a:p>
          <a:p>
            <a:pPr algn="just"/>
            <a:r>
              <a:rPr lang="ru-RU" sz="2000" dirty="0"/>
              <a:t>С помощью </a:t>
            </a:r>
            <a:r>
              <a:rPr lang="ru-RU" sz="2000" dirty="0" err="1"/>
              <a:t>Spring</a:t>
            </a:r>
            <a:r>
              <a:rPr lang="ru-RU" sz="2000" dirty="0"/>
              <a:t> </a:t>
            </a:r>
            <a:r>
              <a:rPr lang="ru-RU" sz="2000" dirty="0" err="1"/>
              <a:t>Framework</a:t>
            </a:r>
            <a:r>
              <a:rPr lang="ru-RU" sz="2000" dirty="0"/>
              <a:t> можно создавать веб- и консольные приложения.</a:t>
            </a:r>
            <a:endParaRPr lang="en-US" sz="2000" dirty="0"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AFD75F-E183-47AB-BAFC-D325C31D3C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75" t="32675" r="20863" b="32675"/>
          <a:stretch/>
        </p:blipFill>
        <p:spPr>
          <a:xfrm>
            <a:off x="6729001" y="2281392"/>
            <a:ext cx="1979712" cy="580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4458C-EC34-49A3-A6CE-D8F49E364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устроен фреймворк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ABB2F-593E-40B8-8F58-1297B9FE2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2"/>
            <a:ext cx="8229600" cy="821205"/>
          </a:xfrm>
        </p:spPr>
        <p:txBody>
          <a:bodyPr>
            <a:normAutofit fontScale="85000" lnSpcReduction="20000"/>
          </a:bodyPr>
          <a:lstStyle/>
          <a:p>
            <a:r>
              <a:rPr lang="ru-RU" dirty="0" err="1"/>
              <a:t>Spring</a:t>
            </a:r>
            <a:r>
              <a:rPr lang="ru-RU" dirty="0"/>
              <a:t> — модульный, то есть состоит из множества компонентов, мини-фреймворков.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0A873-0C56-4BFD-9468-699E819D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3</a:t>
            </a:fld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9FD833-58DD-47C3-9560-20ABE8782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881" y="2249947"/>
            <a:ext cx="6300237" cy="21401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8BC8360-6C3B-4431-85BE-C763CEB8005A}"/>
              </a:ext>
            </a:extLst>
          </p:cNvPr>
          <p:cNvSpPr/>
          <p:nvPr/>
        </p:nvSpPr>
        <p:spPr>
          <a:xfrm>
            <a:off x="2843810" y="4424795"/>
            <a:ext cx="584299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Можно подключать только те модули, что нужны для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47827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C0B99-C4F0-493C-8677-715CC9B4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Core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828D8-BF09-4050-B363-29CE3C2FA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Spring Core </a:t>
            </a:r>
            <a:r>
              <a:rPr lang="en-US" dirty="0"/>
              <a:t>- </a:t>
            </a:r>
            <a:r>
              <a:rPr lang="ru-RU" dirty="0"/>
              <a:t>это базовый модуль </a:t>
            </a:r>
            <a:r>
              <a:rPr lang="en-US" dirty="0"/>
              <a:t>Spring Framework, </a:t>
            </a:r>
            <a:r>
              <a:rPr lang="ru-RU" dirty="0"/>
              <a:t>который предоставляет функциональность </a:t>
            </a:r>
            <a:r>
              <a:rPr lang="en-US" b="1" i="1" dirty="0"/>
              <a:t>Inversion of Control (</a:t>
            </a:r>
            <a:r>
              <a:rPr lang="en-US" b="1" i="1" dirty="0" err="1"/>
              <a:t>IoC</a:t>
            </a:r>
            <a:r>
              <a:rPr lang="en-US" b="1" i="1" dirty="0"/>
              <a:t>) </a:t>
            </a:r>
            <a:r>
              <a:rPr lang="ru-RU" dirty="0"/>
              <a:t>и </a:t>
            </a:r>
            <a:r>
              <a:rPr lang="en-US" b="1" i="1" dirty="0"/>
              <a:t>Dependency Injection (DI).</a:t>
            </a:r>
            <a:endParaRPr lang="ru-RU" b="1" i="1" dirty="0"/>
          </a:p>
          <a:p>
            <a:r>
              <a:rPr lang="ru-RU" dirty="0"/>
              <a:t>С помощью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Core</a:t>
            </a:r>
            <a:r>
              <a:rPr lang="ru-RU" dirty="0"/>
              <a:t> вы можете создавать и управлять объектами приложения, внедрять зависимости, решать проблему с избыточной сложности кода, связанной с созданием и настройкой объектов.</a:t>
            </a:r>
            <a:endParaRPr lang="ru-RU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A218D-53BF-448F-8832-760C5766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46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7041-F130-4DC6-B0AA-BF612A1A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Внедрение зависимостей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62DA5-D475-48EE-93A3-82B630B3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81FE73-1B1F-4175-9409-150018593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66774"/>
            <a:ext cx="5626968" cy="20099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865875-99E8-424F-8413-F1D0CCC6B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995" y="3219822"/>
            <a:ext cx="5647981" cy="13297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Arrow: Bent 9">
            <a:extLst>
              <a:ext uri="{FF2B5EF4-FFF2-40B4-BE49-F238E27FC236}">
                <a16:creationId xmlns:a16="http://schemas.microsoft.com/office/drawing/2014/main" id="{F212F899-A20B-46F6-B7DD-3504E33F4B01}"/>
              </a:ext>
            </a:extLst>
          </p:cNvPr>
          <p:cNvSpPr/>
          <p:nvPr/>
        </p:nvSpPr>
        <p:spPr>
          <a:xfrm rot="5400000">
            <a:off x="6372200" y="2285159"/>
            <a:ext cx="504056" cy="288032"/>
          </a:xfrm>
          <a:prstGeom prst="ben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741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74BBD4-FAD0-4E89-B23B-6EB23EFDE1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89" b="887"/>
          <a:stretch/>
        </p:blipFill>
        <p:spPr>
          <a:xfrm>
            <a:off x="6527688" y="3013409"/>
            <a:ext cx="2796840" cy="22946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284E0B-F70E-43CA-9A4F-E6BA1F31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Внедрение зависимости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C7855-5945-4B29-A6F0-86D5B58D2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7355160" cy="3165881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 err="1"/>
              <a:t>Dependency</a:t>
            </a:r>
            <a:r>
              <a:rPr lang="ru-RU" b="1" dirty="0"/>
              <a:t> </a:t>
            </a:r>
            <a:r>
              <a:rPr lang="ru-RU" b="1" dirty="0" err="1"/>
              <a:t>Injection</a:t>
            </a:r>
            <a:r>
              <a:rPr lang="ru-RU" dirty="0"/>
              <a:t>, </a:t>
            </a:r>
            <a:r>
              <a:rPr lang="ru-RU" b="1" dirty="0"/>
              <a:t>внедрение зависимостей</a:t>
            </a:r>
            <a:r>
              <a:rPr lang="ru-RU" dirty="0"/>
              <a:t> - одна из реализаций подхода инверсии управления, </a:t>
            </a:r>
            <a:r>
              <a:rPr lang="en-US" i="1" dirty="0"/>
              <a:t>Inversion of Control (</a:t>
            </a:r>
            <a:r>
              <a:rPr lang="en-US" i="1" dirty="0" err="1"/>
              <a:t>IoC</a:t>
            </a:r>
            <a:r>
              <a:rPr lang="en-US" i="1" dirty="0"/>
              <a:t>)</a:t>
            </a:r>
            <a:endParaRPr lang="ru-RU" i="1" dirty="0"/>
          </a:p>
          <a:p>
            <a:r>
              <a:rPr lang="ru-RU" b="1" dirty="0" err="1"/>
              <a:t>IoC</a:t>
            </a:r>
            <a:r>
              <a:rPr lang="ru-RU" dirty="0"/>
              <a:t> - это принцип ООП, используемый для уменьшения связанности между классами и объектами.</a:t>
            </a:r>
          </a:p>
          <a:p>
            <a:r>
              <a:rPr lang="ru-RU" b="1" dirty="0" err="1"/>
              <a:t>IoC</a:t>
            </a:r>
            <a:r>
              <a:rPr lang="ru-RU" dirty="0"/>
              <a:t> — это делегирование части наших обязанностей внешнему компоненту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2475F-B630-4E89-AF94-0506AFAF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3221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05864-E2BE-4072-8025-26D0D5B29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 </a:t>
            </a:r>
            <a:r>
              <a:rPr lang="en-US" dirty="0"/>
              <a:t>Spring IOC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813F-CC98-4577-A0B8-773AD2BC5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Контейнер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IoC</a:t>
            </a:r>
            <a:r>
              <a:rPr lang="ru-RU" dirty="0"/>
              <a:t> — это программа, которая внедряет зависимости в объект и делает его готовым к использованию.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70EE5-EF33-461B-BCAB-0C0D820A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D64C8-B5C7-45A1-83C0-45107FBF7F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39" t="10585" r="3767"/>
          <a:stretch/>
        </p:blipFill>
        <p:spPr>
          <a:xfrm>
            <a:off x="3563888" y="2895055"/>
            <a:ext cx="3944287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38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F3BA-D971-44BF-9B26-4C0A604DF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Bean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479BB-E495-45D2-9817-BD592C92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354BAA-DA62-484F-AA0C-63700FDF21DD}"/>
              </a:ext>
            </a:extLst>
          </p:cNvPr>
          <p:cNvSpPr/>
          <p:nvPr/>
        </p:nvSpPr>
        <p:spPr>
          <a:xfrm>
            <a:off x="457200" y="1357304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Бин (</a:t>
            </a:r>
            <a:r>
              <a:rPr lang="ru-RU" b="1" dirty="0" err="1"/>
              <a:t>bean</a:t>
            </a:r>
            <a:r>
              <a:rPr lang="ru-RU" b="1" dirty="0"/>
              <a:t>) </a:t>
            </a:r>
            <a:r>
              <a:rPr lang="ru-RU" dirty="0"/>
              <a:t>- это объект, который создается, компонуется и управляется </a:t>
            </a:r>
            <a:r>
              <a:rPr lang="ru-RU" dirty="0" err="1"/>
              <a:t>IoC</a:t>
            </a:r>
            <a:r>
              <a:rPr lang="ru-RU" dirty="0"/>
              <a:t>-контейнером </a:t>
            </a:r>
            <a:r>
              <a:rPr lang="ru-RU" dirty="0" err="1"/>
              <a:t>Spring</a:t>
            </a:r>
            <a:r>
              <a:rPr lang="ru-RU" dirty="0"/>
              <a:t>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5F30536-A21C-4DF9-9821-BA26EC3F57E0}"/>
              </a:ext>
            </a:extLst>
          </p:cNvPr>
          <p:cNvGrpSpPr/>
          <p:nvPr/>
        </p:nvGrpSpPr>
        <p:grpSpPr>
          <a:xfrm>
            <a:off x="457200" y="2137767"/>
            <a:ext cx="4797981" cy="2004198"/>
            <a:chOff x="457200" y="2422380"/>
            <a:chExt cx="4797981" cy="200419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4EB5937-E0DD-404E-95E4-6004B20417CE}"/>
                </a:ext>
              </a:extLst>
            </p:cNvPr>
            <p:cNvSpPr txBox="1"/>
            <p:nvPr/>
          </p:nvSpPr>
          <p:spPr>
            <a:xfrm>
              <a:off x="457200" y="2422380"/>
              <a:ext cx="123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200" dirty="0"/>
                <a:t>Контейнер запущен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B157A0D-5C92-4B71-999F-D03F2F21F89A}"/>
                </a:ext>
              </a:extLst>
            </p:cNvPr>
            <p:cNvSpPr/>
            <p:nvPr/>
          </p:nvSpPr>
          <p:spPr>
            <a:xfrm>
              <a:off x="457200" y="3129447"/>
              <a:ext cx="1234480" cy="512004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Бин создан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7D20E90-AAC6-42F2-9EA9-1E62BC58D885}"/>
                </a:ext>
              </a:extLst>
            </p:cNvPr>
            <p:cNvSpPr/>
            <p:nvPr/>
          </p:nvSpPr>
          <p:spPr>
            <a:xfrm>
              <a:off x="2234070" y="3141379"/>
              <a:ext cx="1234480" cy="512004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Внедрение зависимостей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D0A817C-9559-4142-B697-1BEFF6535BF0}"/>
                </a:ext>
              </a:extLst>
            </p:cNvPr>
            <p:cNvSpPr/>
            <p:nvPr/>
          </p:nvSpPr>
          <p:spPr>
            <a:xfrm>
              <a:off x="4010940" y="3139866"/>
              <a:ext cx="1234480" cy="512004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Бин инициали</a:t>
              </a:r>
              <a:r>
                <a:rPr lang="en-US" sz="1200" dirty="0"/>
                <a:t>-</a:t>
              </a:r>
              <a:r>
                <a:rPr lang="ru-RU" sz="1200" dirty="0" err="1"/>
                <a:t>зирован</a:t>
              </a:r>
              <a:endParaRPr lang="ru-RU" sz="1200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045E42E-D2BD-45F7-83B3-075C2EA4801D}"/>
                </a:ext>
              </a:extLst>
            </p:cNvPr>
            <p:cNvSpPr/>
            <p:nvPr/>
          </p:nvSpPr>
          <p:spPr>
            <a:xfrm>
              <a:off x="457200" y="3914574"/>
              <a:ext cx="1234480" cy="512004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400" dirty="0"/>
                <a:t>Бин уничтожен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FF545FB-0913-4F6E-AC9D-D356F1AEF3FD}"/>
                </a:ext>
              </a:extLst>
            </p:cNvPr>
            <p:cNvSpPr/>
            <p:nvPr/>
          </p:nvSpPr>
          <p:spPr>
            <a:xfrm>
              <a:off x="2247068" y="3914574"/>
              <a:ext cx="1234480" cy="512004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/>
                <a:t>Бин используется приложением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A041B8-0B29-4C05-B496-423F08153592}"/>
                </a:ext>
              </a:extLst>
            </p:cNvPr>
            <p:cNvSpPr txBox="1"/>
            <p:nvPr/>
          </p:nvSpPr>
          <p:spPr>
            <a:xfrm>
              <a:off x="4020701" y="3936137"/>
              <a:ext cx="12344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200" dirty="0"/>
                <a:t>Бин готов к использованию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816FCC1-ADD3-48E6-87A1-8413518F6433}"/>
                </a:ext>
              </a:extLst>
            </p:cNvPr>
            <p:cNvCxnSpPr>
              <a:stCxn id="5" idx="2"/>
              <a:endCxn id="7" idx="0"/>
            </p:cNvCxnSpPr>
            <p:nvPr/>
          </p:nvCxnSpPr>
          <p:spPr>
            <a:xfrm>
              <a:off x="1074440" y="2884045"/>
              <a:ext cx="0" cy="245402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199897F-472E-43B2-A843-941AD7DFF42E}"/>
                </a:ext>
              </a:extLst>
            </p:cNvPr>
            <p:cNvCxnSpPr>
              <a:stCxn id="7" idx="3"/>
              <a:endCxn id="9" idx="1"/>
            </p:cNvCxnSpPr>
            <p:nvPr/>
          </p:nvCxnSpPr>
          <p:spPr>
            <a:xfrm>
              <a:off x="1691680" y="3385449"/>
              <a:ext cx="542390" cy="11932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D8A9F35-DBA7-46A2-B05C-6DD3FB0F43D7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 flipV="1">
              <a:off x="3468550" y="3395868"/>
              <a:ext cx="542390" cy="1513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6A1B427-E188-4E38-9D88-5CE2C9DEEC81}"/>
                </a:ext>
              </a:extLst>
            </p:cNvPr>
            <p:cNvCxnSpPr>
              <a:stCxn id="10" idx="2"/>
              <a:endCxn id="13" idx="0"/>
            </p:cNvCxnSpPr>
            <p:nvPr/>
          </p:nvCxnSpPr>
          <p:spPr>
            <a:xfrm>
              <a:off x="4628180" y="3651870"/>
              <a:ext cx="9761" cy="284267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A8EA4AA-5536-4457-A0AD-F09968B103DD}"/>
                </a:ext>
              </a:extLst>
            </p:cNvPr>
            <p:cNvCxnSpPr>
              <a:stCxn id="13" idx="1"/>
              <a:endCxn id="12" idx="3"/>
            </p:cNvCxnSpPr>
            <p:nvPr/>
          </p:nvCxnSpPr>
          <p:spPr>
            <a:xfrm flipH="1">
              <a:off x="3481548" y="4166970"/>
              <a:ext cx="539153" cy="3606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3927CEA-C64E-4D89-A537-8055550E17CB}"/>
                </a:ext>
              </a:extLst>
            </p:cNvPr>
            <p:cNvCxnSpPr>
              <a:stCxn id="12" idx="1"/>
              <a:endCxn id="11" idx="3"/>
            </p:cNvCxnSpPr>
            <p:nvPr/>
          </p:nvCxnSpPr>
          <p:spPr>
            <a:xfrm flipH="1">
              <a:off x="1691680" y="4170576"/>
              <a:ext cx="555388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30" name="Picture 2" descr="Эдамаме зеленые соевые бобы - Кулинарная энциклопедия от Гранд кулинара">
            <a:extLst>
              <a:ext uri="{FF2B5EF4-FFF2-40B4-BE49-F238E27FC236}">
                <a16:creationId xmlns:a16="http://schemas.microsoft.com/office/drawing/2014/main" id="{D1C731AB-7FE2-46E8-AA1D-0535C0A6C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526" y="2085853"/>
            <a:ext cx="2620030" cy="2620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692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C8DC-FE4F-4B8A-8C78-F3CB74CF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Область видимости </a:t>
            </a:r>
            <a:r>
              <a:rPr lang="ru-RU" dirty="0" err="1"/>
              <a:t>бинов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07EA6-53C7-4C86-9E57-A33F40705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 err="1"/>
              <a:t>Bean</a:t>
            </a:r>
            <a:r>
              <a:rPr lang="ru-RU" sz="1400" dirty="0"/>
              <a:t> </a:t>
            </a:r>
            <a:r>
              <a:rPr lang="ru-RU" sz="1400" dirty="0" err="1"/>
              <a:t>scope</a:t>
            </a:r>
            <a:r>
              <a:rPr lang="ru-RU" sz="1400" dirty="0"/>
              <a:t> определяет, как долго будет существовать экземпляр </a:t>
            </a:r>
            <a:r>
              <a:rPr lang="ru-RU" sz="1400" dirty="0" err="1"/>
              <a:t>бина</a:t>
            </a:r>
            <a:r>
              <a:rPr lang="ru-RU" sz="1400" dirty="0"/>
              <a:t> и какой будет его область видимости внутри приложения.</a:t>
            </a:r>
            <a:endParaRPr lang="en-US" sz="1400" dirty="0"/>
          </a:p>
          <a:p>
            <a:r>
              <a:rPr lang="ru-RU" sz="1400" b="1" dirty="0" err="1"/>
              <a:t>Singleton</a:t>
            </a:r>
            <a:r>
              <a:rPr lang="ru-RU" sz="1400" dirty="0"/>
              <a:t>: Контейнер создает только один экземпляр </a:t>
            </a:r>
            <a:r>
              <a:rPr lang="ru-RU" sz="1400" dirty="0" err="1"/>
              <a:t>бина</a:t>
            </a:r>
            <a:r>
              <a:rPr lang="ru-RU" sz="1400" dirty="0"/>
              <a:t> и делит его между всеми запросами. </a:t>
            </a:r>
          </a:p>
          <a:p>
            <a:r>
              <a:rPr lang="ru-RU" sz="1400" b="1" dirty="0" err="1"/>
              <a:t>Prototype</a:t>
            </a:r>
            <a:r>
              <a:rPr lang="ru-RU" sz="1400" dirty="0"/>
              <a:t>: контейнер создает новый экземпляр </a:t>
            </a:r>
            <a:r>
              <a:rPr lang="ru-RU" sz="1400" dirty="0" err="1"/>
              <a:t>бина</a:t>
            </a:r>
            <a:r>
              <a:rPr lang="ru-RU" sz="1400" dirty="0"/>
              <a:t> каждый раз, когда он запрашивается. </a:t>
            </a:r>
          </a:p>
          <a:p>
            <a:r>
              <a:rPr lang="ru-RU" sz="1400" b="1" dirty="0" err="1"/>
              <a:t>Request</a:t>
            </a:r>
            <a:r>
              <a:rPr lang="ru-RU" sz="1400" dirty="0"/>
              <a:t>: Этот </a:t>
            </a:r>
            <a:r>
              <a:rPr lang="ru-RU" sz="1400" dirty="0" err="1"/>
              <a:t>scope</a:t>
            </a:r>
            <a:r>
              <a:rPr lang="ru-RU" sz="1400" dirty="0"/>
              <a:t> связан с жизненным циклом HTTP запроса. </a:t>
            </a:r>
            <a:r>
              <a:rPr lang="ru-RU" sz="1400" dirty="0" err="1"/>
              <a:t>Spring</a:t>
            </a:r>
            <a:r>
              <a:rPr lang="ru-RU" sz="1400" dirty="0"/>
              <a:t> контейнер создает новый экземпляр </a:t>
            </a:r>
            <a:r>
              <a:rPr lang="ru-RU" sz="1400" dirty="0" err="1"/>
              <a:t>бина</a:t>
            </a:r>
            <a:r>
              <a:rPr lang="ru-RU" sz="1400" dirty="0"/>
              <a:t> для каждого HTTP запроса и уничтожает его по завершении запроса.</a:t>
            </a:r>
          </a:p>
          <a:p>
            <a:r>
              <a:rPr lang="ru-RU" sz="1400" b="1" dirty="0" err="1"/>
              <a:t>Session</a:t>
            </a:r>
            <a:r>
              <a:rPr lang="ru-RU" sz="1400" dirty="0"/>
              <a:t>: Этот </a:t>
            </a:r>
            <a:r>
              <a:rPr lang="ru-RU" sz="1400" dirty="0" err="1"/>
              <a:t>scope</a:t>
            </a:r>
            <a:r>
              <a:rPr lang="ru-RU" sz="1400" dirty="0"/>
              <a:t> связан с жизненным циклом HTTP сессии. </a:t>
            </a:r>
            <a:r>
              <a:rPr lang="ru-RU" sz="1400" dirty="0" err="1"/>
              <a:t>Spring</a:t>
            </a:r>
            <a:r>
              <a:rPr lang="ru-RU" sz="1400" dirty="0"/>
              <a:t> контейнер создает новый экземпляр </a:t>
            </a:r>
            <a:r>
              <a:rPr lang="ru-RU" sz="1400" dirty="0" err="1"/>
              <a:t>бина</a:t>
            </a:r>
            <a:r>
              <a:rPr lang="ru-RU" sz="1400" dirty="0"/>
              <a:t> для каждой HTTP сессии и уничтожает его по завершении сессии.</a:t>
            </a:r>
          </a:p>
          <a:p>
            <a:r>
              <a:rPr lang="ru-RU" sz="1400" b="1" dirty="0" err="1"/>
              <a:t>Application</a:t>
            </a:r>
            <a:r>
              <a:rPr lang="ru-RU" sz="1400" dirty="0"/>
              <a:t>: Этот </a:t>
            </a:r>
            <a:r>
              <a:rPr lang="ru-RU" sz="1400" dirty="0" err="1"/>
              <a:t>scope</a:t>
            </a:r>
            <a:r>
              <a:rPr lang="ru-RU" sz="1400" dirty="0"/>
              <a:t> связан с жизненным циклом веб-приложения. </a:t>
            </a:r>
            <a:r>
              <a:rPr lang="ru-RU" sz="1400" dirty="0" err="1"/>
              <a:t>Spring</a:t>
            </a:r>
            <a:r>
              <a:rPr lang="ru-RU" sz="1400" dirty="0"/>
              <a:t> контейнер создает только один экземпляр </a:t>
            </a:r>
            <a:r>
              <a:rPr lang="ru-RU" sz="1400" dirty="0" err="1"/>
              <a:t>бина</a:t>
            </a:r>
            <a:r>
              <a:rPr lang="ru-RU" sz="1400" dirty="0"/>
              <a:t> для всего веб-приложения и делит его между всеми запросами.</a:t>
            </a:r>
          </a:p>
          <a:p>
            <a:r>
              <a:rPr lang="ru-RU" sz="1400" b="1" dirty="0" err="1"/>
              <a:t>WebSocket</a:t>
            </a:r>
            <a:r>
              <a:rPr lang="ru-RU" sz="1400" dirty="0"/>
              <a:t>: Этот </a:t>
            </a:r>
            <a:r>
              <a:rPr lang="ru-RU" sz="1400" dirty="0" err="1"/>
              <a:t>scope</a:t>
            </a:r>
            <a:r>
              <a:rPr lang="ru-RU" sz="1400" dirty="0"/>
              <a:t> связан с жизненным циклом </a:t>
            </a:r>
            <a:r>
              <a:rPr lang="ru-RU" sz="1400" dirty="0" err="1"/>
              <a:t>WebSocket</a:t>
            </a:r>
            <a:r>
              <a:rPr lang="ru-RU" sz="1400" dirty="0"/>
              <a:t> соединения. </a:t>
            </a:r>
            <a:r>
              <a:rPr lang="ru-RU" sz="1400" dirty="0" err="1"/>
              <a:t>Spring</a:t>
            </a:r>
            <a:r>
              <a:rPr lang="ru-RU" sz="1400" dirty="0"/>
              <a:t> контейнер создает новый экземпляр </a:t>
            </a:r>
            <a:r>
              <a:rPr lang="ru-RU" sz="1400" dirty="0" err="1"/>
              <a:t>бина</a:t>
            </a:r>
            <a:r>
              <a:rPr lang="ru-RU" sz="1400" dirty="0"/>
              <a:t> для каждого </a:t>
            </a:r>
            <a:r>
              <a:rPr lang="ru-RU" sz="1400" dirty="0" err="1"/>
              <a:t>WebSocket</a:t>
            </a:r>
            <a:r>
              <a:rPr lang="ru-RU" sz="1400" dirty="0"/>
              <a:t> соединения и уничтожает его по завершении соединения.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6CC01-FE16-4B45-8C92-4C3A1A80B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546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1F7E3-5616-4AE9-9FA2-B351DA3B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Способы внедрения зависимостей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B5177-C4FB-4C8F-AE9B-69EE5EE7B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/>
              <a:t>Есть несколько способов </a:t>
            </a:r>
            <a:r>
              <a:rPr lang="en-US" sz="2000" dirty="0"/>
              <a:t>Dependency Injection:</a:t>
            </a:r>
          </a:p>
          <a:p>
            <a:r>
              <a:rPr lang="ru-RU" sz="2000" dirty="0"/>
              <a:t>на основе конструктора (</a:t>
            </a:r>
            <a:r>
              <a:rPr lang="en-US" sz="2000" dirty="0"/>
              <a:t>Constructor-based)</a:t>
            </a:r>
          </a:p>
          <a:p>
            <a:r>
              <a:rPr lang="ru-RU" sz="2000" dirty="0"/>
              <a:t>на основе сеттеров (</a:t>
            </a:r>
            <a:r>
              <a:rPr lang="en-US" sz="2000" dirty="0"/>
              <a:t>Setter-based)</a:t>
            </a:r>
          </a:p>
          <a:p>
            <a:r>
              <a:rPr lang="en-US" sz="2000" dirty="0"/>
              <a:t>Field Injection c</a:t>
            </a:r>
            <a:r>
              <a:rPr lang="ru-RU" sz="2000" dirty="0"/>
              <a:t> аннотацией @</a:t>
            </a:r>
            <a:r>
              <a:rPr lang="en-US" sz="2000" dirty="0" err="1"/>
              <a:t>Autowired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ru-RU" sz="2000" dirty="0"/>
              <a:t>Конфигурацию можно выполнить с помощью</a:t>
            </a:r>
            <a:r>
              <a:rPr lang="en-US" sz="2000" dirty="0"/>
              <a:t>:</a:t>
            </a:r>
          </a:p>
          <a:p>
            <a:r>
              <a:rPr lang="ru-RU" sz="2000" dirty="0"/>
              <a:t>XML-файлов, </a:t>
            </a:r>
            <a:r>
              <a:rPr lang="en-US" sz="2000" dirty="0"/>
              <a:t> </a:t>
            </a:r>
          </a:p>
          <a:p>
            <a:r>
              <a:rPr lang="en-US" sz="2000" dirty="0"/>
              <a:t>Java-</a:t>
            </a:r>
            <a:r>
              <a:rPr lang="ru-RU" sz="2000" dirty="0"/>
              <a:t>конфигурации </a:t>
            </a:r>
            <a:endParaRPr lang="en-US" sz="2000" dirty="0"/>
          </a:p>
          <a:p>
            <a:r>
              <a:rPr lang="ru-RU" sz="2000" dirty="0"/>
              <a:t>Аннотаций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5BD8D-1B78-4A65-AE1B-C5B846C2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4C7AA-0C92-42DA-9F21-6A7880109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78" y="1352021"/>
            <a:ext cx="3549737" cy="10930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69BA4D-A27B-4046-825B-7C3C6F231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535" y="3405929"/>
            <a:ext cx="2530624" cy="6000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09B980-244A-424C-9CD4-C080213A8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152" y="2308493"/>
            <a:ext cx="3145185" cy="9732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7911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1404-E627-4E1A-8D8F-84B77DA58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AOP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A2653-AE53-4DA6-9857-59CFC31CF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4A2CE-E5CF-496D-B079-24CB66C01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661" y="1710126"/>
            <a:ext cx="5338936" cy="3165881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err="1"/>
              <a:t>Aspect-oriented</a:t>
            </a:r>
            <a:r>
              <a:rPr lang="ru-RU" b="1" dirty="0"/>
              <a:t> </a:t>
            </a:r>
            <a:r>
              <a:rPr lang="ru-RU" b="1" dirty="0" err="1"/>
              <a:t>programming</a:t>
            </a:r>
            <a:r>
              <a:rPr lang="ru-RU" b="1" dirty="0"/>
              <a:t> </a:t>
            </a:r>
            <a:r>
              <a:rPr lang="ru-RU" dirty="0"/>
              <a:t>- это программирование при помощи аспектов, позволяющее реализовывать сквозную функциональность.</a:t>
            </a:r>
          </a:p>
          <a:p>
            <a:r>
              <a:rPr lang="ru-RU" dirty="0"/>
              <a:t>Это позволяет вынести прямую зависимость от этой сквозной функциональности ИЗ классов.</a:t>
            </a:r>
          </a:p>
          <a:p>
            <a:r>
              <a:rPr lang="ru-RU" dirty="0"/>
              <a:t>Аспект вызывается не напрямую из метода, а при помощи AOP.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6FD64-4BC4-417E-A340-A76E5BF27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2211710"/>
            <a:ext cx="2538066" cy="178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52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02DD-045A-4500-92D7-B8DE0CE7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Аспектно</a:t>
            </a:r>
            <a:r>
              <a:rPr lang="ru-RU" dirty="0"/>
              <a:t>-ориентированное программирование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5AD48-0028-46CD-B615-987B9F6B1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4210498" cy="3015217"/>
          </a:xfrm>
        </p:spPr>
        <p:txBody>
          <a:bodyPr>
            <a:normAutofit fontScale="47500" lnSpcReduction="20000"/>
          </a:bodyPr>
          <a:lstStyle/>
          <a:p>
            <a:r>
              <a:rPr lang="ru-RU" b="1" dirty="0" err="1"/>
              <a:t>Aspect</a:t>
            </a:r>
            <a:r>
              <a:rPr lang="ru-RU" dirty="0"/>
              <a:t> - это класс, который содержит логику, которая "пронизывает" (</a:t>
            </a:r>
            <a:r>
              <a:rPr lang="ru-RU" dirty="0" err="1"/>
              <a:t>cuts</a:t>
            </a:r>
            <a:r>
              <a:rPr lang="ru-RU" dirty="0"/>
              <a:t> </a:t>
            </a:r>
            <a:r>
              <a:rPr lang="ru-RU" dirty="0" err="1"/>
              <a:t>across</a:t>
            </a:r>
            <a:r>
              <a:rPr lang="ru-RU" dirty="0"/>
              <a:t>) другие классы.</a:t>
            </a:r>
          </a:p>
          <a:p>
            <a:r>
              <a:rPr lang="ru-RU" b="1" dirty="0" err="1"/>
              <a:t>Joinpoint</a:t>
            </a:r>
            <a:r>
              <a:rPr lang="ru-RU" dirty="0"/>
              <a:t> - некоторая точка, в которой необходимо присоединить аспект. В </a:t>
            </a:r>
            <a:r>
              <a:rPr lang="ru-RU" dirty="0" err="1"/>
              <a:t>Spring</a:t>
            </a:r>
            <a:r>
              <a:rPr lang="ru-RU" dirty="0"/>
              <a:t> AOP это всегда метод.</a:t>
            </a:r>
          </a:p>
          <a:p>
            <a:r>
              <a:rPr lang="ru-RU" b="1" dirty="0" err="1"/>
              <a:t>Advice</a:t>
            </a:r>
            <a:r>
              <a:rPr lang="ru-RU" dirty="0"/>
              <a:t> - это некоторое "уведомление" (слово </a:t>
            </a:r>
            <a:r>
              <a:rPr lang="ru-RU" dirty="0" err="1"/>
              <a:t>Advice</a:t>
            </a:r>
            <a:r>
              <a:rPr lang="ru-RU" dirty="0"/>
              <a:t> переводится и так тоже), т.е. когда уведомлять, что нужно применить аспект. Существуют разные </a:t>
            </a:r>
            <a:r>
              <a:rPr lang="ru-RU" dirty="0" err="1"/>
              <a:t>advice</a:t>
            </a:r>
            <a:r>
              <a:rPr lang="ru-RU" dirty="0"/>
              <a:t>, например: "</a:t>
            </a:r>
            <a:r>
              <a:rPr lang="ru-RU" dirty="0" err="1"/>
              <a:t>around</a:t>
            </a:r>
            <a:r>
              <a:rPr lang="ru-RU" dirty="0"/>
              <a:t>" (во время вызова), "</a:t>
            </a:r>
            <a:r>
              <a:rPr lang="ru-RU" dirty="0" err="1"/>
              <a:t>before</a:t>
            </a:r>
            <a:r>
              <a:rPr lang="ru-RU" dirty="0"/>
              <a:t>" и "</a:t>
            </a:r>
            <a:r>
              <a:rPr lang="ru-RU" dirty="0" err="1"/>
              <a:t>after</a:t>
            </a:r>
            <a:r>
              <a:rPr lang="ru-RU" dirty="0"/>
              <a:t>" (до и после вызова соответствующе).</a:t>
            </a:r>
          </a:p>
          <a:p>
            <a:r>
              <a:rPr lang="ru-RU" b="1" dirty="0" err="1"/>
              <a:t>Pointcut</a:t>
            </a:r>
            <a:r>
              <a:rPr lang="ru-RU" dirty="0"/>
              <a:t> - предикат, который отвечает на вопрос, нужно ли применять </a:t>
            </a:r>
            <a:r>
              <a:rPr lang="ru-RU" dirty="0" err="1"/>
              <a:t>advice</a:t>
            </a:r>
            <a:r>
              <a:rPr lang="ru-RU" dirty="0"/>
              <a:t> к указанной </a:t>
            </a:r>
            <a:r>
              <a:rPr lang="ru-RU" dirty="0" err="1"/>
              <a:t>joint</a:t>
            </a:r>
            <a:r>
              <a:rPr lang="ru-RU" dirty="0"/>
              <a:t> </a:t>
            </a:r>
            <a:r>
              <a:rPr lang="ru-RU" dirty="0" err="1"/>
              <a:t>point</a:t>
            </a:r>
            <a:r>
              <a:rPr lang="ru-RU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E2A2C-3BE2-4966-9155-555825704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C05F06-628E-463B-B926-F6803BF50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698" y="1800902"/>
            <a:ext cx="4210498" cy="13028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6EB1E3-2CA2-4BCC-AE08-808ADE339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698" y="3382636"/>
            <a:ext cx="4376744" cy="4543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2861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94D7-80E4-49B0-B6C6-FBB32DD4E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</a:t>
            </a:r>
            <a:r>
              <a:rPr lang="ru-RU" dirty="0"/>
              <a:t> </a:t>
            </a:r>
            <a:r>
              <a:rPr lang="en-US" dirty="0"/>
              <a:t>MVC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E9532-31A2-4862-8ABD-4B9EFB21B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344322-B349-49D5-842C-971402A91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2003569"/>
            <a:ext cx="3573123" cy="201622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1291F-FDC8-42EB-B882-173E4F41B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5117447" cy="316588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z="2400" dirty="0" err="1"/>
              <a:t>Spring</a:t>
            </a:r>
            <a:r>
              <a:rPr lang="ru-RU" sz="2400" dirty="0"/>
              <a:t> </a:t>
            </a:r>
            <a:r>
              <a:rPr lang="ru-RU" sz="2400" dirty="0" err="1"/>
              <a:t>Web</a:t>
            </a:r>
            <a:r>
              <a:rPr lang="ru-RU" sz="2400" dirty="0"/>
              <a:t> MVC предлагает архитектуру </a:t>
            </a:r>
            <a:r>
              <a:rPr lang="en-US" sz="2400" dirty="0"/>
              <a:t>“</a:t>
            </a:r>
            <a:r>
              <a:rPr lang="ru-RU" sz="2400" dirty="0"/>
              <a:t>модель-представление-контроллер</a:t>
            </a:r>
            <a:r>
              <a:rPr lang="en-US" sz="2400" dirty="0"/>
              <a:t>”</a:t>
            </a:r>
          </a:p>
          <a:p>
            <a:r>
              <a:rPr lang="ru-RU" sz="2400" b="1" dirty="0"/>
              <a:t>Модель</a:t>
            </a:r>
            <a:r>
              <a:rPr lang="ru-RU" sz="2400" dirty="0"/>
              <a:t> — этот компонент отвечает за данные, а также определяет структуру приложения. Например, если вы создаете </a:t>
            </a:r>
            <a:r>
              <a:rPr lang="ru-RU" sz="2400" dirty="0" err="1"/>
              <a:t>To-Do</a:t>
            </a:r>
            <a:r>
              <a:rPr lang="ru-RU" sz="2400" dirty="0"/>
              <a:t> приложение, код компонента </a:t>
            </a:r>
            <a:r>
              <a:rPr lang="ru-RU" sz="2400" dirty="0" err="1"/>
              <a:t>model</a:t>
            </a:r>
            <a:r>
              <a:rPr lang="ru-RU" sz="2400" dirty="0"/>
              <a:t> будет определять список задач и отдельные задачи.</a:t>
            </a:r>
          </a:p>
          <a:p>
            <a:r>
              <a:rPr lang="ru-RU" sz="2400" b="1" dirty="0"/>
              <a:t>Представление</a:t>
            </a:r>
            <a:r>
              <a:rPr lang="ru-RU" sz="2400" dirty="0"/>
              <a:t> — этот компонент отвечает за взаимодействие с пользователем. То есть код компонента </a:t>
            </a:r>
            <a:r>
              <a:rPr lang="ru-RU" sz="2400" dirty="0" err="1"/>
              <a:t>view</a:t>
            </a:r>
            <a:r>
              <a:rPr lang="ru-RU" sz="2400" dirty="0"/>
              <a:t> определяет внешний вид приложения и способы его использования.</a:t>
            </a:r>
          </a:p>
          <a:p>
            <a:r>
              <a:rPr lang="ru-RU" sz="2400" b="1" dirty="0"/>
              <a:t>Контроллер</a:t>
            </a:r>
            <a:r>
              <a:rPr lang="ru-RU" sz="2400" dirty="0"/>
              <a:t> — этот компонент отвечает за связь между </a:t>
            </a:r>
            <a:r>
              <a:rPr lang="ru-RU" sz="2400" dirty="0" err="1"/>
              <a:t>model</a:t>
            </a:r>
            <a:r>
              <a:rPr lang="ru-RU" sz="2400" dirty="0"/>
              <a:t> и </a:t>
            </a:r>
            <a:r>
              <a:rPr lang="ru-RU" sz="2400" dirty="0" err="1"/>
              <a:t>view</a:t>
            </a:r>
            <a:r>
              <a:rPr lang="ru-RU" sz="2400" dirty="0"/>
              <a:t>. Код компонента </a:t>
            </a:r>
            <a:r>
              <a:rPr lang="ru-RU" sz="2400" dirty="0" err="1"/>
              <a:t>controller</a:t>
            </a:r>
            <a:r>
              <a:rPr lang="ru-RU" sz="2400" dirty="0"/>
              <a:t> определяет, как сайт реагирует на действия пользователя. По сути, это мозг MVC-приложения.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2418951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3E35-8AF4-4510-841A-7ABE08BA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Security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426E5-8A4E-45A0-8A48-C13624180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565"/>
            <a:ext cx="5698976" cy="3165881"/>
          </a:xfrm>
        </p:spPr>
        <p:txBody>
          <a:bodyPr>
            <a:normAutofit fontScale="62500" lnSpcReduction="20000"/>
          </a:bodyPr>
          <a:lstStyle/>
          <a:p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Security</a:t>
            </a:r>
            <a:r>
              <a:rPr lang="ru-RU" dirty="0"/>
              <a:t> — это отдельный модуль среды </a:t>
            </a:r>
            <a:r>
              <a:rPr lang="ru-RU" dirty="0" err="1"/>
              <a:t>Spring</a:t>
            </a:r>
            <a:r>
              <a:rPr lang="ru-RU" dirty="0"/>
              <a:t>, который фокусируется на предоставлении методов аутентификации и авторизации в приложениях </a:t>
            </a:r>
            <a:r>
              <a:rPr lang="ru-RU" dirty="0" err="1"/>
              <a:t>Java</a:t>
            </a:r>
            <a:r>
              <a:rPr lang="ru-RU" dirty="0"/>
              <a:t>. </a:t>
            </a:r>
            <a:endParaRPr lang="en-US" dirty="0"/>
          </a:p>
          <a:p>
            <a:r>
              <a:rPr lang="ru-RU" dirty="0"/>
              <a:t>Он обеспечивает разделение прав пользователей и защиту паролей.</a:t>
            </a:r>
          </a:p>
          <a:p>
            <a:r>
              <a:rPr lang="ru-RU" dirty="0"/>
              <a:t>Он также позаботится о большинстве распространенных уязвимостей безопасности, таких как атаки с использованием межсайтового </a:t>
            </a:r>
            <a:r>
              <a:rPr lang="ru-RU" dirty="0" err="1"/>
              <a:t>скриптинга</a:t>
            </a:r>
            <a:r>
              <a:rPr lang="ru-RU" dirty="0"/>
              <a:t> и подделки запросов.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F32F-D340-447B-B096-A64505AA9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14</a:t>
            </a:fld>
            <a:endParaRPr lang="ru-RU"/>
          </a:p>
        </p:txBody>
      </p:sp>
      <p:pic>
        <p:nvPicPr>
          <p:cNvPr id="4098" name="Picture 2" descr="https://media0.giphy.com/media/v1.Y2lkPTc5MGI3NjExZHVweWUwenlzNXJxNWVhY3ZldDVnMzQ1ZXJxeXIydHBscTdpZjFocCZlcD12MV9pbnRlcm5hbF9naWZfYnlfaWQmY3Q9Zw/3o6MbmTd7iUDK5AiHu/giphy.gif">
            <a:extLst>
              <a:ext uri="{FF2B5EF4-FFF2-40B4-BE49-F238E27FC236}">
                <a16:creationId xmlns:a16="http://schemas.microsoft.com/office/drawing/2014/main" id="{614224C1-7202-4121-B8EF-C802337F035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039" y="1923678"/>
            <a:ext cx="2667921" cy="201205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853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F9CFA-4995-422B-BDD3-8209A8EE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Data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E6F14-2A1E-4E88-B481-D9FB6DF53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8229600" cy="1359033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Объединяет сразу несколько библиотек и отвечает за взаимодействие программ с базами данных. Этот модуль превращает объекты </a:t>
            </a:r>
            <a:r>
              <a:rPr lang="ru-RU" dirty="0" err="1"/>
              <a:t>Java</a:t>
            </a:r>
            <a:r>
              <a:rPr lang="ru-RU" dirty="0"/>
              <a:t> в записи базы данных, позволяет вносить изменения, организовывать быстрый и безопасный доступ к данным.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81571-803B-4C95-83A0-0AE5FFC1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638CD1-7DDE-448B-9456-B7FA41DE5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37" y="2418010"/>
            <a:ext cx="4200526" cy="22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04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339D-3241-41E4-86E8-A80B0A809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Persistence API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627C1-2F74-49D9-BB6E-29D93F28C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5851916" cy="2583169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err="1"/>
              <a:t>Java</a:t>
            </a:r>
            <a:r>
              <a:rPr lang="ru-RU" b="1" dirty="0"/>
              <a:t> </a:t>
            </a:r>
            <a:r>
              <a:rPr lang="ru-RU" b="1" dirty="0" err="1"/>
              <a:t>Persistence</a:t>
            </a:r>
            <a:r>
              <a:rPr lang="ru-RU" b="1" dirty="0"/>
              <a:t> API </a:t>
            </a:r>
            <a:r>
              <a:rPr lang="ru-RU" dirty="0"/>
              <a:t>– это стандартная технология, позволяющая "отображать" объекты на реляционные базы данных.</a:t>
            </a:r>
            <a:endParaRPr lang="en-US" dirty="0"/>
          </a:p>
          <a:p>
            <a:r>
              <a:rPr lang="ru-RU" b="1" dirty="0"/>
              <a:t>Репозитории </a:t>
            </a:r>
            <a:r>
              <a:rPr lang="ru-RU" b="1" dirty="0" err="1"/>
              <a:t>Spring</a:t>
            </a:r>
            <a:r>
              <a:rPr lang="ru-RU" b="1" dirty="0"/>
              <a:t> </a:t>
            </a:r>
            <a:r>
              <a:rPr lang="ru-RU" b="1" dirty="0" err="1"/>
              <a:t>Data</a:t>
            </a:r>
            <a:r>
              <a:rPr lang="ru-RU" b="1" dirty="0"/>
              <a:t> JPA </a:t>
            </a:r>
            <a:r>
              <a:rPr lang="ru-RU" dirty="0"/>
              <a:t>– это интерфейсы, которые можно определять для получения доступа к данным. </a:t>
            </a:r>
            <a:endParaRPr lang="en-US" dirty="0"/>
          </a:p>
          <a:p>
            <a:r>
              <a:rPr lang="ru-RU" dirty="0"/>
              <a:t>JPA-запросы создаются автоматически на основе имен методов.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1BEAA-F34B-4CFC-B284-67A3E2553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16</a:t>
            </a:fld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F81D7-7A4E-417C-9F5E-6E176075F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1492201"/>
            <a:ext cx="2621768" cy="2519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7370C8-62C1-4C92-8D04-187DF62D5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82" y="3953403"/>
            <a:ext cx="5016549" cy="922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2731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6AAB-3547-4F1C-A00E-9CD47FF1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24AAB-D989-4B19-B376-EF43F4C44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5338936" cy="3165881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Используется в </a:t>
            </a:r>
            <a:r>
              <a:rPr lang="ru-RU" dirty="0" err="1"/>
              <a:t>микросервисной</a:t>
            </a:r>
            <a:r>
              <a:rPr lang="ru-RU" dirty="0"/>
              <a:t> архитектуре, упрощая взаимодействие </a:t>
            </a:r>
            <a:r>
              <a:rPr lang="ru-RU" dirty="0" err="1"/>
              <a:t>микросервисов</a:t>
            </a:r>
            <a:r>
              <a:rPr lang="ru-RU" dirty="0"/>
              <a:t> между собой и автоматизируя развертывание приложений на облачных платформах типа AWS, </a:t>
            </a:r>
            <a:r>
              <a:rPr lang="ru-RU" dirty="0" err="1"/>
              <a:t>Azure</a:t>
            </a:r>
            <a:r>
              <a:rPr lang="ru-RU" dirty="0"/>
              <a:t> и т.д.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EB5E7-687D-4CD2-B441-9E45CF53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5122" name="Picture 2" descr="https://media1.giphy.com/media/v1.Y2lkPTc5MGI3NjExamdlODljYXdpMmZhc2ZjZGk0enF5N3NndDZiMzIyOHJnZHd0ZWhtZSZlcD12MV9pbnRlcm5hbF9naWZfYnlfaWQmY3Q9Zw/dBXNPw0XBdF1n82BBf/giphy.gif">
            <a:extLst>
              <a:ext uri="{FF2B5EF4-FFF2-40B4-BE49-F238E27FC236}">
                <a16:creationId xmlns:a16="http://schemas.microsoft.com/office/drawing/2014/main" id="{0E83DB2E-3549-485E-B07D-AFE021FB041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958" y="1755462"/>
            <a:ext cx="2659663" cy="205015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187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700288-DD98-4DF2-9C9D-CF2F567B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Преимущества </a:t>
            </a:r>
            <a:r>
              <a:rPr lang="en-US" dirty="0"/>
              <a:t>Spring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B562B-BF67-40EE-A40A-B1029A199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b="1" dirty="0"/>
              <a:t>Универсальность.</a:t>
            </a:r>
            <a:r>
              <a:rPr lang="ru-RU" dirty="0"/>
              <a:t> </a:t>
            </a:r>
            <a:r>
              <a:rPr lang="ru-RU" dirty="0" err="1"/>
              <a:t>Spring</a:t>
            </a:r>
            <a:r>
              <a:rPr lang="ru-RU" dirty="0"/>
              <a:t> фреймворк предлагает готовые инструменты для решения самых разных задач, от работы с почтой до настроек безопасности.</a:t>
            </a:r>
          </a:p>
          <a:p>
            <a:r>
              <a:rPr lang="ru-RU" b="1" dirty="0"/>
              <a:t>Экономия времени.</a:t>
            </a:r>
            <a:r>
              <a:rPr lang="ru-RU" dirty="0"/>
              <a:t> Сокращает </a:t>
            </a:r>
            <a:r>
              <a:rPr lang="ru-RU" dirty="0" err="1"/>
              <a:t>time-to-market</a:t>
            </a:r>
            <a:r>
              <a:rPr lang="ru-RU" dirty="0"/>
              <a:t> время и ускоряет разработку.</a:t>
            </a:r>
          </a:p>
          <a:p>
            <a:r>
              <a:rPr lang="ru-RU" b="1" dirty="0"/>
              <a:t>Избавление от рутины.</a:t>
            </a:r>
            <a:r>
              <a:rPr lang="ru-RU" dirty="0"/>
              <a:t> </a:t>
            </a:r>
            <a:r>
              <a:rPr lang="ru-RU" dirty="0" err="1"/>
              <a:t>Spring</a:t>
            </a:r>
            <a:r>
              <a:rPr lang="ru-RU" dirty="0"/>
              <a:t> предлагает готовые решения для рутинных задач. Программистам больше не нужно тратить время на однотипные куски кода.</a:t>
            </a:r>
          </a:p>
          <a:p>
            <a:r>
              <a:rPr lang="ru-RU" b="1" dirty="0"/>
              <a:t>Открытый исходный код.</a:t>
            </a:r>
            <a:r>
              <a:rPr lang="ru-RU" dirty="0"/>
              <a:t> Его можно адаптировать и настроить под нужды проекта.</a:t>
            </a:r>
          </a:p>
          <a:p>
            <a:r>
              <a:rPr lang="ru-RU" b="1" dirty="0"/>
              <a:t>Популярность. </a:t>
            </a:r>
            <a:r>
              <a:rPr lang="ru-RU" dirty="0"/>
              <a:t>На рынке есть много вакансий для тех, кто работает на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Java</a:t>
            </a:r>
            <a:r>
              <a:rPr lang="ru-RU" dirty="0"/>
              <a:t>. Этот фреймворк используют для большинства проектов.</a:t>
            </a:r>
          </a:p>
          <a:p>
            <a:r>
              <a:rPr lang="ru-RU" b="1" dirty="0"/>
              <a:t>Доступность.</a:t>
            </a:r>
            <a:r>
              <a:rPr lang="ru-RU" dirty="0"/>
              <a:t> Создать приложение на </a:t>
            </a:r>
            <a:r>
              <a:rPr lang="ru-RU" dirty="0" err="1"/>
              <a:t>Spring</a:t>
            </a:r>
            <a:r>
              <a:rPr lang="ru-RU" dirty="0"/>
              <a:t> можно абсолютно бесплатно.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5B5DE-8485-4065-AA19-F553DE77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71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35FF9-5880-4F3E-B461-4039E59F4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</a:t>
            </a:r>
            <a:r>
              <a:rPr lang="en-US" dirty="0"/>
              <a:t>Spring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22257-6921-4EDF-9829-A57DF1B3F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Сложность</a:t>
            </a:r>
            <a:r>
              <a:rPr lang="ru-RU" dirty="0"/>
              <a:t>. </a:t>
            </a:r>
            <a:r>
              <a:rPr lang="ru-RU" dirty="0" err="1"/>
              <a:t>Спринг</a:t>
            </a:r>
            <a:r>
              <a:rPr lang="ru-RU" dirty="0"/>
              <a:t> тяжело настраивать, это инструмент для опытных разработчиков. </a:t>
            </a:r>
          </a:p>
          <a:p>
            <a:r>
              <a:rPr lang="ru-RU" b="1" dirty="0"/>
              <a:t>Вес кода</a:t>
            </a:r>
            <a:r>
              <a:rPr lang="ru-RU" dirty="0"/>
              <a:t>. Проекты на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 дольше загружаются и требуют оптимизации.</a:t>
            </a:r>
          </a:p>
          <a:p>
            <a:r>
              <a:rPr lang="ru-RU" b="1" dirty="0"/>
              <a:t>Непонятная работа некоторых модулей</a:t>
            </a:r>
            <a:r>
              <a:rPr lang="ru-RU" dirty="0"/>
              <a:t>. Например, </a:t>
            </a:r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Data</a:t>
            </a:r>
            <a:r>
              <a:rPr lang="ru-RU" dirty="0"/>
              <a:t> JPA, который генерирует неочевидные SQL-запросы.</a:t>
            </a:r>
          </a:p>
          <a:p>
            <a:r>
              <a:rPr lang="ru-RU" b="1" dirty="0"/>
              <a:t>Много неиспользуемых зависимостей</a:t>
            </a:r>
            <a:r>
              <a:rPr lang="ru-RU" dirty="0"/>
              <a:t>. В финальную сборку кода входит много ненужного материала.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F7F5F-3295-40D9-95F8-C3946517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842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5AC6B-04B8-4B0B-AD03-7C441D7B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  <a:endParaRPr lang="ru-R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2330CF-7CC1-42C2-9550-312525E91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15816" y="2347236"/>
            <a:ext cx="5905107" cy="231050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62E92-552D-41F9-827A-D1A302059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DFFD35-7857-405A-A5E8-1C7E16BB7B1C}"/>
              </a:ext>
            </a:extLst>
          </p:cNvPr>
          <p:cNvSpPr/>
          <p:nvPr/>
        </p:nvSpPr>
        <p:spPr>
          <a:xfrm>
            <a:off x="457200" y="1327651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Spring</a:t>
            </a:r>
            <a:r>
              <a:rPr lang="ru-RU" dirty="0"/>
              <a:t> </a:t>
            </a:r>
            <a:r>
              <a:rPr lang="ru-RU" dirty="0" err="1"/>
              <a:t>Boot</a:t>
            </a:r>
            <a:r>
              <a:rPr lang="ru-RU" dirty="0"/>
              <a:t> — это проект, который предоставляет базовую функциональность с минимальным количеством настроек (т.е. предоставлять для большинства настроек дефолтные значения).Таким образом, мы можем запустить приложение </a:t>
            </a:r>
            <a:r>
              <a:rPr lang="ru-RU" dirty="0" err="1"/>
              <a:t>Spring</a:t>
            </a:r>
            <a:r>
              <a:rPr lang="ru-RU" dirty="0"/>
              <a:t> с наименьшим количеством кода.</a:t>
            </a:r>
          </a:p>
        </p:txBody>
      </p:sp>
    </p:spTree>
    <p:extLst>
      <p:ext uri="{BB962C8B-B14F-4D97-AF65-F5344CB8AC3E}">
        <p14:creationId xmlns:p14="http://schemas.microsoft.com/office/powerpoint/2010/main" val="260604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EC668-F21B-483C-9405-E26DD0420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Создание </a:t>
            </a:r>
            <a:r>
              <a:rPr lang="en-US" dirty="0"/>
              <a:t>Spring Boot </a:t>
            </a:r>
            <a:r>
              <a:rPr lang="ru-RU" dirty="0"/>
              <a:t>приложения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EB0AB-29D0-4040-B997-861E3EF24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8741"/>
            <a:ext cx="8291264" cy="2511161"/>
          </a:xfrm>
        </p:spPr>
        <p:txBody>
          <a:bodyPr>
            <a:normAutofit/>
          </a:bodyPr>
          <a:lstStyle/>
          <a:p>
            <a:r>
              <a:rPr lang="ru-RU" sz="2800" dirty="0"/>
              <a:t>Установить средства разработки </a:t>
            </a:r>
            <a:r>
              <a:rPr lang="en-US" sz="2800" dirty="0"/>
              <a:t>Java, JDK</a:t>
            </a:r>
          </a:p>
          <a:p>
            <a:r>
              <a:rPr lang="en-US" sz="2800" dirty="0"/>
              <a:t>C</a:t>
            </a:r>
            <a:r>
              <a:rPr lang="ru-RU" sz="2800" dirty="0" err="1"/>
              <a:t>оздать</a:t>
            </a:r>
            <a:r>
              <a:rPr lang="ru-RU" sz="2800" dirty="0"/>
              <a:t> базовый проект с помощью </a:t>
            </a:r>
            <a:r>
              <a:rPr lang="en-US" sz="2800" dirty="0" err="1"/>
              <a:t>Srping</a:t>
            </a:r>
            <a:r>
              <a:rPr lang="en-US" sz="2800" dirty="0"/>
              <a:t> </a:t>
            </a:r>
            <a:r>
              <a:rPr lang="en-US" sz="2800" dirty="0" err="1"/>
              <a:t>Initializr</a:t>
            </a:r>
            <a:r>
              <a:rPr lang="en-US" sz="2800" dirty="0"/>
              <a:t> </a:t>
            </a:r>
            <a:r>
              <a:rPr lang="en-US" sz="2800" dirty="0">
                <a:hlinkClick r:id="rId2"/>
              </a:rPr>
              <a:t>https://sta</a:t>
            </a:r>
            <a:r>
              <a:rPr lang="en-US" sz="2800" dirty="0">
                <a:hlinkClick r:id="rId2"/>
              </a:rPr>
              <a:t>rt.spring.io/</a:t>
            </a:r>
            <a:endParaRPr lang="en-US" sz="2800" dirty="0"/>
          </a:p>
          <a:p>
            <a:r>
              <a:rPr lang="ru-RU" sz="2800" dirty="0"/>
              <a:t>Скачать архив</a:t>
            </a:r>
          </a:p>
          <a:p>
            <a:r>
              <a:rPr lang="ru-RU" sz="2800" dirty="0"/>
              <a:t>Открыть его в </a:t>
            </a:r>
            <a:r>
              <a:rPr lang="en-US" sz="2800" dirty="0" err="1"/>
              <a:t>Intellij</a:t>
            </a:r>
            <a:r>
              <a:rPr lang="en-US" sz="2800" dirty="0"/>
              <a:t> Idea</a:t>
            </a:r>
            <a:endParaRPr lang="ru-RU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5035F-EE90-414B-89FF-F0E2273C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F336-2DD4-44CE-8205-AE3F61CEB7C8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F13212-18CC-471C-B012-EFF9D3A12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2690731"/>
            <a:ext cx="3821475" cy="1990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05702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">
      <a:dk1>
        <a:srgbClr val="244061"/>
      </a:dk1>
      <a:lt1>
        <a:srgbClr val="DBE5F1"/>
      </a:lt1>
      <a:dk2>
        <a:srgbClr val="953734"/>
      </a:dk2>
      <a:lt2>
        <a:srgbClr val="F2DCDB"/>
      </a:lt2>
      <a:accent1>
        <a:srgbClr val="95B3D7"/>
      </a:accent1>
      <a:accent2>
        <a:srgbClr val="366092"/>
      </a:accent2>
      <a:accent3>
        <a:srgbClr val="17365D"/>
      </a:accent3>
      <a:accent4>
        <a:srgbClr val="E5B9B7"/>
      </a:accent4>
      <a:accent5>
        <a:srgbClr val="D99694"/>
      </a:accent5>
      <a:accent6>
        <a:srgbClr val="953734"/>
      </a:accent6>
      <a:hlink>
        <a:srgbClr val="C00000"/>
      </a:hlink>
      <a:folHlink>
        <a:srgbClr val="00206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4801</TotalTime>
  <Words>2343</Words>
  <Application>Microsoft Office PowerPoint</Application>
  <PresentationFormat>On-screen Show (16:9)</PresentationFormat>
  <Paragraphs>175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Times New Roman</vt:lpstr>
      <vt:lpstr>Тема Office</vt:lpstr>
      <vt:lpstr>Программирование на Java</vt:lpstr>
      <vt:lpstr>Spring framework</vt:lpstr>
      <vt:lpstr>Как устроен фреймворк</vt:lpstr>
      <vt:lpstr>Spring Core</vt:lpstr>
      <vt:lpstr>Внедрение зависимостей</vt:lpstr>
      <vt:lpstr>Внедрение зависимости</vt:lpstr>
      <vt:lpstr>Контейнер Spring IOC</vt:lpstr>
      <vt:lpstr>Spring Bean</vt:lpstr>
      <vt:lpstr>Область видимости бинов</vt:lpstr>
      <vt:lpstr>Способы внедрения зависимостей</vt:lpstr>
      <vt:lpstr>Spring AOP</vt:lpstr>
      <vt:lpstr>Аспектно-ориентированное программирование</vt:lpstr>
      <vt:lpstr>Spring MVC</vt:lpstr>
      <vt:lpstr>Spring Security</vt:lpstr>
      <vt:lpstr>Spring Data</vt:lpstr>
      <vt:lpstr>Java Persistence API </vt:lpstr>
      <vt:lpstr>Spring Cloud</vt:lpstr>
      <vt:lpstr>Преимущества Spring</vt:lpstr>
      <vt:lpstr>Недостатки Spring</vt:lpstr>
      <vt:lpstr>Spring Boot</vt:lpstr>
      <vt:lpstr>Создание Spring Boot приложения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HP</dc:creator>
  <cp:lastModifiedBy>Yulia Filinskikh</cp:lastModifiedBy>
  <cp:revision>217</cp:revision>
  <dcterms:created xsi:type="dcterms:W3CDTF">2020-04-22T07:05:13Z</dcterms:created>
  <dcterms:modified xsi:type="dcterms:W3CDTF">2025-03-13T16:21:31Z</dcterms:modified>
</cp:coreProperties>
</file>