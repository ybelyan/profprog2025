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2"/>
  </p:sldMasterIdLst>
  <p:notesMasterIdLst>
    <p:notesMasterId r:id="rId21"/>
  </p:notesMasterIdLst>
  <p:handoutMasterIdLst>
    <p:handoutMasterId r:id="rId22"/>
  </p:handoutMasterIdLst>
  <p:sldIdLst>
    <p:sldId id="257" r:id="rId3"/>
    <p:sldId id="273" r:id="rId4"/>
    <p:sldId id="264" r:id="rId5"/>
    <p:sldId id="259" r:id="rId6"/>
    <p:sldId id="265" r:id="rId7"/>
    <p:sldId id="258" r:id="rId8"/>
    <p:sldId id="266" r:id="rId9"/>
    <p:sldId id="263" r:id="rId10"/>
    <p:sldId id="270" r:id="rId11"/>
    <p:sldId id="271" r:id="rId12"/>
    <p:sldId id="277" r:id="rId13"/>
    <p:sldId id="268" r:id="rId14"/>
    <p:sldId id="262" r:id="rId15"/>
    <p:sldId id="269" r:id="rId16"/>
    <p:sldId id="260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linskikh, Yulia" initials="FY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4FBD"/>
    <a:srgbClr val="FF6600"/>
    <a:srgbClr val="006CB7"/>
    <a:srgbClr val="80C342"/>
    <a:srgbClr val="EE31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68991" autoAdjust="0"/>
  </p:normalViewPr>
  <p:slideViewPr>
    <p:cSldViewPr snapToGrid="0">
      <p:cViewPr varScale="1">
        <p:scale>
          <a:sx n="75" d="100"/>
          <a:sy n="75" d="100"/>
        </p:scale>
        <p:origin x="186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190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9A499-AB0E-41E7-8F43-0B644843E13C}" type="datetimeFigureOut">
              <a:rPr lang="ru-RU" smtClean="0"/>
              <a:t>18.07.2025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7ACF0-1C88-4F3C-8A42-B66D78E86B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195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F805E-4D42-4930-AF02-3208323ECEC0}" type="datetimeFigureOut">
              <a:rPr lang="ru-RU" smtClean="0"/>
              <a:t>18.07.2025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03A2D-F27E-469C-ADB1-04668A9E2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98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процессе выполнения программы могут возникать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ошибки или непредвиденные ситуации. И это не всегда из-за плохо спроектированного и написанного кода, а может быть и </a:t>
            </a:r>
            <a:r>
              <a:rPr lang="ru-RU" dirty="0"/>
              <a:t>в результате неправильных действий пользователя, отсутствии необходимого ресурса на диске, или потери соединения с сервером по сети.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Программа должна четко знать, как реагировать на подобные ситуации и корректно их обрабатывать. Для этого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Java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rPr>
              <a:t> предусмотрен механизм исключений.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304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Все исключения делятся на 4 вида, которые на самом деле являются классами, унаследованными друг от друга.</a:t>
            </a:r>
          </a:p>
          <a:p>
            <a:endParaRPr lang="ru-RU" dirty="0"/>
          </a:p>
          <a:p>
            <a:r>
              <a:rPr lang="ru-RU" dirty="0"/>
              <a:t>Класс </a:t>
            </a:r>
            <a:r>
              <a:rPr lang="ru-RU" dirty="0" err="1"/>
              <a:t>Throwable</a:t>
            </a:r>
            <a:endParaRPr lang="ru-RU" dirty="0"/>
          </a:p>
          <a:p>
            <a:endParaRPr lang="ru-RU" dirty="0"/>
          </a:p>
          <a:p>
            <a:r>
              <a:rPr lang="ru-RU" dirty="0"/>
              <a:t>Самым базовым классом для всех исключений является класс </a:t>
            </a:r>
            <a:r>
              <a:rPr lang="ru-RU" dirty="0" err="1"/>
              <a:t>Throwable</a:t>
            </a:r>
            <a:r>
              <a:rPr lang="ru-RU" dirty="0"/>
              <a:t>. В классе </a:t>
            </a:r>
            <a:r>
              <a:rPr lang="ru-RU" dirty="0" err="1"/>
              <a:t>Throwable</a:t>
            </a:r>
            <a:r>
              <a:rPr lang="ru-RU" dirty="0"/>
              <a:t> содержится код, который записывает текущий стек-</a:t>
            </a:r>
            <a:r>
              <a:rPr lang="ru-RU" dirty="0" err="1"/>
              <a:t>трейс</a:t>
            </a:r>
            <a:r>
              <a:rPr lang="ru-RU" dirty="0"/>
              <a:t> вызовов функций в массив. </a:t>
            </a:r>
          </a:p>
          <a:p>
            <a:endParaRPr lang="ru-RU" dirty="0"/>
          </a:p>
          <a:p>
            <a:r>
              <a:rPr lang="ru-RU" dirty="0"/>
              <a:t>Класс </a:t>
            </a:r>
            <a:r>
              <a:rPr lang="ru-RU" dirty="0" err="1"/>
              <a:t>Error</a:t>
            </a:r>
            <a:endParaRPr lang="ru-RU" dirty="0"/>
          </a:p>
          <a:p>
            <a:r>
              <a:rPr lang="ru-RU" dirty="0"/>
              <a:t>— прямой наследник класса </a:t>
            </a:r>
            <a:r>
              <a:rPr lang="ru-RU" dirty="0" err="1"/>
              <a:t>Throwable</a:t>
            </a:r>
            <a:r>
              <a:rPr lang="ru-RU" dirty="0"/>
              <a:t>.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представляют собой критические ситуации, часто вызванные проблемами на уровне системы или аппаратного обеспечения, например </a:t>
            </a:r>
            <a:r>
              <a:rPr lang="ru-RU" b="1" dirty="0" err="1"/>
              <a:t>StackOverflowError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возникает, например, когда метод бесконечно вызывает сам себя, и </a:t>
            </a:r>
            <a:r>
              <a:rPr lang="ru-RU" b="1" dirty="0" err="1"/>
              <a:t>OutOfMemoryError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возникает, когда недостаточно памяти для создания новых объектов. . Такие ошибки, как правило, являются фатальными. Обычно программист не способен контролировать их, и не рекомендуется пытаться их перехватывать. </a:t>
            </a:r>
            <a:r>
              <a:rPr lang="ru-RU" dirty="0"/>
              <a:t>Все, что вы можете сделать — уведомить пользователя, что программа </a:t>
            </a:r>
            <a:r>
              <a:rPr lang="ru-RU" dirty="0" err="1"/>
              <a:t>аварийно</a:t>
            </a:r>
            <a:r>
              <a:rPr lang="ru-RU" dirty="0"/>
              <a:t> завершается или записать всю известную информацию об ошибке в лог программы.</a:t>
            </a:r>
          </a:p>
          <a:p>
            <a:endParaRPr lang="ru-RU" dirty="0"/>
          </a:p>
          <a:p>
            <a:r>
              <a:rPr lang="ru-RU" dirty="0"/>
              <a:t>Класс </a:t>
            </a:r>
            <a:r>
              <a:rPr lang="ru-RU" dirty="0" err="1"/>
              <a:t>Exception</a:t>
            </a:r>
            <a:endParaRPr lang="ru-RU" dirty="0"/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Exceptions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это, собственно, исключения: исключительная, незапланированная ситуация, которая произошла при работе программы, которые разработчику необходимо обработать в коде.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Checked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Exceptions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(Проверяемые исключения)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Эти исключения проверяются компилятором во время компиляции. Программист обязан обработать такие исключения, иначе программа не скомпилируется. Примеры: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IOException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SQLException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Проверяемые исключения обычно возникают в результате внешних факторов, таких как проблемы с файлами, сетью или базой данных. Например, при попытке открыть файл, который не существует, будет выброшено исключение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FileNotFoundException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Unchecked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Exceptions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(Непроверяемые исключения)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Эти исключения не проверяются компилятором. Они возникают во время выполнения программы и обычно являются результатом ошибок программиста. Примеры: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NullPointerException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ArrayIndexOutOfBoundsException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Непроверяемые исключения часто возникают из-за логических ошибок в коде, таких как попытка доступа к элементу массива по недопустимому индексу или вызов метода на объекте, который равен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268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310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Основной механизм обработки исключений в </a:t>
            </a:r>
            <a:r>
              <a:rPr lang="ru-RU" dirty="0" err="1"/>
              <a:t>Java</a:t>
            </a:r>
            <a:r>
              <a:rPr lang="ru-RU" dirty="0"/>
              <a:t> — это использование блоков </a:t>
            </a:r>
            <a:r>
              <a:rPr lang="ru-RU" dirty="0" err="1"/>
              <a:t>try-catch</a:t>
            </a:r>
            <a:r>
              <a:rPr lang="ru-RU" dirty="0"/>
              <a:t>-</a:t>
            </a:r>
            <a:r>
              <a:rPr lang="en-US" dirty="0"/>
              <a:t>finally</a:t>
            </a:r>
            <a:r>
              <a:rPr lang="ru-RU" dirty="0"/>
              <a:t>. Блок </a:t>
            </a:r>
            <a:r>
              <a:rPr lang="ru-RU" dirty="0" err="1"/>
              <a:t>try</a:t>
            </a:r>
            <a:r>
              <a:rPr lang="ru-RU" dirty="0"/>
              <a:t> содержит код, который может вызвать исключение, а блок </a:t>
            </a:r>
            <a:r>
              <a:rPr lang="ru-RU" dirty="0" err="1"/>
              <a:t>catch</a:t>
            </a:r>
            <a:r>
              <a:rPr lang="ru-RU" dirty="0"/>
              <a:t> — код, который обрабатывает это исключение.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645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Блок </a:t>
            </a:r>
            <a:r>
              <a:rPr lang="ru-RU" dirty="0" err="1"/>
              <a:t>finally</a:t>
            </a:r>
            <a:r>
              <a:rPr lang="ru-RU" dirty="0"/>
              <a:t> используется для выполнения кода, который должен быть выполнен независимо от того, было исключение или нет. Это полезно для освобождения ресурсов, закрытия файлов и т.д.</a:t>
            </a:r>
            <a:endParaRPr lang="en-US" dirty="0"/>
          </a:p>
          <a:p>
            <a:r>
              <a:rPr lang="ru-RU" sz="1200" dirty="0"/>
              <a:t>Оператор </a:t>
            </a:r>
            <a:r>
              <a:rPr lang="ru-RU" sz="1200" b="1" dirty="0" err="1"/>
              <a:t>finally</a:t>
            </a:r>
            <a:r>
              <a:rPr lang="ru-RU" sz="1200" dirty="0"/>
              <a:t> не обязателен, однако каждый оператор </a:t>
            </a:r>
            <a:r>
              <a:rPr lang="ru-RU" sz="1200" b="1" dirty="0" err="1"/>
              <a:t>try</a:t>
            </a:r>
            <a:r>
              <a:rPr lang="ru-RU" sz="1200" dirty="0"/>
              <a:t> требует наличия либо </a:t>
            </a:r>
            <a:r>
              <a:rPr lang="ru-RU" sz="1200" b="1" dirty="0" err="1"/>
              <a:t>catch</a:t>
            </a:r>
            <a:r>
              <a:rPr lang="ru-RU" sz="1200" dirty="0"/>
              <a:t>, либо </a:t>
            </a:r>
            <a:r>
              <a:rPr lang="ru-RU" sz="1200" b="1" dirty="0" err="1"/>
              <a:t>finally</a:t>
            </a:r>
            <a:r>
              <a:rPr lang="ru-RU" sz="1200" dirty="0"/>
              <a:t>.</a:t>
            </a:r>
            <a:endParaRPr lang="en-US" sz="1200" dirty="0"/>
          </a:p>
          <a:p>
            <a:endParaRPr lang="en-US" sz="1200" dirty="0"/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Блок </a:t>
            </a:r>
            <a:r>
              <a:rPr lang="ru-RU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сработает, даже если в </a:t>
            </a:r>
            <a:r>
              <a:rPr lang="ru-RU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или в </a:t>
            </a:r>
            <a:r>
              <a:rPr lang="ru-RU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catch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код наткнётся на </a:t>
            </a:r>
            <a:r>
              <a:rPr lang="ru-RU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Сначала выполнится </a:t>
            </a:r>
            <a:r>
              <a:rPr lang="ru-RU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 потом программа выйдет из метода.</a:t>
            </a: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Единственный случай, когда </a:t>
            </a:r>
            <a:r>
              <a:rPr lang="ru-RU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 срабатывает, — критическая ошибка, когда программа вылетела или у неё закончилась выделенная память.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240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процессе работы программы могут возникнуть исключения, и внешний ресурс так и не будет освобожден. А это очень плохо.</a:t>
            </a:r>
          </a:p>
          <a:p>
            <a:r>
              <a:rPr lang="ru-RU" dirty="0"/>
              <a:t>Чтобы метод </a:t>
            </a:r>
            <a:r>
              <a:rPr lang="ru-RU" dirty="0" err="1"/>
              <a:t>close</a:t>
            </a:r>
            <a:r>
              <a:rPr lang="ru-RU" dirty="0"/>
              <a:t>() вызывался всегда, нужно обернуть наш код в блок </a:t>
            </a:r>
            <a:r>
              <a:rPr lang="ru-RU" dirty="0" err="1"/>
              <a:t>try-catch-finally</a:t>
            </a:r>
            <a:r>
              <a:rPr lang="ru-RU" dirty="0"/>
              <a:t> и добавить метод </a:t>
            </a:r>
            <a:r>
              <a:rPr lang="ru-RU" dirty="0" err="1"/>
              <a:t>close</a:t>
            </a:r>
            <a:r>
              <a:rPr lang="ru-RU" dirty="0"/>
              <a:t>() в блок </a:t>
            </a:r>
            <a:r>
              <a:rPr lang="ru-RU" dirty="0" err="1"/>
              <a:t>finally</a:t>
            </a:r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1269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Создатели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решили нам подсыпать немного синтаксического сахарку. Начиная с 7-й версии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 ней появился новый оператор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try-with-resources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 ресурсами).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создан как раз для того, чтобы решать проблему с обязательным вызовом метода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 В общем случае выглядит он довольно просто: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еще одна разновидность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оператора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dirty="0" err="1"/>
              <a:t>try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После ключевого слова </a:t>
            </a:r>
            <a:r>
              <a:rPr lang="ru-RU" dirty="0" err="1"/>
              <a:t>try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нужно добавить круглые скобки, а внутри них — создать объекты с внешними ресурсами. Для объекта, указанного в круглых скобках, компилятор сам добавит секцию </a:t>
            </a:r>
            <a:r>
              <a:rPr lang="ru-RU" dirty="0" err="1"/>
              <a:t>finally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вызов метода </a:t>
            </a:r>
            <a:r>
              <a:rPr lang="ru-RU" dirty="0" err="1"/>
              <a:t>close</a:t>
            </a:r>
            <a:r>
              <a:rPr lang="ru-RU" dirty="0"/>
              <a:t>()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качестве ресурсов в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try-with-resources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можно передавать только объекты классов унаследованных от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AutoCloseable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Таким образом у этих объектов всегда будет метод </a:t>
            </a:r>
            <a:r>
              <a:rPr lang="ru-RU" dirty="0" err="1"/>
              <a:t>close</a:t>
            </a:r>
            <a:r>
              <a:rPr lang="ru-RU" dirty="0"/>
              <a:t>()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без параметров.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 с использованием </a:t>
            </a:r>
            <a:r>
              <a:rPr lang="ru-RU" dirty="0" err="1"/>
              <a:t>try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-with-resources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значительно короче и легче читается. А чем меньше кода, тем меньше шансов сделать опечатку или ошибку.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385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процессе работы программы могут возникнуть исключения, и внешний ресурс так и не будет освобожден. А это очень плохо.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метод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вызывался всегда, нужно обернуть наш код в блок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try-catch-finally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добавить метод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в блок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 с использованием </a:t>
            </a:r>
            <a:r>
              <a:rPr lang="ru-RU" dirty="0" err="1"/>
              <a:t>try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-with-resources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значительно короче и легче читается. А чем меньше кода, тем меньше шансов сделать опечатку или ошибку.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38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088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 можете создавать собственные исключения, наследуя их от класса </a:t>
            </a:r>
            <a:r>
              <a:rPr lang="ru-RU" dirty="0" err="1"/>
              <a:t>Exception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или </a:t>
            </a:r>
            <a:r>
              <a:rPr lang="ru-RU" dirty="0" err="1"/>
              <a:t>RuntimeException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полезно для создания специфичных для вашего приложения ошибок.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588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Не игнорируйте исключения: Всегда обрабатывайте исключения, даже если это просто логирование ошибки. Игнорирование исключений может привести к непредсказуемому поведению программы и затруднить диагностику проблем.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Используйте специфичные исключения: Ловите только те исключения, которые вы можете обработать. Общий </a:t>
            </a:r>
            <a:r>
              <a:rPr lang="ru-RU" dirty="0" err="1"/>
              <a:t>Exception</a:t>
            </a:r>
            <a:r>
              <a:rPr lang="ru-RU" dirty="0"/>
              <a:t> блок может скрыть ошибки, которые вы не ожидали. Это поможет вам лучше понять, что именно пошло не так, и принять соответствующие меры.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Не используйте исключения для управления программой: Исключения предназначены для обработки ошибок, а не для управления логикой программы. Использование исключений для управления потоком может сделать код менее читаемым и усложнить его поддержку.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Логируйте</a:t>
            </a:r>
            <a:r>
              <a:rPr lang="ru-RU" dirty="0"/>
              <a:t> ошибки: Используйте логирование для записи информации об исключениях. Это поможет в диагностике проблем. Логирование ошибок позволяет отслеживать и анализировать проблемы, которые возникают во время выполнения программы, и принимать меры для их устранения.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03A2D-F27E-469C-ADB1-04668A9E28C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178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2526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23335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1945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88055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5755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66242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60723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3855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6385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(with pic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28650" y="4800600"/>
            <a:ext cx="8810624" cy="909638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</a:t>
            </a:r>
            <a:endParaRPr lang="ru-RU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952625" y="6343649"/>
            <a:ext cx="0" cy="10001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2100263" y="6271417"/>
            <a:ext cx="1363661" cy="214313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lang="en-US" sz="1200" dirty="0">
                <a:solidFill>
                  <a:schemeClr val="bg1"/>
                </a:solidFill>
              </a:rPr>
              <a:t>Month Year</a:t>
            </a:r>
            <a:endParaRPr lang="ru-RU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004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lumn slide 6 (tab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4" name="Таблица 3"/>
          <p:cNvSpPr>
            <a:spLocks noGrp="1"/>
          </p:cNvSpPr>
          <p:nvPr>
            <p:ph type="tbl" sz="quarter" idx="34" hasCustomPrompt="1"/>
          </p:nvPr>
        </p:nvSpPr>
        <p:spPr>
          <a:xfrm>
            <a:off x="738188" y="1292225"/>
            <a:ext cx="10706100" cy="451008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Table insert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7099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lumn slide 5 (tex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/>
          </p:nvPr>
        </p:nvSpPr>
        <p:spPr>
          <a:xfrm>
            <a:off x="738191" y="1282700"/>
            <a:ext cx="10706097" cy="45085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6408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lumns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339549"/>
            <a:ext cx="5048247" cy="1056810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 (can be longer and longer and longer and longer and longer and longer)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8190" y="2695903"/>
            <a:ext cx="5048247" cy="327944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38" hasCustomPrompt="1"/>
          </p:nvPr>
        </p:nvSpPr>
        <p:spPr>
          <a:xfrm>
            <a:off x="6369270" y="1339850"/>
            <a:ext cx="5075018" cy="46355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4833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lumns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38" hasCustomPrompt="1"/>
          </p:nvPr>
        </p:nvSpPr>
        <p:spPr>
          <a:xfrm>
            <a:off x="738191" y="1292252"/>
            <a:ext cx="5075018" cy="46355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42" hasCustomPrompt="1"/>
          </p:nvPr>
        </p:nvSpPr>
        <p:spPr>
          <a:xfrm>
            <a:off x="6396038" y="1292225"/>
            <a:ext cx="5048250" cy="318861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43" hasCustomPrompt="1"/>
          </p:nvPr>
        </p:nvSpPr>
        <p:spPr>
          <a:xfrm>
            <a:off x="6396038" y="1633538"/>
            <a:ext cx="5048250" cy="1298849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>
              <a:defRPr sz="1400"/>
            </a:lvl2pPr>
          </a:lstStyle>
          <a:p>
            <a:pPr lvl="1"/>
            <a:r>
              <a:rPr lang="en-US" dirty="0"/>
              <a:t>Text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44" hasCustomPrompt="1"/>
          </p:nvPr>
        </p:nvSpPr>
        <p:spPr>
          <a:xfrm>
            <a:off x="6396038" y="2954839"/>
            <a:ext cx="5048250" cy="318861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4" name="Текст 5"/>
          <p:cNvSpPr>
            <a:spLocks noGrp="1"/>
          </p:cNvSpPr>
          <p:nvPr>
            <p:ph type="body" sz="quarter" idx="45" hasCustomPrompt="1"/>
          </p:nvPr>
        </p:nvSpPr>
        <p:spPr>
          <a:xfrm>
            <a:off x="6396038" y="3296152"/>
            <a:ext cx="5048250" cy="1298849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>
              <a:defRPr sz="1400"/>
            </a:lvl2pPr>
          </a:lstStyle>
          <a:p>
            <a:pPr lvl="1"/>
            <a:r>
              <a:rPr lang="en-US" dirty="0"/>
              <a:t>Text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sz="quarter" idx="46" hasCustomPrompt="1"/>
          </p:nvPr>
        </p:nvSpPr>
        <p:spPr>
          <a:xfrm>
            <a:off x="6396036" y="4617763"/>
            <a:ext cx="5048250" cy="318861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" name="Текст 5"/>
          <p:cNvSpPr>
            <a:spLocks noGrp="1"/>
          </p:cNvSpPr>
          <p:nvPr>
            <p:ph type="body" sz="quarter" idx="47" hasCustomPrompt="1"/>
          </p:nvPr>
        </p:nvSpPr>
        <p:spPr>
          <a:xfrm>
            <a:off x="6396036" y="4959077"/>
            <a:ext cx="5048250" cy="979988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>
              <a:defRPr sz="1400"/>
            </a:lvl2pPr>
          </a:lstStyle>
          <a:p>
            <a:pPr lvl="1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9509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3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Introduction</a:t>
            </a:r>
            <a:endParaRPr lang="ru-RU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738188" y="1168400"/>
            <a:ext cx="10706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solidFill>
                  <a:srgbClr val="006CB7"/>
                </a:solidFill>
              </a:rPr>
              <a:t>Welcome to MERA Presentations template!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38188" y="1752600"/>
            <a:ext cx="10706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/>
              <a:t>To fulfill your needs of creating a wonderful corporate presentation please follow these steps:</a:t>
            </a:r>
          </a:p>
          <a:p>
            <a:endParaRPr lang="ru-RU" sz="1800" b="1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738188" y="2184400"/>
            <a:ext cx="107060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Use the tab “New slide” to create slides from already structured layouts (or choose “Empty slide” 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Insert your information in the blocks (size, font and color has been set for you)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Resize, reorganize and use blocks the way it fits your content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Enjoy the beauty of your masterpiece!</a:t>
            </a:r>
          </a:p>
          <a:p>
            <a:pPr marL="0" lvl="0" indent="0">
              <a:buFont typeface="+mj-lt"/>
              <a:buNone/>
            </a:pPr>
            <a:endParaRPr lang="en-US" dirty="0"/>
          </a:p>
          <a:p>
            <a:pPr marL="0" lvl="0" indent="0">
              <a:buFont typeface="+mj-lt"/>
              <a:buNone/>
            </a:pPr>
            <a:r>
              <a:rPr lang="en-US" dirty="0"/>
              <a:t>With any suggestions, remarks and complains feel free to contact PR Team.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5978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titl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738191" y="323850"/>
            <a:ext cx="6938959" cy="4381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Name of the presentation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738188" y="2753574"/>
            <a:ext cx="10706100" cy="1098583"/>
          </a:xfrm>
        </p:spPr>
        <p:txBody>
          <a:bodyPr>
            <a:normAutofit/>
          </a:bodyPr>
          <a:lstStyle>
            <a:lvl1pPr marL="0" indent="0">
              <a:buNone/>
              <a:defRPr sz="6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1.</a:t>
            </a:r>
            <a:endParaRPr lang="ru-RU" dirty="0"/>
          </a:p>
        </p:txBody>
      </p:sp>
      <p:sp>
        <p:nvSpPr>
          <p:cNvPr id="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19241" y="2882386"/>
            <a:ext cx="9925045" cy="957693"/>
          </a:xfrm>
        </p:spPr>
        <p:txBody>
          <a:bodyPr anchor="t">
            <a:normAutofit/>
          </a:bodyPr>
          <a:lstStyle>
            <a:lvl1pPr algn="l">
              <a:defRPr sz="5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Title of the section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4464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3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71074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23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5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8188" y="2170113"/>
            <a:ext cx="2589212" cy="560387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1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6" hasCustomPrompt="1"/>
          </p:nvPr>
        </p:nvSpPr>
        <p:spPr>
          <a:xfrm>
            <a:off x="738188" y="2730500"/>
            <a:ext cx="2589212" cy="32448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3443817" y="2170113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5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3443817" y="2730500"/>
            <a:ext cx="2589212" cy="32448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6149446" y="2170113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0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6149446" y="2730500"/>
            <a:ext cx="2589212" cy="32448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21" name="Текст 2"/>
          <p:cNvSpPr>
            <a:spLocks noGrp="1"/>
          </p:cNvSpPr>
          <p:nvPr>
            <p:ph type="body" sz="quarter" idx="41" hasCustomPrompt="1"/>
          </p:nvPr>
        </p:nvSpPr>
        <p:spPr>
          <a:xfrm>
            <a:off x="8855074" y="2170113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2" name="Текст 5"/>
          <p:cNvSpPr>
            <a:spLocks noGrp="1"/>
          </p:cNvSpPr>
          <p:nvPr>
            <p:ph type="body" sz="quarter" idx="42" hasCustomPrompt="1"/>
          </p:nvPr>
        </p:nvSpPr>
        <p:spPr>
          <a:xfrm>
            <a:off x="8855074" y="2730500"/>
            <a:ext cx="2589212" cy="32448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029206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s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6" hasCustomPrompt="1"/>
          </p:nvPr>
        </p:nvSpPr>
        <p:spPr>
          <a:xfrm>
            <a:off x="8856661" y="1339848"/>
            <a:ext cx="2587627" cy="463528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5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1339849"/>
            <a:ext cx="7999409" cy="725433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9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7398" y="2278119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0" name="Текст 5"/>
          <p:cNvSpPr>
            <a:spLocks noGrp="1"/>
          </p:cNvSpPr>
          <p:nvPr>
            <p:ph type="body" sz="quarter" idx="36" hasCustomPrompt="1"/>
          </p:nvPr>
        </p:nvSpPr>
        <p:spPr>
          <a:xfrm>
            <a:off x="737398" y="2838505"/>
            <a:ext cx="2589212" cy="3136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3442893" y="2278119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2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3442893" y="2838505"/>
            <a:ext cx="2589212" cy="3136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6148388" y="2278119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6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6148388" y="2838505"/>
            <a:ext cx="2589212" cy="3136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90683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s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6" hasCustomPrompt="1"/>
          </p:nvPr>
        </p:nvSpPr>
        <p:spPr>
          <a:xfrm>
            <a:off x="738190" y="1576388"/>
            <a:ext cx="2587624" cy="20181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7" hasCustomPrompt="1"/>
          </p:nvPr>
        </p:nvSpPr>
        <p:spPr>
          <a:xfrm>
            <a:off x="3444347" y="1576388"/>
            <a:ext cx="2587624" cy="201815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18" hasCustomPrompt="1"/>
          </p:nvPr>
        </p:nvSpPr>
        <p:spPr>
          <a:xfrm>
            <a:off x="6150504" y="1576388"/>
            <a:ext cx="2587624" cy="201815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9" hasCustomPrompt="1"/>
          </p:nvPr>
        </p:nvSpPr>
        <p:spPr>
          <a:xfrm>
            <a:off x="8856662" y="1576388"/>
            <a:ext cx="2587624" cy="201815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5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16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3442758" y="3846785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0" name="Текст 5"/>
          <p:cNvSpPr>
            <a:spLocks noGrp="1"/>
          </p:cNvSpPr>
          <p:nvPr>
            <p:ph type="body" sz="quarter" idx="36" hasCustomPrompt="1"/>
          </p:nvPr>
        </p:nvSpPr>
        <p:spPr>
          <a:xfrm>
            <a:off x="3442758" y="4407171"/>
            <a:ext cx="2589212" cy="137877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21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6148916" y="3846784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2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6148916" y="4407170"/>
            <a:ext cx="2589212" cy="137877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8855072" y="3846783"/>
            <a:ext cx="2589212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4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8855072" y="4407169"/>
            <a:ext cx="2589212" cy="137877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41" hasCustomPrompt="1"/>
          </p:nvPr>
        </p:nvSpPr>
        <p:spPr>
          <a:xfrm>
            <a:off x="738189" y="3846783"/>
            <a:ext cx="2587623" cy="193965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3095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s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7" hasCustomPrompt="1"/>
          </p:nvPr>
        </p:nvSpPr>
        <p:spPr>
          <a:xfrm>
            <a:off x="3444347" y="1355725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8" hasCustomPrompt="1"/>
          </p:nvPr>
        </p:nvSpPr>
        <p:spPr>
          <a:xfrm>
            <a:off x="3444875" y="2017987"/>
            <a:ext cx="2587097" cy="26873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9" name="Объект 8"/>
          <p:cNvSpPr>
            <a:spLocks noGrp="1"/>
          </p:cNvSpPr>
          <p:nvPr>
            <p:ph sz="quarter" idx="19" hasCustomPrompt="1"/>
          </p:nvPr>
        </p:nvSpPr>
        <p:spPr>
          <a:xfrm>
            <a:off x="3444347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5" name="Объект 8"/>
          <p:cNvSpPr>
            <a:spLocks noGrp="1"/>
          </p:cNvSpPr>
          <p:nvPr>
            <p:ph sz="quarter" idx="20" hasCustomPrompt="1"/>
          </p:nvPr>
        </p:nvSpPr>
        <p:spPr>
          <a:xfrm>
            <a:off x="3444082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6" name="Объект 8"/>
          <p:cNvSpPr>
            <a:spLocks noGrp="1"/>
          </p:cNvSpPr>
          <p:nvPr>
            <p:ph sz="quarter" idx="21" hasCustomPrompt="1"/>
          </p:nvPr>
        </p:nvSpPr>
        <p:spPr>
          <a:xfrm>
            <a:off x="3444081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7" name="Текст 3"/>
          <p:cNvSpPr>
            <a:spLocks noGrp="1"/>
          </p:cNvSpPr>
          <p:nvPr>
            <p:ph type="body" sz="quarter" idx="22" hasCustomPrompt="1"/>
          </p:nvPr>
        </p:nvSpPr>
        <p:spPr>
          <a:xfrm>
            <a:off x="6150109" y="1355725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1" name="Диаграмма 6"/>
          <p:cNvSpPr>
            <a:spLocks noGrp="1"/>
          </p:cNvSpPr>
          <p:nvPr>
            <p:ph type="chart" sz="quarter" idx="23" hasCustomPrompt="1"/>
          </p:nvPr>
        </p:nvSpPr>
        <p:spPr>
          <a:xfrm>
            <a:off x="6150637" y="2017987"/>
            <a:ext cx="2587097" cy="26873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3" name="Объект 8"/>
          <p:cNvSpPr>
            <a:spLocks noGrp="1"/>
          </p:cNvSpPr>
          <p:nvPr>
            <p:ph sz="quarter" idx="24" hasCustomPrompt="1"/>
          </p:nvPr>
        </p:nvSpPr>
        <p:spPr>
          <a:xfrm>
            <a:off x="6150109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4" name="Объект 8"/>
          <p:cNvSpPr>
            <a:spLocks noGrp="1"/>
          </p:cNvSpPr>
          <p:nvPr>
            <p:ph sz="quarter" idx="25" hasCustomPrompt="1"/>
          </p:nvPr>
        </p:nvSpPr>
        <p:spPr>
          <a:xfrm>
            <a:off x="6149844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5" name="Объект 8"/>
          <p:cNvSpPr>
            <a:spLocks noGrp="1"/>
          </p:cNvSpPr>
          <p:nvPr>
            <p:ph sz="quarter" idx="26" hasCustomPrompt="1"/>
          </p:nvPr>
        </p:nvSpPr>
        <p:spPr>
          <a:xfrm>
            <a:off x="6149843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6" name="Текст 3"/>
          <p:cNvSpPr>
            <a:spLocks noGrp="1"/>
          </p:cNvSpPr>
          <p:nvPr>
            <p:ph type="body" sz="quarter" idx="27" hasCustomPrompt="1"/>
          </p:nvPr>
        </p:nvSpPr>
        <p:spPr>
          <a:xfrm>
            <a:off x="8856661" y="1355725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7" name="Диаграмма 6"/>
          <p:cNvSpPr>
            <a:spLocks noGrp="1"/>
          </p:cNvSpPr>
          <p:nvPr>
            <p:ph type="chart" sz="quarter" idx="28" hasCustomPrompt="1"/>
          </p:nvPr>
        </p:nvSpPr>
        <p:spPr>
          <a:xfrm>
            <a:off x="8857189" y="2017987"/>
            <a:ext cx="2587097" cy="26873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8" name="Объект 8"/>
          <p:cNvSpPr>
            <a:spLocks noGrp="1"/>
          </p:cNvSpPr>
          <p:nvPr>
            <p:ph sz="quarter" idx="29" hasCustomPrompt="1"/>
          </p:nvPr>
        </p:nvSpPr>
        <p:spPr>
          <a:xfrm>
            <a:off x="8856661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9" name="Объект 8"/>
          <p:cNvSpPr>
            <a:spLocks noGrp="1"/>
          </p:cNvSpPr>
          <p:nvPr>
            <p:ph sz="quarter" idx="30" hasCustomPrompt="1"/>
          </p:nvPr>
        </p:nvSpPr>
        <p:spPr>
          <a:xfrm>
            <a:off x="8856396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0" name="Объект 8"/>
          <p:cNvSpPr>
            <a:spLocks noGrp="1"/>
          </p:cNvSpPr>
          <p:nvPr>
            <p:ph sz="quarter" idx="31" hasCustomPrompt="1"/>
          </p:nvPr>
        </p:nvSpPr>
        <p:spPr>
          <a:xfrm>
            <a:off x="8856395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1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1355725"/>
            <a:ext cx="2587622" cy="66198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</a:t>
            </a:r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36" hasCustomPrompt="1"/>
          </p:nvPr>
        </p:nvSpPr>
        <p:spPr>
          <a:xfrm>
            <a:off x="738191" y="2249269"/>
            <a:ext cx="2586037" cy="37258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34906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s slid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7" hasCustomPrompt="1"/>
          </p:nvPr>
        </p:nvSpPr>
        <p:spPr>
          <a:xfrm>
            <a:off x="3444347" y="1908669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8" hasCustomPrompt="1"/>
          </p:nvPr>
        </p:nvSpPr>
        <p:spPr>
          <a:xfrm>
            <a:off x="3444875" y="2501025"/>
            <a:ext cx="2587097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9" name="Объект 8"/>
          <p:cNvSpPr>
            <a:spLocks noGrp="1"/>
          </p:cNvSpPr>
          <p:nvPr>
            <p:ph sz="quarter" idx="19" hasCustomPrompt="1"/>
          </p:nvPr>
        </p:nvSpPr>
        <p:spPr>
          <a:xfrm>
            <a:off x="3444347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5" name="Объект 8"/>
          <p:cNvSpPr>
            <a:spLocks noGrp="1"/>
          </p:cNvSpPr>
          <p:nvPr>
            <p:ph sz="quarter" idx="20" hasCustomPrompt="1"/>
          </p:nvPr>
        </p:nvSpPr>
        <p:spPr>
          <a:xfrm>
            <a:off x="3444082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6" name="Объект 8"/>
          <p:cNvSpPr>
            <a:spLocks noGrp="1"/>
          </p:cNvSpPr>
          <p:nvPr>
            <p:ph sz="quarter" idx="21" hasCustomPrompt="1"/>
          </p:nvPr>
        </p:nvSpPr>
        <p:spPr>
          <a:xfrm>
            <a:off x="3444081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7" name="Текст 3"/>
          <p:cNvSpPr>
            <a:spLocks noGrp="1"/>
          </p:cNvSpPr>
          <p:nvPr>
            <p:ph type="body" sz="quarter" idx="22" hasCustomPrompt="1"/>
          </p:nvPr>
        </p:nvSpPr>
        <p:spPr>
          <a:xfrm>
            <a:off x="6150109" y="1908669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1" name="Диаграмма 6"/>
          <p:cNvSpPr>
            <a:spLocks noGrp="1"/>
          </p:cNvSpPr>
          <p:nvPr>
            <p:ph type="chart" sz="quarter" idx="23" hasCustomPrompt="1"/>
          </p:nvPr>
        </p:nvSpPr>
        <p:spPr>
          <a:xfrm>
            <a:off x="6150637" y="2501025"/>
            <a:ext cx="2587097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3" name="Объект 8"/>
          <p:cNvSpPr>
            <a:spLocks noGrp="1"/>
          </p:cNvSpPr>
          <p:nvPr>
            <p:ph sz="quarter" idx="24" hasCustomPrompt="1"/>
          </p:nvPr>
        </p:nvSpPr>
        <p:spPr>
          <a:xfrm>
            <a:off x="6150109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4" name="Объект 8"/>
          <p:cNvSpPr>
            <a:spLocks noGrp="1"/>
          </p:cNvSpPr>
          <p:nvPr>
            <p:ph sz="quarter" idx="25" hasCustomPrompt="1"/>
          </p:nvPr>
        </p:nvSpPr>
        <p:spPr>
          <a:xfrm>
            <a:off x="6149844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5" name="Объект 8"/>
          <p:cNvSpPr>
            <a:spLocks noGrp="1"/>
          </p:cNvSpPr>
          <p:nvPr>
            <p:ph sz="quarter" idx="26" hasCustomPrompt="1"/>
          </p:nvPr>
        </p:nvSpPr>
        <p:spPr>
          <a:xfrm>
            <a:off x="6149843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6" name="Текст 3"/>
          <p:cNvSpPr>
            <a:spLocks noGrp="1"/>
          </p:cNvSpPr>
          <p:nvPr>
            <p:ph type="body" sz="quarter" idx="27" hasCustomPrompt="1"/>
          </p:nvPr>
        </p:nvSpPr>
        <p:spPr>
          <a:xfrm>
            <a:off x="8856661" y="1908669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7" name="Диаграмма 6"/>
          <p:cNvSpPr>
            <a:spLocks noGrp="1"/>
          </p:cNvSpPr>
          <p:nvPr>
            <p:ph type="chart" sz="quarter" idx="28" hasCustomPrompt="1"/>
          </p:nvPr>
        </p:nvSpPr>
        <p:spPr>
          <a:xfrm>
            <a:off x="8857189" y="2501025"/>
            <a:ext cx="2587097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8" name="Объект 8"/>
          <p:cNvSpPr>
            <a:spLocks noGrp="1"/>
          </p:cNvSpPr>
          <p:nvPr>
            <p:ph sz="quarter" idx="29" hasCustomPrompt="1"/>
          </p:nvPr>
        </p:nvSpPr>
        <p:spPr>
          <a:xfrm>
            <a:off x="8856661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9" name="Объект 8"/>
          <p:cNvSpPr>
            <a:spLocks noGrp="1"/>
          </p:cNvSpPr>
          <p:nvPr>
            <p:ph sz="quarter" idx="30" hasCustomPrompt="1"/>
          </p:nvPr>
        </p:nvSpPr>
        <p:spPr>
          <a:xfrm>
            <a:off x="8856396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0" name="Объект 8"/>
          <p:cNvSpPr>
            <a:spLocks noGrp="1"/>
          </p:cNvSpPr>
          <p:nvPr>
            <p:ph sz="quarter" idx="31" hasCustomPrompt="1"/>
          </p:nvPr>
        </p:nvSpPr>
        <p:spPr>
          <a:xfrm>
            <a:off x="8856395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1" name="Объект 19"/>
          <p:cNvSpPr>
            <a:spLocks noGrp="1"/>
          </p:cNvSpPr>
          <p:nvPr>
            <p:ph sz="quarter" idx="14" hasCustomPrompt="1"/>
          </p:nvPr>
        </p:nvSpPr>
        <p:spPr>
          <a:xfrm>
            <a:off x="738189" y="1214002"/>
            <a:ext cx="10706099" cy="449262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r>
              <a:rPr lang="en-US" sz="2000" dirty="0">
                <a:solidFill>
                  <a:srgbClr val="006CB7"/>
                </a:solidFill>
              </a:rPr>
              <a:t>Long subtitle or descriptive text on one or two lines</a:t>
            </a:r>
          </a:p>
        </p:txBody>
      </p:sp>
      <p:sp>
        <p:nvSpPr>
          <p:cNvPr id="44" name="Текст 3"/>
          <p:cNvSpPr>
            <a:spLocks noGrp="1"/>
          </p:cNvSpPr>
          <p:nvPr>
            <p:ph type="body" sz="quarter" idx="32" hasCustomPrompt="1"/>
          </p:nvPr>
        </p:nvSpPr>
        <p:spPr>
          <a:xfrm>
            <a:off x="737001" y="1908669"/>
            <a:ext cx="2587625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45" name="Диаграмма 6"/>
          <p:cNvSpPr>
            <a:spLocks noGrp="1"/>
          </p:cNvSpPr>
          <p:nvPr>
            <p:ph type="chart" sz="quarter" idx="33" hasCustomPrompt="1"/>
          </p:nvPr>
        </p:nvSpPr>
        <p:spPr>
          <a:xfrm>
            <a:off x="737529" y="2501025"/>
            <a:ext cx="2587097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46" name="Объект 8"/>
          <p:cNvSpPr>
            <a:spLocks noGrp="1"/>
          </p:cNvSpPr>
          <p:nvPr>
            <p:ph sz="quarter" idx="34" hasCustomPrompt="1"/>
          </p:nvPr>
        </p:nvSpPr>
        <p:spPr>
          <a:xfrm>
            <a:off x="737001" y="499745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47" name="Объект 8"/>
          <p:cNvSpPr>
            <a:spLocks noGrp="1"/>
          </p:cNvSpPr>
          <p:nvPr>
            <p:ph sz="quarter" idx="35" hasCustomPrompt="1"/>
          </p:nvPr>
        </p:nvSpPr>
        <p:spPr>
          <a:xfrm>
            <a:off x="736736" y="5695731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48" name="Объект 8"/>
          <p:cNvSpPr>
            <a:spLocks noGrp="1"/>
          </p:cNvSpPr>
          <p:nvPr>
            <p:ph sz="quarter" idx="36" hasCustomPrompt="1"/>
          </p:nvPr>
        </p:nvSpPr>
        <p:spPr>
          <a:xfrm>
            <a:off x="736735" y="5346590"/>
            <a:ext cx="2588153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49" name="Текст 5"/>
          <p:cNvSpPr>
            <a:spLocks noGrp="1"/>
          </p:cNvSpPr>
          <p:nvPr>
            <p:ph type="body" sz="quarter" idx="37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29377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7398" y="2175641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9" name="Текст 5"/>
          <p:cNvSpPr>
            <a:spLocks noGrp="1"/>
          </p:cNvSpPr>
          <p:nvPr>
            <p:ph type="body" sz="quarter" idx="36" hasCustomPrompt="1"/>
          </p:nvPr>
        </p:nvSpPr>
        <p:spPr>
          <a:xfrm>
            <a:off x="737398" y="2736027"/>
            <a:ext cx="335997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8084310" y="2175641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2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8084310" y="2736027"/>
            <a:ext cx="335997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4410854" y="2175641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4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4410854" y="2736027"/>
            <a:ext cx="335997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314479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6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738189" y="5139557"/>
            <a:ext cx="3359185" cy="425669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4411645" y="5139557"/>
            <a:ext cx="3359185" cy="425669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18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8085101" y="5139557"/>
            <a:ext cx="3359185" cy="425669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6" hasCustomPrompt="1"/>
          </p:nvPr>
        </p:nvSpPr>
        <p:spPr>
          <a:xfrm>
            <a:off x="738188" y="2474584"/>
            <a:ext cx="3359150" cy="2286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7" hasCustomPrompt="1"/>
          </p:nvPr>
        </p:nvSpPr>
        <p:spPr>
          <a:xfrm>
            <a:off x="4411645" y="2474584"/>
            <a:ext cx="3359150" cy="228600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18" hasCustomPrompt="1"/>
          </p:nvPr>
        </p:nvSpPr>
        <p:spPr>
          <a:xfrm>
            <a:off x="8085136" y="2474584"/>
            <a:ext cx="3359150" cy="228600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3" hasCustomPrompt="1"/>
          </p:nvPr>
        </p:nvSpPr>
        <p:spPr>
          <a:xfrm>
            <a:off x="738188" y="1339849"/>
            <a:ext cx="10706100" cy="772729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20" name="Текст 5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49634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6" hasCustomPrompt="1"/>
          </p:nvPr>
        </p:nvSpPr>
        <p:spPr>
          <a:xfrm>
            <a:off x="738188" y="3452647"/>
            <a:ext cx="3359150" cy="256118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7" hasCustomPrompt="1"/>
          </p:nvPr>
        </p:nvSpPr>
        <p:spPr>
          <a:xfrm>
            <a:off x="4411645" y="3925613"/>
            <a:ext cx="3359150" cy="2088221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18" hasCustomPrompt="1"/>
          </p:nvPr>
        </p:nvSpPr>
        <p:spPr>
          <a:xfrm>
            <a:off x="8085136" y="4382814"/>
            <a:ext cx="3359150" cy="1631020"/>
          </a:xfrm>
        </p:spPr>
        <p:txBody>
          <a:bodyPr/>
          <a:lstStyle/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3" hasCustomPrompt="1"/>
          </p:nvPr>
        </p:nvSpPr>
        <p:spPr>
          <a:xfrm>
            <a:off x="738188" y="1339849"/>
            <a:ext cx="10706100" cy="772729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20" name="Текст 5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3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737328" y="2317530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4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737328" y="2877916"/>
            <a:ext cx="3359976" cy="57473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4410819" y="2317530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6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4410819" y="2877916"/>
            <a:ext cx="3359976" cy="10476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  <p:sp>
        <p:nvSpPr>
          <p:cNvPr id="27" name="Текст 2"/>
          <p:cNvSpPr>
            <a:spLocks noGrp="1"/>
          </p:cNvSpPr>
          <p:nvPr>
            <p:ph type="body" sz="quarter" idx="41" hasCustomPrompt="1"/>
          </p:nvPr>
        </p:nvSpPr>
        <p:spPr>
          <a:xfrm>
            <a:off x="8084310" y="2317529"/>
            <a:ext cx="335997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28" name="Текст 5"/>
          <p:cNvSpPr>
            <a:spLocks noGrp="1"/>
          </p:cNvSpPr>
          <p:nvPr>
            <p:ph type="body" sz="quarter" idx="42" hasCustomPrompt="1"/>
          </p:nvPr>
        </p:nvSpPr>
        <p:spPr>
          <a:xfrm>
            <a:off x="8084310" y="2877915"/>
            <a:ext cx="3359976" cy="1504899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</p:spTree>
    <p:extLst>
      <p:ext uri="{BB962C8B-B14F-4D97-AF65-F5344CB8AC3E}">
        <p14:creationId xmlns:p14="http://schemas.microsoft.com/office/powerpoint/2010/main" val="7306773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7" hasCustomPrompt="1"/>
          </p:nvPr>
        </p:nvSpPr>
        <p:spPr>
          <a:xfrm>
            <a:off x="737572" y="1923695"/>
            <a:ext cx="3026117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8" hasCustomPrompt="1"/>
          </p:nvPr>
        </p:nvSpPr>
        <p:spPr>
          <a:xfrm>
            <a:off x="738189" y="2501024"/>
            <a:ext cx="3025500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9" name="Объект 8"/>
          <p:cNvSpPr>
            <a:spLocks noGrp="1"/>
          </p:cNvSpPr>
          <p:nvPr>
            <p:ph sz="quarter" idx="19" hasCustomPrompt="1"/>
          </p:nvPr>
        </p:nvSpPr>
        <p:spPr>
          <a:xfrm>
            <a:off x="737838" y="499745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5" name="Объект 8"/>
          <p:cNvSpPr>
            <a:spLocks noGrp="1"/>
          </p:cNvSpPr>
          <p:nvPr>
            <p:ph sz="quarter" idx="20" hasCustomPrompt="1"/>
          </p:nvPr>
        </p:nvSpPr>
        <p:spPr>
          <a:xfrm>
            <a:off x="737573" y="5695731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6" name="Объект 8"/>
          <p:cNvSpPr>
            <a:spLocks noGrp="1"/>
          </p:cNvSpPr>
          <p:nvPr>
            <p:ph sz="quarter" idx="21" hasCustomPrompt="1"/>
          </p:nvPr>
        </p:nvSpPr>
        <p:spPr>
          <a:xfrm>
            <a:off x="737572" y="534659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17" name="Текст 3"/>
          <p:cNvSpPr>
            <a:spLocks noGrp="1"/>
          </p:cNvSpPr>
          <p:nvPr>
            <p:ph type="body" sz="quarter" idx="22" hasCustomPrompt="1"/>
          </p:nvPr>
        </p:nvSpPr>
        <p:spPr>
          <a:xfrm>
            <a:off x="4577870" y="1923695"/>
            <a:ext cx="3026117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1" name="Диаграмма 6"/>
          <p:cNvSpPr>
            <a:spLocks noGrp="1"/>
          </p:cNvSpPr>
          <p:nvPr>
            <p:ph type="chart" sz="quarter" idx="23" hasCustomPrompt="1"/>
          </p:nvPr>
        </p:nvSpPr>
        <p:spPr>
          <a:xfrm>
            <a:off x="4578488" y="2501025"/>
            <a:ext cx="3025500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3" name="Объект 8"/>
          <p:cNvSpPr>
            <a:spLocks noGrp="1"/>
          </p:cNvSpPr>
          <p:nvPr>
            <p:ph sz="quarter" idx="24" hasCustomPrompt="1"/>
          </p:nvPr>
        </p:nvSpPr>
        <p:spPr>
          <a:xfrm>
            <a:off x="4577959" y="499745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4" name="Объект 8"/>
          <p:cNvSpPr>
            <a:spLocks noGrp="1"/>
          </p:cNvSpPr>
          <p:nvPr>
            <p:ph sz="quarter" idx="25" hasCustomPrompt="1"/>
          </p:nvPr>
        </p:nvSpPr>
        <p:spPr>
          <a:xfrm>
            <a:off x="4577694" y="5695731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5" name="Объект 8"/>
          <p:cNvSpPr>
            <a:spLocks noGrp="1"/>
          </p:cNvSpPr>
          <p:nvPr>
            <p:ph sz="quarter" idx="26" hasCustomPrompt="1"/>
          </p:nvPr>
        </p:nvSpPr>
        <p:spPr>
          <a:xfrm>
            <a:off x="4577693" y="534659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6" name="Текст 3"/>
          <p:cNvSpPr>
            <a:spLocks noGrp="1"/>
          </p:cNvSpPr>
          <p:nvPr>
            <p:ph type="body" sz="quarter" idx="27" hasCustomPrompt="1"/>
          </p:nvPr>
        </p:nvSpPr>
        <p:spPr>
          <a:xfrm>
            <a:off x="8418169" y="1923695"/>
            <a:ext cx="3026117" cy="346951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7" name="Диаграмма 6"/>
          <p:cNvSpPr>
            <a:spLocks noGrp="1"/>
          </p:cNvSpPr>
          <p:nvPr>
            <p:ph type="chart" sz="quarter" idx="28" hasCustomPrompt="1"/>
          </p:nvPr>
        </p:nvSpPr>
        <p:spPr>
          <a:xfrm>
            <a:off x="8418787" y="2501025"/>
            <a:ext cx="3025500" cy="22043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Diagram (</a:t>
            </a:r>
            <a:r>
              <a:rPr lang="en-US" dirty="0" err="1"/>
              <a:t>colours</a:t>
            </a:r>
            <a:r>
              <a:rPr lang="en-US" dirty="0"/>
              <a:t> of the text match the diagram)</a:t>
            </a:r>
            <a:endParaRPr lang="ru-RU" dirty="0"/>
          </a:p>
        </p:txBody>
      </p:sp>
      <p:sp>
        <p:nvSpPr>
          <p:cNvPr id="28" name="Объект 8"/>
          <p:cNvSpPr>
            <a:spLocks noGrp="1"/>
          </p:cNvSpPr>
          <p:nvPr>
            <p:ph sz="quarter" idx="29" hasCustomPrompt="1"/>
          </p:nvPr>
        </p:nvSpPr>
        <p:spPr>
          <a:xfrm>
            <a:off x="8418079" y="499745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006CB7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29" name="Объект 8"/>
          <p:cNvSpPr>
            <a:spLocks noGrp="1"/>
          </p:cNvSpPr>
          <p:nvPr>
            <p:ph sz="quarter" idx="30" hasCustomPrompt="1"/>
          </p:nvPr>
        </p:nvSpPr>
        <p:spPr>
          <a:xfrm>
            <a:off x="8417814" y="5695731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80C342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0" name="Объект 8"/>
          <p:cNvSpPr>
            <a:spLocks noGrp="1"/>
          </p:cNvSpPr>
          <p:nvPr>
            <p:ph sz="quarter" idx="31" hasCustomPrompt="1"/>
          </p:nvPr>
        </p:nvSpPr>
        <p:spPr>
          <a:xfrm>
            <a:off x="8417813" y="5346590"/>
            <a:ext cx="3026735" cy="2794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EE3129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  <a:endParaRPr lang="ru-RU" dirty="0"/>
          </a:p>
        </p:txBody>
      </p:sp>
      <p:sp>
        <p:nvSpPr>
          <p:cNvPr id="31" name="Объект 19"/>
          <p:cNvSpPr>
            <a:spLocks noGrp="1"/>
          </p:cNvSpPr>
          <p:nvPr>
            <p:ph sz="quarter" idx="14" hasCustomPrompt="1"/>
          </p:nvPr>
        </p:nvSpPr>
        <p:spPr>
          <a:xfrm>
            <a:off x="738189" y="1214002"/>
            <a:ext cx="10706099" cy="449262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r>
              <a:rPr lang="en-US" sz="2000" dirty="0">
                <a:solidFill>
                  <a:srgbClr val="006CB7"/>
                </a:solidFill>
              </a:rPr>
              <a:t>Long subtitle or descriptive text on one or two lines</a:t>
            </a:r>
          </a:p>
        </p:txBody>
      </p:sp>
      <p:sp>
        <p:nvSpPr>
          <p:cNvPr id="49" name="Текст 5"/>
          <p:cNvSpPr>
            <a:spLocks noGrp="1"/>
          </p:cNvSpPr>
          <p:nvPr>
            <p:ph type="body" sz="quarter" idx="37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6769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7" name="Текст 2"/>
          <p:cNvSpPr>
            <a:spLocks noGrp="1"/>
          </p:cNvSpPr>
          <p:nvPr>
            <p:ph type="body" sz="quarter" idx="37" hasCustomPrompt="1"/>
          </p:nvPr>
        </p:nvSpPr>
        <p:spPr>
          <a:xfrm>
            <a:off x="738190" y="2175641"/>
            <a:ext cx="504348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8" name="Текст 5"/>
          <p:cNvSpPr>
            <a:spLocks noGrp="1"/>
          </p:cNvSpPr>
          <p:nvPr>
            <p:ph type="body" sz="quarter" idx="38" hasCustomPrompt="1"/>
          </p:nvPr>
        </p:nvSpPr>
        <p:spPr>
          <a:xfrm>
            <a:off x="738190" y="2736027"/>
            <a:ext cx="504348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sz="quarter" idx="39" hasCustomPrompt="1"/>
          </p:nvPr>
        </p:nvSpPr>
        <p:spPr>
          <a:xfrm>
            <a:off x="6400800" y="2175641"/>
            <a:ext cx="5043486" cy="560387"/>
          </a:xfrm>
        </p:spPr>
        <p:txBody>
          <a:bodyPr>
            <a:normAutofit/>
          </a:bodyPr>
          <a:lstStyle>
            <a:lvl1pPr marL="0" indent="0" algn="l">
              <a:buNone/>
              <a:defRPr sz="1800" b="1"/>
            </a:lvl1pPr>
          </a:lstStyle>
          <a:p>
            <a:pPr lvl="0"/>
            <a:r>
              <a:rPr lang="en-US" dirty="0"/>
              <a:t>Block title</a:t>
            </a:r>
            <a:endParaRPr lang="ru-RU" dirty="0"/>
          </a:p>
        </p:txBody>
      </p:sp>
      <p:sp>
        <p:nvSpPr>
          <p:cNvPr id="11" name="Текст 5"/>
          <p:cNvSpPr>
            <a:spLocks noGrp="1"/>
          </p:cNvSpPr>
          <p:nvPr>
            <p:ph type="body" sz="quarter" idx="40" hasCustomPrompt="1"/>
          </p:nvPr>
        </p:nvSpPr>
        <p:spPr>
          <a:xfrm>
            <a:off x="6400800" y="2736027"/>
            <a:ext cx="5043486" cy="3239104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</a:t>
            </a:r>
          </a:p>
        </p:txBody>
      </p:sp>
    </p:spTree>
    <p:extLst>
      <p:ext uri="{BB962C8B-B14F-4D97-AF65-F5344CB8AC3E}">
        <p14:creationId xmlns:p14="http://schemas.microsoft.com/office/powerpoint/2010/main" val="33075524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339549"/>
            <a:ext cx="5048247" cy="1056810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 (can be longer and longer and longer and longer and longer and longer)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8190" y="2695903"/>
            <a:ext cx="5048247" cy="327944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</p:txBody>
      </p:sp>
      <p:sp>
        <p:nvSpPr>
          <p:cNvPr id="9" name="Текст 2"/>
          <p:cNvSpPr>
            <a:spLocks noGrp="1"/>
          </p:cNvSpPr>
          <p:nvPr>
            <p:ph type="body" sz="quarter" idx="36" hasCustomPrompt="1"/>
          </p:nvPr>
        </p:nvSpPr>
        <p:spPr>
          <a:xfrm>
            <a:off x="6396039" y="2695903"/>
            <a:ext cx="5048247" cy="327944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lvl="0"/>
            <a:endParaRPr lang="en-US" dirty="0"/>
          </a:p>
        </p:txBody>
      </p:sp>
      <p:sp>
        <p:nvSpPr>
          <p:cNvPr id="11" name="Текст 24"/>
          <p:cNvSpPr>
            <a:spLocks noGrp="1"/>
          </p:cNvSpPr>
          <p:nvPr>
            <p:ph type="body" sz="quarter" idx="37" hasCustomPrompt="1"/>
          </p:nvPr>
        </p:nvSpPr>
        <p:spPr>
          <a:xfrm>
            <a:off x="6396038" y="1339549"/>
            <a:ext cx="5048247" cy="1056810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 (can be longer and longer and longer and longer and longer and longer)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86581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 slid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339549"/>
            <a:ext cx="10706096" cy="1056810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738190" y="3421116"/>
            <a:ext cx="5048247" cy="2554233"/>
          </a:xfr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ru-RU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36" hasCustomPrompt="1"/>
          </p:nvPr>
        </p:nvSpPr>
        <p:spPr>
          <a:xfrm>
            <a:off x="6396039" y="3421116"/>
            <a:ext cx="5048247" cy="2554232"/>
          </a:xfr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ru-RU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7" hasCustomPrompt="1"/>
          </p:nvPr>
        </p:nvSpPr>
        <p:spPr>
          <a:xfrm>
            <a:off x="738188" y="2617789"/>
            <a:ext cx="5048250" cy="582612"/>
          </a:xfrm>
        </p:spPr>
        <p:txBody>
          <a:bodyPr>
            <a:normAutofit/>
          </a:bodyPr>
          <a:lstStyle>
            <a:lvl1pPr marL="0" indent="0">
              <a:buNone/>
              <a:defRPr sz="1800" b="1" baseline="0"/>
            </a:lvl1pPr>
          </a:lstStyle>
          <a:p>
            <a:pPr lvl="0"/>
            <a:r>
              <a:rPr lang="en-US" dirty="0"/>
              <a:t>Subtitle (can be longer and longer and longer and longer and longer and longer)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99100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 sl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738190" y="2144713"/>
            <a:ext cx="10706096" cy="472363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lvl1pPr>
          </a:lstStyle>
          <a:p>
            <a:r>
              <a:rPr lang="en-US" b="1" dirty="0"/>
              <a:t>Block title</a:t>
            </a:r>
            <a:endParaRPr lang="ru-RU" b="1" baseline="0" dirty="0"/>
          </a:p>
          <a:p>
            <a:endParaRPr lang="ru-RU" b="1" baseline="0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6" hasCustomPrompt="1"/>
          </p:nvPr>
        </p:nvSpPr>
        <p:spPr>
          <a:xfrm>
            <a:off x="738190" y="2806700"/>
            <a:ext cx="10706098" cy="31051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9652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5" hasCustomPrompt="1"/>
          </p:nvPr>
        </p:nvSpPr>
        <p:spPr>
          <a:xfrm>
            <a:off x="1182415" y="2144713"/>
            <a:ext cx="9747524" cy="3846512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1"/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aseline="0"/>
            </a:lvl2pPr>
          </a:lstStyle>
          <a:p>
            <a:pPr lvl="0"/>
            <a:r>
              <a:rPr lang="en-US" dirty="0"/>
              <a:t>Text</a:t>
            </a:r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7" hasCustomPrompt="1"/>
          </p:nvPr>
        </p:nvSpPr>
        <p:spPr>
          <a:xfrm>
            <a:off x="1182686" y="2538636"/>
            <a:ext cx="9747250" cy="6826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</a:lstStyle>
          <a:p>
            <a:pPr lvl="1"/>
            <a:r>
              <a:rPr lang="en-US" dirty="0"/>
              <a:t>Second level text</a:t>
            </a:r>
          </a:p>
        </p:txBody>
      </p:sp>
    </p:spTree>
    <p:extLst>
      <p:ext uri="{BB962C8B-B14F-4D97-AF65-F5344CB8AC3E}">
        <p14:creationId xmlns:p14="http://schemas.microsoft.com/office/powerpoint/2010/main" val="31161349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0" y="1182688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35" hasCustomPrompt="1"/>
          </p:nvPr>
        </p:nvSpPr>
        <p:spPr>
          <a:xfrm>
            <a:off x="1308100" y="2144713"/>
            <a:ext cx="9621838" cy="38941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2298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20" name="Текст 24"/>
          <p:cNvSpPr>
            <a:spLocks noGrp="1"/>
          </p:cNvSpPr>
          <p:nvPr>
            <p:ph type="body" sz="quarter" idx="34" hasCustomPrompt="1"/>
          </p:nvPr>
        </p:nvSpPr>
        <p:spPr>
          <a:xfrm>
            <a:off x="738188" y="4274234"/>
            <a:ext cx="10706098" cy="67923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Long subtitle or descriptive text on one or two lines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35" hasCustomPrompt="1"/>
          </p:nvPr>
        </p:nvSpPr>
        <p:spPr>
          <a:xfrm>
            <a:off x="1308098" y="1429490"/>
            <a:ext cx="9621838" cy="248035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36" hasCustomPrompt="1"/>
          </p:nvPr>
        </p:nvSpPr>
        <p:spPr>
          <a:xfrm>
            <a:off x="738188" y="4982349"/>
            <a:ext cx="10706098" cy="85089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Maecenas sit </a:t>
            </a:r>
            <a:r>
              <a:rPr lang="en-US" dirty="0" err="1"/>
              <a:t>amet</a:t>
            </a:r>
            <a:r>
              <a:rPr lang="en-US" dirty="0"/>
              <a:t> ipsum semper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in et ante.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ligula,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mattis</a:t>
            </a:r>
            <a:r>
              <a:rPr lang="en-US" dirty="0"/>
              <a:t> in.</a:t>
            </a:r>
          </a:p>
        </p:txBody>
      </p:sp>
    </p:spTree>
    <p:extLst>
      <p:ext uri="{BB962C8B-B14F-4D97-AF65-F5344CB8AC3E}">
        <p14:creationId xmlns:p14="http://schemas.microsoft.com/office/powerpoint/2010/main" val="26795315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_imag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1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1355725"/>
            <a:ext cx="2587622" cy="66198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35" hasCustomPrompt="1"/>
          </p:nvPr>
        </p:nvSpPr>
        <p:spPr>
          <a:xfrm>
            <a:off x="3606800" y="1355725"/>
            <a:ext cx="7837488" cy="46196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a picture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6" hasCustomPrompt="1"/>
          </p:nvPr>
        </p:nvSpPr>
        <p:spPr>
          <a:xfrm>
            <a:off x="738191" y="2263775"/>
            <a:ext cx="2587622" cy="371157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505621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_diagram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31" name="Текст 5"/>
          <p:cNvSpPr>
            <a:spLocks noGrp="1"/>
          </p:cNvSpPr>
          <p:nvPr>
            <p:ph type="body" sz="quarter" idx="33" hasCustomPrompt="1"/>
          </p:nvPr>
        </p:nvSpPr>
        <p:spPr>
          <a:xfrm>
            <a:off x="738191" y="268288"/>
            <a:ext cx="8815384" cy="457200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114FBD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Name of the slide</a:t>
            </a:r>
            <a:endParaRPr lang="ru-RU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34" hasCustomPrompt="1"/>
          </p:nvPr>
        </p:nvSpPr>
        <p:spPr>
          <a:xfrm>
            <a:off x="738191" y="1355725"/>
            <a:ext cx="2587622" cy="66198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6CB7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Title or subtitle</a:t>
            </a:r>
            <a:endParaRPr lang="ru-RU" dirty="0"/>
          </a:p>
        </p:txBody>
      </p:sp>
      <p:sp>
        <p:nvSpPr>
          <p:cNvPr id="4" name="Диаграмма 3"/>
          <p:cNvSpPr>
            <a:spLocks noGrp="1"/>
          </p:cNvSpPr>
          <p:nvPr>
            <p:ph type="chart" sz="quarter" idx="35" hasCustomPrompt="1"/>
          </p:nvPr>
        </p:nvSpPr>
        <p:spPr>
          <a:xfrm>
            <a:off x="3606800" y="1355725"/>
            <a:ext cx="7837488" cy="461940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Diagram</a:t>
            </a:r>
            <a:endParaRPr lang="ru-RU" dirty="0"/>
          </a:p>
        </p:txBody>
      </p:sp>
      <p:sp>
        <p:nvSpPr>
          <p:cNvPr id="7" name="Текст 3"/>
          <p:cNvSpPr>
            <a:spLocks noGrp="1"/>
          </p:cNvSpPr>
          <p:nvPr>
            <p:ph type="body" sz="quarter" idx="36" hasCustomPrompt="1"/>
          </p:nvPr>
        </p:nvSpPr>
        <p:spPr>
          <a:xfrm>
            <a:off x="738191" y="2263775"/>
            <a:ext cx="2587622" cy="371157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ligula ac quam </a:t>
            </a:r>
            <a:r>
              <a:rPr lang="en-US" dirty="0" err="1"/>
              <a:t>auctor</a:t>
            </a:r>
            <a:r>
              <a:rPr lang="en-US" dirty="0"/>
              <a:t>, at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913706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738191" y="323850"/>
            <a:ext cx="6938959" cy="43815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Contacts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sp>
        <p:nvSpPr>
          <p:cNvPr id="8" name="Овал 7"/>
          <p:cNvSpPr/>
          <p:nvPr userDrawn="1"/>
        </p:nvSpPr>
        <p:spPr>
          <a:xfrm>
            <a:off x="2837794" y="1813034"/>
            <a:ext cx="2443655" cy="244365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Your photo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4" name="Прямая соединительная линия 13"/>
          <p:cNvCxnSpPr/>
          <p:nvPr userDrawn="1"/>
        </p:nvCxnSpPr>
        <p:spPr>
          <a:xfrm>
            <a:off x="1952625" y="6343649"/>
            <a:ext cx="0" cy="10001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100263" y="6273231"/>
            <a:ext cx="1363661" cy="214313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lang="en-US" sz="1200" dirty="0">
                <a:solidFill>
                  <a:schemeClr val="bg1"/>
                </a:solidFill>
              </a:rPr>
              <a:t>Month Year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21" name="Текст 20"/>
          <p:cNvSpPr>
            <a:spLocks noGrp="1"/>
          </p:cNvSpPr>
          <p:nvPr>
            <p:ph type="body" sz="quarter" idx="12" hasCustomPrompt="1"/>
          </p:nvPr>
        </p:nvSpPr>
        <p:spPr>
          <a:xfrm>
            <a:off x="5675585" y="1813034"/>
            <a:ext cx="5768700" cy="425778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Name</a:t>
            </a:r>
            <a:endParaRPr lang="ru-RU" dirty="0"/>
          </a:p>
        </p:txBody>
      </p:sp>
      <p:sp>
        <p:nvSpPr>
          <p:cNvPr id="23" name="Текст 22"/>
          <p:cNvSpPr>
            <a:spLocks noGrp="1"/>
          </p:cNvSpPr>
          <p:nvPr>
            <p:ph type="body" sz="quarter" idx="13" hasCustomPrompt="1"/>
          </p:nvPr>
        </p:nvSpPr>
        <p:spPr>
          <a:xfrm>
            <a:off x="5675585" y="2270125"/>
            <a:ext cx="5768701" cy="45741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 dirty="0"/>
              <a:t>Position</a:t>
            </a:r>
            <a:endParaRPr lang="ru-RU" dirty="0"/>
          </a:p>
        </p:txBody>
      </p:sp>
      <p:sp>
        <p:nvSpPr>
          <p:cNvPr id="24" name="Текст 22"/>
          <p:cNvSpPr>
            <a:spLocks noGrp="1"/>
          </p:cNvSpPr>
          <p:nvPr>
            <p:ph type="body" sz="quarter" idx="14" hasCustomPrompt="1"/>
          </p:nvPr>
        </p:nvSpPr>
        <p:spPr>
          <a:xfrm>
            <a:off x="5675583" y="2727542"/>
            <a:ext cx="5768701" cy="1970581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Working place, address, telephone, email and any other contact information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49591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 slide (many contacts)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738191" y="323850"/>
            <a:ext cx="6938959" cy="43815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Contacts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929936" y="6257925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3BAFE37-08BC-440A-B5EF-191CDF6E7255}" type="slidenum">
              <a:rPr lang="en-US" sz="1200" smtClean="0"/>
              <a:t>‹#›</a:t>
            </a:fld>
            <a:endParaRPr lang="ru-RU" sz="1200" dirty="0"/>
          </a:p>
        </p:txBody>
      </p:sp>
      <p:cxnSp>
        <p:nvCxnSpPr>
          <p:cNvPr id="14" name="Прямая соединительная линия 13"/>
          <p:cNvCxnSpPr/>
          <p:nvPr userDrawn="1"/>
        </p:nvCxnSpPr>
        <p:spPr>
          <a:xfrm>
            <a:off x="1952625" y="6343649"/>
            <a:ext cx="0" cy="10001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100263" y="6273231"/>
            <a:ext cx="1363661" cy="214313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lang="en-US" sz="1200" dirty="0">
                <a:solidFill>
                  <a:schemeClr val="bg1"/>
                </a:solidFill>
              </a:rPr>
              <a:t>Month Year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21" name="Текст 20"/>
          <p:cNvSpPr>
            <a:spLocks noGrp="1"/>
          </p:cNvSpPr>
          <p:nvPr>
            <p:ph type="body" sz="quarter" idx="12" hasCustomPrompt="1"/>
          </p:nvPr>
        </p:nvSpPr>
        <p:spPr>
          <a:xfrm>
            <a:off x="5675585" y="1813034"/>
            <a:ext cx="5768700" cy="425778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Name</a:t>
            </a:r>
            <a:endParaRPr lang="ru-RU" dirty="0"/>
          </a:p>
        </p:txBody>
      </p:sp>
      <p:sp>
        <p:nvSpPr>
          <p:cNvPr id="23" name="Текст 22"/>
          <p:cNvSpPr>
            <a:spLocks noGrp="1"/>
          </p:cNvSpPr>
          <p:nvPr>
            <p:ph type="body" sz="quarter" idx="13" hasCustomPrompt="1"/>
          </p:nvPr>
        </p:nvSpPr>
        <p:spPr>
          <a:xfrm>
            <a:off x="5675585" y="2270125"/>
            <a:ext cx="5768701" cy="45741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 dirty="0"/>
              <a:t>Position</a:t>
            </a:r>
            <a:endParaRPr lang="ru-RU" dirty="0"/>
          </a:p>
        </p:txBody>
      </p:sp>
      <p:sp>
        <p:nvSpPr>
          <p:cNvPr id="24" name="Текст 22"/>
          <p:cNvSpPr>
            <a:spLocks noGrp="1"/>
          </p:cNvSpPr>
          <p:nvPr>
            <p:ph type="body" sz="quarter" idx="14" hasCustomPrompt="1"/>
          </p:nvPr>
        </p:nvSpPr>
        <p:spPr>
          <a:xfrm>
            <a:off x="5675583" y="2727542"/>
            <a:ext cx="5768701" cy="1970581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Working place, address, telephone, email and any other contact information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3607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jp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6667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904989"/>
            <a:ext cx="10972800" cy="422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2559BB7A-F704-4182-B16A-69B3F5ADA7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995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01" r:id="rId15"/>
    <p:sldLayoutId id="2147483662" r:id="rId16"/>
    <p:sldLayoutId id="2147483663" r:id="rId17"/>
    <p:sldLayoutId id="2147483664" r:id="rId18"/>
    <p:sldLayoutId id="2147483674" r:id="rId19"/>
    <p:sldLayoutId id="2147483675" r:id="rId20"/>
    <p:sldLayoutId id="2147483676" r:id="rId21"/>
    <p:sldLayoutId id="2147483677" r:id="rId22"/>
    <p:sldLayoutId id="2147483665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5" r:id="rId29"/>
    <p:sldLayoutId id="2147483686" r:id="rId30"/>
    <p:sldLayoutId id="2147483687" r:id="rId31"/>
    <p:sldLayoutId id="2147483688" r:id="rId32"/>
    <p:sldLayoutId id="2147483689" r:id="rId33"/>
    <p:sldLayoutId id="2147483699" r:id="rId34"/>
    <p:sldLayoutId id="2147483700" r:id="rId35"/>
    <p:sldLayoutId id="2147483697" r:id="rId36"/>
    <p:sldLayoutId id="2147483702" r:id="rId37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5400" dirty="0"/>
              <a:t>Программирование на </a:t>
            </a:r>
            <a:r>
              <a:rPr lang="en-US" sz="5400" dirty="0"/>
              <a:t>Java</a:t>
            </a:r>
            <a:endParaRPr lang="ru-RU" dirty="0"/>
          </a:p>
        </p:txBody>
      </p:sp>
      <p:sp>
        <p:nvSpPr>
          <p:cNvPr id="10" name="Text Placeholder 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Обработка исключений</a:t>
            </a:r>
          </a:p>
        </p:txBody>
      </p:sp>
    </p:spTree>
    <p:extLst>
      <p:ext uri="{BB962C8B-B14F-4D97-AF65-F5344CB8AC3E}">
        <p14:creationId xmlns:p14="http://schemas.microsoft.com/office/powerpoint/2010/main" val="3213764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D676E-719A-4A12-BA52-6849B0BF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Для чего нужны</a:t>
            </a:r>
            <a:r>
              <a:rPr lang="en-US" dirty="0"/>
              <a:t>?</a:t>
            </a:r>
            <a:endParaRPr lang="ru-RU" dirty="0"/>
          </a:p>
        </p:txBody>
      </p:sp>
      <p:pic>
        <p:nvPicPr>
          <p:cNvPr id="1026" name="Picture 2" descr="ÐÑÐºÐ»ÑÑÐµÐ½Ð¸Ñ Ð² Java -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345" y="1963119"/>
            <a:ext cx="676275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546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1AEA32-20E3-4BE5-A9A2-E01C42595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Исключение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609600" y="1809739"/>
            <a:ext cx="6458174" cy="4063936"/>
          </a:xfrm>
        </p:spPr>
        <p:txBody>
          <a:bodyPr>
            <a:normAutofit fontScale="62500" lnSpcReduction="20000"/>
          </a:bodyPr>
          <a:lstStyle/>
          <a:p>
            <a:r>
              <a:rPr lang="ru-RU" sz="5000" dirty="0"/>
              <a:t>Возникновение ошибок и непредвиденных ситуаций при выполнении программы называют </a:t>
            </a:r>
            <a:r>
              <a:rPr lang="ru-RU" sz="5000" b="1" dirty="0"/>
              <a:t>исключением</a:t>
            </a:r>
            <a:r>
              <a:rPr lang="ru-RU" sz="5000" dirty="0"/>
              <a:t>.</a:t>
            </a:r>
          </a:p>
          <a:p>
            <a:r>
              <a:rPr lang="ru-RU" sz="5000" dirty="0"/>
              <a:t>Исключение – сущность, которая хранит информацию об ошибке, причине возникновения.</a:t>
            </a:r>
          </a:p>
          <a:p>
            <a:r>
              <a:rPr lang="ru-RU" sz="5000" dirty="0"/>
              <a:t>Исключение – это объект, у него есть конструктор.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B93A55-72CC-4BC0-B5D0-B9A82EFA2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659" y="2360048"/>
            <a:ext cx="5078579" cy="22255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7343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www.seleniumeasy.com/sites/default/files/pictures/java/ExceptionHierarch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716" y="1809739"/>
            <a:ext cx="8130568" cy="495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602B9B2-6E38-40DE-8625-7817FFE98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Классы исключений</a:t>
            </a:r>
          </a:p>
        </p:txBody>
      </p:sp>
    </p:spTree>
    <p:extLst>
      <p:ext uri="{BB962C8B-B14F-4D97-AF65-F5344CB8AC3E}">
        <p14:creationId xmlns:p14="http://schemas.microsoft.com/office/powerpoint/2010/main" val="1271731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B1D88-D01E-4B80-BDD9-24720899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Непроверяемые исключения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4294967295"/>
          </p:nvPr>
        </p:nvSpPr>
        <p:spPr>
          <a:xfrm>
            <a:off x="609600" y="2015865"/>
            <a:ext cx="10972800" cy="4019175"/>
          </a:xfrm>
        </p:spPr>
        <p:txBody>
          <a:bodyPr>
            <a:normAutofit/>
          </a:bodyPr>
          <a:lstStyle/>
          <a:p>
            <a:r>
              <a:rPr lang="en-US" sz="3200" dirty="0"/>
              <a:t>Unchecked Exception – </a:t>
            </a:r>
            <a:r>
              <a:rPr lang="ru-RU" sz="3200" dirty="0"/>
              <a:t>это ошибка разработчика!</a:t>
            </a:r>
          </a:p>
          <a:p>
            <a:r>
              <a:rPr lang="ru-RU" sz="3200" dirty="0"/>
              <a:t>Мы не кидаем стандартные непроверяемые исключения в коде.</a:t>
            </a:r>
          </a:p>
          <a:p>
            <a:endParaRPr lang="ru-RU" sz="3200" dirty="0"/>
          </a:p>
          <a:p>
            <a:pPr marL="0" indent="0">
              <a:buNone/>
            </a:pPr>
            <a:r>
              <a:rPr lang="ru-RU" sz="3200" dirty="0">
                <a:solidFill>
                  <a:srgbClr val="FF0000"/>
                </a:solidFill>
              </a:rPr>
              <a:t>Плохо!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throw new </a:t>
            </a:r>
            <a:r>
              <a:rPr lang="en-US" sz="3200" dirty="0" err="1">
                <a:solidFill>
                  <a:srgbClr val="FF0000"/>
                </a:solidFill>
              </a:rPr>
              <a:t>NullPointerException</a:t>
            </a:r>
            <a:r>
              <a:rPr lang="en-US" sz="3200" dirty="0">
                <a:solidFill>
                  <a:srgbClr val="FF0000"/>
                </a:solidFill>
              </a:rPr>
              <a:t>(“invalid argument”);</a:t>
            </a:r>
            <a:endParaRPr lang="ru-R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932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38441B-FAEB-4159-9E7F-7E75B976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Обработка исключений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294967295"/>
          </p:nvPr>
        </p:nvSpPr>
        <p:spPr>
          <a:xfrm>
            <a:off x="609600" y="1828811"/>
            <a:ext cx="7656513" cy="4362450"/>
          </a:xfrm>
        </p:spPr>
        <p:txBody>
          <a:bodyPr/>
          <a:lstStyle/>
          <a:p>
            <a:r>
              <a:rPr lang="ru-RU" sz="2000" dirty="0"/>
              <a:t>В языке </a:t>
            </a:r>
            <a:r>
              <a:rPr lang="ru-RU" sz="2000" dirty="0" err="1"/>
              <a:t>Java</a:t>
            </a:r>
            <a:r>
              <a:rPr lang="ru-RU" sz="2000" dirty="0"/>
              <a:t> предусмотрены специальные средства для обработки подобных ситуаций. Одним из таких средств является конструкция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ru-RU" sz="20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ru-RU" sz="20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ru-RU" sz="2000" dirty="0"/>
              <a:t>.</a:t>
            </a:r>
          </a:p>
          <a:p>
            <a:r>
              <a:rPr lang="ru-RU" sz="2000" dirty="0"/>
              <a:t>При возникновении исключения в блоке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ru-RU" sz="2000" dirty="0"/>
              <a:t> управление переходит в блок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ru-RU" sz="2000" dirty="0"/>
              <a:t>, который может обработать данное исключение. </a:t>
            </a:r>
          </a:p>
          <a:p>
            <a:r>
              <a:rPr lang="ru-RU" sz="2000" dirty="0"/>
              <a:t>Если такого блока не найдено, то пользователю отображается сообщение о необработанном исключении, а дальнейшее выполнение программы останавливается.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6" t="28767" r="33535" b="7758"/>
          <a:stretch/>
        </p:blipFill>
        <p:spPr bwMode="auto">
          <a:xfrm>
            <a:off x="8457736" y="2170073"/>
            <a:ext cx="3487118" cy="3301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1413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A120-3904-491E-8832-AFC143E6F0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9600" y="789580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Обработка проверяемых исключений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ADC305-70E0-46BB-8346-95FCBA54F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19" y="2493364"/>
            <a:ext cx="8373987" cy="333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560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CE071B-8E4E-48BF-9E58-4BAF64AD1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 </a:t>
            </a:r>
            <a:r>
              <a:rPr lang="en-US" dirty="0"/>
              <a:t>finally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609600" y="1902875"/>
            <a:ext cx="7146664" cy="347503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Когда исключение передано, выполнение метода направляется по нелинейному пути. Это может стать источником проблем. Например, при входе метод открывает файл и закрывает при выходе. Чтобы закрытие файла не было пропущено из-за обработки исключения, был предложен механизм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ru-RU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Ключевое слово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ru-RU" sz="2000" dirty="0"/>
              <a:t> создаёт блок кода, который будет выполнен после завершения блока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ru-RU" sz="20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ru-RU" sz="2000" dirty="0"/>
              <a:t>, но перед кодом, следующим за ним. Блок будет выполнен, независимо от того, передано исключение или нет. Оператор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ru-RU" sz="2000" dirty="0"/>
              <a:t> не обязателен, однако каждый оператор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ru-RU" sz="2000" dirty="0"/>
              <a:t> требует наличия либо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ru-RU" sz="2000" dirty="0"/>
              <a:t>, либо </a:t>
            </a:r>
            <a:r>
              <a:rPr lang="ru-RU" sz="20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ru-RU" sz="2000" dirty="0"/>
              <a:t>.</a:t>
            </a:r>
            <a:br>
              <a:rPr lang="ru-RU" dirty="0"/>
            </a:b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C3130B-A28B-43B0-89AF-D1F1F5677A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19633" r="15514"/>
          <a:stretch/>
        </p:blipFill>
        <p:spPr>
          <a:xfrm>
            <a:off x="8419651" y="2268794"/>
            <a:ext cx="316274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78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0FC6B0-3F28-4A73-B9AC-995087CA9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6A9550-D93A-43B3-BFB9-A5583BD92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8" y="1809739"/>
            <a:ext cx="6546033" cy="4236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C9A743-9FED-4871-A5D8-831CF8A02D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566"/>
          <a:stretch/>
        </p:blipFill>
        <p:spPr>
          <a:xfrm>
            <a:off x="7155633" y="1809739"/>
            <a:ext cx="4827699" cy="32834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3806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7DC9F0-DE88-4F0D-B37D-58A6A86B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Оператор </a:t>
            </a:r>
            <a:r>
              <a:rPr lang="en-US" dirty="0"/>
              <a:t>try-with-resources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068923-346B-46AE-B8D7-5A27066A563F}"/>
              </a:ext>
            </a:extLst>
          </p:cNvPr>
          <p:cNvSpPr/>
          <p:nvPr/>
        </p:nvSpPr>
        <p:spPr>
          <a:xfrm>
            <a:off x="609600" y="4585648"/>
            <a:ext cx="101766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качестве ресурсов в </a:t>
            </a:r>
            <a:r>
              <a:rPr lang="ru-RU" sz="2400" b="1" dirty="0" err="1"/>
              <a:t>try-with-resources</a:t>
            </a:r>
            <a:r>
              <a:rPr lang="ru-RU" sz="2400" dirty="0"/>
              <a:t> можно передавать только объекты классов унаследованных от интерфейса </a:t>
            </a:r>
            <a:r>
              <a:rPr lang="ru-RU" sz="2400" b="1" dirty="0" err="1"/>
              <a:t>AutoCloseable</a:t>
            </a:r>
            <a:r>
              <a:rPr lang="ru-RU" sz="2400" dirty="0"/>
              <a:t>. Таким образом у этих объектов всегда будет метод </a:t>
            </a:r>
            <a:r>
              <a:rPr lang="ru-RU" sz="2400" b="1" dirty="0" err="1"/>
              <a:t>close</a:t>
            </a:r>
            <a:r>
              <a:rPr lang="ru-RU" sz="2400" dirty="0"/>
              <a:t>() без параметров.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1BD243-B2D1-4165-BCA1-FAFCCA5BC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053" y="2422476"/>
            <a:ext cx="5967343" cy="1357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8825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7DC9F0-DE88-4F0D-B37D-58A6A86B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Оператор </a:t>
            </a:r>
            <a:r>
              <a:rPr lang="en-US" dirty="0"/>
              <a:t>try-with-resources</a:t>
            </a:r>
            <a:endParaRPr lang="ru-RU" dirty="0"/>
          </a:p>
        </p:txBody>
      </p:sp>
      <p:sp>
        <p:nvSpPr>
          <p:cNvPr id="8" name="Arrow: Bent 7">
            <a:extLst>
              <a:ext uri="{FF2B5EF4-FFF2-40B4-BE49-F238E27FC236}">
                <a16:creationId xmlns:a16="http://schemas.microsoft.com/office/drawing/2014/main" id="{2D5E9A1C-0E46-48C9-9424-93C99C162A7F}"/>
              </a:ext>
            </a:extLst>
          </p:cNvPr>
          <p:cNvSpPr/>
          <p:nvPr/>
        </p:nvSpPr>
        <p:spPr>
          <a:xfrm rot="5400000">
            <a:off x="8390965" y="2882533"/>
            <a:ext cx="570155" cy="68113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50BF77-0865-4F6C-8179-013B7D2CD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10442"/>
            <a:ext cx="7139035" cy="48284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872823-BD4A-41D5-8244-4D054AA4E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057" y="4224667"/>
            <a:ext cx="6832835" cy="20723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2000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8E4578-0FC8-41D6-89A0-1578915F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Обработка проверяемых исключений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609600" y="2212341"/>
            <a:ext cx="4769224" cy="4063850"/>
          </a:xfrm>
        </p:spPr>
        <p:txBody>
          <a:bodyPr anchor="ctr">
            <a:normAutofit/>
          </a:bodyPr>
          <a:lstStyle/>
          <a:p>
            <a:r>
              <a:rPr lang="ru-RU" sz="2400" dirty="0"/>
              <a:t>Блок </a:t>
            </a:r>
            <a:r>
              <a:rPr lang="ru-RU" sz="2400" b="1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ru-RU" sz="2400" b="1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r>
              <a:rPr lang="ru-RU" sz="2400" b="1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ru-RU" sz="2400" b="1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ru-RU" sz="2400" dirty="0"/>
              <a:t>не транзакционные, т.е. действия в блоке  </a:t>
            </a:r>
            <a:r>
              <a:rPr lang="ru-RU" sz="2400" b="1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ru-RU" sz="2400" dirty="0"/>
              <a:t>, выполненные до возникновения исключения автоматически не откатятся.</a:t>
            </a:r>
            <a:endParaRPr lang="en-US" sz="2400" dirty="0"/>
          </a:p>
          <a:p>
            <a:r>
              <a:rPr lang="ru-RU" sz="2400" dirty="0"/>
              <a:t>Мы можем разграничить обработку нескольких исключений, включив дополнительные блоки </a:t>
            </a:r>
            <a:r>
              <a:rPr lang="ru-RU" sz="24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ru-RU" sz="2400" dirty="0"/>
              <a:t>.</a:t>
            </a:r>
          </a:p>
          <a:p>
            <a:pPr marL="0" indent="0" algn="ctr">
              <a:buNone/>
            </a:pPr>
            <a:endParaRPr lang="ru-RU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87B96C-928A-4091-A5DA-79F26AE29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997163"/>
            <a:ext cx="5583219" cy="43972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462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09C629-EE1C-4D2A-8FEF-2ABDD9E0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Операторы </a:t>
            </a:r>
            <a:r>
              <a:rPr lang="en-US" dirty="0"/>
              <a:t>throw </a:t>
            </a:r>
            <a:r>
              <a:rPr lang="ru-RU" dirty="0"/>
              <a:t>и </a:t>
            </a:r>
            <a:r>
              <a:rPr lang="en-US" dirty="0"/>
              <a:t>throws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609600" y="1809739"/>
            <a:ext cx="10706100" cy="373044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/>
              <a:t>Чтобы сообщить о выполнении исключительных ситуаций в программе, можно использовать оператор </a:t>
            </a:r>
            <a:r>
              <a:rPr lang="ru-RU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ru-RU" dirty="0"/>
              <a:t>. То есть с помощью этого оператора мы сами можем создать исключение и вызвать его в процессе выполнения. </a:t>
            </a:r>
          </a:p>
          <a:p>
            <a:pPr marL="0" indent="0">
              <a:buNone/>
            </a:pPr>
            <a:r>
              <a:rPr lang="ru-RU" dirty="0"/>
              <a:t>Код выглядит так:</a:t>
            </a:r>
          </a:p>
          <a:p>
            <a:pPr marL="0" indent="0">
              <a:buNone/>
            </a:pPr>
            <a:endParaRPr lang="ru-RU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Иногда метод, в котором может генерироваться исключение, сам не обрабатывает это исключение. </a:t>
            </a:r>
          </a:p>
          <a:p>
            <a:pPr marL="0" indent="0">
              <a:buNone/>
            </a:pPr>
            <a:r>
              <a:rPr lang="ru-RU" dirty="0"/>
              <a:t>В этом случае в объявлении метода используется оператор </a:t>
            </a:r>
            <a:r>
              <a:rPr lang="ru-RU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r>
              <a:rPr lang="ru-RU" dirty="0"/>
              <a:t>, который надо обработать при вызове этого метода.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Общая форма объявления метода с оператором </a:t>
            </a:r>
            <a:r>
              <a:rPr lang="ru-RU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r>
              <a:rPr lang="ru-RU" dirty="0"/>
              <a:t>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CA80FB-481D-49B8-9376-74C3B7113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72" y="5439175"/>
            <a:ext cx="6702397" cy="644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F36F53-07A3-4963-A13A-A2C26F4CC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72" y="3067492"/>
            <a:ext cx="3818392" cy="40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09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C950D3-FEC0-402C-B67B-56F3D127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Проброс исключений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609600" y="1809739"/>
            <a:ext cx="10706100" cy="4508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</a:p>
          <a:p>
            <a:pPr marL="0" indent="0">
              <a:buNone/>
            </a:pPr>
            <a:r>
              <a:rPr lang="en-US" sz="24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Reader </a:t>
            </a:r>
            <a:r>
              <a:rPr lang="en-US" sz="24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reader</a:t>
            </a:r>
            <a:r>
              <a:rPr lang="en-US" sz="24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Reader();</a:t>
            </a:r>
          </a:p>
          <a:p>
            <a:pPr marL="0" indent="0">
              <a:buNone/>
            </a:pPr>
            <a:r>
              <a:rPr lang="en-US" sz="24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reader.readConfig</a:t>
            </a:r>
            <a:r>
              <a:rPr lang="en-US" sz="24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4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n-US" sz="24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FileNotFoundException</a:t>
            </a:r>
            <a:r>
              <a:rPr lang="en-US" sz="24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pPr marL="0" indent="0">
              <a:buNone/>
            </a:pPr>
            <a:r>
              <a:rPr lang="en-US" sz="24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log.error</a:t>
            </a:r>
            <a:r>
              <a:rPr lang="en-US" sz="24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(“Failed to read </a:t>
            </a:r>
            <a:r>
              <a:rPr lang="en-US" sz="24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4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”);</a:t>
            </a:r>
          </a:p>
          <a:p>
            <a:pPr marL="0" indent="0">
              <a:buNone/>
            </a:pPr>
            <a:r>
              <a:rPr lang="en-US" sz="24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throw new </a:t>
            </a:r>
            <a:r>
              <a:rPr lang="en-US" sz="24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ComponentException</a:t>
            </a:r>
            <a:r>
              <a:rPr lang="en-US" sz="24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(e);</a:t>
            </a:r>
          </a:p>
          <a:p>
            <a:pPr marL="0" indent="0">
              <a:buNone/>
            </a:pPr>
            <a:r>
              <a:rPr lang="en-US" sz="24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i="1" dirty="0">
              <a:solidFill>
                <a:schemeClr val="accent4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424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0FB9D6-7F82-458D-83FA-39796365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Создание своих классов исключений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609600" y="1809739"/>
            <a:ext cx="10706100" cy="27320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Чтобы создать свой класс исключений, надо унаследовать его от класса </a:t>
            </a:r>
            <a:r>
              <a:rPr lang="ru-RU" sz="24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sz="2400" b="1" dirty="0"/>
              <a:t> </a:t>
            </a:r>
            <a:r>
              <a:rPr lang="ru-RU" sz="2400" dirty="0"/>
              <a:t> и переопределить нужные методы класса </a:t>
            </a:r>
            <a:r>
              <a:rPr lang="ru-RU" sz="24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Throwable</a:t>
            </a:r>
            <a:r>
              <a:rPr lang="ru-RU" sz="2400" dirty="0"/>
              <a:t>. Либо вы можете наследоваться от уже существующего типа, который наиболее близок по логике с вашим исключением.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Для генерации исключения в методе выбрасывается исключение с помощью оператора </a:t>
            </a:r>
            <a:r>
              <a:rPr lang="ru-RU" sz="24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ru-RU" sz="2400" b="1" dirty="0"/>
              <a:t>.</a:t>
            </a: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 состав нового исключения могут вводиться новый поля и методы.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70727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7" t="18009" r="4469" b="40254"/>
          <a:stretch/>
        </p:blipFill>
        <p:spPr bwMode="auto">
          <a:xfrm>
            <a:off x="660957" y="861080"/>
            <a:ext cx="9515960" cy="28275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6896" r="4061" b="38400"/>
          <a:stretch/>
        </p:blipFill>
        <p:spPr bwMode="auto">
          <a:xfrm>
            <a:off x="2759002" y="3322837"/>
            <a:ext cx="8772041" cy="27666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521134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201D5-F4A2-46D9-B4A1-6915964C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F7DC1A-65AD-4768-BF51-D7B5AD43729E}"/>
              </a:ext>
            </a:extLst>
          </p:cNvPr>
          <p:cNvSpPr/>
          <p:nvPr/>
        </p:nvSpPr>
        <p:spPr>
          <a:xfrm>
            <a:off x="609600" y="1809739"/>
            <a:ext cx="54864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Метод </a:t>
            </a:r>
            <a:r>
              <a:rPr lang="ru-RU" sz="28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getMessage</a:t>
            </a:r>
            <a:r>
              <a:rPr lang="ru-RU" sz="28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ru-RU" sz="2800" dirty="0"/>
              <a:t>возвращает сообщение об исключении</a:t>
            </a:r>
          </a:p>
          <a:p>
            <a:endParaRPr lang="ru-RU" sz="2800" dirty="0"/>
          </a:p>
          <a:p>
            <a:r>
              <a:rPr lang="ru-RU" sz="2800" dirty="0"/>
              <a:t>Метод </a:t>
            </a:r>
            <a:r>
              <a:rPr lang="ru-RU" sz="28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getStackTrace</a:t>
            </a:r>
            <a:r>
              <a:rPr lang="ru-RU" sz="28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sz="2800" dirty="0"/>
              <a:t> возвращает массив, содержащий трассировку стека исключения</a:t>
            </a:r>
          </a:p>
          <a:p>
            <a:endParaRPr lang="ru-RU" sz="2800" dirty="0"/>
          </a:p>
          <a:p>
            <a:r>
              <a:rPr lang="ru-RU" sz="2800" dirty="0"/>
              <a:t>Метод </a:t>
            </a:r>
            <a:r>
              <a:rPr lang="ru-RU" sz="2800" i="1" dirty="0" err="1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printStackTrace</a:t>
            </a:r>
            <a:r>
              <a:rPr lang="ru-RU" sz="2800" i="1" dirty="0">
                <a:solidFill>
                  <a:schemeClr val="accent4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ru-RU" sz="2800" dirty="0"/>
              <a:t>отображает трассировку стека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793E5E-7905-475A-B3BB-46B5A2165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03" y="1809739"/>
            <a:ext cx="4738993" cy="37996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94DFC7-1FF8-423E-9556-3F21C3053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569" y="5160729"/>
            <a:ext cx="4584879" cy="12386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7477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7206-59A2-4F1C-A87B-8839F30AE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Советы по обработке исключений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8E825-AEF1-487B-8DD8-0E87664A5983}"/>
              </a:ext>
            </a:extLst>
          </p:cNvPr>
          <p:cNvSpPr/>
          <p:nvPr/>
        </p:nvSpPr>
        <p:spPr>
          <a:xfrm>
            <a:off x="609601" y="1809739"/>
            <a:ext cx="1097279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3200" dirty="0"/>
              <a:t>Не игнорируйте исключения.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/>
              <a:t>Используйте специфичные исключения.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/>
              <a:t>Не используйте исключения для управления программой.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 err="1"/>
              <a:t>Логируйте</a:t>
            </a:r>
            <a:r>
              <a:rPr lang="ru-RU" sz="3200" dirty="0"/>
              <a:t> ошибки.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C59BC5-4BDD-47C3-8B68-777C76AB9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309" y="3563707"/>
            <a:ext cx="4556077" cy="29022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20349613"/>
      </p:ext>
    </p:extLst>
  </p:cSld>
  <p:clrMapOvr>
    <a:masterClrMapping/>
  </p:clrMapOvr>
</p:sld>
</file>

<file path=ppt/theme/theme1.xml><?xml version="1.0" encoding="utf-8"?>
<a:theme xmlns:a="http://schemas.openxmlformats.org/drawingml/2006/main" name="GIS_theme">
  <a:themeElements>
    <a:clrScheme name="Другая 1">
      <a:dk1>
        <a:srgbClr val="244061"/>
      </a:dk1>
      <a:lt1>
        <a:srgbClr val="DBE5F1"/>
      </a:lt1>
      <a:dk2>
        <a:srgbClr val="953734"/>
      </a:dk2>
      <a:lt2>
        <a:srgbClr val="F2DCDB"/>
      </a:lt2>
      <a:accent1>
        <a:srgbClr val="95B3D7"/>
      </a:accent1>
      <a:accent2>
        <a:srgbClr val="366092"/>
      </a:accent2>
      <a:accent3>
        <a:srgbClr val="17365D"/>
      </a:accent3>
      <a:accent4>
        <a:srgbClr val="E5B9B7"/>
      </a:accent4>
      <a:accent5>
        <a:srgbClr val="D99694"/>
      </a:accent5>
      <a:accent6>
        <a:srgbClr val="953734"/>
      </a:accent6>
      <a:hlink>
        <a:srgbClr val="C00000"/>
      </a:hlink>
      <a:folHlink>
        <a:srgbClr val="00206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IS_theme" id="{BE02770F-7101-4688-B577-AD8DBBEE116F}" vid="{5F9EFAE2-465C-4993-93DD-21E424A23A9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d2655081-a077-4fd9-949e-2f5d59e70d7a" Revision="1" Stencil="System.MyShapes" StencilVersion="1.0"/>
</Control>
</file>

<file path=customXml/itemProps1.xml><?xml version="1.0" encoding="utf-8"?>
<ds:datastoreItem xmlns:ds="http://schemas.openxmlformats.org/officeDocument/2006/customXml" ds:itemID="{F55705B9-9ED4-469A-A231-549B6E50306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GIS_theme</Template>
  <TotalTime>27678</TotalTime>
  <Words>1552</Words>
  <Application>Microsoft Office PowerPoint</Application>
  <PresentationFormat>Widescreen</PresentationFormat>
  <Paragraphs>110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Consolas</vt:lpstr>
      <vt:lpstr>Courier New</vt:lpstr>
      <vt:lpstr>Times New Roman</vt:lpstr>
      <vt:lpstr>GIS_theme</vt:lpstr>
      <vt:lpstr>Программирование на Java</vt:lpstr>
      <vt:lpstr>Для чего нужны?</vt:lpstr>
      <vt:lpstr>Исключение</vt:lpstr>
      <vt:lpstr>Классы исключений</vt:lpstr>
      <vt:lpstr>Непроверяемые исключения</vt:lpstr>
      <vt:lpstr>Обработка исключений</vt:lpstr>
      <vt:lpstr>Обработка проверяемых исключений </vt:lpstr>
      <vt:lpstr>Блок finally</vt:lpstr>
      <vt:lpstr>finally</vt:lpstr>
      <vt:lpstr>Оператор try-with-resources</vt:lpstr>
      <vt:lpstr>Оператор try-with-resources</vt:lpstr>
      <vt:lpstr>Обработка проверяемых исключений</vt:lpstr>
      <vt:lpstr>Операторы throw и throws</vt:lpstr>
      <vt:lpstr>Проброс исключений</vt:lpstr>
      <vt:lpstr>Создание своих классов исключений</vt:lpstr>
      <vt:lpstr>PowerPoint Presentation</vt:lpstr>
      <vt:lpstr>Exception</vt:lpstr>
      <vt:lpstr>Советы по обработке исключений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Filinskikh, Yulia</dc:creator>
  <cp:lastModifiedBy>Yulia Filinskikh</cp:lastModifiedBy>
  <cp:revision>111</cp:revision>
  <dcterms:created xsi:type="dcterms:W3CDTF">2019-02-08T07:13:25Z</dcterms:created>
  <dcterms:modified xsi:type="dcterms:W3CDTF">2025-07-18T15:00:00Z</dcterms:modified>
</cp:coreProperties>
</file>