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2"/>
  </p:sldMasterIdLst>
  <p:notesMasterIdLst>
    <p:notesMasterId r:id="rId36"/>
  </p:notesMasterIdLst>
  <p:handoutMasterIdLst>
    <p:handoutMasterId r:id="rId37"/>
  </p:handoutMasterIdLst>
  <p:sldIdLst>
    <p:sldId id="256" r:id="rId3"/>
    <p:sldId id="261" r:id="rId4"/>
    <p:sldId id="274" r:id="rId5"/>
    <p:sldId id="273" r:id="rId6"/>
    <p:sldId id="275" r:id="rId7"/>
    <p:sldId id="263" r:id="rId8"/>
    <p:sldId id="296" r:id="rId9"/>
    <p:sldId id="276" r:id="rId10"/>
    <p:sldId id="280" r:id="rId11"/>
    <p:sldId id="279" r:id="rId12"/>
    <p:sldId id="262" r:id="rId13"/>
    <p:sldId id="281" r:id="rId14"/>
    <p:sldId id="282" r:id="rId15"/>
    <p:sldId id="265" r:id="rId16"/>
    <p:sldId id="283" r:id="rId17"/>
    <p:sldId id="284" r:id="rId18"/>
    <p:sldId id="285" r:id="rId19"/>
    <p:sldId id="288" r:id="rId20"/>
    <p:sldId id="289" r:id="rId21"/>
    <p:sldId id="295" r:id="rId22"/>
    <p:sldId id="266" r:id="rId23"/>
    <p:sldId id="287" r:id="rId24"/>
    <p:sldId id="268" r:id="rId25"/>
    <p:sldId id="298" r:id="rId26"/>
    <p:sldId id="294" r:id="rId27"/>
    <p:sldId id="290" r:id="rId28"/>
    <p:sldId id="291" r:id="rId29"/>
    <p:sldId id="270" r:id="rId30"/>
    <p:sldId id="299" r:id="rId31"/>
    <p:sldId id="272" r:id="rId32"/>
    <p:sldId id="292" r:id="rId33"/>
    <p:sldId id="293" r:id="rId34"/>
    <p:sldId id="297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linskikh, Yulia" initials="FY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061"/>
    <a:srgbClr val="D4DFEC"/>
    <a:srgbClr val="000000"/>
    <a:srgbClr val="FFFFFF"/>
    <a:srgbClr val="5C696F"/>
    <a:srgbClr val="566870"/>
    <a:srgbClr val="953734"/>
    <a:srgbClr val="114FBD"/>
    <a:srgbClr val="FF6600"/>
    <a:srgbClr val="00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3099" autoAdjust="0"/>
  </p:normalViewPr>
  <p:slideViewPr>
    <p:cSldViewPr snapToGrid="0">
      <p:cViewPr>
        <p:scale>
          <a:sx n="66" d="100"/>
          <a:sy n="66" d="100"/>
        </p:scale>
        <p:origin x="2412" y="3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9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scratch-wiki.info/wiki/Description_d'un_studio" TargetMode="External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scratch-wiki.info/wiki/Description_d'un_studio" TargetMode="External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A2963A-C25A-4DD7-B363-EB9527029ED4}" type="doc">
      <dgm:prSet loTypeId="urn:microsoft.com/office/officeart/2005/8/layout/venn2" loCatId="relationship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ru-RU"/>
        </a:p>
      </dgm:t>
    </dgm:pt>
    <dgm:pt modelId="{FDA17E9A-F542-4D31-A88B-8268752BBD53}">
      <dgm:prSet phldrT="[Text]"/>
      <dgm:spPr/>
      <dgm:t>
        <a:bodyPr/>
        <a:lstStyle/>
        <a:p>
          <a:r>
            <a:rPr lang="en-US" dirty="0"/>
            <a:t>public</a:t>
          </a:r>
          <a:endParaRPr lang="ru-RU" dirty="0"/>
        </a:p>
      </dgm:t>
    </dgm:pt>
    <dgm:pt modelId="{D512F8C4-8908-4A33-A4FF-63B13ED3A1C4}" type="parTrans" cxnId="{26C6E7F3-0D9B-4D91-8DC9-08DD04D4AC1A}">
      <dgm:prSet/>
      <dgm:spPr/>
      <dgm:t>
        <a:bodyPr/>
        <a:lstStyle/>
        <a:p>
          <a:endParaRPr lang="ru-RU"/>
        </a:p>
      </dgm:t>
    </dgm:pt>
    <dgm:pt modelId="{2DB685DF-C11F-4777-8556-D6D2BA99FC39}" type="sibTrans" cxnId="{26C6E7F3-0D9B-4D91-8DC9-08DD04D4AC1A}">
      <dgm:prSet/>
      <dgm:spPr/>
      <dgm:t>
        <a:bodyPr/>
        <a:lstStyle/>
        <a:p>
          <a:endParaRPr lang="ru-RU"/>
        </a:p>
      </dgm:t>
    </dgm:pt>
    <dgm:pt modelId="{C15BB0C2-7DCD-46BD-9EC4-723EC19D13B5}">
      <dgm:prSet phldrT="[Text]"/>
      <dgm:spPr/>
      <dgm:t>
        <a:bodyPr/>
        <a:lstStyle/>
        <a:p>
          <a:r>
            <a:rPr lang="en-US" dirty="0"/>
            <a:t>package</a:t>
          </a:r>
          <a:endParaRPr lang="ru-RU" dirty="0"/>
        </a:p>
      </dgm:t>
    </dgm:pt>
    <dgm:pt modelId="{C02D2A2B-E8C5-47BB-80ED-BD72D489E029}" type="parTrans" cxnId="{D094E89A-DACE-43F6-8245-CF036C9A1402}">
      <dgm:prSet/>
      <dgm:spPr/>
      <dgm:t>
        <a:bodyPr/>
        <a:lstStyle/>
        <a:p>
          <a:endParaRPr lang="ru-RU"/>
        </a:p>
      </dgm:t>
    </dgm:pt>
    <dgm:pt modelId="{1C05D741-CDEE-43E5-9064-C1BC08630C4F}" type="sibTrans" cxnId="{D094E89A-DACE-43F6-8245-CF036C9A1402}">
      <dgm:prSet/>
      <dgm:spPr/>
      <dgm:t>
        <a:bodyPr/>
        <a:lstStyle/>
        <a:p>
          <a:endParaRPr lang="ru-RU"/>
        </a:p>
      </dgm:t>
    </dgm:pt>
    <dgm:pt modelId="{9F0E8A96-2CA0-45BD-93C4-707D8F4F1CEF}">
      <dgm:prSet phldrT="[Text]"/>
      <dgm:spPr/>
      <dgm:t>
        <a:bodyPr/>
        <a:lstStyle/>
        <a:p>
          <a:r>
            <a:rPr lang="en-US" dirty="0"/>
            <a:t>protected</a:t>
          </a:r>
          <a:endParaRPr lang="ru-RU" dirty="0"/>
        </a:p>
      </dgm:t>
    </dgm:pt>
    <dgm:pt modelId="{B19FA143-B4B9-40C5-9F02-D8AAEB446BAA}" type="parTrans" cxnId="{2C360C57-ABB3-44D4-AB93-F1BAF65BFA78}">
      <dgm:prSet/>
      <dgm:spPr/>
      <dgm:t>
        <a:bodyPr/>
        <a:lstStyle/>
        <a:p>
          <a:endParaRPr lang="ru-RU"/>
        </a:p>
      </dgm:t>
    </dgm:pt>
    <dgm:pt modelId="{81FE4CE4-3F3D-44A8-B266-D354F4349BE4}" type="sibTrans" cxnId="{2C360C57-ABB3-44D4-AB93-F1BAF65BFA78}">
      <dgm:prSet/>
      <dgm:spPr/>
      <dgm:t>
        <a:bodyPr/>
        <a:lstStyle/>
        <a:p>
          <a:endParaRPr lang="ru-RU"/>
        </a:p>
      </dgm:t>
    </dgm:pt>
    <dgm:pt modelId="{84F312F1-1FD8-4AEC-8E65-A0E3A9BD6609}">
      <dgm:prSet phldrT="[Text]"/>
      <dgm:spPr/>
      <dgm:t>
        <a:bodyPr/>
        <a:lstStyle/>
        <a:p>
          <a:r>
            <a:rPr lang="en-US" dirty="0"/>
            <a:t>private</a:t>
          </a:r>
          <a:endParaRPr lang="ru-RU" dirty="0"/>
        </a:p>
      </dgm:t>
    </dgm:pt>
    <dgm:pt modelId="{AD803B4D-8BE0-4AC0-8CC2-C5AEB66549CB}" type="parTrans" cxnId="{4ED483B8-B44A-44E0-B3A2-2A52EF310445}">
      <dgm:prSet/>
      <dgm:spPr/>
      <dgm:t>
        <a:bodyPr/>
        <a:lstStyle/>
        <a:p>
          <a:endParaRPr lang="ru-RU"/>
        </a:p>
      </dgm:t>
    </dgm:pt>
    <dgm:pt modelId="{CE124EAF-9CE5-4EF1-B7EE-A3BBA2B0AA3D}" type="sibTrans" cxnId="{4ED483B8-B44A-44E0-B3A2-2A52EF310445}">
      <dgm:prSet/>
      <dgm:spPr/>
      <dgm:t>
        <a:bodyPr/>
        <a:lstStyle/>
        <a:p>
          <a:endParaRPr lang="ru-RU"/>
        </a:p>
      </dgm:t>
    </dgm:pt>
    <dgm:pt modelId="{9FEA6BEF-AA06-41DC-9BAA-22B26E35038E}" type="pres">
      <dgm:prSet presAssocID="{0AA2963A-C25A-4DD7-B363-EB9527029ED4}" presName="Name0" presStyleCnt="0">
        <dgm:presLayoutVars>
          <dgm:chMax val="7"/>
          <dgm:resizeHandles val="exact"/>
        </dgm:presLayoutVars>
      </dgm:prSet>
      <dgm:spPr/>
    </dgm:pt>
    <dgm:pt modelId="{A81C5044-D8B8-41FD-83D3-6E4B735C1E1B}" type="pres">
      <dgm:prSet presAssocID="{0AA2963A-C25A-4DD7-B363-EB9527029ED4}" presName="comp1" presStyleCnt="0"/>
      <dgm:spPr/>
    </dgm:pt>
    <dgm:pt modelId="{B4FF4388-73C4-42C6-87DB-96510C40902A}" type="pres">
      <dgm:prSet presAssocID="{0AA2963A-C25A-4DD7-B363-EB9527029ED4}" presName="circle1" presStyleLbl="node1" presStyleIdx="0" presStyleCnt="4"/>
      <dgm:spPr/>
    </dgm:pt>
    <dgm:pt modelId="{7B48E30B-DA96-4FC8-8645-D878C259F5CB}" type="pres">
      <dgm:prSet presAssocID="{0AA2963A-C25A-4DD7-B363-EB9527029ED4}" presName="c1text" presStyleLbl="node1" presStyleIdx="0" presStyleCnt="4">
        <dgm:presLayoutVars>
          <dgm:bulletEnabled val="1"/>
        </dgm:presLayoutVars>
      </dgm:prSet>
      <dgm:spPr/>
    </dgm:pt>
    <dgm:pt modelId="{64090EE8-662D-49BD-AF34-B6B00309A9D5}" type="pres">
      <dgm:prSet presAssocID="{0AA2963A-C25A-4DD7-B363-EB9527029ED4}" presName="comp2" presStyleCnt="0"/>
      <dgm:spPr/>
    </dgm:pt>
    <dgm:pt modelId="{CC402377-96AC-44E5-8CFC-7416890EA9B5}" type="pres">
      <dgm:prSet presAssocID="{0AA2963A-C25A-4DD7-B363-EB9527029ED4}" presName="circle2" presStyleLbl="node1" presStyleIdx="1" presStyleCnt="4"/>
      <dgm:spPr/>
    </dgm:pt>
    <dgm:pt modelId="{52E43184-DB79-4151-98B4-7A888DF57DB1}" type="pres">
      <dgm:prSet presAssocID="{0AA2963A-C25A-4DD7-B363-EB9527029ED4}" presName="c2text" presStyleLbl="node1" presStyleIdx="1" presStyleCnt="4">
        <dgm:presLayoutVars>
          <dgm:bulletEnabled val="1"/>
        </dgm:presLayoutVars>
      </dgm:prSet>
      <dgm:spPr/>
    </dgm:pt>
    <dgm:pt modelId="{DC74FC6C-941D-4A7F-ACFC-EEACCF536F3B}" type="pres">
      <dgm:prSet presAssocID="{0AA2963A-C25A-4DD7-B363-EB9527029ED4}" presName="comp3" presStyleCnt="0"/>
      <dgm:spPr/>
    </dgm:pt>
    <dgm:pt modelId="{F410A82D-C201-435F-A2C6-5A3AB2B465E6}" type="pres">
      <dgm:prSet presAssocID="{0AA2963A-C25A-4DD7-B363-EB9527029ED4}" presName="circle3" presStyleLbl="node1" presStyleIdx="2" presStyleCnt="4"/>
      <dgm:spPr/>
    </dgm:pt>
    <dgm:pt modelId="{2939625D-5C13-4B85-8D3D-92F25B64793D}" type="pres">
      <dgm:prSet presAssocID="{0AA2963A-C25A-4DD7-B363-EB9527029ED4}" presName="c3text" presStyleLbl="node1" presStyleIdx="2" presStyleCnt="4">
        <dgm:presLayoutVars>
          <dgm:bulletEnabled val="1"/>
        </dgm:presLayoutVars>
      </dgm:prSet>
      <dgm:spPr/>
    </dgm:pt>
    <dgm:pt modelId="{A484BF61-6386-4A66-BB65-B3EF412A14D7}" type="pres">
      <dgm:prSet presAssocID="{0AA2963A-C25A-4DD7-B363-EB9527029ED4}" presName="comp4" presStyleCnt="0"/>
      <dgm:spPr/>
    </dgm:pt>
    <dgm:pt modelId="{88B2EB49-CB4C-4044-8720-ABBE03C95912}" type="pres">
      <dgm:prSet presAssocID="{0AA2963A-C25A-4DD7-B363-EB9527029ED4}" presName="circle4" presStyleLbl="node1" presStyleIdx="3" presStyleCnt="4"/>
      <dgm:spPr/>
    </dgm:pt>
    <dgm:pt modelId="{6B3379F7-2B21-4736-83A0-9513D7174FCC}" type="pres">
      <dgm:prSet presAssocID="{0AA2963A-C25A-4DD7-B363-EB9527029ED4}" presName="c4text" presStyleLbl="node1" presStyleIdx="3" presStyleCnt="4">
        <dgm:presLayoutVars>
          <dgm:bulletEnabled val="1"/>
        </dgm:presLayoutVars>
      </dgm:prSet>
      <dgm:spPr/>
    </dgm:pt>
  </dgm:ptLst>
  <dgm:cxnLst>
    <dgm:cxn modelId="{579EEA35-3866-4AC6-AEAB-E558845E6C3E}" type="presOf" srcId="{84F312F1-1FD8-4AEC-8E65-A0E3A9BD6609}" destId="{6B3379F7-2B21-4736-83A0-9513D7174FCC}" srcOrd="1" destOrd="0" presId="urn:microsoft.com/office/officeart/2005/8/layout/venn2"/>
    <dgm:cxn modelId="{1E62B43D-B2FD-463B-8C17-134B8A1B3AC0}" type="presOf" srcId="{FDA17E9A-F542-4D31-A88B-8268752BBD53}" destId="{7B48E30B-DA96-4FC8-8645-D878C259F5CB}" srcOrd="1" destOrd="0" presId="urn:microsoft.com/office/officeart/2005/8/layout/venn2"/>
    <dgm:cxn modelId="{AD676F67-CFE6-4F4F-BEF6-4777F213072D}" type="presOf" srcId="{C15BB0C2-7DCD-46BD-9EC4-723EC19D13B5}" destId="{52E43184-DB79-4151-98B4-7A888DF57DB1}" srcOrd="1" destOrd="0" presId="urn:microsoft.com/office/officeart/2005/8/layout/venn2"/>
    <dgm:cxn modelId="{85066976-A598-489B-B5C1-AEC561511686}" type="presOf" srcId="{84F312F1-1FD8-4AEC-8E65-A0E3A9BD6609}" destId="{88B2EB49-CB4C-4044-8720-ABBE03C95912}" srcOrd="0" destOrd="0" presId="urn:microsoft.com/office/officeart/2005/8/layout/venn2"/>
    <dgm:cxn modelId="{2C360C57-ABB3-44D4-AB93-F1BAF65BFA78}" srcId="{0AA2963A-C25A-4DD7-B363-EB9527029ED4}" destId="{9F0E8A96-2CA0-45BD-93C4-707D8F4F1CEF}" srcOrd="2" destOrd="0" parTransId="{B19FA143-B4B9-40C5-9F02-D8AAEB446BAA}" sibTransId="{81FE4CE4-3F3D-44A8-B266-D354F4349BE4}"/>
    <dgm:cxn modelId="{D094E89A-DACE-43F6-8245-CF036C9A1402}" srcId="{0AA2963A-C25A-4DD7-B363-EB9527029ED4}" destId="{C15BB0C2-7DCD-46BD-9EC4-723EC19D13B5}" srcOrd="1" destOrd="0" parTransId="{C02D2A2B-E8C5-47BB-80ED-BD72D489E029}" sibTransId="{1C05D741-CDEE-43E5-9064-C1BC08630C4F}"/>
    <dgm:cxn modelId="{C6263EAA-CAD0-4130-A782-384D72B0D0BA}" type="presOf" srcId="{9F0E8A96-2CA0-45BD-93C4-707D8F4F1CEF}" destId="{F410A82D-C201-435F-A2C6-5A3AB2B465E6}" srcOrd="0" destOrd="0" presId="urn:microsoft.com/office/officeart/2005/8/layout/venn2"/>
    <dgm:cxn modelId="{4ED483B8-B44A-44E0-B3A2-2A52EF310445}" srcId="{0AA2963A-C25A-4DD7-B363-EB9527029ED4}" destId="{84F312F1-1FD8-4AEC-8E65-A0E3A9BD6609}" srcOrd="3" destOrd="0" parTransId="{AD803B4D-8BE0-4AC0-8CC2-C5AEB66549CB}" sibTransId="{CE124EAF-9CE5-4EF1-B7EE-A3BBA2B0AA3D}"/>
    <dgm:cxn modelId="{118180E5-CEBD-4429-B59F-C7FC8E3A59F4}" type="presOf" srcId="{FDA17E9A-F542-4D31-A88B-8268752BBD53}" destId="{B4FF4388-73C4-42C6-87DB-96510C40902A}" srcOrd="0" destOrd="0" presId="urn:microsoft.com/office/officeart/2005/8/layout/venn2"/>
    <dgm:cxn modelId="{B4ABA3EA-8A00-4485-948A-7C2D6996934B}" type="presOf" srcId="{0AA2963A-C25A-4DD7-B363-EB9527029ED4}" destId="{9FEA6BEF-AA06-41DC-9BAA-22B26E35038E}" srcOrd="0" destOrd="0" presId="urn:microsoft.com/office/officeart/2005/8/layout/venn2"/>
    <dgm:cxn modelId="{B89D4FEC-9EC1-4BED-8803-56EC45E18408}" type="presOf" srcId="{9F0E8A96-2CA0-45BD-93C4-707D8F4F1CEF}" destId="{2939625D-5C13-4B85-8D3D-92F25B64793D}" srcOrd="1" destOrd="0" presId="urn:microsoft.com/office/officeart/2005/8/layout/venn2"/>
    <dgm:cxn modelId="{AB1EBCF2-66CA-4D46-8D58-CB7E219F7200}" type="presOf" srcId="{C15BB0C2-7DCD-46BD-9EC4-723EC19D13B5}" destId="{CC402377-96AC-44E5-8CFC-7416890EA9B5}" srcOrd="0" destOrd="0" presId="urn:microsoft.com/office/officeart/2005/8/layout/venn2"/>
    <dgm:cxn modelId="{26C6E7F3-0D9B-4D91-8DC9-08DD04D4AC1A}" srcId="{0AA2963A-C25A-4DD7-B363-EB9527029ED4}" destId="{FDA17E9A-F542-4D31-A88B-8268752BBD53}" srcOrd="0" destOrd="0" parTransId="{D512F8C4-8908-4A33-A4FF-63B13ED3A1C4}" sibTransId="{2DB685DF-C11F-4777-8556-D6D2BA99FC39}"/>
    <dgm:cxn modelId="{E727631E-3F81-4456-90AB-9CAF1F5D48C8}" type="presParOf" srcId="{9FEA6BEF-AA06-41DC-9BAA-22B26E35038E}" destId="{A81C5044-D8B8-41FD-83D3-6E4B735C1E1B}" srcOrd="0" destOrd="0" presId="urn:microsoft.com/office/officeart/2005/8/layout/venn2"/>
    <dgm:cxn modelId="{B4E03FE7-0E5F-4913-96A2-18FE29F37453}" type="presParOf" srcId="{A81C5044-D8B8-41FD-83D3-6E4B735C1E1B}" destId="{B4FF4388-73C4-42C6-87DB-96510C40902A}" srcOrd="0" destOrd="0" presId="urn:microsoft.com/office/officeart/2005/8/layout/venn2"/>
    <dgm:cxn modelId="{EF8C6BAD-C711-4235-AED0-B3082428BDDB}" type="presParOf" srcId="{A81C5044-D8B8-41FD-83D3-6E4B735C1E1B}" destId="{7B48E30B-DA96-4FC8-8645-D878C259F5CB}" srcOrd="1" destOrd="0" presId="urn:microsoft.com/office/officeart/2005/8/layout/venn2"/>
    <dgm:cxn modelId="{22363ECE-7B51-4FE8-B7A2-00A5D0844DA7}" type="presParOf" srcId="{9FEA6BEF-AA06-41DC-9BAA-22B26E35038E}" destId="{64090EE8-662D-49BD-AF34-B6B00309A9D5}" srcOrd="1" destOrd="0" presId="urn:microsoft.com/office/officeart/2005/8/layout/venn2"/>
    <dgm:cxn modelId="{2B27FCC5-15DF-4234-9D02-8E664BDE7D6A}" type="presParOf" srcId="{64090EE8-662D-49BD-AF34-B6B00309A9D5}" destId="{CC402377-96AC-44E5-8CFC-7416890EA9B5}" srcOrd="0" destOrd="0" presId="urn:microsoft.com/office/officeart/2005/8/layout/venn2"/>
    <dgm:cxn modelId="{B2358E75-BC38-4985-BD20-47DE423A07B9}" type="presParOf" srcId="{64090EE8-662D-49BD-AF34-B6B00309A9D5}" destId="{52E43184-DB79-4151-98B4-7A888DF57DB1}" srcOrd="1" destOrd="0" presId="urn:microsoft.com/office/officeart/2005/8/layout/venn2"/>
    <dgm:cxn modelId="{B45D0EE2-333F-4D52-8223-D4E22C90F649}" type="presParOf" srcId="{9FEA6BEF-AA06-41DC-9BAA-22B26E35038E}" destId="{DC74FC6C-941D-4A7F-ACFC-EEACCF536F3B}" srcOrd="2" destOrd="0" presId="urn:microsoft.com/office/officeart/2005/8/layout/venn2"/>
    <dgm:cxn modelId="{28BE7549-25E5-4102-9467-2FB70C374D8C}" type="presParOf" srcId="{DC74FC6C-941D-4A7F-ACFC-EEACCF536F3B}" destId="{F410A82D-C201-435F-A2C6-5A3AB2B465E6}" srcOrd="0" destOrd="0" presId="urn:microsoft.com/office/officeart/2005/8/layout/venn2"/>
    <dgm:cxn modelId="{0FF60582-FC34-4E6A-9148-2E975CBF00C3}" type="presParOf" srcId="{DC74FC6C-941D-4A7F-ACFC-EEACCF536F3B}" destId="{2939625D-5C13-4B85-8D3D-92F25B64793D}" srcOrd="1" destOrd="0" presId="urn:microsoft.com/office/officeart/2005/8/layout/venn2"/>
    <dgm:cxn modelId="{EA226E2B-06DC-494B-B28A-75BE899E2352}" type="presParOf" srcId="{9FEA6BEF-AA06-41DC-9BAA-22B26E35038E}" destId="{A484BF61-6386-4A66-BB65-B3EF412A14D7}" srcOrd="3" destOrd="0" presId="urn:microsoft.com/office/officeart/2005/8/layout/venn2"/>
    <dgm:cxn modelId="{47EA30C6-6FC8-4BD7-9D58-7123AEB025F1}" type="presParOf" srcId="{A484BF61-6386-4A66-BB65-B3EF412A14D7}" destId="{88B2EB49-CB4C-4044-8720-ABBE03C95912}" srcOrd="0" destOrd="0" presId="urn:microsoft.com/office/officeart/2005/8/layout/venn2"/>
    <dgm:cxn modelId="{964AEB72-23EB-47B4-8290-E0BDBE8A69E6}" type="presParOf" srcId="{A484BF61-6386-4A66-BB65-B3EF412A14D7}" destId="{6B3379F7-2B21-4736-83A0-9513D7174FCC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BCBCA6-0B92-46BA-AA28-09F7D5BDDADE}" type="doc">
      <dgm:prSet loTypeId="urn:microsoft.com/office/officeart/2005/8/layout/vList3" loCatId="list" qsTypeId="urn:microsoft.com/office/officeart/2005/8/quickstyle/simple3" qsCatId="simple" csTypeId="urn:microsoft.com/office/officeart/2005/8/colors/accent6_1" csCatId="accent6" phldr="1"/>
      <dgm:spPr/>
    </dgm:pt>
    <dgm:pt modelId="{0B7D033D-9C38-4B23-B990-34B042CC2770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ru-RU" dirty="0"/>
            <a:t>В </a:t>
          </a:r>
          <a:r>
            <a:rPr lang="ru-RU" dirty="0" err="1"/>
            <a:t>Java</a:t>
          </a:r>
          <a:r>
            <a:rPr lang="ru-RU" dirty="0"/>
            <a:t> нет множественного наследования от классов</a:t>
          </a:r>
        </a:p>
      </dgm:t>
    </dgm:pt>
    <dgm:pt modelId="{0C4B2914-2DA7-4117-A2DF-880AA5D081CE}" type="parTrans" cxnId="{5CB5B0F5-EFE6-4210-9FE2-5D64455AF1AC}">
      <dgm:prSet/>
      <dgm:spPr/>
      <dgm:t>
        <a:bodyPr/>
        <a:lstStyle/>
        <a:p>
          <a:endParaRPr lang="ru-RU"/>
        </a:p>
      </dgm:t>
    </dgm:pt>
    <dgm:pt modelId="{7BE63F55-7E0A-42E8-88C6-A7D78285A02B}" type="sibTrans" cxnId="{5CB5B0F5-EFE6-4210-9FE2-5D64455AF1AC}">
      <dgm:prSet/>
      <dgm:spPr/>
      <dgm:t>
        <a:bodyPr/>
        <a:lstStyle/>
        <a:p>
          <a:endParaRPr lang="ru-RU"/>
        </a:p>
      </dgm:t>
    </dgm:pt>
    <dgm:pt modelId="{61884294-AD8B-4C03-80EA-4CFC3E875AFD}" type="pres">
      <dgm:prSet presAssocID="{F9BCBCA6-0B92-46BA-AA28-09F7D5BDDADE}" presName="linearFlow" presStyleCnt="0">
        <dgm:presLayoutVars>
          <dgm:dir/>
          <dgm:resizeHandles val="exact"/>
        </dgm:presLayoutVars>
      </dgm:prSet>
      <dgm:spPr/>
    </dgm:pt>
    <dgm:pt modelId="{DD5231D4-F13C-4618-ADDF-F018CF4E7056}" type="pres">
      <dgm:prSet presAssocID="{0B7D033D-9C38-4B23-B990-34B042CC2770}" presName="composite" presStyleCnt="0"/>
      <dgm:spPr/>
    </dgm:pt>
    <dgm:pt modelId="{29AE0FC2-400A-40C0-85A7-54D7BAD2DCC3}" type="pres">
      <dgm:prSet presAssocID="{0B7D033D-9C38-4B23-B990-34B042CC2770}" presName="imgShp" presStyleLbl="fgImgPlace1" presStyleIdx="0" presStyleCnt="1" custLinFactNeighborX="1923" custLinFactNeighborY="-4492"/>
      <dgm:spPr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6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</dgm:spPr>
    </dgm:pt>
    <dgm:pt modelId="{A2BB5A09-74AC-4661-9B7F-694D3C4D51F7}" type="pres">
      <dgm:prSet presAssocID="{0B7D033D-9C38-4B23-B990-34B042CC2770}" presName="txShp" presStyleLbl="node1" presStyleIdx="0" presStyleCnt="1">
        <dgm:presLayoutVars>
          <dgm:bulletEnabled val="1"/>
        </dgm:presLayoutVars>
      </dgm:prSet>
      <dgm:spPr/>
    </dgm:pt>
  </dgm:ptLst>
  <dgm:cxnLst>
    <dgm:cxn modelId="{AAE649B0-2BA8-42FC-8B49-1B29D9A74FF1}" type="presOf" srcId="{F9BCBCA6-0B92-46BA-AA28-09F7D5BDDADE}" destId="{61884294-AD8B-4C03-80EA-4CFC3E875AFD}" srcOrd="0" destOrd="0" presId="urn:microsoft.com/office/officeart/2005/8/layout/vList3"/>
    <dgm:cxn modelId="{B95B75D9-1077-49A0-9A18-372D01C17DB1}" type="presOf" srcId="{0B7D033D-9C38-4B23-B990-34B042CC2770}" destId="{A2BB5A09-74AC-4661-9B7F-694D3C4D51F7}" srcOrd="0" destOrd="0" presId="urn:microsoft.com/office/officeart/2005/8/layout/vList3"/>
    <dgm:cxn modelId="{5CB5B0F5-EFE6-4210-9FE2-5D64455AF1AC}" srcId="{F9BCBCA6-0B92-46BA-AA28-09F7D5BDDADE}" destId="{0B7D033D-9C38-4B23-B990-34B042CC2770}" srcOrd="0" destOrd="0" parTransId="{0C4B2914-2DA7-4117-A2DF-880AA5D081CE}" sibTransId="{7BE63F55-7E0A-42E8-88C6-A7D78285A02B}"/>
    <dgm:cxn modelId="{4396461B-BB5C-4E10-A6B8-158C49541F57}" type="presParOf" srcId="{61884294-AD8B-4C03-80EA-4CFC3E875AFD}" destId="{DD5231D4-F13C-4618-ADDF-F018CF4E7056}" srcOrd="0" destOrd="0" presId="urn:microsoft.com/office/officeart/2005/8/layout/vList3"/>
    <dgm:cxn modelId="{8BEF989D-5F89-4D87-A014-E1E72F962D9C}" type="presParOf" srcId="{DD5231D4-F13C-4618-ADDF-F018CF4E7056}" destId="{29AE0FC2-400A-40C0-85A7-54D7BAD2DCC3}" srcOrd="0" destOrd="0" presId="urn:microsoft.com/office/officeart/2005/8/layout/vList3"/>
    <dgm:cxn modelId="{E7F37F39-97C6-44F1-BED9-1A2A209B241E}" type="presParOf" srcId="{DD5231D4-F13C-4618-ADDF-F018CF4E7056}" destId="{A2BB5A09-74AC-4661-9B7F-694D3C4D51F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F4388-73C4-42C6-87DB-96510C40902A}">
      <dsp:nvSpPr>
        <dsp:cNvPr id="0" name=""/>
        <dsp:cNvSpPr/>
      </dsp:nvSpPr>
      <dsp:spPr>
        <a:xfrm>
          <a:off x="2051864" y="0"/>
          <a:ext cx="4180579" cy="4180579"/>
        </a:xfrm>
        <a:prstGeom prst="ellips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public</a:t>
          </a:r>
          <a:endParaRPr lang="ru-RU" sz="1800" kern="1200" dirty="0"/>
        </a:p>
      </dsp:txBody>
      <dsp:txXfrm>
        <a:off x="3557709" y="209028"/>
        <a:ext cx="1168889" cy="627086"/>
      </dsp:txXfrm>
    </dsp:sp>
    <dsp:sp modelId="{CC402377-96AC-44E5-8CFC-7416890EA9B5}">
      <dsp:nvSpPr>
        <dsp:cNvPr id="0" name=""/>
        <dsp:cNvSpPr/>
      </dsp:nvSpPr>
      <dsp:spPr>
        <a:xfrm>
          <a:off x="2469922" y="836115"/>
          <a:ext cx="3344463" cy="3344463"/>
        </a:xfrm>
        <a:prstGeom prst="ellipse">
          <a:avLst/>
        </a:prstGeom>
        <a:solidFill>
          <a:schemeClr val="accent2">
            <a:shade val="50000"/>
            <a:hueOff val="225305"/>
            <a:satOff val="-15510"/>
            <a:lumOff val="265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package</a:t>
          </a:r>
          <a:endParaRPr lang="ru-RU" sz="1800" kern="1200" dirty="0"/>
        </a:p>
      </dsp:txBody>
      <dsp:txXfrm>
        <a:off x="3557709" y="1036783"/>
        <a:ext cx="1168889" cy="602003"/>
      </dsp:txXfrm>
    </dsp:sp>
    <dsp:sp modelId="{F410A82D-C201-435F-A2C6-5A3AB2B465E6}">
      <dsp:nvSpPr>
        <dsp:cNvPr id="0" name=""/>
        <dsp:cNvSpPr/>
      </dsp:nvSpPr>
      <dsp:spPr>
        <a:xfrm>
          <a:off x="2887980" y="1672231"/>
          <a:ext cx="2508347" cy="2508347"/>
        </a:xfrm>
        <a:prstGeom prst="ellipse">
          <a:avLst/>
        </a:prstGeom>
        <a:solidFill>
          <a:schemeClr val="accent2">
            <a:shade val="50000"/>
            <a:hueOff val="450610"/>
            <a:satOff val="-31019"/>
            <a:lumOff val="530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protected</a:t>
          </a:r>
          <a:endParaRPr lang="ru-RU" sz="1800" kern="1200" dirty="0"/>
        </a:p>
      </dsp:txBody>
      <dsp:txXfrm>
        <a:off x="3557709" y="1860357"/>
        <a:ext cx="1168889" cy="564378"/>
      </dsp:txXfrm>
    </dsp:sp>
    <dsp:sp modelId="{88B2EB49-CB4C-4044-8720-ABBE03C95912}">
      <dsp:nvSpPr>
        <dsp:cNvPr id="0" name=""/>
        <dsp:cNvSpPr/>
      </dsp:nvSpPr>
      <dsp:spPr>
        <a:xfrm>
          <a:off x="3306038" y="2508347"/>
          <a:ext cx="1672231" cy="1672231"/>
        </a:xfrm>
        <a:prstGeom prst="ellipse">
          <a:avLst/>
        </a:prstGeom>
        <a:solidFill>
          <a:schemeClr val="accent2">
            <a:shade val="50000"/>
            <a:hueOff val="225305"/>
            <a:satOff val="-15510"/>
            <a:lumOff val="265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private</a:t>
          </a:r>
          <a:endParaRPr lang="ru-RU" sz="1800" kern="1200" dirty="0"/>
        </a:p>
      </dsp:txBody>
      <dsp:txXfrm>
        <a:off x="3550930" y="2926405"/>
        <a:ext cx="1182446" cy="836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B5A09-74AC-4661-9B7F-694D3C4D51F7}">
      <dsp:nvSpPr>
        <dsp:cNvPr id="0" name=""/>
        <dsp:cNvSpPr/>
      </dsp:nvSpPr>
      <dsp:spPr>
        <a:xfrm rot="10800000">
          <a:off x="1079771" y="0"/>
          <a:ext cx="2959825" cy="1337007"/>
        </a:xfrm>
        <a:prstGeom prst="homePlate">
          <a:avLst/>
        </a:prstGeom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58958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 </a:t>
          </a:r>
          <a:r>
            <a:rPr lang="ru-RU" sz="2000" kern="1200" dirty="0" err="1"/>
            <a:t>Java</a:t>
          </a:r>
          <a:r>
            <a:rPr lang="ru-RU" sz="2000" kern="1200" dirty="0"/>
            <a:t> нет множественного наследования от классов</a:t>
          </a:r>
        </a:p>
      </dsp:txBody>
      <dsp:txXfrm rot="10800000">
        <a:off x="1414023" y="0"/>
        <a:ext cx="2625573" cy="1337007"/>
      </dsp:txXfrm>
    </dsp:sp>
    <dsp:sp modelId="{29AE0FC2-400A-40C0-85A7-54D7BAD2DCC3}">
      <dsp:nvSpPr>
        <dsp:cNvPr id="0" name=""/>
        <dsp:cNvSpPr/>
      </dsp:nvSpPr>
      <dsp:spPr>
        <a:xfrm>
          <a:off x="436978" y="0"/>
          <a:ext cx="1337007" cy="1337007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6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9A499-AB0E-41E7-8F43-0B644843E13C}" type="datetimeFigureOut">
              <a:rPr lang="ru-RU" smtClean="0"/>
              <a:t>17.07.2025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7ACF0-1C88-4F3C-8A42-B66D78E86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95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F805E-4D42-4930-AF02-3208323ECEC0}" type="datetimeFigureOut">
              <a:rPr lang="ru-RU" smtClean="0"/>
              <a:t>17.07.2025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03A2D-F27E-469C-ADB1-04668A9E2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При описании какого-либо объекта, например автомобиля, мы создаём его модель. Модель не описывает объект полностью – реальные объекты слишком сложны. Для решения поставленной задачи отбираются только те характеристики, которые важны для решения задачи.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Существительные, которые описывают объект – это поля объекта, а глаголы – методы объекта.</a:t>
            </a:r>
          </a:p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Простыми словами: Класс – это составной тип данных, в котором кроме данных так же описано то, как с этими данными работать.</a:t>
            </a:r>
          </a:p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244061"/>
              </a:solidFill>
              <a:latin typeface="+mn-lt"/>
            </a:endParaRPr>
          </a:p>
          <a:p>
            <a:r>
              <a:rPr lang="ru-RU" dirty="0"/>
              <a:t>Поля, в которых объект будет хранить необходимую информацию, описываются массивами, переменными и константами. Количество переменных и их типы выбираются так, чтобы в наибольшей степени охарактеризовать объект. Они называются полями класса. Полями класса могут быть не только простые переменные, константы или массивы, но и другие объекты и массивы объектов. 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Методы обработки информации, используемые объектом, описываются процедурами и функциями. Они называются методами класса. Сложные объекты могут содержать несколько десятков методов. Методы класса активно используют поля класса, но кроме них могут создавать и свои локальные переменные, необходимые для работы метода.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  <a:p>
            <a:pPr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3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130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Создание конкретных объектов, называемые экземплярами класса, производится в три этапа, подобно описанию массива. Сначала объявляются ссылки на объекты – записываются имя класса и после пробела через запятую перечисляются экземпляры класса, точнее ссылки на них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Затем операцией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new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 определяются сами объекты, под них выделяется оперативная память, ссылка получает адрес этого участка в качестве своего значения.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На третьем этапе происходит инициализация объектов, задаются начальные значения. Этот этап, как правило, совмещается со вторым</a:t>
            </a:r>
            <a:r>
              <a:rPr lang="en-US" sz="1200" b="0" strike="noStrike" spc="-1" dirty="0">
                <a:solidFill>
                  <a:srgbClr val="244061"/>
                </a:solidFill>
                <a:latin typeface="+mn-lt"/>
              </a:rPr>
              <a:t> – 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вызовом конструктор класса</a:t>
            </a: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Имена полей, методов и вложенных классов у всех объектов одного класса одинаково, они заданы в описании класса. Поэтому имена надо уточнять именем ссылки на объект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320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950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обеспечить работу метода с полями того объекта, для которого он был вызван, в</a:t>
            </a:r>
          </a:p>
          <a:p>
            <a:r>
              <a:rPr lang="ru-RU" dirty="0"/>
              <a:t>метод автоматически передается скрытый параметр </a:t>
            </a:r>
            <a:r>
              <a:rPr lang="ru-RU" dirty="0" err="1"/>
              <a:t>this</a:t>
            </a:r>
            <a:r>
              <a:rPr lang="ru-RU" dirty="0"/>
              <a:t>, в котором хранится ссылка на</a:t>
            </a:r>
          </a:p>
          <a:p>
            <a:r>
              <a:rPr lang="ru-RU" dirty="0"/>
              <a:t>вызвавший функцию объект.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62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словом </a:t>
            </a:r>
            <a:r>
              <a:rPr lang="ru-RU" dirty="0" err="1"/>
              <a:t>class</a:t>
            </a:r>
            <a:r>
              <a:rPr lang="ru-RU" dirty="0"/>
              <a:t> можно записать модификаторы класса. Например: </a:t>
            </a:r>
            <a:r>
              <a:rPr lang="ru-RU" dirty="0" err="1"/>
              <a:t>public</a:t>
            </a:r>
            <a:r>
              <a:rPr lang="ru-RU" dirty="0"/>
              <a:t>, </a:t>
            </a:r>
            <a:r>
              <a:rPr lang="ru-RU" dirty="0" err="1"/>
              <a:t>abstract</a:t>
            </a:r>
            <a:r>
              <a:rPr lang="ru-RU" dirty="0"/>
              <a:t>, </a:t>
            </a:r>
            <a:r>
              <a:rPr lang="ru-RU" dirty="0" err="1"/>
              <a:t>final</a:t>
            </a:r>
            <a:r>
              <a:rPr lang="ru-RU" dirty="0"/>
              <a:t>. 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использовании модификатора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strictfp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получите одинаковое поведение в ходе манипуляций с числами с плавающей точкой на всех платформах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обычно, что-нибудь связное с наукой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Дело в том, что JVM использует всю возможную точность процессора, а она на разных системах разная, поэтому и результат может получиться разный.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Его можно не использовать т.к. почти все компиляторы современные уже его за нас подставляют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779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Каждый класс должен составлять отдельный модуль. Члены класса, к которым не планируется обращение извне, должны быть инкапсулированы.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В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Java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 инкапсуляция достигается добавлением модификатора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private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 к описанию члена класса. Эти члены классов становятся закрытыми, ими могут пользоваться только экземпляры того же самого класса. Это </a:t>
            </a:r>
            <a:r>
              <a:rPr lang="ru-RU" dirty="0"/>
              <a:t>гарантирует, что данные не будут искажены или изменены не надлежащим образом. 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Если же надо обратиться к закрытому члену класса, то рекомендуется включить в класс специальные методы доступа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геттеры и сеттеры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, отдельно для чтения и отдельно для записи. Имена методов доступа рекомендуется начинать со слов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get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 и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set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, добавляя к этим словам имя поля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противоположность закрытости, мы можем объявить некоторые члены класса Открытыми, записав вместо слова </a:t>
            </a:r>
            <a:r>
              <a:rPr lang="ru-RU" dirty="0" err="1"/>
              <a:t>private</a:t>
            </a:r>
            <a:r>
              <a:rPr lang="ru-RU" dirty="0"/>
              <a:t> модификатор </a:t>
            </a:r>
            <a:r>
              <a:rPr lang="ru-RU" dirty="0" err="1"/>
              <a:t>public</a:t>
            </a:r>
            <a:r>
              <a:rPr lang="ru-RU" dirty="0"/>
              <a:t>. 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К таким членам может обращаться любой объект любого класса.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90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– глагол, действие, которое способен выполнять экземпляр класса.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При описании метода указывается тип возвращаемого им значения или слово </a:t>
            </a:r>
            <a:r>
              <a:rPr lang="ru-RU" sz="1200" b="0" strike="noStrike" spc="-1" dirty="0" err="1">
                <a:solidFill>
                  <a:srgbClr val="244061"/>
                </a:solidFill>
                <a:latin typeface="+mn-lt"/>
              </a:rPr>
              <a:t>void</a:t>
            </a:r>
            <a:r>
              <a:rPr lang="ru-RU" sz="1200" b="0" strike="noStrike" spc="-1" dirty="0">
                <a:solidFill>
                  <a:srgbClr val="244061"/>
                </a:solidFill>
                <a:latin typeface="+mn-lt"/>
              </a:rPr>
              <a:t>, затем, через пробел, имя метода, потом, в скобках, список параметров. После этого, в фигурных скобках расписывается выполняемый метод.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ru-RU" dirty="0"/>
              <a:t>Если тип возвращаемого значения не </a:t>
            </a:r>
            <a:r>
              <a:rPr lang="ru-RU" dirty="0" err="1"/>
              <a:t>void</a:t>
            </a:r>
            <a:r>
              <a:rPr lang="ru-RU" dirty="0"/>
              <a:t>, то в теле метода должно быть указано слово </a:t>
            </a:r>
            <a:r>
              <a:rPr lang="ru-RU" dirty="0" err="1"/>
              <a:t>return</a:t>
            </a:r>
            <a:r>
              <a:rPr lang="ru-RU" dirty="0"/>
              <a:t> значение;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245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Описание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начинаться</a:t>
            </a:r>
            <a:r>
              <a:rPr lang="en-US" dirty="0"/>
              <a:t> с </a:t>
            </a:r>
            <a:r>
              <a:rPr lang="en-US" dirty="0" err="1"/>
              <a:t>модификаторов</a:t>
            </a:r>
            <a:r>
              <a:rPr lang="en-US" dirty="0"/>
              <a:t> public, protected, private, abstract, static, final, synchronized, native, </a:t>
            </a:r>
            <a:r>
              <a:rPr lang="en-US" dirty="0" err="1"/>
              <a:t>strictfp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011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списке параметров через запятую перечисляются тип и имя каждого параметра. Перед типом какого-либо параметра может стоять модификатор </a:t>
            </a:r>
            <a:r>
              <a:rPr lang="ru-RU" dirty="0" err="1"/>
              <a:t>final</a:t>
            </a:r>
            <a:r>
              <a:rPr lang="ru-RU" dirty="0"/>
              <a:t>. Такой параметр нельзя изменять внутри метода. Список параметров может отсутствовать, но скобки сохраняются.</a:t>
            </a:r>
          </a:p>
          <a:p>
            <a:endParaRPr lang="ru-RU" dirty="0"/>
          </a:p>
          <a:p>
            <a:r>
              <a:rPr lang="ru-RU" dirty="0"/>
              <a:t>При обращении к методу создаются локальные переменные для хранения параметров методов на время его работы. Локальные переменные –параметры существуют только во время выполнения метода, по окончании работы переменные уничтожаются и память освобождается.</a:t>
            </a:r>
          </a:p>
          <a:p>
            <a:r>
              <a:rPr lang="ru-RU" dirty="0"/>
              <a:t>Есть несколько способов передачи аргументов – чаще всего применяются передача по значению и передача по ссылке.</a:t>
            </a:r>
          </a:p>
          <a:p>
            <a:r>
              <a:rPr lang="ru-RU" dirty="0"/>
              <a:t>Если аргумент передается по значению, то он копируется в локальную переменную, параметр метода, созданную во время выполнения метода и существующую только во время его работы. Сам аргумент при этом остается недоступным для метода и не изменяется.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045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выходе получим в обоих случаях 7, потому что меняется локальная переменная а, а не переменная аргумент 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306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переменная х – это строка, что является ссылочным типом. Ссылка а направляется на ту же строку, что и ссылка х. Метод меняет строку, таким образом мы  получаем 7 и 5. По прежнему сделана передача аргумента по значению, на теперь аргумент – это ссылка и в метод f() передается ссылка, а не объект, на который она направлена.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964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переменная х – это ссылка на массив, которая копируется в локальную переменную, созданную для параметра х. Ссылка а направляется на тот же массив, что и ссылка х. Она меняет нулевой элемент массива и мы получаем 7 и 5. По прежнему сделана передача аргумента по значению, на теперь аргумент – это ссылка и в метод f() передается ссылка, а не объект, на который она направлена.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43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Инкапсуляция – сокрытие деталей реализации объекта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При представлении реального объекта с помощью программного необходимо выделить в первом его существенные особенности и игнорировать несущественные. Это называется абстрагированием.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Таким образом, программный объект — это абстракция.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Детали реализации объекта скрыты, он используется через его интерфейс — совокупность правил доступа.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Скрытие деталей реализации называется инкапсуляцией. Это позволяет представить программу в укрупненном виде — на уровне объектов и их взаимосвязей, а следовательно, управлять большим объемом информации.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Итак, объект — это инкапсулированная абстракция с определенным интерфейсом.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713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Другими словами, Инкапсуляция - сокрытие членов типа внутри типа</a:t>
            </a:r>
          </a:p>
          <a:p>
            <a:r>
              <a:rPr lang="ru-RU" dirty="0"/>
              <a:t>Инкапсуляция реализуется с помощью модификаторов </a:t>
            </a:r>
            <a:r>
              <a:rPr lang="en-US" dirty="0"/>
              <a:t>public, protected, package, private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объявляете класс, метод или поле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не указываете перед ним модификатор доступа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то по умолчанию применяется модификатор "по умолчанию"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т.е. </a:t>
            </a:r>
            <a:r>
              <a:rPr lang="ru-R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доступен для всех других классов в пределах одного пакета, но недоступен для классов из других пакетов.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52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Наследование – один из механизмов ООП, позволяющий классам-предкам использовать данные и методы класса-родителя, дополняя и расширяя их.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606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делать, когда у двух классов-родителей есть метод с одинаковым описанием?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нет и не 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быть множественного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наследования 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классов.</a:t>
            </a:r>
            <a:endParaRPr lang="en-US" dirty="0"/>
          </a:p>
          <a:p>
            <a:r>
              <a:rPr lang="ru-RU" dirty="0"/>
              <a:t>Наследоваться можно только от одного класса.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257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с множественным наследованием решается благодаря интерфейсам.</a:t>
            </a:r>
          </a:p>
          <a:p>
            <a:r>
              <a:rPr lang="ru-RU" dirty="0"/>
              <a:t>Интерфейс - Сущность, которая описывает, что могут делать объекты, которые реализуют этот интерфейс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Имеет методы с конкретной реализацией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Эти методы уже не подлежат изменению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Описывает лишь то, что мы можем произвести некоторые действия над объектом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Коротко: интерфейс описывает только поведение объектов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103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Благодаря наследованию появляется возможность использовать объекты, исходный код которых недоступен, но в которые требуется внести изменения.</a:t>
            </a:r>
          </a:p>
          <a:p>
            <a:r>
              <a:rPr lang="ru-RU" dirty="0"/>
              <a:t>Наследование позволяет создавать иерархии классов. Иерархия представляется в виде дерева, в котором более общие классы располагаются ближе к корню, а более специализированные — на ветвях и листьях.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896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ООП позволяет писать гибкие, расширяемые и читабельные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программы.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многом это обеспечивается благодаря полиморфизму, под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которым понимается возможность во время выполнения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программы с помощью одного и того же имени выполнять разные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действия или обращаться к объектам разного типа.</a:t>
            </a:r>
            <a:endParaRPr lang="en-US" dirty="0"/>
          </a:p>
          <a:p>
            <a:r>
              <a:rPr lang="ru-RU" dirty="0"/>
              <a:t>Итак мы можем передать переменной суперкласса ссылку на объект подкласса:</a:t>
            </a:r>
          </a:p>
          <a:p>
            <a:r>
              <a:rPr lang="ru-RU" dirty="0" err="1"/>
              <a:t>Person</a:t>
            </a:r>
            <a:r>
              <a:rPr lang="ru-RU" dirty="0"/>
              <a:t> </a:t>
            </a:r>
            <a:r>
              <a:rPr lang="ru-RU" dirty="0" err="1"/>
              <a:t>sam</a:t>
            </a:r>
            <a:r>
              <a:rPr lang="ru-RU" dirty="0"/>
              <a:t> =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Employee</a:t>
            </a:r>
            <a:r>
              <a:rPr lang="ru-RU" dirty="0"/>
              <a:t>("</a:t>
            </a:r>
            <a:r>
              <a:rPr lang="ru-RU" dirty="0" err="1"/>
              <a:t>Sam</a:t>
            </a:r>
            <a:r>
              <a:rPr lang="ru-RU" dirty="0"/>
              <a:t>", "</a:t>
            </a:r>
            <a:r>
              <a:rPr lang="ru-RU" dirty="0" err="1"/>
              <a:t>Oracle</a:t>
            </a:r>
            <a:r>
              <a:rPr lang="ru-RU" dirty="0"/>
              <a:t>");</a:t>
            </a:r>
          </a:p>
          <a:p>
            <a:r>
              <a:rPr lang="ru-RU" dirty="0"/>
              <a:t>Так как </a:t>
            </a:r>
            <a:r>
              <a:rPr lang="en-US" dirty="0"/>
              <a:t>Student</a:t>
            </a:r>
            <a:r>
              <a:rPr lang="ru-RU" dirty="0"/>
              <a:t> наследуется от </a:t>
            </a:r>
            <a:r>
              <a:rPr lang="ru-RU" dirty="0" err="1"/>
              <a:t>Person</a:t>
            </a:r>
            <a:r>
              <a:rPr lang="ru-RU" dirty="0"/>
              <a:t>, то объект </a:t>
            </a:r>
            <a:r>
              <a:rPr lang="en-US" dirty="0"/>
              <a:t>Student</a:t>
            </a:r>
            <a:r>
              <a:rPr lang="ru-RU" dirty="0"/>
              <a:t> является в то же время и объектом </a:t>
            </a:r>
            <a:r>
              <a:rPr lang="ru-RU" dirty="0" err="1"/>
              <a:t>Person</a:t>
            </a:r>
            <a:r>
              <a:rPr lang="ru-RU" dirty="0"/>
              <a:t>. Грубо говоря, любой студент одновременно является человеком.</a:t>
            </a:r>
          </a:p>
          <a:p>
            <a:r>
              <a:rPr lang="ru-RU" dirty="0"/>
              <a:t>Однако несмотря на то, что переменная представляет объект </a:t>
            </a:r>
            <a:r>
              <a:rPr lang="ru-RU" dirty="0" err="1"/>
              <a:t>Person</a:t>
            </a:r>
            <a:r>
              <a:rPr lang="ru-RU" dirty="0"/>
              <a:t>, виртуальная машина видит, что в реальности она указывает на объект </a:t>
            </a:r>
            <a:r>
              <a:rPr lang="en-US" dirty="0"/>
              <a:t>Student</a:t>
            </a:r>
            <a:r>
              <a:rPr lang="ru-RU" dirty="0"/>
              <a:t>. Поэтому при вызове методов у этого объектов будет вызывать та версия методов, которая определена в классе </a:t>
            </a:r>
            <a:r>
              <a:rPr lang="en-US" dirty="0"/>
              <a:t>Student</a:t>
            </a:r>
            <a:r>
              <a:rPr lang="ru-RU" dirty="0"/>
              <a:t>, а не в </a:t>
            </a:r>
            <a:r>
              <a:rPr lang="ru-RU" dirty="0" err="1"/>
              <a:t>Person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74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избежать этой проблемы, необходимо создать отдельный объект для переменной </a:t>
            </a:r>
            <a:r>
              <a:rPr lang="ru-RU" dirty="0" err="1"/>
              <a:t>bob</a:t>
            </a:r>
            <a:r>
              <a:rPr lang="ru-RU" dirty="0"/>
              <a:t>, например, с помощью метода </a:t>
            </a:r>
            <a:r>
              <a:rPr lang="ru-RU" dirty="0" err="1"/>
              <a:t>clone</a:t>
            </a:r>
            <a:r>
              <a:rPr lang="ru-RU" dirty="0"/>
              <a:t>.</a:t>
            </a:r>
          </a:p>
          <a:p>
            <a:r>
              <a:rPr lang="ru-RU" dirty="0"/>
              <a:t>Для реализации клонирования класс </a:t>
            </a:r>
            <a:r>
              <a:rPr lang="ru-RU" dirty="0" err="1"/>
              <a:t>Person</a:t>
            </a:r>
            <a:r>
              <a:rPr lang="ru-RU" dirty="0"/>
              <a:t> должен применить интерфейс </a:t>
            </a:r>
            <a:r>
              <a:rPr lang="ru-RU" dirty="0" err="1"/>
              <a:t>Cloneable</a:t>
            </a:r>
            <a:r>
              <a:rPr lang="ru-RU" dirty="0"/>
              <a:t>, который определяет метод </a:t>
            </a:r>
            <a:r>
              <a:rPr lang="ru-RU" dirty="0" err="1"/>
              <a:t>clone</a:t>
            </a:r>
            <a:r>
              <a:rPr lang="ru-RU" dirty="0"/>
              <a:t> класса </a:t>
            </a:r>
            <a:r>
              <a:rPr lang="ru-RU" dirty="0" err="1"/>
              <a:t>Object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70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зачем они нужны: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Объединяют логически связанные классы и интерфейсы в единое целое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Создают пространство имен, необходимое для устранения конфликтов идентификаторов, относящихся к различным классам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Создают иерархическую структуру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7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041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099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838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440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257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610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477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24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 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55360-5A29-4DC3-8DBB-76756D399446}" type="slidenum">
              <a:rPr lang="ru-RU" smtClean="0"/>
              <a:pPr/>
              <a:t>‹#›</a:t>
            </a:fld>
            <a:endParaRPr lang="ru-RU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807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666720"/>
            <a:ext cx="10972320" cy="114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ru-RU" sz="2400" b="0" strike="noStrike" spc="-1">
              <a:solidFill>
                <a:srgbClr val="24406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905120"/>
            <a:ext cx="10972320" cy="422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ru-RU" sz="42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5B092E-2279-4780-8314-BB1976DD54B1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087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666720"/>
            <a:ext cx="10972320" cy="114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ru-RU" sz="2400" b="0" strike="noStrike" spc="-1">
              <a:solidFill>
                <a:srgbClr val="24406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905120"/>
            <a:ext cx="10972320" cy="422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889"/>
              </a:spcBef>
              <a:buNone/>
              <a:defRPr/>
            </a:lvl1pPr>
          </a:lstStyle>
          <a:p>
            <a:pPr indent="0">
              <a:spcBef>
                <a:spcPts val="1417"/>
              </a:spcBef>
              <a:buNone/>
            </a:pPr>
            <a:endParaRPr lang="ru-RU" sz="4267" b="0" strike="noStrike" spc="-1">
              <a:solidFill>
                <a:srgbClr val="24406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15FF087-5184-429C-80A2-7B98BF5CE82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650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904989"/>
            <a:ext cx="10972800" cy="422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5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ru-RU" b="1" spc="-1">
                <a:solidFill>
                  <a:schemeClr val="accent6"/>
                </a:solidFill>
                <a:latin typeface="Calibri"/>
              </a:rPr>
              <a:t>Программирование на </a:t>
            </a:r>
            <a:r>
              <a:rPr lang="en-US" b="1" spc="-1">
                <a:solidFill>
                  <a:schemeClr val="accent6"/>
                </a:solidFill>
                <a:latin typeface="Calibri"/>
              </a:rPr>
              <a:t>Java</a:t>
            </a:r>
            <a:endParaRPr lang="ru-RU" spc="-1">
              <a:solidFill>
                <a:srgbClr val="24406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spcBef>
                <a:spcPts val="855"/>
              </a:spcBef>
              <a:tabLst>
                <a:tab pos="0" algn="l"/>
              </a:tabLst>
            </a:pPr>
            <a:r>
              <a:rPr lang="ru-RU" sz="4267" spc="-1">
                <a:solidFill>
                  <a:schemeClr val="accent1">
                    <a:lumMod val="75000"/>
                  </a:schemeClr>
                </a:solidFill>
                <a:latin typeface="Calibri"/>
              </a:rPr>
              <a:t>Принципы объектно-ориентированного программирования</a:t>
            </a:r>
            <a:endParaRPr lang="ru-RU" sz="4267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9BB585-8391-416A-B44D-9AE5F380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F9AB1-8ED6-451A-ABFE-E86DA6FF9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92" y="2126719"/>
            <a:ext cx="5527240" cy="31098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03E8E2E-E7A9-49F0-A115-4AB81AA700FD}"/>
              </a:ext>
            </a:extLst>
          </p:cNvPr>
          <p:cNvGrpSpPr/>
          <p:nvPr/>
        </p:nvGrpSpPr>
        <p:grpSpPr>
          <a:xfrm>
            <a:off x="8506505" y="4007898"/>
            <a:ext cx="2414955" cy="1103796"/>
            <a:chOff x="6626794" y="76"/>
            <a:chExt cx="1800305" cy="1519175"/>
          </a:xfrm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2E8AAD0-CA49-4D85-BFA9-4E6ECBAE2297}"/>
                </a:ext>
              </a:extLst>
            </p:cNvPr>
            <p:cNvSpPr/>
            <p:nvPr/>
          </p:nvSpPr>
          <p:spPr>
            <a:xfrm>
              <a:off x="6626794" y="76"/>
              <a:ext cx="1800305" cy="1440244"/>
            </a:xfrm>
            <a:prstGeom prst="roundRect">
              <a:avLst>
                <a:gd name="adj" fmla="val 10000"/>
              </a:avLst>
            </a:prstGeom>
            <a:noFill/>
            <a:ln>
              <a:solidFill>
                <a:srgbClr val="566870"/>
              </a:solidFill>
            </a:ln>
            <a:sp3d prstMaterial="dkEdge">
              <a:bevelT w="82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9D1C3A76-88A5-4CF5-B1A5-83446C712C92}"/>
                </a:ext>
              </a:extLst>
            </p:cNvPr>
            <p:cNvSpPr txBox="1"/>
            <p:nvPr/>
          </p:nvSpPr>
          <p:spPr>
            <a:xfrm>
              <a:off x="6711157" y="163373"/>
              <a:ext cx="1715939" cy="135587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b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400" i="1" kern="1200" dirty="0">
                  <a:solidFill>
                    <a:srgbClr val="5C696F"/>
                  </a:solidFill>
                </a:rPr>
                <a:t>методы класса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8D55A6-3596-4879-9A18-DD046D317A55}"/>
              </a:ext>
            </a:extLst>
          </p:cNvPr>
          <p:cNvGrpSpPr/>
          <p:nvPr/>
        </p:nvGrpSpPr>
        <p:grpSpPr>
          <a:xfrm>
            <a:off x="8296896" y="3681663"/>
            <a:ext cx="2414956" cy="1046447"/>
            <a:chOff x="6626793" y="76"/>
            <a:chExt cx="1800306" cy="1440244"/>
          </a:xfrm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6E3F03D-6183-428A-A95C-DA833A37C9FF}"/>
                </a:ext>
              </a:extLst>
            </p:cNvPr>
            <p:cNvSpPr/>
            <p:nvPr/>
          </p:nvSpPr>
          <p:spPr>
            <a:xfrm>
              <a:off x="6626794" y="76"/>
              <a:ext cx="1800305" cy="144024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solidFill>
                <a:srgbClr val="566870"/>
              </a:solidFill>
            </a:ln>
            <a:sp3d prstMaterial="dkEdge">
              <a:bevelT w="82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D5B0055F-E8AA-4E87-A61C-E83FAE9BDEEA}"/>
                </a:ext>
              </a:extLst>
            </p:cNvPr>
            <p:cNvSpPr txBox="1"/>
            <p:nvPr/>
          </p:nvSpPr>
          <p:spPr>
            <a:xfrm>
              <a:off x="6626793" y="12814"/>
              <a:ext cx="1715939" cy="135587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kern="1200" dirty="0">
                  <a:solidFill>
                    <a:srgbClr val="5C696F"/>
                  </a:solidFill>
                </a:rPr>
                <a:t>Методы обработки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FE3480-CD1E-4186-866F-93CB1C0574A2}"/>
              </a:ext>
            </a:extLst>
          </p:cNvPr>
          <p:cNvGrpSpPr/>
          <p:nvPr/>
        </p:nvGrpSpPr>
        <p:grpSpPr>
          <a:xfrm>
            <a:off x="8015037" y="2050842"/>
            <a:ext cx="2414955" cy="1103796"/>
            <a:chOff x="6626794" y="76"/>
            <a:chExt cx="1800305" cy="1519175"/>
          </a:xfrm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862FBB6-7B11-4DB3-AC96-37C4C1A11886}"/>
                </a:ext>
              </a:extLst>
            </p:cNvPr>
            <p:cNvSpPr/>
            <p:nvPr/>
          </p:nvSpPr>
          <p:spPr>
            <a:xfrm>
              <a:off x="6626794" y="76"/>
              <a:ext cx="1800305" cy="1440244"/>
            </a:xfrm>
            <a:prstGeom prst="roundRect">
              <a:avLst>
                <a:gd name="adj" fmla="val 10000"/>
              </a:avLst>
            </a:prstGeom>
            <a:noFill/>
            <a:ln>
              <a:solidFill>
                <a:srgbClr val="566870"/>
              </a:solidFill>
            </a:ln>
            <a:sp3d prstMaterial="dkEdge">
              <a:bevelT w="82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540C3D29-A2C2-47CB-BD69-6F6033C57377}"/>
                </a:ext>
              </a:extLst>
            </p:cNvPr>
            <p:cNvSpPr txBox="1"/>
            <p:nvPr/>
          </p:nvSpPr>
          <p:spPr>
            <a:xfrm>
              <a:off x="6711157" y="163373"/>
              <a:ext cx="1715939" cy="135587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b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400" i="1" kern="1200" dirty="0">
                  <a:solidFill>
                    <a:srgbClr val="5C696F"/>
                  </a:solidFill>
                </a:rPr>
                <a:t>поля класса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2E7143-64E0-4A7E-92B6-A4A07C6E2E5C}"/>
              </a:ext>
            </a:extLst>
          </p:cNvPr>
          <p:cNvGrpSpPr/>
          <p:nvPr/>
        </p:nvGrpSpPr>
        <p:grpSpPr>
          <a:xfrm>
            <a:off x="7805428" y="1724607"/>
            <a:ext cx="2414956" cy="1046447"/>
            <a:chOff x="6626793" y="76"/>
            <a:chExt cx="1800306" cy="1440244"/>
          </a:xfrm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5AD301A-D63E-4230-80C1-E4B38DDC2999}"/>
                </a:ext>
              </a:extLst>
            </p:cNvPr>
            <p:cNvSpPr/>
            <p:nvPr/>
          </p:nvSpPr>
          <p:spPr>
            <a:xfrm>
              <a:off x="6626794" y="76"/>
              <a:ext cx="1800305" cy="144024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solidFill>
                <a:srgbClr val="566870"/>
              </a:solidFill>
            </a:ln>
            <a:sp3d prstMaterial="dkEdge">
              <a:bevelT w="82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04133956-A57D-439A-8876-E7215197B79D}"/>
                </a:ext>
              </a:extLst>
            </p:cNvPr>
            <p:cNvSpPr txBox="1"/>
            <p:nvPr/>
          </p:nvSpPr>
          <p:spPr>
            <a:xfrm>
              <a:off x="6626793" y="12814"/>
              <a:ext cx="1715939" cy="135587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kern="1200" dirty="0">
                  <a:solidFill>
                    <a:srgbClr val="5C696F"/>
                  </a:solidFill>
                </a:rPr>
                <a:t>Данные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12A0D9-D8BB-4B66-95C6-01828A077451}"/>
              </a:ext>
            </a:extLst>
          </p:cNvPr>
          <p:cNvGrpSpPr/>
          <p:nvPr/>
        </p:nvGrpSpPr>
        <p:grpSpPr>
          <a:xfrm>
            <a:off x="2769655" y="4620093"/>
            <a:ext cx="2414956" cy="1046447"/>
            <a:chOff x="6626793" y="76"/>
            <a:chExt cx="1800306" cy="1440244"/>
          </a:xfrm>
          <a:scene3d>
            <a:camera prst="orthographicFront"/>
            <a:lightRig rig="flat" dir="t"/>
          </a:scene3d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26D19A3-B9BE-4E10-9010-4481B20CB4FB}"/>
                </a:ext>
              </a:extLst>
            </p:cNvPr>
            <p:cNvSpPr/>
            <p:nvPr/>
          </p:nvSpPr>
          <p:spPr>
            <a:xfrm>
              <a:off x="6626794" y="76"/>
              <a:ext cx="1800305" cy="1440244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solidFill>
                <a:srgbClr val="566870"/>
              </a:solidFill>
            </a:ln>
            <a:sp3d prstMaterial="dkEdge">
              <a:bevelT w="8200" h="381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E48573EE-26D6-422D-BCB6-BE480831DDF1}"/>
                </a:ext>
              </a:extLst>
            </p:cNvPr>
            <p:cNvSpPr txBox="1"/>
            <p:nvPr/>
          </p:nvSpPr>
          <p:spPr>
            <a:xfrm>
              <a:off x="6626793" y="12814"/>
              <a:ext cx="1715939" cy="135587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kern="1200" dirty="0">
                  <a:solidFill>
                    <a:srgbClr val="5C696F"/>
                  </a:solidFill>
                </a:rPr>
                <a:t>Класс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907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381A-7018-41CB-906B-EF9C8345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28BA4-41B7-4166-B36D-F41CD098E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347563"/>
            <a:ext cx="10972800" cy="162648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Класс может содержать:</a:t>
            </a:r>
          </a:p>
          <a:p>
            <a:r>
              <a:rPr lang="ru-RU" dirty="0"/>
              <a:t>поля</a:t>
            </a:r>
          </a:p>
          <a:p>
            <a:r>
              <a:rPr lang="ru-RU" dirty="0"/>
              <a:t>методы</a:t>
            </a:r>
          </a:p>
          <a:p>
            <a:r>
              <a:rPr lang="ru-RU" dirty="0"/>
              <a:t>вложенные классы и интерфейсы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6E4F85-E4D0-43A0-AFA4-640379C3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318" y="1901526"/>
            <a:ext cx="6511480" cy="3294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F353BC-D849-4D63-AEBA-A5FA428B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78" t="21667" r="14277" b="8872"/>
          <a:stretch/>
        </p:blipFill>
        <p:spPr>
          <a:xfrm rot="18516203">
            <a:off x="1210380" y="1911956"/>
            <a:ext cx="1653783" cy="23333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0194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B572-EF8B-42CD-8358-E83E6A8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378E7-AACB-411D-8E5B-C3FE0FFB0710}"/>
              </a:ext>
            </a:extLst>
          </p:cNvPr>
          <p:cNvSpPr txBox="1"/>
          <p:nvPr/>
        </p:nvSpPr>
        <p:spPr>
          <a:xfrm>
            <a:off x="441434" y="1973985"/>
            <a:ext cx="7914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Объект</a:t>
            </a:r>
            <a:r>
              <a:rPr lang="ru-RU" sz="3200" dirty="0"/>
              <a:t> – это экземпляр конкретного класса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6D0AA5-05F8-463A-82F4-C1354B3D8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18698"/>
              </p:ext>
            </p:extLst>
          </p:nvPr>
        </p:nvGraphicFramePr>
        <p:xfrm>
          <a:off x="454211" y="2723006"/>
          <a:ext cx="7403317" cy="2909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807">
                  <a:extLst>
                    <a:ext uri="{9D8B030D-6E8A-4147-A177-3AD203B41FA5}">
                      <a16:colId xmlns:a16="http://schemas.microsoft.com/office/drawing/2014/main" val="256320083"/>
                    </a:ext>
                  </a:extLst>
                </a:gridCol>
                <a:gridCol w="462455">
                  <a:extLst>
                    <a:ext uri="{9D8B030D-6E8A-4147-A177-3AD203B41FA5}">
                      <a16:colId xmlns:a16="http://schemas.microsoft.com/office/drawing/2014/main" val="1112426455"/>
                    </a:ext>
                  </a:extLst>
                </a:gridCol>
                <a:gridCol w="3073055">
                  <a:extLst>
                    <a:ext uri="{9D8B030D-6E8A-4147-A177-3AD203B41FA5}">
                      <a16:colId xmlns:a16="http://schemas.microsoft.com/office/drawing/2014/main" val="998218710"/>
                    </a:ext>
                  </a:extLst>
                </a:gridCol>
              </a:tblGrid>
              <a:tr h="422728">
                <a:tc>
                  <a:txBody>
                    <a:bodyPr/>
                    <a:lstStyle/>
                    <a:p>
                      <a:pPr marL="0" indent="0"/>
                      <a:r>
                        <a:rPr lang="ru-RU" dirty="0"/>
                        <a:t>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ru-RU" dirty="0"/>
                        <a:t>Объект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37689"/>
                  </a:ext>
                </a:extLst>
              </a:tr>
              <a:tr h="245182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Описывает множество объектов имеющих одинаковый набор данных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Описывает методы работы с этими данными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Состояние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Поведение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Уникальность</a:t>
                      </a:r>
                      <a:endParaRPr lang="en-US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98931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60B226B-B078-499B-83A1-AD0FE5188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05" y="2663283"/>
            <a:ext cx="3898795" cy="30284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797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9750-D6FA-4825-87BF-0D9291A8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экземпляра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64AB-1959-4556-BCB9-3A38264FE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666995"/>
            <a:ext cx="10972800" cy="1274384"/>
          </a:xfrm>
        </p:spPr>
        <p:txBody>
          <a:bodyPr>
            <a:normAutofit fontScale="6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dirty="0"/>
              <a:t>Объявление</a:t>
            </a:r>
            <a:endParaRPr lang="en-US" dirty="0"/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Создание</a:t>
            </a:r>
            <a:endParaRPr lang="en-US" dirty="0"/>
          </a:p>
          <a:p>
            <a:pPr marL="742950" indent="-742950">
              <a:buFont typeface="+mj-lt"/>
              <a:buAutoNum type="arabicPeriod"/>
            </a:pPr>
            <a:r>
              <a:rPr lang="ru-RU" dirty="0"/>
              <a:t>Инициализация</a:t>
            </a:r>
            <a:endParaRPr lang="en-US" dirty="0"/>
          </a:p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4D218-3281-42EB-BF20-C7478F2E7F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7" r="5324"/>
          <a:stretch/>
        </p:blipFill>
        <p:spPr>
          <a:xfrm>
            <a:off x="4283761" y="2431887"/>
            <a:ext cx="7261057" cy="1994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457438-3E42-4204-B6B0-0719FF8354AF}"/>
              </a:ext>
            </a:extLst>
          </p:cNvPr>
          <p:cNvSpPr/>
          <p:nvPr/>
        </p:nvSpPr>
        <p:spPr>
          <a:xfrm>
            <a:off x="4356538" y="2431887"/>
            <a:ext cx="3478924" cy="33233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15D05F-8A29-4C17-8587-49D386F10C99}"/>
              </a:ext>
            </a:extLst>
          </p:cNvPr>
          <p:cNvSpPr/>
          <p:nvPr/>
        </p:nvSpPr>
        <p:spPr>
          <a:xfrm>
            <a:off x="4356538" y="2777430"/>
            <a:ext cx="7110248" cy="55320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2F5FF5-7705-49B9-B79C-390546F437B6}"/>
              </a:ext>
            </a:extLst>
          </p:cNvPr>
          <p:cNvSpPr/>
          <p:nvPr/>
        </p:nvSpPr>
        <p:spPr>
          <a:xfrm>
            <a:off x="4356537" y="3685245"/>
            <a:ext cx="3894083" cy="55320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1A3F36-97DA-451B-80E0-B664ECE9F137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878317" y="2598054"/>
            <a:ext cx="478221" cy="199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F94E8-2F09-4D45-BD83-64567E1D775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878317" y="3054034"/>
            <a:ext cx="478221" cy="1187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F7D74E-8E80-4397-94E8-B4236E8C1465}"/>
              </a:ext>
            </a:extLst>
          </p:cNvPr>
          <p:cNvCxnSpPr>
            <a:endCxn id="10" idx="1"/>
          </p:cNvCxnSpPr>
          <p:nvPr/>
        </p:nvCxnSpPr>
        <p:spPr>
          <a:xfrm>
            <a:off x="3878317" y="3685245"/>
            <a:ext cx="478220" cy="276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64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E8B44-1378-4840-AC7E-661D7229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742950" y="1977530"/>
            <a:ext cx="10706100" cy="2902939"/>
          </a:xfrm>
        </p:spPr>
        <p:txBody>
          <a:bodyPr>
            <a:normAutofit fontScale="5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Конструктор - это специальный метод, который вызывается при создании нового объекта.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Конструкторы выполняют инициализацию объекта.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в классе не определено ни одного конструктора, то для этого класса автоматически создается конструктор без параметров.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конструктор не инициализирует значения переменных объекта, то они получают значения по умолчанию (для переменных числовых типов это число 0, для типа </a:t>
            </a:r>
            <a:r>
              <a:rPr lang="en-US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ru-RU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lang="ru-RU" dirty="0"/>
              <a:t> и классов - это значение </a:t>
            </a:r>
            <a:r>
              <a:rPr lang="ru-RU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ru-RU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1026" name="Picture 2" descr="ÐÐ°ÑÑÐ¸Ð½ÐºÐ¸ Ð¿Ð¾ Ð·Ð°Ð¿ÑÐ¾ÑÑ ÐºÐ¾Ð½ÑÑÑÑÐºÑÐ¾Ñ jav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1" t="13244" r="8113" b="5450"/>
          <a:stretch/>
        </p:blipFill>
        <p:spPr bwMode="auto">
          <a:xfrm>
            <a:off x="8757138" y="4200446"/>
            <a:ext cx="2825262" cy="212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97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196D-7CB4-4EE7-B1B7-780AC86E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Ключевое слово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7FD0-235E-42ED-9A5E-A9DE6074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90"/>
            <a:ext cx="10972800" cy="13540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Позволяет обращаться к переменным, методам объекта, а также вызывать конструкторы текущего объекта.</a:t>
            </a:r>
          </a:p>
          <a:p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CFB44-76F4-40A0-84A5-CF66D155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080" y="3064401"/>
            <a:ext cx="5213839" cy="3101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37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06ED-29BB-476B-B176-6435C538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Модификаторы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6709-1B40-4B59-9C97-BCF713A0E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2125" indent="0">
              <a:buNone/>
            </a:pPr>
            <a:r>
              <a:rPr lang="ru-RU" sz="3400" dirty="0"/>
              <a:t>Признак общедоступности класса</a:t>
            </a: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2125" indent="0">
              <a:buNone/>
            </a:pPr>
            <a:r>
              <a:rPr lang="ru-RU" sz="3400" dirty="0"/>
              <a:t>Признак абстрактности класса</a:t>
            </a: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2125" indent="0">
              <a:buNone/>
            </a:pPr>
            <a:r>
              <a:rPr lang="ru-RU" sz="3400" dirty="0"/>
              <a:t>Завершенность класса (класс не допускает наследования)</a:t>
            </a: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strictfp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2125" indent="0">
              <a:buNone/>
            </a:pPr>
            <a:r>
              <a:rPr lang="ru-RU" sz="3400" dirty="0"/>
              <a:t>Повышенные требования к операциям с плавающей точкой</a:t>
            </a:r>
          </a:p>
        </p:txBody>
      </p:sp>
    </p:spTree>
    <p:extLst>
      <p:ext uri="{BB962C8B-B14F-4D97-AF65-F5344CB8AC3E}">
        <p14:creationId xmlns:p14="http://schemas.microsoft.com/office/powerpoint/2010/main" val="220684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6626-9566-460A-A85E-5C964BD7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703D-C9BF-435C-BDCB-32E14A4AC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11582400" cy="3804149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Объявление поля:</a:t>
            </a:r>
          </a:p>
          <a:p>
            <a:endParaRPr lang="ru-RU" sz="1300" dirty="0">
              <a:solidFill>
                <a:schemeClr val="bg1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ru-RU" sz="3400" spc="-1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[модификаторы] &lt;тип&gt; &lt;имя&gt; [= &lt;инициализирующее выражение&gt;];</a:t>
            </a:r>
          </a:p>
          <a:p>
            <a:endParaRPr lang="ru-RU" dirty="0">
              <a:solidFill>
                <a:srgbClr val="000000"/>
              </a:solidFill>
            </a:endParaRPr>
          </a:p>
          <a:p>
            <a:endParaRPr lang="ru-RU" dirty="0">
              <a:solidFill>
                <a:srgbClr val="000000"/>
              </a:solidFill>
            </a:endParaRPr>
          </a:p>
          <a:p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Если поле явно не инициализируются, ему</a:t>
            </a:r>
            <a:br>
              <a:rPr lang="ru-RU" dirty="0">
                <a:solidFill>
                  <a:schemeClr val="bg1">
                    <a:lumMod val="25000"/>
                  </a:schemeClr>
                </a:solidFill>
              </a:rPr>
            </a:b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присваивается значение по умолчанию его типа (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,</a:t>
            </a:r>
            <a:br>
              <a:rPr lang="ru-RU" dirty="0">
                <a:solidFill>
                  <a:schemeClr val="bg1">
                    <a:lumMod val="25000"/>
                  </a:schemeClr>
                </a:solidFill>
              </a:rPr>
            </a:b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 или 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0E1C2-EC64-49D9-ADE4-E6F6807DB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2" y="3091774"/>
            <a:ext cx="4881093" cy="674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980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600" y="666720"/>
            <a:ext cx="10972320" cy="114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ru-RU" spc="-1" dirty="0">
                <a:latin typeface="Calibri"/>
              </a:rPr>
              <a:t>Модификаторы полей класса</a:t>
            </a:r>
            <a:endParaRPr lang="ru-RU" spc="-1" dirty="0">
              <a:solidFill>
                <a:srgbClr val="244061"/>
              </a:solidFill>
              <a:latin typeface="Calibri"/>
            </a:endParaRPr>
          </a:p>
        </p:txBody>
      </p:sp>
      <p:sp>
        <p:nvSpPr>
          <p:cNvPr id="131" name="Подзаголовок 6"/>
          <p:cNvSpPr/>
          <p:nvPr/>
        </p:nvSpPr>
        <p:spPr>
          <a:xfrm>
            <a:off x="335520" y="1700639"/>
            <a:ext cx="11712960" cy="4102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457200" algn="just">
              <a:spcBef>
                <a:spcPts val="533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600" b="1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ru-RU" sz="2400" spc="-1" dirty="0">
                <a:solidFill>
                  <a:srgbClr val="244061"/>
                </a:solidFill>
                <a:latin typeface="Calibri"/>
              </a:rPr>
              <a:t> </a:t>
            </a:r>
          </a:p>
          <a:p>
            <a:pPr marL="446088" algn="just">
              <a:spcBef>
                <a:spcPts val="533"/>
              </a:spcBef>
              <a:tabLst>
                <a:tab pos="446088" algn="l"/>
              </a:tabLst>
            </a:pPr>
            <a:r>
              <a:rPr lang="ru-RU" sz="2000" spc="-1" dirty="0">
                <a:solidFill>
                  <a:srgbClr val="244061"/>
                </a:solidFill>
                <a:latin typeface="Calibri"/>
              </a:rPr>
              <a:t>Поле не может поменять своего значения после инициализации.</a:t>
            </a:r>
          </a:p>
          <a:p>
            <a:pPr marL="446088" indent="-446088">
              <a:spcBef>
                <a:spcPts val="533"/>
              </a:spcBef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br>
              <a:rPr lang="ru-RU" sz="2400" dirty="0"/>
            </a:br>
            <a:r>
              <a:rPr lang="ru-RU" sz="2000" dirty="0"/>
              <a:t>Поле статично (принадлежит контексту класса)</a:t>
            </a:r>
            <a:endParaRPr lang="ru-RU" sz="2000" spc="-1" dirty="0">
              <a:solidFill>
                <a:srgbClr val="244061"/>
              </a:solidFill>
              <a:latin typeface="Calibri"/>
            </a:endParaRPr>
          </a:p>
          <a:p>
            <a:pPr marL="457200" indent="-457200" algn="just">
              <a:spcBef>
                <a:spcPts val="533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600" b="1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transient</a:t>
            </a:r>
            <a:r>
              <a:rPr lang="ru-RU" sz="2400" spc="-1" dirty="0">
                <a:solidFill>
                  <a:srgbClr val="244061"/>
                </a:solidFill>
                <a:latin typeface="Calibri"/>
              </a:rPr>
              <a:t> </a:t>
            </a:r>
          </a:p>
          <a:p>
            <a:pPr marL="446088">
              <a:spcBef>
                <a:spcPts val="533"/>
              </a:spcBef>
              <a:tabLst>
                <a:tab pos="446088" algn="l"/>
              </a:tabLst>
            </a:pPr>
            <a:r>
              <a:rPr lang="ru-RU" sz="2000" spc="-1" dirty="0">
                <a:solidFill>
                  <a:srgbClr val="244061"/>
                </a:solidFill>
                <a:latin typeface="Calibri"/>
              </a:rPr>
              <a:t>П</a:t>
            </a:r>
            <a:r>
              <a:rPr lang="ru-RU" sz="2000" dirty="0"/>
              <a:t>оле не </a:t>
            </a:r>
            <a:r>
              <a:rPr lang="ru-RU" sz="2000" dirty="0" err="1"/>
              <a:t>сериализуется</a:t>
            </a:r>
            <a:r>
              <a:rPr lang="ru-RU" sz="2000" dirty="0"/>
              <a:t> (влияет только на механизмы </a:t>
            </a:r>
            <a:r>
              <a:rPr lang="ru-RU" sz="2000" dirty="0" err="1"/>
              <a:t>сериализации</a:t>
            </a:r>
            <a:r>
              <a:rPr lang="ru-RU" sz="2000" dirty="0"/>
              <a:t>)</a:t>
            </a:r>
            <a:endParaRPr lang="ru-RU" sz="2000" spc="-1" dirty="0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spcBef>
                <a:spcPts val="533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600" b="1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ru-RU" sz="2400" spc="-1" dirty="0">
                <a:solidFill>
                  <a:srgbClr val="244061"/>
                </a:solidFill>
                <a:latin typeface="Calibri"/>
              </a:rPr>
              <a:t> </a:t>
            </a:r>
          </a:p>
          <a:p>
            <a:pPr marL="446088" algn="just">
              <a:spcBef>
                <a:spcPts val="533"/>
              </a:spcBef>
              <a:tabLst>
                <a:tab pos="446088" algn="l"/>
              </a:tabLst>
            </a:pPr>
            <a:r>
              <a:rPr lang="ru-RU" sz="2000" spc="-1" dirty="0">
                <a:solidFill>
                  <a:srgbClr val="244061"/>
                </a:solidFill>
                <a:latin typeface="Calibri"/>
              </a:rPr>
              <a:t>Для полей с модификатором </a:t>
            </a:r>
            <a:r>
              <a:rPr lang="ru-RU" sz="2000" spc="-1" dirty="0" err="1">
                <a:solidFill>
                  <a:srgbClr val="244061"/>
                </a:solidFill>
                <a:latin typeface="Calibri"/>
              </a:rPr>
              <a:t>volatile</a:t>
            </a:r>
            <a:r>
              <a:rPr lang="ru-RU" sz="2000" spc="-1" dirty="0">
                <a:solidFill>
                  <a:srgbClr val="244061"/>
                </a:solidFill>
                <a:latin typeface="Calibri"/>
              </a:rPr>
              <a:t> есть гарантия, что все потоки исполнения всегда будут видеть актуальное значение такой переменной </a:t>
            </a:r>
            <a:r>
              <a:rPr lang="ru-RU" sz="2000" dirty="0"/>
              <a:t>(влияет только при многопоточной среде)</a:t>
            </a:r>
            <a:endParaRPr lang="ru-RU" sz="2667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533"/>
              </a:spcBef>
              <a:tabLst>
                <a:tab pos="0" algn="l"/>
              </a:tabLst>
            </a:pPr>
            <a:endParaRPr lang="ru-RU" sz="2667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533"/>
              </a:spcBef>
              <a:tabLst>
                <a:tab pos="0" algn="l"/>
              </a:tabLst>
            </a:pPr>
            <a:endParaRPr lang="ru-RU" sz="2667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533"/>
              </a:spcBef>
              <a:tabLst>
                <a:tab pos="0" algn="l"/>
              </a:tabLst>
            </a:pPr>
            <a:endParaRPr lang="ru-RU" sz="2667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74F253B-0D09-44F3-BE81-B47CBDCA6263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981E71-3037-4EDC-850B-6DCBF851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Модификаторы доступа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26B733-40DA-445A-AF4E-2085E858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09625" indent="-633413">
              <a:spcBef>
                <a:spcPts val="300"/>
              </a:spcBef>
            </a:pPr>
            <a:r>
              <a:rPr lang="ru-RU" sz="2200" dirty="0"/>
              <a:t>Модификаторы доступа позволяют задать допустимую область видимости для членов класса, то есть контекст, в котором можно употреблять данную переменную или метод.</a:t>
            </a:r>
          </a:p>
          <a:p>
            <a:pPr marL="809625" indent="-633413">
              <a:spcBef>
                <a:spcPts val="300"/>
              </a:spcBef>
            </a:pPr>
            <a:r>
              <a:rPr lang="ru-RU" sz="2200" dirty="0"/>
              <a:t>В </a:t>
            </a:r>
            <a:r>
              <a:rPr lang="ru-RU" sz="2200" dirty="0" err="1"/>
              <a:t>Java</a:t>
            </a:r>
            <a:r>
              <a:rPr lang="ru-RU" sz="2200" dirty="0"/>
              <a:t> используются следующие модификаторы доступа:</a:t>
            </a:r>
          </a:p>
          <a:p>
            <a:pPr marL="1347788" lvl="1" indent="-446088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sz="2000" dirty="0"/>
              <a:t>: публичный, общедоступный класс или член класса. Поля и методы, объявленные с модификатором </a:t>
            </a:r>
            <a:r>
              <a:rPr lang="ru-RU" sz="2000" dirty="0" err="1"/>
              <a:t>public</a:t>
            </a:r>
            <a:r>
              <a:rPr lang="ru-RU" sz="2000" dirty="0"/>
              <a:t>, видны другим классам из текущего пакета и из внешних пакетов.</a:t>
            </a:r>
          </a:p>
          <a:p>
            <a:pPr marL="1347788" lvl="1" indent="-446088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ru-RU" sz="2000" dirty="0"/>
              <a:t>: закрытый класс или член класса, противоположность модификатору </a:t>
            </a:r>
            <a:r>
              <a:rPr lang="ru-RU" sz="2000" dirty="0" err="1"/>
              <a:t>public</a:t>
            </a:r>
            <a:r>
              <a:rPr lang="ru-RU" sz="2000" dirty="0"/>
              <a:t>. Закрытый класс или член класса доступен только из кода в том же классе.</a:t>
            </a:r>
          </a:p>
          <a:p>
            <a:pPr marL="1347788" lvl="1" indent="-446088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ru-RU" sz="2000" dirty="0"/>
              <a:t>: такой класс или член класса доступен из любого места в текущем классе, внутри того же пакета и в производных классах, даже если они находятся в других пакетах</a:t>
            </a:r>
          </a:p>
          <a:p>
            <a:pPr marL="1347788" lvl="1" indent="-446088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package(default)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b="1" dirty="0"/>
              <a:t> </a:t>
            </a:r>
            <a:r>
              <a:rPr lang="ru-RU" sz="2000" dirty="0"/>
              <a:t>отсутствие модификатора у поля или метода класса предполагает применение к нему модификатора по умолчанию. Такие поля или методы видны всем классам в текущем пакете.</a:t>
            </a:r>
          </a:p>
          <a:p>
            <a:pPr marL="539750" lvl="1" indent="0">
              <a:spcBef>
                <a:spcPts val="0"/>
              </a:spcBef>
              <a:buNone/>
            </a:pPr>
            <a:endParaRPr lang="ru-RU" sz="2200" dirty="0"/>
          </a:p>
          <a:p>
            <a:pPr marL="809625" lvl="1" indent="-633413">
              <a:spcBef>
                <a:spcPts val="0"/>
              </a:spcBef>
              <a:buNone/>
            </a:pPr>
            <a:r>
              <a:rPr lang="ru-RU" sz="2200" dirty="0"/>
              <a:t>Сокрытие данных внутри некоторой области видимости называется </a:t>
            </a:r>
            <a:r>
              <a:rPr lang="ru-RU" sz="2200" b="1" dirty="0"/>
              <a:t>инкапсуляцией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555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44F5-E3C1-4D29-9645-2F5A0AB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7766-A281-4394-BEE2-D5BFBF402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04988"/>
            <a:ext cx="11500339" cy="4221175"/>
          </a:xfrm>
        </p:spPr>
        <p:txBody>
          <a:bodyPr/>
          <a:lstStyle/>
          <a:p>
            <a:r>
              <a:rPr lang="ru-RU" sz="3200" dirty="0"/>
              <a:t>Объявление метода: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[модификаторы] &lt;тип&gt; &lt;имя метода&gt;(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 параметр,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…]</a:t>
            </a: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[</a:t>
            </a:r>
            <a:r>
              <a:rPr lang="ru-RU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исключения]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&lt;тело метода&gt;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1F179-64E5-4FA2-BCB1-19130FF1F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61" y="4015576"/>
            <a:ext cx="5550794" cy="1926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79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5DEC-30B5-452A-A9F4-5868F649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Модификаторы метода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9C932-71FE-47DC-A4B2-F816A6876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5509"/>
            <a:ext cx="10972800" cy="4221175"/>
          </a:xfrm>
        </p:spPr>
        <p:txBody>
          <a:bodyPr>
            <a:noAutofit/>
          </a:bodyPr>
          <a:lstStyle/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indent="0">
              <a:buNone/>
            </a:pPr>
            <a:r>
              <a:rPr lang="ru-RU" sz="1800" dirty="0"/>
              <a:t>абстрактность метода (тело при этом не описывается)</a:t>
            </a:r>
          </a:p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indent="0">
              <a:buNone/>
            </a:pPr>
            <a:r>
              <a:rPr lang="ru-RU" sz="1800" dirty="0"/>
              <a:t>статичность метода (метод принадлежит контексту класса)</a:t>
            </a:r>
          </a:p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indent="0">
              <a:buNone/>
            </a:pPr>
            <a:r>
              <a:rPr lang="ru-RU" sz="1800" dirty="0"/>
              <a:t>завершенность метода (метод не может быть переопределен при наследовании)</a:t>
            </a:r>
          </a:p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br>
              <a:rPr lang="ru-RU" sz="2400" dirty="0"/>
            </a:br>
            <a:r>
              <a:rPr lang="ru-RU" sz="1800" dirty="0" err="1"/>
              <a:t>синхронизированность</a:t>
            </a:r>
            <a:r>
              <a:rPr lang="ru-RU" sz="1800" dirty="0"/>
              <a:t> метода (особенности вызова метода в многопоточных приложениях)</a:t>
            </a:r>
          </a:p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native</a:t>
            </a:r>
            <a:br>
              <a:rPr lang="ru-RU" sz="2400" dirty="0"/>
            </a:br>
            <a:r>
              <a:rPr lang="ru-RU" sz="1800" dirty="0"/>
              <a:t>«</a:t>
            </a:r>
            <a:r>
              <a:rPr lang="ru-RU" sz="1800" dirty="0" err="1"/>
              <a:t>нативность</a:t>
            </a:r>
            <a:r>
              <a:rPr lang="ru-RU" sz="1800" dirty="0"/>
              <a:t>» метода (тело метода не описывается, при вызове вызывается метод из </a:t>
            </a:r>
            <a:r>
              <a:rPr lang="ru-RU" sz="1800" dirty="0" err="1"/>
              <a:t>native</a:t>
            </a:r>
            <a:r>
              <a:rPr lang="ru-RU" sz="1800" dirty="0"/>
              <a:t>-библиотеки)</a:t>
            </a:r>
          </a:p>
          <a:p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strictfp</a:t>
            </a:r>
            <a:br>
              <a:rPr lang="ru-RU" sz="2400" dirty="0"/>
            </a:br>
            <a:r>
              <a:rPr lang="ru-RU" sz="1800" dirty="0"/>
              <a:t>повышенные требования к операциям с плавающей точкой</a:t>
            </a:r>
          </a:p>
        </p:txBody>
      </p:sp>
    </p:spTree>
    <p:extLst>
      <p:ext uri="{BB962C8B-B14F-4D97-AF65-F5344CB8AC3E}">
        <p14:creationId xmlns:p14="http://schemas.microsoft.com/office/powerpoint/2010/main" val="407004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95F0D2-6F90-488E-99A7-6A53974B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Объекты и примитивы как параметры методов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609600" y="2228759"/>
            <a:ext cx="7748954" cy="2988009"/>
          </a:xfrm>
        </p:spPr>
        <p:txBody>
          <a:bodyPr>
            <a:noAutofit/>
          </a:bodyPr>
          <a:lstStyle/>
          <a:p>
            <a:r>
              <a:rPr lang="ru-RU" sz="2400" dirty="0"/>
              <a:t>Переменные примитивных типов передаются в метод по значению, т.е. делается копия аргумента.</a:t>
            </a:r>
          </a:p>
          <a:p>
            <a:r>
              <a:rPr lang="ru-RU" sz="2400" dirty="0"/>
              <a:t>Объекты классов, как и данные примитивных типов могут передаваться в методы.</a:t>
            </a:r>
          </a:p>
          <a:p>
            <a:r>
              <a:rPr lang="ru-RU" sz="2400" dirty="0"/>
              <a:t>При передаче объектов в качестве значения передается копия ссылки на область в памяти, где расположен этот объект.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A347F7-9374-4BD1-AC5E-99C7A9C58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354" y="2227482"/>
            <a:ext cx="3165230" cy="4404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8632C0-B2EB-4CA3-8C23-F0E8096E6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863" y="5113127"/>
            <a:ext cx="4425091" cy="1504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0379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DCE1-28C8-47A5-894F-778A25F7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4A0-ABFA-430C-9EEF-2C201BD2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static void f(int a){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a=5;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public static void main (String []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x=7;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f(x);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После: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ru-RU" sz="4400" spc="-1" dirty="0">
              <a:solidFill>
                <a:srgbClr val="24406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2201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DCE1-28C8-47A5-894F-778A25F7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4A0-ABFA-430C-9EEF-2C201BD2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static void f(String a){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 = “5”;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public static void main (String []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String x = “7”;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f(x);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После: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ru-RU" sz="4400" spc="-1" dirty="0">
              <a:solidFill>
                <a:srgbClr val="24406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4205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DCE1-28C8-47A5-894F-778A25F7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4A0-ABFA-430C-9EEF-2C201BD27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static void f(int[] a){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a[0]=5;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public static void main (String []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int[] x = {7};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x[0]);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f(x);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400" spc="-1" dirty="0" err="1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ru-RU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После: “ + </a:t>
            </a: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x[0]);</a:t>
            </a:r>
            <a:endParaRPr lang="ru-RU" sz="4400" spc="-1" dirty="0">
              <a:solidFill>
                <a:srgbClr val="24406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marL="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4400" spc="-1" dirty="0">
                <a:solidFill>
                  <a:srgbClr val="24406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44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062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C945-FC0E-492F-B30A-43AD04A0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принципы ООП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35D1A6-DA30-4AC4-8FB7-07C92EE7E4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07" y="1910861"/>
            <a:ext cx="4036445" cy="3905261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50F8EE9-87D6-4D85-BD3A-953D46410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65298"/>
            <a:ext cx="5384800" cy="4525963"/>
          </a:xfrm>
        </p:spPr>
        <p:txBody>
          <a:bodyPr/>
          <a:lstStyle/>
          <a:p>
            <a:r>
              <a:rPr lang="ru-RU" dirty="0"/>
              <a:t>Наследование</a:t>
            </a:r>
          </a:p>
          <a:p>
            <a:r>
              <a:rPr lang="ru-RU" dirty="0"/>
              <a:t>Инкапсуляция</a:t>
            </a:r>
          </a:p>
          <a:p>
            <a:r>
              <a:rPr lang="ru-RU" dirty="0"/>
              <a:t>Полиморфизм</a:t>
            </a:r>
          </a:p>
          <a:p>
            <a:r>
              <a:rPr lang="ru-RU" dirty="0"/>
              <a:t>Абстракция</a:t>
            </a:r>
          </a:p>
        </p:txBody>
      </p:sp>
    </p:spTree>
    <p:extLst>
      <p:ext uri="{BB962C8B-B14F-4D97-AF65-F5344CB8AC3E}">
        <p14:creationId xmlns:p14="http://schemas.microsoft.com/office/powerpoint/2010/main" val="2287139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E157-7AAF-4190-8F7B-6DDDE96B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B9AFF-5092-4D7C-B867-14073AC8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7010400" cy="422117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Объединение данных и методов их обработки в одном классе.</a:t>
            </a:r>
          </a:p>
          <a:p>
            <a:r>
              <a:rPr lang="ru-RU" dirty="0"/>
              <a:t>Это приводит к сокрытию реализации класса и отделению внутреннего представления от внешнего.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5ED7C-6745-47E1-803F-F032636AA4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20000" y="2417941"/>
            <a:ext cx="4288717" cy="29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01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D9BF-2AD6-41EB-9F88-BE84FA91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3F4A15E-B415-43A0-8FBC-0C813C1525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013492"/>
              </p:ext>
            </p:extLst>
          </p:nvPr>
        </p:nvGraphicFramePr>
        <p:xfrm>
          <a:off x="-1500554" y="2010682"/>
          <a:ext cx="8284308" cy="4180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4A3AB-3C29-406F-A527-2512C5E5BDA0}"/>
              </a:ext>
            </a:extLst>
          </p:cNvPr>
          <p:cNvCxnSpPr>
            <a:cxnSpLocks/>
          </p:cNvCxnSpPr>
          <p:nvPr/>
        </p:nvCxnSpPr>
        <p:spPr>
          <a:xfrm>
            <a:off x="3470031" y="5416062"/>
            <a:ext cx="3313723" cy="0"/>
          </a:xfrm>
          <a:prstGeom prst="straightConnector1">
            <a:avLst/>
          </a:prstGeom>
          <a:ln>
            <a:solidFill>
              <a:srgbClr val="D4DFE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2ADDA7-9424-43F5-94CB-21C3F54F331D}"/>
              </a:ext>
            </a:extLst>
          </p:cNvPr>
          <p:cNvCxnSpPr/>
          <p:nvPr/>
        </p:nvCxnSpPr>
        <p:spPr>
          <a:xfrm>
            <a:off x="3470031" y="3997569"/>
            <a:ext cx="3313723" cy="0"/>
          </a:xfrm>
          <a:prstGeom prst="straightConnector1">
            <a:avLst/>
          </a:prstGeom>
          <a:ln>
            <a:solidFill>
              <a:srgbClr val="D4DFE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8F20D7-8006-4AB9-B559-A2AFB11EAB2A}"/>
              </a:ext>
            </a:extLst>
          </p:cNvPr>
          <p:cNvCxnSpPr/>
          <p:nvPr/>
        </p:nvCxnSpPr>
        <p:spPr>
          <a:xfrm>
            <a:off x="3470031" y="3083169"/>
            <a:ext cx="3313723" cy="0"/>
          </a:xfrm>
          <a:prstGeom prst="straightConnector1">
            <a:avLst/>
          </a:prstGeom>
          <a:ln>
            <a:solidFill>
              <a:srgbClr val="D4DFE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49A585-65C6-4D1C-A4D3-2CA190E24707}"/>
              </a:ext>
            </a:extLst>
          </p:cNvPr>
          <p:cNvCxnSpPr/>
          <p:nvPr/>
        </p:nvCxnSpPr>
        <p:spPr>
          <a:xfrm>
            <a:off x="3470030" y="2203938"/>
            <a:ext cx="3313724" cy="0"/>
          </a:xfrm>
          <a:prstGeom prst="straightConnector1">
            <a:avLst/>
          </a:prstGeom>
          <a:ln>
            <a:solidFill>
              <a:srgbClr val="D4DFE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0C9DDB0-31A6-4BCC-8286-E08F369595EF}"/>
              </a:ext>
            </a:extLst>
          </p:cNvPr>
          <p:cNvSpPr txBox="1"/>
          <p:nvPr/>
        </p:nvSpPr>
        <p:spPr>
          <a:xfrm>
            <a:off x="7069015" y="2077122"/>
            <a:ext cx="131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виден всем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A4BA0E-77AA-4F4D-B977-98112648C2A8}"/>
              </a:ext>
            </a:extLst>
          </p:cNvPr>
          <p:cNvSpPr txBox="1"/>
          <p:nvPr/>
        </p:nvSpPr>
        <p:spPr>
          <a:xfrm>
            <a:off x="7069015" y="3812903"/>
            <a:ext cx="5202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виден только классу, внутри пакета и наследникам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5DDB5-22FB-471F-B988-B5231EEB3455}"/>
              </a:ext>
            </a:extLst>
          </p:cNvPr>
          <p:cNvSpPr txBox="1"/>
          <p:nvPr/>
        </p:nvSpPr>
        <p:spPr>
          <a:xfrm>
            <a:off x="7069015" y="2898503"/>
            <a:ext cx="3272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виден только в текущем пакете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1518EA-3E16-4249-967A-F229BA8FC010}"/>
              </a:ext>
            </a:extLst>
          </p:cNvPr>
          <p:cNvSpPr txBox="1"/>
          <p:nvPr/>
        </p:nvSpPr>
        <p:spPr>
          <a:xfrm>
            <a:off x="7069015" y="5231396"/>
            <a:ext cx="2915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виден только внутри класса</a:t>
            </a:r>
          </a:p>
        </p:txBody>
      </p:sp>
    </p:spTree>
    <p:extLst>
      <p:ext uri="{BB962C8B-B14F-4D97-AF65-F5344CB8AC3E}">
        <p14:creationId xmlns:p14="http://schemas.microsoft.com/office/powerpoint/2010/main" val="702290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ÐÐ°ÑÑÐ¸Ð½ÐºÐ¸ Ð¿Ð¾ Ð·Ð°Ð¿ÑÐ¾ÑÑ Ð½Ð°ÑÐ»ÐµÐ´Ð¾Ð²Ð°Ð½Ð¸Ðµ Ð´Ð¶Ð°Ð²Ð°"/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611" y="2808720"/>
            <a:ext cx="3089084" cy="249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42992EB-592F-44D6-821C-8D1BDF99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609600" y="1673495"/>
            <a:ext cx="8441803" cy="4286272"/>
          </a:xfrm>
        </p:spPr>
        <p:txBody>
          <a:bodyPr>
            <a:noAutofit/>
          </a:bodyPr>
          <a:lstStyle/>
          <a:p>
            <a:r>
              <a:rPr lang="ru-RU" sz="1900" dirty="0"/>
              <a:t>Один из ключевых аспектов объектно-ориентированного программирования.</a:t>
            </a:r>
          </a:p>
          <a:p>
            <a:r>
              <a:rPr lang="ru-RU" sz="1900" dirty="0"/>
              <a:t>С помощью наследования можно расширить функционал уже имеющихся классов за счет добавления нового.</a:t>
            </a:r>
          </a:p>
          <a:p>
            <a:r>
              <a:rPr lang="ru-RU" sz="1900" dirty="0"/>
              <a:t>Производный класс имеет доступ ко всем методам и полям базового класса кроме тех, которые определены с модификатором </a:t>
            </a:r>
            <a:r>
              <a:rPr lang="ru-RU" sz="19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ru-RU" sz="1900" dirty="0"/>
              <a:t>. </a:t>
            </a:r>
          </a:p>
          <a:p>
            <a:r>
              <a:rPr lang="ru-RU" sz="1900" dirty="0"/>
              <a:t>Наследоваться можно только от одного класса.</a:t>
            </a:r>
            <a:endParaRPr lang="en-US" sz="1900" dirty="0"/>
          </a:p>
          <a:p>
            <a:r>
              <a:rPr lang="ru-RU" sz="1900" dirty="0"/>
              <a:t>Чтобы класс наследовать класс, надо использовать ключевое слово </a:t>
            </a:r>
            <a:r>
              <a:rPr lang="en-US" sz="19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ru-RU" sz="1900" dirty="0"/>
              <a:t>.</a:t>
            </a:r>
          </a:p>
          <a:p>
            <a:r>
              <a:rPr lang="ru-RU" sz="1900" dirty="0"/>
              <a:t>Если в базовом классе определены конструкторы, то в конструкторе производного классы необходимо вызвать один из конструкторов базового класса с помощью ключевого слова </a:t>
            </a:r>
            <a:r>
              <a:rPr lang="ru-RU" sz="19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ru-RU" sz="1900" dirty="0"/>
              <a:t>, причем в самом начале.</a:t>
            </a:r>
          </a:p>
          <a:p>
            <a:r>
              <a:rPr lang="ru-RU" sz="1900" dirty="0"/>
              <a:t>Запретить наследование с помощью ключевого слова </a:t>
            </a:r>
            <a:r>
              <a:rPr lang="ru-RU" sz="19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ru-RU" sz="1900" b="1" dirty="0"/>
              <a:t> </a:t>
            </a:r>
            <a:r>
              <a:rPr lang="ru-RU" sz="1900" dirty="0"/>
              <a:t>у всего класса или отдельных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576706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1956-2376-4FD9-B7C9-11A52B68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наследования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27725-CFD7-4262-A9BC-E4CD3A4F6655}"/>
              </a:ext>
            </a:extLst>
          </p:cNvPr>
          <p:cNvSpPr txBox="1"/>
          <p:nvPr/>
        </p:nvSpPr>
        <p:spPr>
          <a:xfrm>
            <a:off x="2280757" y="4052612"/>
            <a:ext cx="2227384" cy="1754326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Класс 3</a:t>
            </a:r>
          </a:p>
          <a:p>
            <a:r>
              <a:rPr lang="ru-RU" dirty="0"/>
              <a:t>• </a:t>
            </a:r>
            <a:r>
              <a:rPr lang="ru-RU" i="1" dirty="0"/>
              <a:t>Метод 1</a:t>
            </a:r>
            <a:r>
              <a:rPr lang="en-US" i="1" dirty="0"/>
              <a:t> </a:t>
            </a:r>
            <a:endParaRPr lang="ru-RU" i="1" dirty="0"/>
          </a:p>
          <a:p>
            <a:r>
              <a:rPr lang="ru-RU" dirty="0"/>
              <a:t>• Метод 2</a:t>
            </a:r>
          </a:p>
          <a:p>
            <a:r>
              <a:rPr lang="ru-RU" dirty="0"/>
              <a:t>• Метод 3</a:t>
            </a:r>
          </a:p>
          <a:p>
            <a:r>
              <a:rPr lang="ru-RU" dirty="0"/>
              <a:t>• Метод 4</a:t>
            </a:r>
          </a:p>
          <a:p>
            <a:r>
              <a:rPr lang="ru-RU" dirty="0"/>
              <a:t>• Метод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B6A2C-1D92-463C-A23E-CB97EE6630CD}"/>
              </a:ext>
            </a:extLst>
          </p:cNvPr>
          <p:cNvSpPr txBox="1"/>
          <p:nvPr/>
        </p:nvSpPr>
        <p:spPr>
          <a:xfrm>
            <a:off x="3950676" y="2132421"/>
            <a:ext cx="2227384" cy="1200329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Класс 2</a:t>
            </a:r>
          </a:p>
          <a:p>
            <a:r>
              <a:rPr lang="ru-RU" dirty="0"/>
              <a:t>• Метод 1</a:t>
            </a:r>
          </a:p>
          <a:p>
            <a:r>
              <a:rPr lang="ru-RU" dirty="0"/>
              <a:t>• Метод 4</a:t>
            </a:r>
          </a:p>
          <a:p>
            <a:r>
              <a:rPr lang="ru-RU" dirty="0"/>
              <a:t>• Метод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E945A-AA0B-441C-8A31-9F32D589FA0D}"/>
              </a:ext>
            </a:extLst>
          </p:cNvPr>
          <p:cNvSpPr txBox="1"/>
          <p:nvPr/>
        </p:nvSpPr>
        <p:spPr>
          <a:xfrm>
            <a:off x="609600" y="2132421"/>
            <a:ext cx="2227384" cy="1200329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Класс 1</a:t>
            </a:r>
          </a:p>
          <a:p>
            <a:r>
              <a:rPr lang="ru-RU" dirty="0"/>
              <a:t>• Метод 1</a:t>
            </a:r>
          </a:p>
          <a:p>
            <a:r>
              <a:rPr lang="ru-RU" dirty="0"/>
              <a:t>• Метод 2</a:t>
            </a:r>
          </a:p>
          <a:p>
            <a:r>
              <a:rPr lang="ru-RU" dirty="0"/>
              <a:t>• Метод 3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DCDC6FC-B695-4535-ABCF-C9B4E57A50E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836984" y="2732586"/>
            <a:ext cx="278113" cy="13200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11AD872-362E-4E88-9341-1EC459CBD665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3671324" y="2732585"/>
            <a:ext cx="279352" cy="13200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1E3416-6A38-4EB6-BFF1-0FF88764F026}"/>
              </a:ext>
            </a:extLst>
          </p:cNvPr>
          <p:cNvSpPr/>
          <p:nvPr/>
        </p:nvSpPr>
        <p:spPr>
          <a:xfrm>
            <a:off x="2339371" y="4383175"/>
            <a:ext cx="1773115" cy="269600"/>
          </a:xfrm>
          <a:prstGeom prst="round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r"/>
            <a:r>
              <a:rPr lang="en-US" dirty="0"/>
              <a:t>? </a:t>
            </a:r>
            <a:endParaRPr lang="ru-R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0B6B0E-C3F1-4BD3-9040-D85D56A9724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1735" y="2021956"/>
            <a:ext cx="3680786" cy="2009903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C7EBE22-EDFE-4E06-8418-DB8725234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9237578"/>
              </p:ext>
            </p:extLst>
          </p:nvPr>
        </p:nvGraphicFramePr>
        <p:xfrm>
          <a:off x="7336695" y="4244077"/>
          <a:ext cx="4450866" cy="133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655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61A1ED-7447-429B-B727-34F7A9F3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609600" y="1809739"/>
            <a:ext cx="11230708" cy="4696569"/>
          </a:xfrm>
        </p:spPr>
        <p:txBody>
          <a:bodyPr>
            <a:normAutofit fontScale="40000" lnSpcReduction="20000"/>
          </a:bodyPr>
          <a:lstStyle/>
          <a:p>
            <a:r>
              <a:rPr lang="ru-RU" sz="5000" dirty="0"/>
              <a:t>Интерфейсы определяют некоторый функционал, не имеющий конкретной реализации, который затем реализуют классы, применяющие эти интерфейсы.</a:t>
            </a:r>
          </a:p>
          <a:p>
            <a:r>
              <a:rPr lang="ru-RU" sz="5000" dirty="0"/>
              <a:t>Чтобы определить интерфейс, используется ключевое слово 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ru-RU" sz="5000" dirty="0"/>
              <a:t>.</a:t>
            </a:r>
          </a:p>
          <a:p>
            <a:r>
              <a:rPr lang="ru-RU" sz="5000" dirty="0"/>
              <a:t>Интерфейс может определять константы и методы, которые могут иметь</a:t>
            </a:r>
            <a:r>
              <a:rPr lang="en-US" sz="5000" dirty="0"/>
              <a:t> </a:t>
            </a:r>
            <a:r>
              <a:rPr lang="ru-RU" sz="5000" dirty="0"/>
              <a:t>или не иметь реализации.</a:t>
            </a:r>
          </a:p>
          <a:p>
            <a:r>
              <a:rPr lang="ru-RU" sz="5000" dirty="0"/>
              <a:t>Все методы интерфейса не имеют модификаторов доступа, но фактически по умолчанию доступ 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sz="5000" dirty="0"/>
              <a:t>.</a:t>
            </a:r>
          </a:p>
          <a:p>
            <a:r>
              <a:rPr lang="ru-RU" sz="5000" dirty="0"/>
              <a:t>Напрямую создавать объекты интерфейсов нельзя.</a:t>
            </a:r>
          </a:p>
          <a:p>
            <a:r>
              <a:rPr lang="ru-RU" sz="5000" dirty="0"/>
              <a:t>Переменная типа интерфейса может хранить ссылку на объект тип, который этот интерфейс применил.</a:t>
            </a:r>
          </a:p>
          <a:p>
            <a:r>
              <a:rPr lang="ru-RU" sz="5000" dirty="0"/>
              <a:t>Методы по умолчанию – реализован в интерфейсе и не обязан быть переопределен в потомке.</a:t>
            </a:r>
          </a:p>
          <a:p>
            <a:r>
              <a:rPr lang="ru-RU" sz="5000" dirty="0"/>
              <a:t>Может иметь статические методы, приватные методы, константы (</a:t>
            </a:r>
            <a:r>
              <a:rPr lang="en-US" sz="50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u-RU" sz="5000" i="1" dirty="0"/>
              <a:t> 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u-RU" sz="50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ru-RU" sz="5000" dirty="0"/>
              <a:t>). </a:t>
            </a:r>
            <a:endParaRPr lang="en-US" sz="5000" dirty="0"/>
          </a:p>
          <a:p>
            <a:r>
              <a:rPr lang="ru-RU" sz="5000" dirty="0"/>
              <a:t>Интерфейс может наследовать</a:t>
            </a:r>
            <a:r>
              <a:rPr lang="en-US" sz="5000" dirty="0"/>
              <a:t> </a:t>
            </a:r>
            <a:r>
              <a:rPr lang="ru-RU" sz="5000" dirty="0"/>
              <a:t>другие интерфейсы при</a:t>
            </a:r>
            <a:r>
              <a:rPr lang="en-US" sz="5000" dirty="0"/>
              <a:t> </a:t>
            </a:r>
            <a:r>
              <a:rPr lang="ru-RU" sz="5000" dirty="0"/>
              <a:t>помощи ключевого слова</a:t>
            </a:r>
            <a:r>
              <a:rPr lang="en-US" sz="5000" dirty="0"/>
              <a:t> 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endParaRPr lang="ru-RU" sz="5000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5000" dirty="0"/>
              <a:t>Чтобы класс применил интерфейс, надо использовать ключевое слово </a:t>
            </a:r>
            <a:r>
              <a:rPr lang="ru-RU" sz="50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ru-RU" sz="5000" dirty="0"/>
              <a:t>.</a:t>
            </a:r>
          </a:p>
          <a:p>
            <a:r>
              <a:rPr lang="ru-RU" sz="5000" dirty="0"/>
              <a:t>И один класс может применить множество интерфейсов.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435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0F33-5CC0-4B92-AE34-C1134B2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D2BF8-FE42-4FFD-B5F2-94A48D02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9450"/>
            <a:ext cx="5486400" cy="66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CFE35C-4778-4598-9437-138A2A1629E4}"/>
              </a:ext>
            </a:extLst>
          </p:cNvPr>
          <p:cNvSpPr txBox="1"/>
          <p:nvPr/>
        </p:nvSpPr>
        <p:spPr>
          <a:xfrm>
            <a:off x="3784600" y="3873500"/>
            <a:ext cx="198120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implements</a:t>
            </a:r>
            <a:endParaRPr lang="ru-RU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3C97DC2-982F-49B3-B208-B1B90B7ADDDF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3581400" y="2616896"/>
            <a:ext cx="2844800" cy="1550993"/>
          </a:xfrm>
          <a:prstGeom prst="bentConnector2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E216282-9540-4876-907D-DA036ADDD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0" y="1932685"/>
            <a:ext cx="4737583" cy="4573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907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4625-7C17-4099-8FDD-2A374983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5AFE-076E-4D58-8B3F-9976047AF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6869723" cy="42211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Наследование применяется для:</a:t>
            </a:r>
          </a:p>
          <a:p>
            <a:r>
              <a:rPr lang="ru-RU" dirty="0"/>
              <a:t>исключения из программы повторяющихся фрагментов кода;</a:t>
            </a:r>
          </a:p>
          <a:p>
            <a:r>
              <a:rPr lang="ru-RU" dirty="0"/>
              <a:t>упрощения модификации программы;</a:t>
            </a:r>
          </a:p>
          <a:p>
            <a:r>
              <a:rPr lang="ru-RU" dirty="0"/>
              <a:t>упрощения создания новых программ на основе существующих.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75B36-F5FA-487C-A2D3-122D0B72CE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09858" y="2539201"/>
            <a:ext cx="4286250" cy="2952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47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D21A-334F-4B0B-A032-71BE053C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1026" name="Picture 2" descr="Private GIF">
            <a:extLst>
              <a:ext uri="{FF2B5EF4-FFF2-40B4-BE49-F238E27FC236}">
                <a16:creationId xmlns:a16="http://schemas.microsoft.com/office/drawing/2014/main" id="{31BA9BEB-3369-43F0-8BAD-B1118677A47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657" y="1573806"/>
            <a:ext cx="61912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EC1D-4AC7-491D-98FF-FAB120090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93" y="1844469"/>
            <a:ext cx="10972800" cy="1309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Способность объекта соответствовать во время выполнения двум или более возможным типам (классам).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566769-0824-4E1B-B2B9-07362F9A1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93" y="2984456"/>
            <a:ext cx="4021015" cy="2416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8D93CD-37FB-4FC1-90D3-4DC7509F6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91" y="5662095"/>
            <a:ext cx="4449816" cy="529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D21807-0431-4C2E-B6A5-3E7C49F57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711" y="2984456"/>
            <a:ext cx="3752850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8174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D1EC-96E7-4241-A346-33D860AB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ООП в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D093-597F-4561-91EC-8ED43824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Все сущности в </a:t>
            </a:r>
            <a:r>
              <a:rPr lang="ru-RU" dirty="0" err="1"/>
              <a:t>Java</a:t>
            </a:r>
            <a:r>
              <a:rPr lang="ru-RU" dirty="0"/>
              <a:t> являются объектами, классами либо интерфейсами</a:t>
            </a:r>
          </a:p>
          <a:p>
            <a:r>
              <a:rPr lang="ru-RU" dirty="0"/>
              <a:t>Строгая реализация инкапсуляции</a:t>
            </a:r>
          </a:p>
          <a:p>
            <a:r>
              <a:rPr lang="ru-RU" dirty="0"/>
              <a:t>Реализовано одиночное наследование от класса и множественное от интерфейсов</a:t>
            </a:r>
          </a:p>
        </p:txBody>
      </p:sp>
    </p:spTree>
    <p:extLst>
      <p:ext uri="{BB962C8B-B14F-4D97-AF65-F5344CB8AC3E}">
        <p14:creationId xmlns:p14="http://schemas.microsoft.com/office/powerpoint/2010/main" val="4213203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8F4EAC-E488-4DDD-B0AE-70CBDFCB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ru-RU" dirty="0" err="1"/>
              <a:t>Object</a:t>
            </a:r>
            <a:r>
              <a:rPr lang="ru-RU" dirty="0"/>
              <a:t> и его методы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Все классы неявно наследуются от класса </a:t>
            </a:r>
            <a:r>
              <a:rPr lang="ru-RU" sz="38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ru-RU" b="1" dirty="0"/>
              <a:t>.</a:t>
            </a:r>
            <a:r>
              <a:rPr lang="ru-RU" dirty="0"/>
              <a:t> Поэтому все типы и классы могут реализовать те методы, которые определены в классе </a:t>
            </a:r>
            <a:r>
              <a:rPr 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ru-RU" dirty="0"/>
              <a:t>:</a:t>
            </a:r>
            <a:endParaRPr lang="en-US" dirty="0"/>
          </a:p>
          <a:p>
            <a:pPr marL="819136" lvl="1" indent="-285750"/>
            <a:r>
              <a:rPr lang="ru-RU" altLang="ru-RU" dirty="0">
                <a:solidFill>
                  <a:srgbClr val="244061"/>
                </a:solidFill>
              </a:rPr>
              <a:t>Метод</a:t>
            </a:r>
            <a:r>
              <a:rPr lang="ru-RU" altLang="ru-RU" dirty="0">
                <a:solidFill>
                  <a:srgbClr val="000000"/>
                </a:solidFill>
              </a:rPr>
              <a:t> </a:t>
            </a:r>
            <a:r>
              <a:rPr lang="ru-RU" alt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ru-RU" sz="3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altLang="ru-RU" dirty="0">
                <a:solidFill>
                  <a:srgbClr val="000000"/>
                </a:solidFill>
              </a:rPr>
              <a:t> </a:t>
            </a:r>
            <a:r>
              <a:rPr lang="ru-RU" altLang="ru-RU" dirty="0">
                <a:solidFill>
                  <a:srgbClr val="244061"/>
                </a:solidFill>
              </a:rPr>
              <a:t>служит для получения представления данного объекта в виде строки. </a:t>
            </a:r>
          </a:p>
          <a:p>
            <a:pPr marL="819136" lvl="1" indent="-285750"/>
            <a:r>
              <a:rPr lang="ru-RU" dirty="0"/>
              <a:t>Метод </a:t>
            </a:r>
            <a:r>
              <a:rPr 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sz="3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dirty="0"/>
              <a:t> позволяет задать некоторое числовое значение, которое будет соответствовать данному объекту или его хэш-код. По данному числу, например, можно сравнивать объекты. </a:t>
            </a:r>
            <a:endParaRPr lang="ru-RU" altLang="ru-RU" dirty="0"/>
          </a:p>
          <a:p>
            <a:pPr marL="819136" lvl="1" indent="-285750"/>
            <a:r>
              <a:rPr lang="ru-RU" dirty="0"/>
              <a:t>Метод </a:t>
            </a:r>
            <a:r>
              <a:rPr 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getClass</a:t>
            </a:r>
            <a:r>
              <a:rPr lang="en-US" sz="3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dirty="0"/>
              <a:t> позволяет получить тип данного объекта.</a:t>
            </a:r>
          </a:p>
          <a:p>
            <a:pPr marL="819136" lvl="1" indent="-285750"/>
            <a:r>
              <a:rPr lang="ru-RU" dirty="0"/>
              <a:t>Метод </a:t>
            </a:r>
            <a:r>
              <a:rPr 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lang="en-US" sz="3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dirty="0"/>
              <a:t> сравнивает два объекта на равенство. </a:t>
            </a:r>
          </a:p>
          <a:p>
            <a:pPr marL="819136" lvl="1" indent="-285750"/>
            <a:r>
              <a:rPr lang="ru-RU" dirty="0"/>
              <a:t>Оператор </a:t>
            </a:r>
            <a:r>
              <a:rPr lang="ru-RU" sz="38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3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dirty="0"/>
              <a:t> позволяет выяснить, является ли переданный в качестве параметра объект объектом определенного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2671593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2CC5-DD55-4410-A67B-745FB8C6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en-US" dirty="0" err="1"/>
              <a:t>instanceof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96FD-B378-475C-9316-FCBE3A032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4876800" cy="4191011"/>
          </a:xfrm>
        </p:spPr>
        <p:txBody>
          <a:bodyPr>
            <a:no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ru-RU" sz="2000" dirty="0"/>
              <a:t> используется для проверки, является ли объект экземпляром определенного класса или реализует ли он определенный интерфейс. </a:t>
            </a:r>
          </a:p>
          <a:p>
            <a:r>
              <a:rPr lang="ru-RU" sz="2000" dirty="0"/>
              <a:t>Оно возвращает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ru-RU" sz="2000" dirty="0"/>
              <a:t>, если проверка успешна, и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sz="2000" dirty="0"/>
              <a:t> в противном случае. </a:t>
            </a:r>
          </a:p>
          <a:p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ru-RU" sz="2000" dirty="0"/>
              <a:t> учитывает наследование, то есть, если объект является экземпляром подкласса,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ru-RU" sz="2000" dirty="0"/>
              <a:t> также вернет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ru-RU" sz="2000" dirty="0"/>
              <a:t> для родительского класса.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64159-9788-44A2-8034-BE09D3CB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423" y="2420937"/>
            <a:ext cx="6257702" cy="2754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920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1C8871-79F8-422F-BB51-585BA155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Ссылочные типы и копирование объектов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504092" y="1992923"/>
            <a:ext cx="11359662" cy="1142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500" dirty="0"/>
              <a:t>При работе с объектами классов надо учитывать, что они все представляют ссылочные типы, то есть указывают на какой-то объект, расположенный в памяти.</a:t>
            </a:r>
            <a:endParaRPr lang="en-US" sz="2500" dirty="0"/>
          </a:p>
          <a:p>
            <a:endParaRPr lang="en-US" sz="2500" dirty="0"/>
          </a:p>
          <a:p>
            <a:endParaRPr lang="ru-RU" sz="2500" dirty="0"/>
          </a:p>
          <a:p>
            <a:endParaRPr lang="ru-RU" sz="25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-1" y="6191261"/>
            <a:ext cx="9542586" cy="666740"/>
            <a:chOff x="981282" y="4792453"/>
            <a:chExt cx="10706097" cy="126682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282" y="4792454"/>
              <a:ext cx="3609975" cy="126682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9795" y="4792454"/>
              <a:ext cx="3609975" cy="126682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7404" y="4792453"/>
              <a:ext cx="3609975" cy="126682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6BBA9D-F32A-4892-B30B-9F13DB7A5133}"/>
              </a:ext>
            </a:extLst>
          </p:cNvPr>
          <p:cNvGrpSpPr/>
          <p:nvPr/>
        </p:nvGrpSpPr>
        <p:grpSpPr>
          <a:xfrm>
            <a:off x="7162801" y="6191261"/>
            <a:ext cx="5029200" cy="666743"/>
            <a:chOff x="981282" y="4792449"/>
            <a:chExt cx="5414963" cy="126683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5F83521-1FDA-476F-8505-AB64BC1A2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282" y="4792454"/>
              <a:ext cx="3609975" cy="12668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C85DE3E-E266-4E5C-A210-3F8A73CFA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6270" y="4792449"/>
              <a:ext cx="3609975" cy="1266823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52EEFBF-7F11-455C-A3C1-B7F9B770D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472" y="2969587"/>
            <a:ext cx="4043802" cy="1627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60320D-90FF-421E-8826-89F09BC19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7099" y="4449805"/>
            <a:ext cx="4103197" cy="1627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718172-8361-4448-B29B-AA487EE322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0332"/>
          <a:stretch/>
        </p:blipFill>
        <p:spPr>
          <a:xfrm>
            <a:off x="211829" y="2969587"/>
            <a:ext cx="3942092" cy="3108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17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2548-0AB7-4595-8739-6D0791DE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ru-RU" dirty="0"/>
              <a:t>пакеты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00E2A-91C9-4E66-ACC7-E92DA572C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Механизм логического объединения классов</a:t>
            </a:r>
          </a:p>
          <a:p>
            <a:r>
              <a:rPr lang="ru-RU" dirty="0"/>
              <a:t>«Библиотека», которая может распространяться независимо от других пакетов и может применяться в сочетании с другими пакетами.</a:t>
            </a:r>
          </a:p>
          <a:p>
            <a:r>
              <a:rPr lang="ru-RU" dirty="0"/>
              <a:t>В пакет входят:</a:t>
            </a:r>
          </a:p>
          <a:p>
            <a:pPr lvl="1"/>
            <a:r>
              <a:rPr lang="ru-RU" dirty="0"/>
              <a:t>Классы</a:t>
            </a:r>
          </a:p>
          <a:p>
            <a:pPr lvl="1"/>
            <a:r>
              <a:rPr lang="ru-RU" dirty="0"/>
              <a:t>Интерфейсы</a:t>
            </a:r>
          </a:p>
          <a:p>
            <a:pPr lvl="1"/>
            <a:r>
              <a:rPr lang="ru-RU" dirty="0"/>
              <a:t>Пакеты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3A241-02A2-4F8B-95B4-44222609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41" y="3902413"/>
            <a:ext cx="2652031" cy="246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28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1C44-2C52-4A4B-A42B-580C19F4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</a:t>
            </a:r>
            <a:r>
              <a:rPr lang="en-US" dirty="0"/>
              <a:t>Java </a:t>
            </a:r>
            <a:r>
              <a:rPr lang="ru-RU" dirty="0"/>
              <a:t>пакетами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F303-615A-4E21-AD73-AE1E53F7E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4989"/>
            <a:ext cx="6037385" cy="4221175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Объявление находится в самом начале файла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имя_пакета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dirty="0"/>
              <a:t>Чтобы получить доступ к типам в другом пакете,</a:t>
            </a:r>
          </a:p>
          <a:p>
            <a:pPr marL="0" indent="0">
              <a:buNone/>
            </a:pPr>
            <a:r>
              <a:rPr lang="ru-RU" dirty="0"/>
              <a:t>необходимо произвести операцию импорта.</a:t>
            </a:r>
          </a:p>
          <a:p>
            <a:pPr marL="0" indent="0">
              <a:buNone/>
            </a:pPr>
            <a:r>
              <a:rPr lang="ru-RU" dirty="0"/>
              <a:t>Например: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java.net.URL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java.net.*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CDD130-7A85-46BF-8B0B-072975A7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448" y="2600925"/>
            <a:ext cx="5322305" cy="2829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7862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1A84-02AB-47D3-8588-9178F8C4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88B2-3812-4874-B6C9-47D7829EC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1916606"/>
            <a:ext cx="5724358" cy="681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Создать иерархию классов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017354-4833-4E6A-B1A0-1A9C55B0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4405"/>
              </p:ext>
            </p:extLst>
          </p:nvPr>
        </p:nvGraphicFramePr>
        <p:xfrm>
          <a:off x="7688180" y="1693694"/>
          <a:ext cx="1721852" cy="11631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852">
                  <a:extLst>
                    <a:ext uri="{9D8B030D-6E8A-4147-A177-3AD203B41FA5}">
                      <a16:colId xmlns:a16="http://schemas.microsoft.com/office/drawing/2014/main" val="2852571903"/>
                    </a:ext>
                  </a:extLst>
                </a:gridCol>
              </a:tblGrid>
              <a:tr h="322481">
                <a:tc>
                  <a:txBody>
                    <a:bodyPr/>
                    <a:lstStyle/>
                    <a:p>
                      <a:r>
                        <a:rPr lang="en-US" sz="1400" dirty="0"/>
                        <a:t>User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47576"/>
                  </a:ext>
                </a:extLst>
              </a:tr>
              <a:tr h="452141">
                <a:tc>
                  <a:txBody>
                    <a:bodyPr/>
                    <a:lstStyle/>
                    <a:p>
                      <a:r>
                        <a:rPr lang="en-US" sz="1400" dirty="0" err="1"/>
                        <a:t>lastName</a:t>
                      </a:r>
                      <a:r>
                        <a:rPr lang="en-US" sz="1400" dirty="0"/>
                        <a:t>: String</a:t>
                      </a:r>
                    </a:p>
                    <a:p>
                      <a:r>
                        <a:rPr lang="en-US" sz="1400" dirty="0" err="1"/>
                        <a:t>firstName</a:t>
                      </a:r>
                      <a:r>
                        <a:rPr lang="en-US" sz="1400" dirty="0"/>
                        <a:t>: String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49194"/>
                  </a:ext>
                </a:extLst>
              </a:tr>
              <a:tr h="322481">
                <a:tc>
                  <a:txBody>
                    <a:bodyPr/>
                    <a:lstStyle/>
                    <a:p>
                      <a:r>
                        <a:rPr lang="en-US" sz="1400" dirty="0" err="1"/>
                        <a:t>getName</a:t>
                      </a:r>
                      <a:r>
                        <a:rPr lang="en-US" sz="1400" dirty="0"/>
                        <a:t>(): String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247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DFA56E-6719-4D7D-A579-CE8F95F69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637261"/>
              </p:ext>
            </p:extLst>
          </p:nvPr>
        </p:nvGraphicFramePr>
        <p:xfrm>
          <a:off x="7552823" y="3126802"/>
          <a:ext cx="2002589" cy="13588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2589">
                  <a:extLst>
                    <a:ext uri="{9D8B030D-6E8A-4147-A177-3AD203B41FA5}">
                      <a16:colId xmlns:a16="http://schemas.microsoft.com/office/drawing/2014/main" val="2852571903"/>
                    </a:ext>
                  </a:extLst>
                </a:gridCol>
              </a:tblGrid>
              <a:tr h="322481">
                <a:tc>
                  <a:txBody>
                    <a:bodyPr/>
                    <a:lstStyle/>
                    <a:p>
                      <a:r>
                        <a:rPr lang="en-US" sz="1400" dirty="0"/>
                        <a:t>Employee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47576"/>
                  </a:ext>
                </a:extLst>
              </a:tr>
              <a:tr h="452141">
                <a:tc>
                  <a:txBody>
                    <a:bodyPr/>
                    <a:lstStyle/>
                    <a:p>
                      <a:r>
                        <a:rPr lang="en-US" sz="1400" dirty="0" err="1"/>
                        <a:t>jobTitle</a:t>
                      </a:r>
                      <a:r>
                        <a:rPr lang="en-US" sz="1400" dirty="0"/>
                        <a:t>: String</a:t>
                      </a:r>
                    </a:p>
                    <a:p>
                      <a:r>
                        <a:rPr lang="en-US" sz="1400" dirty="0"/>
                        <a:t>salary: double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49194"/>
                  </a:ext>
                </a:extLst>
              </a:tr>
              <a:tr h="322481">
                <a:tc>
                  <a:txBody>
                    <a:bodyPr/>
                    <a:lstStyle/>
                    <a:p>
                      <a:r>
                        <a:rPr lang="en-US" sz="1400" dirty="0"/>
                        <a:t>getJobTitle(): String</a:t>
                      </a:r>
                    </a:p>
                    <a:p>
                      <a:r>
                        <a:rPr lang="en-US" sz="1400" dirty="0" err="1"/>
                        <a:t>calculateBonus</a:t>
                      </a:r>
                      <a:r>
                        <a:rPr lang="en-US" sz="1400" dirty="0"/>
                        <a:t>(): double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247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71ABC-F5D9-402C-B320-AF36C19C2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19940"/>
              </p:ext>
            </p:extLst>
          </p:nvPr>
        </p:nvGraphicFramePr>
        <p:xfrm>
          <a:off x="4511172" y="4941394"/>
          <a:ext cx="2648284" cy="1385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8284">
                  <a:extLst>
                    <a:ext uri="{9D8B030D-6E8A-4147-A177-3AD203B41FA5}">
                      <a16:colId xmlns:a16="http://schemas.microsoft.com/office/drawing/2014/main" val="2852571903"/>
                    </a:ext>
                  </a:extLst>
                </a:gridCol>
              </a:tblGrid>
              <a:tr h="322481">
                <a:tc>
                  <a:txBody>
                    <a:bodyPr/>
                    <a:lstStyle/>
                    <a:p>
                      <a:r>
                        <a:rPr lang="en-US" sz="1400" dirty="0"/>
                        <a:t>Manager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47576"/>
                  </a:ext>
                </a:extLst>
              </a:tr>
              <a:tr h="331235">
                <a:tc>
                  <a:txBody>
                    <a:bodyPr/>
                    <a:lstStyle/>
                    <a:p>
                      <a:r>
                        <a:rPr lang="en-US" sz="1400" dirty="0" err="1"/>
                        <a:t>numberOfSubordinates</a:t>
                      </a:r>
                      <a:r>
                        <a:rPr lang="en-US" sz="1400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49194"/>
                  </a:ext>
                </a:extLst>
              </a:tr>
              <a:tr h="322481">
                <a:tc>
                  <a:txBody>
                    <a:bodyPr/>
                    <a:lstStyle/>
                    <a:p>
                      <a:r>
                        <a:rPr lang="en-US" sz="1400" dirty="0" err="1"/>
                        <a:t>getNumberOfSubordinates</a:t>
                      </a:r>
                      <a:r>
                        <a:rPr lang="en-US" sz="1400" dirty="0"/>
                        <a:t>(): int</a:t>
                      </a:r>
                    </a:p>
                    <a:p>
                      <a:r>
                        <a:rPr lang="en-US" sz="1400" dirty="0" err="1"/>
                        <a:t>calculateBonus</a:t>
                      </a:r>
                      <a:r>
                        <a:rPr lang="en-US" sz="1400" dirty="0"/>
                        <a:t>(): double</a:t>
                      </a:r>
                    </a:p>
                    <a:p>
                      <a:r>
                        <a:rPr lang="en-US" sz="1400" dirty="0" err="1"/>
                        <a:t>manageProgect</a:t>
                      </a:r>
                      <a:r>
                        <a:rPr lang="en-US" sz="1400" dirty="0"/>
                        <a:t>(): void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2471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C0806A-3629-43ED-B086-3E94502C8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990341"/>
              </p:ext>
            </p:extLst>
          </p:nvPr>
        </p:nvGraphicFramePr>
        <p:xfrm>
          <a:off x="7317539" y="4941394"/>
          <a:ext cx="2473158" cy="1385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3158">
                  <a:extLst>
                    <a:ext uri="{9D8B030D-6E8A-4147-A177-3AD203B41FA5}">
                      <a16:colId xmlns:a16="http://schemas.microsoft.com/office/drawing/2014/main" val="2852571903"/>
                    </a:ext>
                  </a:extLst>
                </a:gridCol>
              </a:tblGrid>
              <a:tr h="322481">
                <a:tc>
                  <a:txBody>
                    <a:bodyPr/>
                    <a:lstStyle/>
                    <a:p>
                      <a:r>
                        <a:rPr lang="en-US" sz="1400" dirty="0"/>
                        <a:t>Developer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47576"/>
                  </a:ext>
                </a:extLst>
              </a:tr>
              <a:tr h="331235">
                <a:tc>
                  <a:txBody>
                    <a:bodyPr/>
                    <a:lstStyle/>
                    <a:p>
                      <a:r>
                        <a:rPr lang="en-US" sz="1400" dirty="0" err="1"/>
                        <a:t>programmingLanguage</a:t>
                      </a:r>
                      <a:r>
                        <a:rPr lang="en-US" sz="1400" dirty="0"/>
                        <a:t>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49194"/>
                  </a:ext>
                </a:extLst>
              </a:tr>
              <a:tr h="322481">
                <a:tc>
                  <a:txBody>
                    <a:bodyPr/>
                    <a:lstStyle/>
                    <a:p>
                      <a:r>
                        <a:rPr lang="en-US" sz="1400" dirty="0" err="1"/>
                        <a:t>getProgrammingLanguage</a:t>
                      </a:r>
                      <a:r>
                        <a:rPr lang="en-US" sz="1400" dirty="0"/>
                        <a:t>(): int</a:t>
                      </a:r>
                    </a:p>
                    <a:p>
                      <a:r>
                        <a:rPr lang="en-US" sz="1400" dirty="0" err="1"/>
                        <a:t>calculateBonus</a:t>
                      </a:r>
                      <a:r>
                        <a:rPr lang="en-US" sz="1400" dirty="0"/>
                        <a:t>(): double</a:t>
                      </a:r>
                    </a:p>
                    <a:p>
                      <a:r>
                        <a:rPr lang="en-US" sz="1400" dirty="0" err="1"/>
                        <a:t>writeCode</a:t>
                      </a:r>
                      <a:r>
                        <a:rPr lang="en-US" sz="1400" dirty="0"/>
                        <a:t>(): void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2471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EED745-8548-41C0-BEA5-9E69B97EF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434582"/>
              </p:ext>
            </p:extLst>
          </p:nvPr>
        </p:nvGraphicFramePr>
        <p:xfrm>
          <a:off x="9967161" y="4941394"/>
          <a:ext cx="2038685" cy="1166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8685">
                  <a:extLst>
                    <a:ext uri="{9D8B030D-6E8A-4147-A177-3AD203B41FA5}">
                      <a16:colId xmlns:a16="http://schemas.microsoft.com/office/drawing/2014/main" val="2852571903"/>
                    </a:ext>
                  </a:extLst>
                </a:gridCol>
              </a:tblGrid>
              <a:tr h="319605">
                <a:tc>
                  <a:txBody>
                    <a:bodyPr/>
                    <a:lstStyle/>
                    <a:p>
                      <a:r>
                        <a:rPr lang="en-US" sz="1400" dirty="0"/>
                        <a:t>Tester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147576"/>
                  </a:ext>
                </a:extLst>
              </a:tr>
              <a:tr h="32828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49194"/>
                  </a:ext>
                </a:extLst>
              </a:tr>
              <a:tr h="513539">
                <a:tc>
                  <a:txBody>
                    <a:bodyPr/>
                    <a:lstStyle/>
                    <a:p>
                      <a:r>
                        <a:rPr lang="en-US" sz="1400" dirty="0" err="1"/>
                        <a:t>calculateBonus</a:t>
                      </a:r>
                      <a:r>
                        <a:rPr lang="en-US" sz="1400" dirty="0"/>
                        <a:t>(): double</a:t>
                      </a:r>
                    </a:p>
                    <a:p>
                      <a:r>
                        <a:rPr lang="en-US" sz="1400" dirty="0" err="1"/>
                        <a:t>testCode</a:t>
                      </a:r>
                      <a:r>
                        <a:rPr lang="en-US" sz="1400" dirty="0"/>
                        <a:t>(): void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224714"/>
                  </a:ext>
                </a:extLst>
              </a:tr>
            </a:tbl>
          </a:graphicData>
        </a:graphic>
      </p:graphicFrame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3659E85-A572-40E4-B836-9585FE7CDBF1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rot="5400000" flipH="1" flipV="1">
            <a:off x="6966820" y="3354098"/>
            <a:ext cx="455791" cy="2718803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256B49D-0F08-40FB-86CD-B54519E2EACC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rot="16200000" flipV="1">
            <a:off x="8326223" y="4713498"/>
            <a:ext cx="455791" cy="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B34B9A0-120E-46F3-B91B-F6B33DB585DB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rot="16200000" flipV="1">
            <a:off x="9542415" y="3497306"/>
            <a:ext cx="455791" cy="2432386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543C2B7-C6E9-4EB9-AA08-5233CBCDB0D6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H="1" flipV="1">
            <a:off x="8549106" y="2856816"/>
            <a:ext cx="5011" cy="269986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35327"/>
      </p:ext>
    </p:extLst>
  </p:cSld>
  <p:clrMapOvr>
    <a:masterClrMapping/>
  </p:clrMapOvr>
</p:sld>
</file>

<file path=ppt/theme/theme1.xml><?xml version="1.0" encoding="utf-8"?>
<a:theme xmlns:a="http://schemas.openxmlformats.org/drawingml/2006/main" name="GIS_them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S_theme" id="{4ABA2DA3-FC12-4F6D-A63F-F49808B2745D}" vid="{ED545FA1-F0DD-4A91-AB56-FB9C25E1D6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2655081-a077-4fd9-949e-2f5d59e70d7a" Revision="1" Stencil="System.MyShapes" StencilVersion="1.0"/>
</Control>
</file>

<file path=customXml/itemProps1.xml><?xml version="1.0" encoding="utf-8"?>
<ds:datastoreItem xmlns:ds="http://schemas.openxmlformats.org/officeDocument/2006/customXml" ds:itemID="{F55705B9-9ED4-469A-A231-549B6E50306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Cuncurrency Concepts in Java</Template>
  <TotalTime>37105</TotalTime>
  <Words>3099</Words>
  <Application>Microsoft Office PowerPoint</Application>
  <PresentationFormat>Widescreen</PresentationFormat>
  <Paragraphs>325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Times New Roman</vt:lpstr>
      <vt:lpstr>GIS_theme</vt:lpstr>
      <vt:lpstr>Программирование на Java</vt:lpstr>
      <vt:lpstr>Класс</vt:lpstr>
      <vt:lpstr>Описание класса</vt:lpstr>
      <vt:lpstr>Объект</vt:lpstr>
      <vt:lpstr>Создание экземпляра класса</vt:lpstr>
      <vt:lpstr>Конструктор</vt:lpstr>
      <vt:lpstr>Ключевое слово this</vt:lpstr>
      <vt:lpstr>Модификаторы класса</vt:lpstr>
      <vt:lpstr>Поля класса</vt:lpstr>
      <vt:lpstr>Модификаторы полей класса</vt:lpstr>
      <vt:lpstr>Модификаторы доступа</vt:lpstr>
      <vt:lpstr>Методы</vt:lpstr>
      <vt:lpstr>Модификаторы метода</vt:lpstr>
      <vt:lpstr>Объекты и примитивы как параметры методов</vt:lpstr>
      <vt:lpstr>Задача</vt:lpstr>
      <vt:lpstr>Задача</vt:lpstr>
      <vt:lpstr>Задача</vt:lpstr>
      <vt:lpstr>Основные принципы ООП</vt:lpstr>
      <vt:lpstr>Инкапсуляция</vt:lpstr>
      <vt:lpstr>Инкапсуляция</vt:lpstr>
      <vt:lpstr>Наследование</vt:lpstr>
      <vt:lpstr>Проблема наследования</vt:lpstr>
      <vt:lpstr>Интерфейсы</vt:lpstr>
      <vt:lpstr>Интерфейс</vt:lpstr>
      <vt:lpstr>Наследование</vt:lpstr>
      <vt:lpstr>Полиморфизм</vt:lpstr>
      <vt:lpstr>Реализация ООП в Java</vt:lpstr>
      <vt:lpstr>Класс Object и его методы</vt:lpstr>
      <vt:lpstr>Ключевое слово instanceof</vt:lpstr>
      <vt:lpstr>Ссылочные типы и копирование объектов</vt:lpstr>
      <vt:lpstr>Java пакеты</vt:lpstr>
      <vt:lpstr>Работа с Java пакетами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Filinskikh, Yulia</dc:creator>
  <cp:lastModifiedBy>Yulia Filinskikh</cp:lastModifiedBy>
  <cp:revision>173</cp:revision>
  <dcterms:created xsi:type="dcterms:W3CDTF">2019-02-08T07:13:25Z</dcterms:created>
  <dcterms:modified xsi:type="dcterms:W3CDTF">2025-07-17T18:17:44Z</dcterms:modified>
</cp:coreProperties>
</file>