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9" r:id="rId3"/>
    <p:sldId id="258" r:id="rId4"/>
    <p:sldId id="260" r:id="rId5"/>
    <p:sldId id="261" r:id="rId6"/>
    <p:sldId id="263" r:id="rId7"/>
    <p:sldId id="262" r:id="rId8"/>
    <p:sldId id="264" r:id="rId9"/>
    <p:sldId id="257" r:id="rId10"/>
    <p:sldId id="265" r:id="rId11"/>
    <p:sldId id="269" r:id="rId12"/>
    <p:sldId id="270" r:id="rId13"/>
    <p:sldId id="271" r:id="rId14"/>
    <p:sldId id="272" r:id="rId15"/>
    <p:sldId id="273" r:id="rId16"/>
    <p:sldId id="274" r:id="rId17"/>
    <p:sldId id="280" r:id="rId18"/>
    <p:sldId id="275" r:id="rId19"/>
    <p:sldId id="276" r:id="rId20"/>
    <p:sldId id="266" r:id="rId21"/>
    <p:sldId id="291" r:id="rId22"/>
    <p:sldId id="284" r:id="rId23"/>
    <p:sldId id="292" r:id="rId24"/>
    <p:sldId id="283" r:id="rId25"/>
    <p:sldId id="285" r:id="rId26"/>
    <p:sldId id="293" r:id="rId27"/>
    <p:sldId id="286" r:id="rId28"/>
    <p:sldId id="287" r:id="rId29"/>
    <p:sldId id="288" r:id="rId30"/>
    <p:sldId id="289" r:id="rId31"/>
    <p:sldId id="290" r:id="rId32"/>
    <p:sldId id="267" r:id="rId33"/>
    <p:sldId id="268" r:id="rId34"/>
    <p:sldId id="277" r:id="rId35"/>
    <p:sldId id="278" r:id="rId36"/>
    <p:sldId id="281" r:id="rId37"/>
    <p:sldId id="279" r:id="rId3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386" autoAdjust="0"/>
  </p:normalViewPr>
  <p:slideViewPr>
    <p:cSldViewPr snapToGrid="0">
      <p:cViewPr varScale="1">
        <p:scale>
          <a:sx n="81" d="100"/>
          <a:sy n="81" d="100"/>
        </p:scale>
        <p:origin x="16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2BF2A-B763-41BD-B0A3-9A3E867C0B7D}" type="datetimeFigureOut">
              <a:rPr lang="ru-RU" smtClean="0"/>
              <a:t>11.07.2025</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4B684-8AB7-403C-9E68-1BD1028EDF33}" type="slidenum">
              <a:rPr lang="ru-RU" smtClean="0"/>
              <a:t>‹#›</a:t>
            </a:fld>
            <a:endParaRPr lang="ru-RU"/>
          </a:p>
        </p:txBody>
      </p:sp>
    </p:spTree>
    <p:extLst>
      <p:ext uri="{BB962C8B-B14F-4D97-AF65-F5344CB8AC3E}">
        <p14:creationId xmlns:p14="http://schemas.microsoft.com/office/powerpoint/2010/main" val="4275676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oracle.com/javase/tutorial/uiswing/components/tabbedpane.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1</a:t>
            </a:fld>
            <a:endParaRPr lang="ru-RU"/>
          </a:p>
        </p:txBody>
      </p:sp>
    </p:spTree>
    <p:extLst>
      <p:ext uri="{BB962C8B-B14F-4D97-AF65-F5344CB8AC3E}">
        <p14:creationId xmlns:p14="http://schemas.microsoft.com/office/powerpoint/2010/main" val="239101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Приложение – это не только программный код. При написании любой программы необходимо позаботиться о так называемом графическом интерфейсе. Говоря простыми словами – то, как будет выглядеть контент.</a:t>
            </a:r>
          </a:p>
          <a:p>
            <a:endParaRPr lang="ru-RU" dirty="0"/>
          </a:p>
          <a:p>
            <a:r>
              <a:rPr lang="ru-RU" dirty="0"/>
              <a:t>Программное обеспечение создается для того, чтобы им могли пользоваться не только опытные </a:t>
            </a:r>
            <a:r>
              <a:rPr lang="ru-RU" dirty="0" err="1"/>
              <a:t>программеры</a:t>
            </a:r>
            <a:r>
              <a:rPr lang="ru-RU" dirty="0"/>
              <a:t>, но и обычные ПК пользователи. Поэтому графическая составляющая при </a:t>
            </a:r>
            <a:r>
              <a:rPr lang="ru-RU" dirty="0" err="1"/>
              <a:t>коддинге</a:t>
            </a:r>
            <a:r>
              <a:rPr lang="ru-RU" dirty="0"/>
              <a:t> крайне важна. Для ее реализации в языках программирования есть библиотеки, а также дополнительные утилиты.</a:t>
            </a:r>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2</a:t>
            </a:fld>
            <a:endParaRPr lang="ru-RU"/>
          </a:p>
        </p:txBody>
      </p:sp>
    </p:spTree>
    <p:extLst>
      <p:ext uri="{BB962C8B-B14F-4D97-AF65-F5344CB8AC3E}">
        <p14:creationId xmlns:p14="http://schemas.microsoft.com/office/powerpoint/2010/main" val="455813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Пользовательский интерфейс на </a:t>
            </a:r>
            <a:r>
              <a:rPr lang="ru-RU" dirty="0" err="1"/>
              <a:t>Java</a:t>
            </a:r>
            <a:r>
              <a:rPr lang="ru-RU" dirty="0"/>
              <a:t> прошел весьма тернистый путь становления и развития. Долгое время его обвиняли в медленной работе, жадности к ресурсам системы, ограниченной функциональности. Появление .NET с более быстрыми графическими компонентами еще больше пошатнуло позиции </a:t>
            </a:r>
            <a:r>
              <a:rPr lang="ru-RU" dirty="0" err="1"/>
              <a:t>Java</a:t>
            </a:r>
            <a:r>
              <a:rPr lang="ru-RU" dirty="0"/>
              <a:t>. Но нет худа без добра — все эта движуха только подстегивала разработчиков </a:t>
            </a:r>
            <a:r>
              <a:rPr lang="ru-RU" dirty="0" err="1"/>
              <a:t>Java</a:t>
            </a:r>
            <a:r>
              <a:rPr lang="ru-RU" dirty="0"/>
              <a:t> к развитию и улучшению графических библиотек. Посмотрим, что из этого получилось.</a:t>
            </a:r>
          </a:p>
        </p:txBody>
      </p:sp>
      <p:sp>
        <p:nvSpPr>
          <p:cNvPr id="4" name="Slide Number Placeholder 3"/>
          <p:cNvSpPr>
            <a:spLocks noGrp="1"/>
          </p:cNvSpPr>
          <p:nvPr>
            <p:ph type="sldNum" sz="quarter" idx="5"/>
          </p:nvPr>
        </p:nvSpPr>
        <p:spPr/>
        <p:txBody>
          <a:bodyPr/>
          <a:lstStyle/>
          <a:p>
            <a:fld id="{E834B684-8AB7-403C-9E68-1BD1028EDF33}" type="slidenum">
              <a:rPr lang="ru-RU" smtClean="0"/>
              <a:t>3</a:t>
            </a:fld>
            <a:endParaRPr lang="ru-RU"/>
          </a:p>
        </p:txBody>
      </p:sp>
    </p:spTree>
    <p:extLst>
      <p:ext uri="{BB962C8B-B14F-4D97-AF65-F5344CB8AC3E}">
        <p14:creationId xmlns:p14="http://schemas.microsoft.com/office/powerpoint/2010/main" val="2292695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AWT была первой попыткой </a:t>
            </a:r>
            <a:r>
              <a:rPr lang="ru-RU" dirty="0" err="1"/>
              <a:t>Sun</a:t>
            </a:r>
            <a:r>
              <a:rPr lang="ru-RU" dirty="0"/>
              <a:t> создать графический интерфейс для </a:t>
            </a:r>
            <a:r>
              <a:rPr lang="ru-RU" dirty="0" err="1"/>
              <a:t>Java</a:t>
            </a:r>
            <a:r>
              <a:rPr lang="ru-RU" dirty="0"/>
              <a:t>. Они пошли легким путем и просто сделали прослойку на </a:t>
            </a:r>
            <a:r>
              <a:rPr lang="ru-RU" dirty="0" err="1"/>
              <a:t>Java</a:t>
            </a:r>
            <a:r>
              <a:rPr lang="ru-RU" dirty="0"/>
              <a:t>, которая вызывает методы из библиотек, написанных на С. Библиотечные методы создают и используют графические компоненты операционной среды. С одной стороны, это хорошо, так как программа на </a:t>
            </a:r>
            <a:r>
              <a:rPr lang="ru-RU" dirty="0" err="1"/>
              <a:t>Java</a:t>
            </a:r>
            <a:r>
              <a:rPr lang="ru-RU" dirty="0"/>
              <a:t> похожа на остальные программы в рамках данной ОС. Но с другой стороны, нет никакой гарантии, что различия в размерах компонентов и шрифтах не испортят внешний вид программы при запуске ее на другой платформе. Кроме того, чтобы обеспечить </a:t>
            </a:r>
            <a:r>
              <a:rPr lang="ru-RU" dirty="0" err="1"/>
              <a:t>мультиплатформенность</a:t>
            </a:r>
            <a:r>
              <a:rPr lang="ru-RU" dirty="0"/>
              <a:t>, пришлось унифицировать интерфейсы вызовов компонентов, из-за чего их функциональность получилась немного урезанной. Да и набор компонентов получился довольно небольшой. К примеру, в AWT нет таблиц, а в кнопках не поддерживается отображение иконок.</a:t>
            </a:r>
          </a:p>
          <a:p>
            <a:endParaRPr lang="ru-RU" dirty="0"/>
          </a:p>
          <a:p>
            <a:r>
              <a:rPr lang="ru-RU" dirty="0"/>
              <a:t>Использованные ресурсы AWT старается освобождать автоматически. Это немного усложняет архитектуру и влияет на производительность. Освоить AWT довольно просто, но написать что-то сложное будет несколько затруднительно. В настоящее время AWT используется крайне редко — в основном в старых проектах и апплетах. </a:t>
            </a:r>
          </a:p>
        </p:txBody>
      </p:sp>
      <p:sp>
        <p:nvSpPr>
          <p:cNvPr id="4" name="Slide Number Placeholder 3"/>
          <p:cNvSpPr>
            <a:spLocks noGrp="1"/>
          </p:cNvSpPr>
          <p:nvPr>
            <p:ph type="sldNum" sz="quarter" idx="5"/>
          </p:nvPr>
        </p:nvSpPr>
        <p:spPr/>
        <p:txBody>
          <a:bodyPr/>
          <a:lstStyle/>
          <a:p>
            <a:fld id="{E834B684-8AB7-403C-9E68-1BD1028EDF33}" type="slidenum">
              <a:rPr lang="ru-RU" smtClean="0"/>
              <a:t>4</a:t>
            </a:fld>
            <a:endParaRPr lang="ru-RU"/>
          </a:p>
        </p:txBody>
      </p:sp>
    </p:spTree>
    <p:extLst>
      <p:ext uri="{BB962C8B-B14F-4D97-AF65-F5344CB8AC3E}">
        <p14:creationId xmlns:p14="http://schemas.microsoft.com/office/powerpoint/2010/main" val="272480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Вслед за AWT </a:t>
            </a:r>
            <a:r>
              <a:rPr lang="ru-RU" dirty="0" err="1"/>
              <a:t>Sun</a:t>
            </a:r>
            <a:r>
              <a:rPr lang="ru-RU" dirty="0"/>
              <a:t> разработала набор графических компонентов под названием </a:t>
            </a:r>
            <a:r>
              <a:rPr lang="ru-RU" dirty="0" err="1"/>
              <a:t>Swing</a:t>
            </a:r>
            <a:r>
              <a:rPr lang="ru-RU" dirty="0"/>
              <a:t>. Компоненты </a:t>
            </a:r>
            <a:r>
              <a:rPr lang="ru-RU" dirty="0" err="1"/>
              <a:t>Swing</a:t>
            </a:r>
            <a:r>
              <a:rPr lang="ru-RU" dirty="0"/>
              <a:t> полностью написаны на </a:t>
            </a:r>
            <a:r>
              <a:rPr lang="ru-RU" dirty="0" err="1"/>
              <a:t>Java</a:t>
            </a:r>
            <a:r>
              <a:rPr lang="ru-RU" dirty="0"/>
              <a:t>. Для отрисовки используется 2D, что принесло с собой сразу несколько преимуществ. Набор стандартных компонентов значительно превосходит AWT по разнообразию и функциональности. Стало легко создавать новые компоненты, наследуясь от существующих и рисуя все, что душе угодно. Стала возможной поддержка различных стилей и </a:t>
            </a:r>
            <a:r>
              <a:rPr lang="ru-RU" dirty="0" err="1"/>
              <a:t>скинов</a:t>
            </a:r>
            <a:r>
              <a:rPr lang="ru-RU" dirty="0"/>
              <a:t>. Вместе с тем скорость работы первых версий </a:t>
            </a:r>
            <a:r>
              <a:rPr lang="ru-RU" dirty="0" err="1"/>
              <a:t>Swing</a:t>
            </a:r>
            <a:r>
              <a:rPr lang="ru-RU" dirty="0"/>
              <a:t> оставляла желать лучшего. Некорректно написанная программа и вовсе могла повесить </a:t>
            </a:r>
            <a:r>
              <a:rPr lang="ru-RU" dirty="0" err="1"/>
              <a:t>винду</a:t>
            </a:r>
            <a:r>
              <a:rPr lang="ru-RU" dirty="0"/>
              <a:t> намертво.</a:t>
            </a:r>
          </a:p>
          <a:p>
            <a:endParaRPr lang="ru-RU" dirty="0"/>
          </a:p>
          <a:p>
            <a:r>
              <a:rPr lang="ru-RU" dirty="0"/>
              <a:t>Тем не менее благодаря простоте использования, богатой документации и гибкости компонентов </a:t>
            </a:r>
            <a:r>
              <a:rPr lang="ru-RU" dirty="0" err="1"/>
              <a:t>Swing</a:t>
            </a:r>
            <a:r>
              <a:rPr lang="ru-RU" dirty="0"/>
              <a:t> стал, пожалуй, самым популярным графическим фреймворком в </a:t>
            </a:r>
            <a:r>
              <a:rPr lang="ru-RU" dirty="0" err="1"/>
              <a:t>Java</a:t>
            </a:r>
            <a:r>
              <a:rPr lang="ru-RU" dirty="0"/>
              <a:t>. На его базе появилось много расширений, таких как </a:t>
            </a:r>
            <a:r>
              <a:rPr lang="ru-RU" dirty="0" err="1"/>
              <a:t>SwingX</a:t>
            </a:r>
            <a:r>
              <a:rPr lang="ru-RU" dirty="0"/>
              <a:t>, </a:t>
            </a:r>
            <a:r>
              <a:rPr lang="ru-RU" dirty="0" err="1"/>
              <a:t>JGoodies</a:t>
            </a:r>
            <a:r>
              <a:rPr lang="ru-RU" dirty="0"/>
              <a:t>, которые значительно упрощают создание сложных пользовательских интерфейсов. Практически все популярные среды программирования </a:t>
            </a:r>
            <a:r>
              <a:rPr lang="ru-RU" dirty="0" err="1"/>
              <a:t>Java</a:t>
            </a:r>
            <a:r>
              <a:rPr lang="ru-RU" dirty="0"/>
              <a:t> включают графические редакторы для </a:t>
            </a:r>
            <a:r>
              <a:rPr lang="ru-RU" dirty="0" err="1"/>
              <a:t>Swing</a:t>
            </a:r>
            <a:r>
              <a:rPr lang="ru-RU" dirty="0"/>
              <a:t>-форм. Поэтому разобраться и начать использовать </a:t>
            </a:r>
            <a:r>
              <a:rPr lang="ru-RU" dirty="0" err="1"/>
              <a:t>Swing</a:t>
            </a:r>
            <a:r>
              <a:rPr lang="ru-RU" dirty="0"/>
              <a:t> не составит особого труда.</a:t>
            </a:r>
          </a:p>
        </p:txBody>
      </p:sp>
      <p:sp>
        <p:nvSpPr>
          <p:cNvPr id="4" name="Slide Number Placeholder 3"/>
          <p:cNvSpPr>
            <a:spLocks noGrp="1"/>
          </p:cNvSpPr>
          <p:nvPr>
            <p:ph type="sldNum" sz="quarter" idx="5"/>
          </p:nvPr>
        </p:nvSpPr>
        <p:spPr/>
        <p:txBody>
          <a:bodyPr/>
          <a:lstStyle/>
          <a:p>
            <a:fld id="{E834B684-8AB7-403C-9E68-1BD1028EDF33}" type="slidenum">
              <a:rPr lang="ru-RU" smtClean="0"/>
              <a:t>5</a:t>
            </a:fld>
            <a:endParaRPr lang="ru-RU"/>
          </a:p>
        </p:txBody>
      </p:sp>
    </p:spTree>
    <p:extLst>
      <p:ext uri="{BB962C8B-B14F-4D97-AF65-F5344CB8AC3E}">
        <p14:creationId xmlns:p14="http://schemas.microsoft.com/office/powerpoint/2010/main" val="1317383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SWT был разработан в компании IBM в те времена, когда </a:t>
            </a:r>
            <a:r>
              <a:rPr lang="ru-RU" dirty="0" err="1"/>
              <a:t>Swing</a:t>
            </a:r>
            <a:r>
              <a:rPr lang="ru-RU" dirty="0"/>
              <a:t> еще был медленным, и сделано это было в основном для продвижения среды программирования </a:t>
            </a:r>
            <a:r>
              <a:rPr lang="ru-RU" dirty="0" err="1"/>
              <a:t>Eclipse</a:t>
            </a:r>
            <a:r>
              <a:rPr lang="ru-RU" dirty="0"/>
              <a:t>. SWT, как и AWT, использует компоненты операционной системы, но для каждой платформы у него созданы свои интерфейсы взаимодействия. Так что для каждой новой системы тебе придется поставлять отдельную JAR-библиотеку с подходящей версией SWT. Это позволило более полно использовать существующие функции компонентов на каждой оси. Недостающие функции и компоненты были реализованы с помощью 2D, как в </a:t>
            </a:r>
            <a:r>
              <a:rPr lang="ru-RU" dirty="0" err="1"/>
              <a:t>Swing</a:t>
            </a:r>
            <a:r>
              <a:rPr lang="ru-RU" dirty="0"/>
              <a:t>. У SWT есть много приверженцев, но, положа руку на сердце, нельзя не согласиться, что получилось не так все просто, как хотелось бы. Новичку придется затратить на изучение SWT намного больше времени, чем на знакомство с тем же </a:t>
            </a:r>
            <a:r>
              <a:rPr lang="ru-RU" dirty="0" err="1"/>
              <a:t>Swing</a:t>
            </a:r>
            <a:r>
              <a:rPr lang="ru-RU" dirty="0"/>
              <a:t>. Кроме того, SWT возлагает задачу освобождения ресурсов на программиста, в связи с чем ему нужно быть особенно внимательным при написании кода, чтобы случайное исключение не привело к утечкам памяти.</a:t>
            </a:r>
          </a:p>
        </p:txBody>
      </p:sp>
      <p:sp>
        <p:nvSpPr>
          <p:cNvPr id="4" name="Slide Number Placeholder 3"/>
          <p:cNvSpPr>
            <a:spLocks noGrp="1"/>
          </p:cNvSpPr>
          <p:nvPr>
            <p:ph type="sldNum" sz="quarter" idx="5"/>
          </p:nvPr>
        </p:nvSpPr>
        <p:spPr/>
        <p:txBody>
          <a:bodyPr/>
          <a:lstStyle/>
          <a:p>
            <a:fld id="{E834B684-8AB7-403C-9E68-1BD1028EDF33}" type="slidenum">
              <a:rPr lang="ru-RU" smtClean="0"/>
              <a:t>6</a:t>
            </a:fld>
            <a:endParaRPr lang="ru-RU"/>
          </a:p>
        </p:txBody>
      </p:sp>
    </p:spTree>
    <p:extLst>
      <p:ext uri="{BB962C8B-B14F-4D97-AF65-F5344CB8AC3E}">
        <p14:creationId xmlns:p14="http://schemas.microsoft.com/office/powerpoint/2010/main" val="943048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err="1">
                <a:solidFill>
                  <a:schemeClr val="tx1"/>
                </a:solidFill>
                <a:effectLst/>
                <a:latin typeface="+mn-lt"/>
                <a:ea typeface="+mn-ea"/>
                <a:cs typeface="+mn-cs"/>
              </a:rPr>
              <a:t>JavaFX</a:t>
            </a:r>
            <a:r>
              <a:rPr lang="ru-RU" sz="1200" b="0" i="0" kern="1200" dirty="0">
                <a:solidFill>
                  <a:schemeClr val="tx1"/>
                </a:solidFill>
                <a:effectLst/>
                <a:latin typeface="+mn-lt"/>
                <a:ea typeface="+mn-ea"/>
                <a:cs typeface="+mn-cs"/>
              </a:rPr>
              <a:t> можно без преувеличения назвать прорывом. Для отрисовки используется графический конвейер, что значительно ускоряет работу приложения. Набор встроенных компонентов обширен, есть даже отдельные компоненты для отрисовки графиков. Реализована поддержка мультимедийного контента, множества эффектов отображения, анимации и даже </a:t>
            </a:r>
            <a:r>
              <a:rPr lang="ru-RU" sz="1200" b="0" i="0" kern="1200" dirty="0" err="1">
                <a:solidFill>
                  <a:schemeClr val="tx1"/>
                </a:solidFill>
                <a:effectLst/>
                <a:latin typeface="+mn-lt"/>
                <a:ea typeface="+mn-ea"/>
                <a:cs typeface="+mn-cs"/>
              </a:rPr>
              <a:t>мультитач</a:t>
            </a:r>
            <a:r>
              <a:rPr lang="ru-RU" sz="1200" b="0" i="0" kern="1200" dirty="0">
                <a:solidFill>
                  <a:schemeClr val="tx1"/>
                </a:solidFill>
                <a:effectLst/>
                <a:latin typeface="+mn-lt"/>
                <a:ea typeface="+mn-ea"/>
                <a:cs typeface="+mn-cs"/>
              </a:rPr>
              <a:t>. Внешний вид всех компонентов можно легко изменить с помощью CSS-стилей. И самое прекрасное — в </a:t>
            </a:r>
            <a:r>
              <a:rPr lang="ru-RU" sz="1200" b="0" i="0" kern="1200" dirty="0" err="1">
                <a:solidFill>
                  <a:schemeClr val="tx1"/>
                </a:solidFill>
                <a:effectLst/>
                <a:latin typeface="+mn-lt"/>
                <a:ea typeface="+mn-ea"/>
                <a:cs typeface="+mn-cs"/>
              </a:rPr>
              <a:t>JavaFX</a:t>
            </a:r>
            <a:r>
              <a:rPr lang="ru-RU" sz="1200" b="0" i="0" kern="1200" dirty="0">
                <a:solidFill>
                  <a:schemeClr val="tx1"/>
                </a:solidFill>
                <a:effectLst/>
                <a:latin typeface="+mn-lt"/>
                <a:ea typeface="+mn-ea"/>
                <a:cs typeface="+mn-cs"/>
              </a:rPr>
              <a:t> входит набор утилит, которые позволяют сделать родной инсталлятор для самых популярных платформ: </a:t>
            </a:r>
            <a:r>
              <a:rPr lang="ru-RU" sz="1200" b="0" i="0" kern="1200" dirty="0" err="1">
                <a:solidFill>
                  <a:schemeClr val="tx1"/>
                </a:solidFill>
                <a:effectLst/>
                <a:latin typeface="+mn-lt"/>
                <a:ea typeface="+mn-ea"/>
                <a:cs typeface="+mn-cs"/>
              </a:rPr>
              <a:t>exe</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msi</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Windows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deb</a:t>
            </a:r>
            <a:r>
              <a:rPr lang="ru-RU" sz="1200" b="0" i="0" kern="1200" dirty="0">
                <a:solidFill>
                  <a:schemeClr val="tx1"/>
                </a:solidFill>
                <a:effectLst/>
                <a:latin typeface="+mn-lt"/>
                <a:ea typeface="+mn-ea"/>
                <a:cs typeface="+mn-cs"/>
              </a:rPr>
              <a:t> или </a:t>
            </a:r>
            <a:r>
              <a:rPr lang="ru-RU" sz="1200" b="0" i="0" kern="1200" dirty="0" err="1">
                <a:solidFill>
                  <a:schemeClr val="tx1"/>
                </a:solidFill>
                <a:effectLst/>
                <a:latin typeface="+mn-lt"/>
                <a:ea typeface="+mn-ea"/>
                <a:cs typeface="+mn-cs"/>
              </a:rPr>
              <a:t>rpm</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Linux</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dmg</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Mac</a:t>
            </a:r>
            <a:r>
              <a:rPr lang="ru-RU" sz="1200" b="0" i="0" kern="1200" dirty="0">
                <a:solidFill>
                  <a:schemeClr val="tx1"/>
                </a:solidFill>
                <a:effectLst/>
                <a:latin typeface="+mn-lt"/>
                <a:ea typeface="+mn-ea"/>
                <a:cs typeface="+mn-cs"/>
              </a:rPr>
              <a:t>. На сайте </a:t>
            </a:r>
            <a:r>
              <a:rPr lang="ru-RU" sz="1200" b="0" i="0" kern="1200" dirty="0" err="1">
                <a:solidFill>
                  <a:schemeClr val="tx1"/>
                </a:solidFill>
                <a:effectLst/>
                <a:latin typeface="+mn-lt"/>
                <a:ea typeface="+mn-ea"/>
                <a:cs typeface="+mn-cs"/>
              </a:rPr>
              <a:t>Oracle</a:t>
            </a:r>
            <a:r>
              <a:rPr lang="ru-RU" sz="1200" b="0" i="0" kern="1200" dirty="0">
                <a:solidFill>
                  <a:schemeClr val="tx1"/>
                </a:solidFill>
                <a:effectLst/>
                <a:latin typeface="+mn-lt"/>
                <a:ea typeface="+mn-ea"/>
                <a:cs typeface="+mn-cs"/>
              </a:rPr>
              <a:t> можно найти подробную документацию и огромное количество готовых примеров. Это превращает программирование с </a:t>
            </a:r>
            <a:r>
              <a:rPr lang="ru-RU" sz="1200" b="0" i="0" kern="1200" dirty="0" err="1">
                <a:solidFill>
                  <a:schemeClr val="tx1"/>
                </a:solidFill>
                <a:effectLst/>
                <a:latin typeface="+mn-lt"/>
                <a:ea typeface="+mn-ea"/>
                <a:cs typeface="+mn-cs"/>
              </a:rPr>
              <a:t>JavaFX</a:t>
            </a:r>
            <a:r>
              <a:rPr lang="ru-RU" sz="1200" b="0" i="0" kern="1200" dirty="0">
                <a:solidFill>
                  <a:schemeClr val="tx1"/>
                </a:solidFill>
                <a:effectLst/>
                <a:latin typeface="+mn-lt"/>
                <a:ea typeface="+mn-ea"/>
                <a:cs typeface="+mn-cs"/>
              </a:rPr>
              <a:t> в легкое и приятное занятие.</a:t>
            </a:r>
            <a:endParaRPr lang="en-US" sz="1200" b="0" i="0" kern="1200" dirty="0">
              <a:solidFill>
                <a:schemeClr val="tx1"/>
              </a:solidFill>
              <a:effectLst/>
              <a:latin typeface="+mn-lt"/>
              <a:ea typeface="+mn-ea"/>
              <a:cs typeface="+mn-cs"/>
            </a:endParaRPr>
          </a:p>
          <a:p>
            <a:endParaRPr lang="en-US" dirty="0"/>
          </a:p>
          <a:p>
            <a:r>
              <a:rPr lang="ru-RU" dirty="0"/>
              <a:t>Хотя </a:t>
            </a:r>
            <a:r>
              <a:rPr lang="ru-RU" dirty="0" err="1"/>
              <a:t>Oracle</a:t>
            </a:r>
            <a:r>
              <a:rPr lang="ru-RU" dirty="0"/>
              <a:t> и старается продвигать </a:t>
            </a:r>
            <a:r>
              <a:rPr lang="ru-RU" dirty="0" err="1"/>
              <a:t>JavaFX</a:t>
            </a:r>
            <a:r>
              <a:rPr lang="ru-RU" dirty="0"/>
              <a:t>, на сегодняшний день </a:t>
            </a:r>
            <a:r>
              <a:rPr lang="ru-RU" dirty="0" err="1"/>
              <a:t>Swing</a:t>
            </a:r>
            <a:r>
              <a:rPr lang="ru-RU" dirty="0"/>
              <a:t> остается самым популярным фреймворком для создания пользовательских интерфейсов на </a:t>
            </a:r>
            <a:r>
              <a:rPr lang="ru-RU" dirty="0" err="1"/>
              <a:t>Java</a:t>
            </a:r>
            <a:r>
              <a:rPr lang="ru-RU" dirty="0"/>
              <a:t>.</a:t>
            </a:r>
          </a:p>
        </p:txBody>
      </p:sp>
      <p:sp>
        <p:nvSpPr>
          <p:cNvPr id="4" name="Slide Number Placeholder 3"/>
          <p:cNvSpPr>
            <a:spLocks noGrp="1"/>
          </p:cNvSpPr>
          <p:nvPr>
            <p:ph type="sldNum" sz="quarter" idx="5"/>
          </p:nvPr>
        </p:nvSpPr>
        <p:spPr/>
        <p:txBody>
          <a:bodyPr/>
          <a:lstStyle/>
          <a:p>
            <a:fld id="{E834B684-8AB7-403C-9E68-1BD1028EDF33}" type="slidenum">
              <a:rPr lang="ru-RU" smtClean="0"/>
              <a:t>7</a:t>
            </a:fld>
            <a:endParaRPr lang="ru-RU"/>
          </a:p>
        </p:txBody>
      </p:sp>
    </p:spTree>
    <p:extLst>
      <p:ext uri="{BB962C8B-B14F-4D97-AF65-F5344CB8AC3E}">
        <p14:creationId xmlns:p14="http://schemas.microsoft.com/office/powerpoint/2010/main" val="517288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Каждый компонент перед выводом на экран, помещается в контейнер. Контейнер знает, как поместить компоненты на экран. В языке </a:t>
            </a:r>
            <a:r>
              <a:rPr lang="ru-RU" dirty="0" err="1"/>
              <a:t>Java</a:t>
            </a:r>
            <a:r>
              <a:rPr lang="ru-RU" dirty="0"/>
              <a:t> контейнер – это объект класса </a:t>
            </a:r>
            <a:r>
              <a:rPr lang="ru-RU" dirty="0" err="1"/>
              <a:t>Container</a:t>
            </a:r>
            <a:r>
              <a:rPr lang="ru-RU" dirty="0"/>
              <a:t> или всякого его расширения.</a:t>
            </a:r>
            <a:r>
              <a:rPr lang="en-US" dirty="0"/>
              <a:t> </a:t>
            </a:r>
            <a:r>
              <a:rPr lang="ru-RU" sz="1200" b="0" strike="noStrike" spc="-1" dirty="0">
                <a:solidFill>
                  <a:schemeClr val="dk1"/>
                </a:solidFill>
                <a:latin typeface="+mn-lt"/>
              </a:rPr>
              <a:t>Прямой наследник этого класса – класс </a:t>
            </a:r>
            <a:r>
              <a:rPr lang="ru-RU" sz="1200" b="0" strike="noStrike" spc="-1" dirty="0" err="1">
                <a:solidFill>
                  <a:schemeClr val="dk1"/>
                </a:solidFill>
                <a:latin typeface="+mn-lt"/>
              </a:rPr>
              <a:t>JComponent</a:t>
            </a:r>
            <a:r>
              <a:rPr lang="ru-RU" sz="1200" b="0" strike="noStrike" spc="-1" dirty="0">
                <a:solidFill>
                  <a:schemeClr val="dk1"/>
                </a:solidFill>
                <a:latin typeface="+mn-lt"/>
              </a:rPr>
              <a:t> – вершина иерархии многих компонентов библиотеки </a:t>
            </a:r>
            <a:r>
              <a:rPr lang="ru-RU" sz="1200" b="0" strike="noStrike" spc="-1" dirty="0" err="1">
                <a:solidFill>
                  <a:schemeClr val="dk1"/>
                </a:solidFill>
                <a:latin typeface="+mn-lt"/>
              </a:rPr>
              <a:t>Swing</a:t>
            </a:r>
            <a:r>
              <a:rPr lang="ru-RU" sz="1200" b="0" strike="noStrike" spc="-1" dirty="0">
                <a:solidFill>
                  <a:schemeClr val="dk1"/>
                </a:solidFill>
                <a:latin typeface="+mn-lt"/>
              </a:rPr>
              <a:t>.</a:t>
            </a:r>
            <a:endParaRPr lang="en-US" sz="1200" b="0" strike="noStrike" spc="-1" dirty="0">
              <a:solidFill>
                <a:schemeClr val="dk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chemeClr val="dk1"/>
                </a:solidFill>
                <a:latin typeface="+mn-lt"/>
              </a:rPr>
              <a:t>Класс </a:t>
            </a:r>
            <a:r>
              <a:rPr lang="ru-RU" sz="1200" b="0" strike="noStrike" spc="-1" dirty="0" err="1">
                <a:solidFill>
                  <a:schemeClr val="dk1"/>
                </a:solidFill>
                <a:latin typeface="+mn-lt"/>
              </a:rPr>
              <a:t>Container</a:t>
            </a:r>
            <a:r>
              <a:rPr lang="ru-RU" sz="1200" b="0" strike="noStrike" spc="-1" dirty="0">
                <a:solidFill>
                  <a:schemeClr val="dk1"/>
                </a:solidFill>
                <a:latin typeface="+mn-lt"/>
              </a:rPr>
              <a:t> сам является невидимым компонентом, он расширяет класс </a:t>
            </a:r>
            <a:r>
              <a:rPr lang="ru-RU" sz="1200" b="0" strike="noStrike" spc="-1" dirty="0" err="1">
                <a:solidFill>
                  <a:schemeClr val="dk1"/>
                </a:solidFill>
                <a:latin typeface="+mn-lt"/>
              </a:rPr>
              <a:t>Component</a:t>
            </a:r>
            <a:r>
              <a:rPr lang="ru-RU" sz="1200" b="0" strike="noStrike" spc="-1" dirty="0">
                <a:solidFill>
                  <a:schemeClr val="dk1"/>
                </a:solidFill>
                <a:latin typeface="+mn-lt"/>
              </a:rPr>
              <a:t>. Таким образом, в контейнер наряду с компонентами можно помещать контейнеры, в которых находятся какие-то другие компоненты, достигая тем самым большой гибкости расположения компонентов.</a:t>
            </a:r>
            <a:endParaRPr lang="en-US" sz="1200" b="0" strike="noStrike" spc="-1" dirty="0">
              <a:solidFill>
                <a:schemeClr val="dk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chemeClr val="dk1"/>
                </a:solidFill>
                <a:latin typeface="+mn-lt"/>
              </a:rPr>
              <a:t>Основное окно приложения, активно взаимодействующие с операционной системой, необходимо построить по правилам её графической системы. Окно должно перемещаться по экрану, изменять размеры, реагировать на действия мыши и клавиатуры. </a:t>
            </a:r>
            <a:endParaRPr lang="ru-RU" sz="1200" b="0" strike="noStrike" spc="-1"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9</a:t>
            </a:fld>
            <a:endParaRPr lang="ru-RU"/>
          </a:p>
        </p:txBody>
      </p:sp>
    </p:spTree>
    <p:extLst>
      <p:ext uri="{BB962C8B-B14F-4D97-AF65-F5344CB8AC3E}">
        <p14:creationId xmlns:p14="http://schemas.microsoft.com/office/powerpoint/2010/main" val="3960259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Основное понятие графического интерфейса пользователя (ГИП) – компонент графической системы. Компонент – это полностью определенный элемент, который можно использовать в графическом интерфейсе независимо от других элементов (поле ввода, кнопка, строка меню, полоса прокрутки и пр.). Само окно приложения – тоже его компонент. Компоненты могут быть и невидимыми.</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chemeClr val="dk1"/>
                </a:solidFill>
                <a:latin typeface="+mn-lt"/>
              </a:rPr>
              <a:t>Создав компонент – объект класса </a:t>
            </a:r>
            <a:r>
              <a:rPr lang="ru-RU" sz="1200" b="0" strike="noStrike" spc="-1" dirty="0" err="1">
                <a:solidFill>
                  <a:schemeClr val="dk1"/>
                </a:solidFill>
                <a:latin typeface="+mn-lt"/>
              </a:rPr>
              <a:t>Component</a:t>
            </a:r>
            <a:r>
              <a:rPr lang="ru-RU" sz="1200" b="0" strike="noStrike" spc="-1" dirty="0">
                <a:solidFill>
                  <a:schemeClr val="dk1"/>
                </a:solidFill>
                <a:latin typeface="+mn-lt"/>
              </a:rPr>
              <a:t> или его расширения, следует добавить его к предварительно созданному объекта класса </a:t>
            </a:r>
            <a:r>
              <a:rPr lang="ru-RU" sz="1200" b="0" strike="noStrike" spc="-1" dirty="0" err="1">
                <a:solidFill>
                  <a:schemeClr val="dk1"/>
                </a:solidFill>
                <a:latin typeface="+mn-lt"/>
              </a:rPr>
              <a:t>Container</a:t>
            </a:r>
            <a:r>
              <a:rPr lang="ru-RU" sz="1200" b="0" strike="noStrike" spc="-1" dirty="0">
                <a:solidFill>
                  <a:schemeClr val="dk1"/>
                </a:solidFill>
                <a:latin typeface="+mn-lt"/>
              </a:rPr>
              <a:t> или его расширения одним из методов контейнера </a:t>
            </a:r>
            <a:r>
              <a:rPr lang="ru-RU" sz="1200" b="0" strike="noStrike" spc="-1" dirty="0" err="1">
                <a:solidFill>
                  <a:schemeClr val="dk1"/>
                </a:solidFill>
                <a:latin typeface="+mn-lt"/>
              </a:rPr>
              <a:t>add</a:t>
            </a:r>
            <a:r>
              <a:rPr lang="ru-RU" sz="1200" b="0" strike="noStrike" spc="-1" dirty="0">
                <a:solidFill>
                  <a:schemeClr val="dk1"/>
                </a:solidFill>
                <a:latin typeface="+mn-lt"/>
              </a:rPr>
              <a:t>().</a:t>
            </a:r>
            <a:endParaRPr lang="ru-RU" sz="1200" b="0" strike="noStrike" spc="-1" dirty="0">
              <a:solidFill>
                <a:srgbClr val="000000"/>
              </a:solidFill>
              <a:latin typeface="Arial"/>
            </a:endParaRPr>
          </a:p>
          <a:p>
            <a:endParaRPr lang="ru-RU" dirty="0"/>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10</a:t>
            </a:fld>
            <a:endParaRPr lang="ru-RU"/>
          </a:p>
        </p:txBody>
      </p:sp>
    </p:spTree>
    <p:extLst>
      <p:ext uri="{BB962C8B-B14F-4D97-AF65-F5344CB8AC3E}">
        <p14:creationId xmlns:p14="http://schemas.microsoft.com/office/powerpoint/2010/main" val="3117004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этом примере создается окно (</a:t>
            </a:r>
            <a:r>
              <a:rPr lang="ru-RU" dirty="0" err="1"/>
              <a:t>JFrame</a:t>
            </a:r>
            <a:r>
              <a:rPr lang="ru-RU" dirty="0"/>
              <a:t>), в которое добавляется кнопка (</a:t>
            </a:r>
            <a:r>
              <a:rPr lang="ru-RU" dirty="0" err="1"/>
              <a:t>JButton</a:t>
            </a:r>
            <a:r>
              <a:rPr lang="ru-RU" dirty="0"/>
              <a:t>). При нажатии на кнопку выводится диалоговое окно с сообщением. </a:t>
            </a:r>
          </a:p>
        </p:txBody>
      </p:sp>
      <p:sp>
        <p:nvSpPr>
          <p:cNvPr id="4" name="Slide Number Placeholder 3"/>
          <p:cNvSpPr>
            <a:spLocks noGrp="1"/>
          </p:cNvSpPr>
          <p:nvPr>
            <p:ph type="sldNum" sz="quarter" idx="5"/>
          </p:nvPr>
        </p:nvSpPr>
        <p:spPr/>
        <p:txBody>
          <a:bodyPr/>
          <a:lstStyle/>
          <a:p>
            <a:fld id="{E834B684-8AB7-403C-9E68-1BD1028EDF33}" type="slidenum">
              <a:rPr lang="ru-RU" smtClean="0"/>
              <a:t>11</a:t>
            </a:fld>
            <a:endParaRPr lang="ru-RU"/>
          </a:p>
        </p:txBody>
      </p:sp>
    </p:spTree>
    <p:extLst>
      <p:ext uri="{BB962C8B-B14F-4D97-AF65-F5344CB8AC3E}">
        <p14:creationId xmlns:p14="http://schemas.microsoft.com/office/powerpoint/2010/main" val="203538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JLabel</a:t>
            </a:r>
            <a:r>
              <a:rPr lang="ru-RU" dirty="0"/>
              <a:t> является одним из базовых компонентов </a:t>
            </a:r>
            <a:r>
              <a:rPr lang="ru-RU" dirty="0" err="1"/>
              <a:t>Swing</a:t>
            </a:r>
            <a:r>
              <a:rPr lang="ru-RU" dirty="0"/>
              <a:t> для отображения статической информации и играет важную роль в создании пользовательских интерфейсов.</a:t>
            </a:r>
          </a:p>
        </p:txBody>
      </p:sp>
      <p:sp>
        <p:nvSpPr>
          <p:cNvPr id="4" name="Slide Number Placeholder 3"/>
          <p:cNvSpPr>
            <a:spLocks noGrp="1"/>
          </p:cNvSpPr>
          <p:nvPr>
            <p:ph type="sldNum" sz="quarter" idx="5"/>
          </p:nvPr>
        </p:nvSpPr>
        <p:spPr/>
        <p:txBody>
          <a:bodyPr/>
          <a:lstStyle/>
          <a:p>
            <a:fld id="{E834B684-8AB7-403C-9E68-1BD1028EDF33}" type="slidenum">
              <a:rPr lang="ru-RU" smtClean="0"/>
              <a:t>13</a:t>
            </a:fld>
            <a:endParaRPr lang="ru-RU"/>
          </a:p>
        </p:txBody>
      </p:sp>
    </p:spTree>
    <p:extLst>
      <p:ext uri="{BB962C8B-B14F-4D97-AF65-F5344CB8AC3E}">
        <p14:creationId xmlns:p14="http://schemas.microsoft.com/office/powerpoint/2010/main" val="2772682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JDialog</a:t>
            </a:r>
            <a:r>
              <a:rPr lang="ru-RU" dirty="0"/>
              <a:t> может быть модальным (блокирует взаимодействие с родительским окном до его закрытия) или немодальным. </a:t>
            </a:r>
          </a:p>
          <a:p>
            <a:endParaRPr lang="ru-RU" dirty="0"/>
          </a:p>
          <a:p>
            <a:r>
              <a:rPr lang="ru-RU" sz="1200" b="0" i="0" kern="1200" dirty="0" err="1">
                <a:solidFill>
                  <a:schemeClr val="tx1"/>
                </a:solidFill>
                <a:effectLst/>
                <a:latin typeface="+mn-lt"/>
                <a:ea typeface="+mn-ea"/>
                <a:cs typeface="+mn-cs"/>
              </a:rPr>
              <a:t>JDialog</a:t>
            </a:r>
            <a:r>
              <a:rPr lang="ru-RU" sz="1200" b="0" i="0" kern="1200" dirty="0">
                <a:solidFill>
                  <a:schemeClr val="tx1"/>
                </a:solidFill>
                <a:effectLst/>
                <a:latin typeface="+mn-lt"/>
                <a:ea typeface="+mn-ea"/>
                <a:cs typeface="+mn-cs"/>
              </a:rPr>
              <a:t> создается при помощи конструкторов класса, которые могут принимать родительское окно (</a:t>
            </a:r>
            <a:r>
              <a:rPr lang="ru-RU" sz="1200" b="0" i="0" kern="1200" dirty="0" err="1">
                <a:solidFill>
                  <a:schemeClr val="tx1"/>
                </a:solidFill>
                <a:effectLst/>
                <a:latin typeface="+mn-lt"/>
                <a:ea typeface="+mn-ea"/>
                <a:cs typeface="+mn-cs"/>
              </a:rPr>
              <a:t>JFrame</a:t>
            </a:r>
            <a:r>
              <a:rPr lang="ru-RU" sz="1200" b="0" i="0" kern="1200" dirty="0">
                <a:solidFill>
                  <a:schemeClr val="tx1"/>
                </a:solidFill>
                <a:effectLst/>
                <a:latin typeface="+mn-lt"/>
                <a:ea typeface="+mn-ea"/>
                <a:cs typeface="+mn-cs"/>
              </a:rPr>
              <a:t> или другой </a:t>
            </a:r>
            <a:r>
              <a:rPr lang="ru-RU" sz="1200" b="0" i="0" kern="1200" dirty="0" err="1">
                <a:solidFill>
                  <a:schemeClr val="tx1"/>
                </a:solidFill>
                <a:effectLst/>
                <a:latin typeface="+mn-lt"/>
                <a:ea typeface="+mn-ea"/>
                <a:cs typeface="+mn-cs"/>
              </a:rPr>
              <a:t>JDialog</a:t>
            </a:r>
            <a:r>
              <a:rPr lang="ru-RU" sz="1200" b="0" i="0" kern="1200" dirty="0">
                <a:solidFill>
                  <a:schemeClr val="tx1"/>
                </a:solidFill>
                <a:effectLst/>
                <a:latin typeface="+mn-lt"/>
                <a:ea typeface="+mn-ea"/>
                <a:cs typeface="+mn-cs"/>
              </a:rPr>
              <a:t>) и заголовок. </a:t>
            </a:r>
          </a:p>
        </p:txBody>
      </p:sp>
      <p:sp>
        <p:nvSpPr>
          <p:cNvPr id="4" name="Slide Number Placeholder 3"/>
          <p:cNvSpPr>
            <a:spLocks noGrp="1"/>
          </p:cNvSpPr>
          <p:nvPr>
            <p:ph type="sldNum" sz="quarter" idx="5"/>
          </p:nvPr>
        </p:nvSpPr>
        <p:spPr/>
        <p:txBody>
          <a:bodyPr/>
          <a:lstStyle/>
          <a:p>
            <a:fld id="{E834B684-8AB7-403C-9E68-1BD1028EDF33}" type="slidenum">
              <a:rPr lang="ru-RU" smtClean="0"/>
              <a:t>16</a:t>
            </a:fld>
            <a:endParaRPr lang="ru-RU"/>
          </a:p>
        </p:txBody>
      </p:sp>
    </p:spTree>
    <p:extLst>
      <p:ext uri="{BB962C8B-B14F-4D97-AF65-F5344CB8AC3E}">
        <p14:creationId xmlns:p14="http://schemas.microsoft.com/office/powerpoint/2010/main" val="2947562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showMessageDialog</a:t>
            </a:r>
            <a:r>
              <a:rPr lang="en-US" dirty="0"/>
              <a:t> </a:t>
            </a:r>
            <a:r>
              <a:rPr lang="ru-RU" dirty="0"/>
              <a:t>принимает параметр </a:t>
            </a:r>
            <a:r>
              <a:rPr lang="ru-RU" b="1" dirty="0" err="1"/>
              <a:t>messageType</a:t>
            </a:r>
            <a:r>
              <a:rPr lang="ru-RU" dirty="0"/>
              <a:t> - тип диалогового окна :</a:t>
            </a:r>
          </a:p>
          <a:p>
            <a:pPr marL="285750" indent="-285750">
              <a:buFont typeface="Arial" panose="020B0604020202020204" pitchFamily="34" charset="0"/>
              <a:buChar char="•"/>
            </a:pPr>
            <a:r>
              <a:rPr lang="ru-RU" dirty="0"/>
              <a:t>INFORMATION_MESSAGE - стандартное диалоговое окно для вывода информации со значком соответствующего вида;</a:t>
            </a:r>
          </a:p>
          <a:p>
            <a:pPr marL="285750" indent="-285750">
              <a:buFont typeface="Arial" panose="020B0604020202020204" pitchFamily="34" charset="0"/>
              <a:buChar char="•"/>
            </a:pPr>
            <a:r>
              <a:rPr lang="ru-RU" dirty="0"/>
              <a:t>WARNING_MESSAGE - стандартное диалоговое окно для вывода предупреждающей информации со значком соответствующего вида;</a:t>
            </a:r>
          </a:p>
          <a:p>
            <a:pPr marL="285750" indent="-285750">
              <a:buFont typeface="Arial" panose="020B0604020202020204" pitchFamily="34" charset="0"/>
              <a:buChar char="•"/>
            </a:pPr>
            <a:r>
              <a:rPr lang="ru-RU" dirty="0"/>
              <a:t>QUESTION_MESSAGE - стандартное диалоговое окно для вывода информации. Как правило, не используется для информационных сообщений;</a:t>
            </a:r>
          </a:p>
          <a:p>
            <a:pPr marL="285750" indent="-285750">
              <a:buFont typeface="Arial" panose="020B0604020202020204" pitchFamily="34" charset="0"/>
              <a:buChar char="•"/>
            </a:pPr>
            <a:r>
              <a:rPr lang="ru-RU" dirty="0"/>
              <a:t>ERROR_MESSAGE - стандартное диалоговое окно для вывода информации об ошибке со значком соответствующего вида;</a:t>
            </a:r>
          </a:p>
          <a:p>
            <a:pPr marL="285750" indent="-285750">
              <a:buFont typeface="Arial" panose="020B0604020202020204" pitchFamily="34" charset="0"/>
              <a:buChar char="•"/>
            </a:pPr>
            <a:r>
              <a:rPr lang="ru-RU" dirty="0"/>
              <a:t>PLAIN_MESSAGE - стандартное диалоговое окно для вывода информации без значка.</a:t>
            </a:r>
          </a:p>
          <a:p>
            <a:endParaRPr lang="ru-RU" dirty="0"/>
          </a:p>
          <a:p>
            <a:r>
              <a:rPr lang="en-US" dirty="0" err="1"/>
              <a:t>showConfirmDialog</a:t>
            </a:r>
            <a:r>
              <a:rPr lang="ru-RU" dirty="0"/>
              <a:t> принимает параметр </a:t>
            </a:r>
            <a:r>
              <a:rPr lang="en-US" dirty="0" err="1"/>
              <a:t>optionType</a:t>
            </a:r>
            <a:r>
              <a:rPr lang="en-US" dirty="0"/>
              <a:t> - </a:t>
            </a:r>
            <a:r>
              <a:rPr lang="ru-RU" dirty="0"/>
              <a:t>опция определения кнопок управления :</a:t>
            </a:r>
          </a:p>
          <a:p>
            <a:pPr marL="171450" indent="-171450">
              <a:buFont typeface="Arial" panose="020B0604020202020204" pitchFamily="34" charset="0"/>
              <a:buChar char="•"/>
            </a:pPr>
            <a:r>
              <a:rPr lang="en-US" dirty="0"/>
              <a:t>DEFAULT_OPTION</a:t>
            </a:r>
          </a:p>
          <a:p>
            <a:pPr marL="171450" indent="-171450">
              <a:buFont typeface="Arial" panose="020B0604020202020204" pitchFamily="34" charset="0"/>
              <a:buChar char="•"/>
            </a:pPr>
            <a:r>
              <a:rPr lang="en-US" dirty="0"/>
              <a:t>YES_NO_OPTION</a:t>
            </a:r>
          </a:p>
          <a:p>
            <a:pPr marL="171450" indent="-171450">
              <a:buFont typeface="Arial" panose="020B0604020202020204" pitchFamily="34" charset="0"/>
              <a:buChar char="•"/>
            </a:pPr>
            <a:r>
              <a:rPr lang="en-US" dirty="0"/>
              <a:t>YES_NO_CANCEL_OPTION</a:t>
            </a:r>
          </a:p>
          <a:p>
            <a:pPr marL="171450" indent="-171450">
              <a:buFont typeface="Arial" panose="020B0604020202020204" pitchFamily="34" charset="0"/>
              <a:buChar char="•"/>
            </a:pPr>
            <a:r>
              <a:rPr lang="en-US" dirty="0"/>
              <a:t>OK_CANCEL_OPTION</a:t>
            </a:r>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17</a:t>
            </a:fld>
            <a:endParaRPr lang="ru-RU"/>
          </a:p>
        </p:txBody>
      </p:sp>
    </p:spTree>
    <p:extLst>
      <p:ext uri="{BB962C8B-B14F-4D97-AF65-F5344CB8AC3E}">
        <p14:creationId xmlns:p14="http://schemas.microsoft.com/office/powerpoint/2010/main" val="1328948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Менеджер расположения (</a:t>
            </a:r>
            <a:r>
              <a:rPr lang="ru-RU" sz="1200" b="0" i="0" kern="1200" dirty="0" err="1">
                <a:solidFill>
                  <a:schemeClr val="tx1"/>
                </a:solidFill>
                <a:effectLst/>
                <a:latin typeface="+mn-lt"/>
                <a:ea typeface="+mn-ea"/>
                <a:cs typeface="+mn-cs"/>
              </a:rPr>
              <a:t>layout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manager</a:t>
            </a:r>
            <a:r>
              <a:rPr lang="ru-RU" sz="1200" b="0" i="0" kern="1200" dirty="0">
                <a:solidFill>
                  <a:schemeClr val="tx1"/>
                </a:solidFill>
                <a:effectLst/>
                <a:latin typeface="+mn-lt"/>
                <a:ea typeface="+mn-ea"/>
                <a:cs typeface="+mn-cs"/>
              </a:rPr>
              <a:t>) определяет, каким образом на форме будут располагаться компоненты. Независимо от платформы, виртуальной машины, разрешения и размеров экрана менеджер расположения гарантирует, что компоненты будут иметь предпочтительный или близкий к нему размер и располагаться в том порядке, который был указан программистом при создании программы.</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cs typeface="Times New Roman" panose="02020603050405020304" pitchFamily="18" charset="0"/>
              </a:rPr>
              <a:t>В </a:t>
            </a:r>
            <a:r>
              <a:rPr lang="ru-RU" dirty="0" err="1">
                <a:cs typeface="Times New Roman" panose="02020603050405020304" pitchFamily="18" charset="0"/>
              </a:rPr>
              <a:t>Swing</a:t>
            </a:r>
            <a:r>
              <a:rPr lang="ru-RU" dirty="0">
                <a:cs typeface="Times New Roman" panose="02020603050405020304" pitchFamily="18" charset="0"/>
              </a:rPr>
              <a:t> менеджер расположения играет еще большую роль, чем обычно. Он позволяет не только сгладить различия между операционными системами, но к тому же дает возможность с легкостью менять внешний вид приложения, не заботясь о том, как при этом изменяются размеры и расположение компонентов.</a:t>
            </a:r>
            <a:endParaRPr lang="en-US" dirty="0">
              <a:cs typeface="Times New Roman" panose="02020603050405020304" pitchFamily="18" charset="0"/>
            </a:endParaRPr>
          </a:p>
          <a:p>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Поддержка менеджеров расположения встроена в базовый класс контейнеров </a:t>
            </a:r>
            <a:r>
              <a:rPr lang="ru-RU" sz="1200" b="0" i="0" kern="1200" dirty="0" err="1">
                <a:solidFill>
                  <a:schemeClr val="tx1"/>
                </a:solidFill>
                <a:effectLst/>
                <a:latin typeface="+mn-lt"/>
                <a:ea typeface="+mn-ea"/>
                <a:cs typeface="+mn-cs"/>
              </a:rPr>
              <a:t>java.awt.Container</a:t>
            </a:r>
            <a:r>
              <a:rPr lang="ru-RU" sz="1200" b="0" i="0" kern="1200" dirty="0">
                <a:solidFill>
                  <a:schemeClr val="tx1"/>
                </a:solidFill>
                <a:effectLst/>
                <a:latin typeface="+mn-lt"/>
                <a:ea typeface="+mn-ea"/>
                <a:cs typeface="+mn-cs"/>
              </a:rPr>
              <a:t>. Все компоненты библиотеки </a:t>
            </a:r>
            <a:r>
              <a:rPr lang="ru-RU" sz="1200" b="0" i="0" kern="1200" dirty="0" err="1">
                <a:solidFill>
                  <a:schemeClr val="tx1"/>
                </a:solidFill>
                <a:effectLst/>
                <a:latin typeface="+mn-lt"/>
                <a:ea typeface="+mn-ea"/>
                <a:cs typeface="+mn-cs"/>
              </a:rPr>
              <a:t>Swing</a:t>
            </a:r>
            <a:r>
              <a:rPr lang="ru-RU" sz="1200" b="0" i="0" kern="1200" dirty="0">
                <a:solidFill>
                  <a:schemeClr val="tx1"/>
                </a:solidFill>
                <a:effectLst/>
                <a:latin typeface="+mn-lt"/>
                <a:ea typeface="+mn-ea"/>
                <a:cs typeface="+mn-cs"/>
              </a:rPr>
              <a:t> унаследованы от базового класса </a:t>
            </a:r>
            <a:r>
              <a:rPr lang="ru-RU" sz="1200" b="0" i="0" kern="1200" dirty="0" err="1">
                <a:solidFill>
                  <a:schemeClr val="tx1"/>
                </a:solidFill>
                <a:effectLst/>
                <a:latin typeface="+mn-lt"/>
                <a:ea typeface="+mn-ea"/>
                <a:cs typeface="+mn-cs"/>
              </a:rPr>
              <a:t>JComponent</a:t>
            </a:r>
            <a:r>
              <a:rPr lang="ru-RU" sz="1200" b="0" i="0" kern="1200" dirty="0">
                <a:solidFill>
                  <a:schemeClr val="tx1"/>
                </a:solidFill>
                <a:effectLst/>
                <a:latin typeface="+mn-lt"/>
                <a:ea typeface="+mn-ea"/>
                <a:cs typeface="+mn-cs"/>
              </a:rPr>
              <a:t>, который, в свою очередь, унаследован от класса </a:t>
            </a:r>
            <a:r>
              <a:rPr lang="ru-RU" sz="1200" b="0" i="0" kern="1200" dirty="0" err="1">
                <a:solidFill>
                  <a:schemeClr val="tx1"/>
                </a:solidFill>
                <a:effectLst/>
                <a:latin typeface="+mn-lt"/>
                <a:ea typeface="+mn-ea"/>
                <a:cs typeface="+mn-cs"/>
              </a:rPr>
              <a:t>Container</a:t>
            </a:r>
            <a:r>
              <a:rPr lang="ru-RU" sz="1200" b="0" i="0" kern="1200" dirty="0">
                <a:solidFill>
                  <a:schemeClr val="tx1"/>
                </a:solidFill>
                <a:effectLst/>
                <a:latin typeface="+mn-lt"/>
                <a:ea typeface="+mn-ea"/>
                <a:cs typeface="+mn-cs"/>
              </a:rPr>
              <a:t>. Таким образом, для любого компонента </a:t>
            </a:r>
            <a:r>
              <a:rPr lang="ru-RU" sz="1200" b="0" i="0" kern="1200" dirty="0" err="1">
                <a:solidFill>
                  <a:schemeClr val="tx1"/>
                </a:solidFill>
                <a:effectLst/>
                <a:latin typeface="+mn-lt"/>
                <a:ea typeface="+mn-ea"/>
                <a:cs typeface="+mn-cs"/>
              </a:rPr>
              <a:t>Swing</a:t>
            </a:r>
            <a:r>
              <a:rPr lang="ru-RU" sz="1200" b="0" i="0" kern="1200" dirty="0">
                <a:solidFill>
                  <a:schemeClr val="tx1"/>
                </a:solidFill>
                <a:effectLst/>
                <a:latin typeface="+mn-lt"/>
                <a:ea typeface="+mn-ea"/>
                <a:cs typeface="+mn-cs"/>
              </a:rPr>
              <a:t> можно установить менеджер расположения или узнать, какой менеджер им используется в данный момент. Для этого предназначены методы </a:t>
            </a:r>
            <a:r>
              <a:rPr lang="ru-RU" sz="1200" b="1" i="0" kern="1200" dirty="0" err="1">
                <a:solidFill>
                  <a:schemeClr val="tx1"/>
                </a:solidFill>
                <a:effectLst/>
                <a:latin typeface="+mn-lt"/>
                <a:ea typeface="+mn-ea"/>
                <a:cs typeface="+mn-cs"/>
              </a:rPr>
              <a:t>setLayout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и </a:t>
            </a:r>
            <a:r>
              <a:rPr lang="ru-RU" sz="1200" b="1" i="0" kern="1200" dirty="0" err="1">
                <a:solidFill>
                  <a:schemeClr val="tx1"/>
                </a:solidFill>
                <a:effectLst/>
                <a:latin typeface="+mn-lt"/>
                <a:ea typeface="+mn-ea"/>
                <a:cs typeface="+mn-cs"/>
              </a:rPr>
              <a:t>getLayout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cs typeface="Times New Roman" panose="02020603050405020304" pitchFamily="18" charset="0"/>
              </a:rPr>
              <a:t>Изменять расположение желательно только в контейнерах, которые предназначены для размещения в них компонентов пользовательского интерфейса, то есть в панелях (</a:t>
            </a:r>
            <a:r>
              <a:rPr lang="ru-RU" dirty="0" err="1">
                <a:cs typeface="Times New Roman" panose="02020603050405020304" pitchFamily="18" charset="0"/>
              </a:rPr>
              <a:t>JPanel</a:t>
            </a:r>
            <a:r>
              <a:rPr lang="ru-RU" dirty="0">
                <a:cs typeface="Times New Roman" panose="02020603050405020304" pitchFamily="18" charset="0"/>
              </a:rPr>
              <a:t>) и окнах (унаследованных от класса </a:t>
            </a:r>
            <a:r>
              <a:rPr lang="ru-RU" dirty="0" err="1">
                <a:cs typeface="Times New Roman" panose="02020603050405020304" pitchFamily="18" charset="0"/>
              </a:rPr>
              <a:t>Window</a:t>
            </a:r>
            <a:r>
              <a:rPr lang="ru-RU" dirty="0">
                <a:cs typeface="Times New Roman" panose="02020603050405020304" pitchFamily="18" charset="0"/>
              </a:rPr>
              <a:t>). Не стоит менять расположение в кнопках или флажках, хотя такая возможность имеется. В стандартной библиотеке </a:t>
            </a:r>
            <a:r>
              <a:rPr lang="ru-RU" dirty="0" err="1">
                <a:cs typeface="Times New Roman" panose="02020603050405020304" pitchFamily="18" charset="0"/>
              </a:rPr>
              <a:t>Java</a:t>
            </a:r>
            <a:r>
              <a:rPr lang="ru-RU" dirty="0">
                <a:cs typeface="Times New Roman" panose="02020603050405020304" pitchFamily="18" charset="0"/>
              </a:rPr>
              <a:t> существует несколько готовых менеджеров расположения, и с их помощью можно реализовать абсолютно любое расположение.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cs typeface="Times New Roman" panose="02020603050405020304" pitchFamily="18" charset="0"/>
              </a:rPr>
              <a:t>Контейнер окна вызывает методы менеджера расположения каждый раз при изменении своих размеров или при первом появлении на экране. Кроме этого, можно </a:t>
            </a:r>
            <a:r>
              <a:rPr lang="ru-RU" dirty="0" err="1">
                <a:cs typeface="Times New Roman" panose="02020603050405020304" pitchFamily="18" charset="0"/>
              </a:rPr>
              <a:t>программно</a:t>
            </a:r>
            <a:r>
              <a:rPr lang="ru-RU" dirty="0">
                <a:cs typeface="Times New Roman" panose="02020603050405020304" pitchFamily="18" charset="0"/>
              </a:rPr>
              <a:t> запросить менеджер расположения заново расположить компоненты в контейнере: для этого служит так называемая проверка корректности (валидация) контейнера и содержащихся в нем компонентов. Проверка корректности очень полезна, если интерфейс приложения меняется динамически. После изменений компонентам может не хватать прежних размеров или наоборот, прежний размер будет для них слишком велик. Для этого и предназначена проверка корректности. Выполнить проверку корректности для любого компонента </a:t>
            </a:r>
            <a:r>
              <a:rPr lang="ru-RU" dirty="0" err="1">
                <a:cs typeface="Times New Roman" panose="02020603050405020304" pitchFamily="18" charset="0"/>
              </a:rPr>
              <a:t>Swing</a:t>
            </a:r>
            <a:r>
              <a:rPr lang="ru-RU" dirty="0">
                <a:cs typeface="Times New Roman" panose="02020603050405020304" pitchFamily="18" charset="0"/>
              </a:rPr>
              <a:t>, будь это контейнер или отдельный компонент, позволяет метод </a:t>
            </a:r>
            <a:r>
              <a:rPr lang="ru-RU" dirty="0" err="1">
                <a:cs typeface="Times New Roman" panose="02020603050405020304" pitchFamily="18" charset="0"/>
              </a:rPr>
              <a:t>revalidate</a:t>
            </a:r>
            <a:r>
              <a:rPr lang="ru-RU" dirty="0">
                <a:cs typeface="Times New Roman" panose="02020603050405020304" pitchFamily="18" charset="0"/>
              </a:rPr>
              <a:t>(), определенный в базовом классе библиотеки </a:t>
            </a:r>
            <a:r>
              <a:rPr lang="ru-RU" dirty="0" err="1">
                <a:cs typeface="Times New Roman" panose="02020603050405020304" pitchFamily="18" charset="0"/>
              </a:rPr>
              <a:t>JComponent</a:t>
            </a:r>
            <a:r>
              <a:rPr lang="ru-RU" dirty="0">
                <a:cs typeface="Times New Roman" panose="02020603050405020304" pitchFamily="18" charset="0"/>
              </a:rPr>
              <a:t>.</a:t>
            </a:r>
            <a:endParaRPr lang="en-US" dirty="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Times New Roman" panose="02020603050405020304" pitchFamily="18" charset="0"/>
            </a:endParaRPr>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20</a:t>
            </a:fld>
            <a:endParaRPr lang="ru-RU"/>
          </a:p>
        </p:txBody>
      </p:sp>
    </p:spTree>
    <p:extLst>
      <p:ext uri="{BB962C8B-B14F-4D97-AF65-F5344CB8AC3E}">
        <p14:creationId xmlns:p14="http://schemas.microsoft.com/office/powerpoint/2010/main" val="905385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Менеджер расположения размещает добавляемые в контейнер компоненты в некотором порядке согласно реализованного в нем алгоритма, и определяет их размер. При этом он обычно учитывает определенные свойства компонентов :</a:t>
            </a:r>
          </a:p>
          <a:p>
            <a:endParaRPr lang="ru-RU" dirty="0"/>
          </a:p>
          <a:p>
            <a:pPr marL="0" indent="0">
              <a:buFont typeface="Arial" panose="020B0604020202020204" pitchFamily="34" charset="0"/>
              <a:buNone/>
            </a:pPr>
            <a:r>
              <a:rPr lang="en-US" dirty="0"/>
              <a:t>-      </a:t>
            </a:r>
            <a:r>
              <a:rPr lang="ru-RU" dirty="0"/>
              <a:t>Предпочтительный размер. Размер, который идеально подходит компоненту. По умолчанию все размеры компонентов устанавливаются текущим менеджером внешнего вида и поведения (</a:t>
            </a:r>
            <a:r>
              <a:rPr lang="ru-RU" dirty="0" err="1"/>
              <a:t>look</a:t>
            </a:r>
            <a:r>
              <a:rPr lang="ru-RU" dirty="0"/>
              <a:t> </a:t>
            </a:r>
            <a:r>
              <a:rPr lang="ru-RU" dirty="0" err="1"/>
              <a:t>and</a:t>
            </a:r>
            <a:r>
              <a:rPr lang="ru-RU" dirty="0"/>
              <a:t> </a:t>
            </a:r>
            <a:r>
              <a:rPr lang="ru-RU" dirty="0" err="1"/>
              <a:t>feel</a:t>
            </a:r>
            <a:r>
              <a:rPr lang="ru-RU" dirty="0"/>
              <a:t> </a:t>
            </a:r>
            <a:r>
              <a:rPr lang="ru-RU" dirty="0" err="1"/>
              <a:t>manager</a:t>
            </a:r>
            <a:r>
              <a:rPr lang="ru-RU" dirty="0"/>
              <a:t>), но можно их изменить. Предпочтительный размер можно изменить с помощью метода </a:t>
            </a:r>
            <a:r>
              <a:rPr lang="ru-RU" dirty="0" err="1"/>
              <a:t>setPrefferedSize</a:t>
            </a:r>
            <a:r>
              <a:rPr lang="ru-RU" dirty="0"/>
              <a:t>().</a:t>
            </a:r>
            <a:endParaRPr lang="en-US" dirty="0"/>
          </a:p>
          <a:p>
            <a:pPr marL="285750" indent="-285750" algn="just">
              <a:buFontTx/>
              <a:buChar char="-"/>
            </a:pPr>
            <a:r>
              <a:rPr lang="ru-RU" dirty="0">
                <a:cs typeface="Times New Roman" panose="02020603050405020304" pitchFamily="18" charset="0"/>
              </a:rPr>
              <a:t>Минимальный размер. Параметр определения минимального размера компонента. После достижения минимального размера всех компонентов контейнер больше не сможет уменьшить свой размер. Минимальный размер также можно изменить, для этого предназначен метод </a:t>
            </a:r>
            <a:r>
              <a:rPr lang="ru-RU" dirty="0" err="1">
                <a:cs typeface="Times New Roman" panose="02020603050405020304" pitchFamily="18" charset="0"/>
              </a:rPr>
              <a:t>setMinimumSize</a:t>
            </a:r>
            <a:r>
              <a:rPr lang="ru-RU" dirty="0">
                <a:cs typeface="Times New Roman" panose="02020603050405020304" pitchFamily="18" charset="0"/>
              </a:rPr>
              <a:t>().</a:t>
            </a:r>
          </a:p>
          <a:p>
            <a:pPr marL="285750" indent="-285750" algn="just">
              <a:buFontTx/>
              <a:buChar char="-"/>
            </a:pPr>
            <a:r>
              <a:rPr lang="ru-RU" dirty="0">
                <a:cs typeface="Times New Roman" panose="02020603050405020304" pitchFamily="18" charset="0"/>
              </a:rPr>
              <a:t>Максимальный размер. Параметр определения максимального размера компонента при увеличении размеров контейнера. Например, максимальный размер текстового поля </a:t>
            </a:r>
            <a:r>
              <a:rPr lang="ru-RU" dirty="0" err="1">
                <a:cs typeface="Times New Roman" panose="02020603050405020304" pitchFamily="18" charset="0"/>
              </a:rPr>
              <a:t>JTextField</a:t>
            </a:r>
            <a:r>
              <a:rPr lang="ru-RU" dirty="0">
                <a:cs typeface="Times New Roman" panose="02020603050405020304" pitchFamily="18" charset="0"/>
              </a:rPr>
              <a:t> не ограничен. Чаще всего оно должно сохранять свой предпочтительный размер. Это можно исправить с помощью метода </a:t>
            </a:r>
            <a:r>
              <a:rPr lang="ru-RU" dirty="0" err="1">
                <a:cs typeface="Times New Roman" panose="02020603050405020304" pitchFamily="18" charset="0"/>
              </a:rPr>
              <a:t>setMaximumSize</a:t>
            </a:r>
            <a:r>
              <a:rPr lang="ru-RU" dirty="0">
                <a:cs typeface="Times New Roman" panose="02020603050405020304" pitchFamily="18" charset="0"/>
              </a:rPr>
              <a:t>(), устанавливающего максимальный размер. Большая часть менеджеров расположения игнорирует максимальный размер, работая в основном с предпочтительным и минимальным размерами.</a:t>
            </a:r>
            <a:endParaRPr lang="en-US" dirty="0">
              <a:cs typeface="Times New Roman" panose="02020603050405020304" pitchFamily="18" charset="0"/>
            </a:endParaRPr>
          </a:p>
          <a:p>
            <a:pPr marL="285750" indent="-285750" algn="just">
              <a:buFontTx/>
              <a:buChar char="-"/>
            </a:pPr>
            <a:r>
              <a:rPr lang="ru-RU" dirty="0">
                <a:cs typeface="Times New Roman" panose="02020603050405020304" pitchFamily="18" charset="0"/>
              </a:rPr>
              <a:t>Выравнивание по осям X и Y. Данные параметры нужны только менеджеру </a:t>
            </a:r>
            <a:r>
              <a:rPr lang="ru-RU" dirty="0" err="1">
                <a:cs typeface="Times New Roman" panose="02020603050405020304" pitchFamily="18" charset="0"/>
              </a:rPr>
              <a:t>BoxLayout</a:t>
            </a:r>
            <a:r>
              <a:rPr lang="ru-RU" dirty="0">
                <a:cs typeface="Times New Roman" panose="02020603050405020304" pitchFamily="18" charset="0"/>
              </a:rPr>
              <a:t>, причем для него они играют важнейшую роль.</a:t>
            </a:r>
          </a:p>
          <a:p>
            <a:pPr marL="285750" indent="-285750" algn="just">
              <a:buFontTx/>
              <a:buChar char="-"/>
            </a:pPr>
            <a:r>
              <a:rPr lang="ru-RU" dirty="0">
                <a:cs typeface="Times New Roman" panose="02020603050405020304" pitchFamily="18" charset="0"/>
              </a:rPr>
              <a:t>Границы контейнера. Эти параметры контейнера определяют размеры отступов от границ контейнера. Значения границ контейнера позволяет получить метод </a:t>
            </a:r>
            <a:r>
              <a:rPr lang="ru-RU" dirty="0" err="1">
                <a:cs typeface="Times New Roman" panose="02020603050405020304" pitchFamily="18" charset="0"/>
              </a:rPr>
              <a:t>getInsets</a:t>
            </a:r>
            <a:r>
              <a:rPr lang="ru-RU" dirty="0">
                <a:cs typeface="Times New Roman" panose="02020603050405020304" pitchFamily="18" charset="0"/>
              </a:rPr>
              <a:t>(). Иногда менеджеру расположения приходится их учитывать</a:t>
            </a:r>
          </a:p>
          <a:p>
            <a:pPr marL="285750" indent="-285750" algn="just">
              <a:buFontTx/>
              <a:buChar char="-"/>
            </a:pPr>
            <a:endParaRPr lang="ru-RU" dirty="0">
              <a:cs typeface="Times New Roman" panose="02020603050405020304" pitchFamily="18" charset="0"/>
            </a:endParaRPr>
          </a:p>
          <a:p>
            <a:pPr marL="0" indent="0" algn="just">
              <a:buFontTx/>
              <a:buNone/>
            </a:pPr>
            <a:r>
              <a:rPr lang="ru-RU" dirty="0">
                <a:cs typeface="Times New Roman" panose="02020603050405020304" pitchFamily="18" charset="0"/>
              </a:rPr>
              <a:t>Логика работы менеджера расположения происходит следующим образом : он ждет прихода сигнала от контейнера окна, требующего расположить в нем компоненты. Этому соответствует вызов метода </a:t>
            </a:r>
            <a:r>
              <a:rPr lang="ru-RU" dirty="0" err="1">
                <a:cs typeface="Times New Roman" panose="02020603050405020304" pitchFamily="18" charset="0"/>
              </a:rPr>
              <a:t>layoutContainer</a:t>
            </a:r>
            <a:r>
              <a:rPr lang="ru-RU" dirty="0">
                <a:cs typeface="Times New Roman" panose="02020603050405020304" pitchFamily="18" charset="0"/>
              </a:rPr>
              <a:t>() интерфейса </a:t>
            </a:r>
            <a:r>
              <a:rPr lang="ru-RU" dirty="0" err="1">
                <a:cs typeface="Times New Roman" panose="02020603050405020304" pitchFamily="18" charset="0"/>
              </a:rPr>
              <a:t>LayoutManager</a:t>
            </a:r>
            <a:r>
              <a:rPr lang="ru-RU" dirty="0">
                <a:cs typeface="Times New Roman" panose="02020603050405020304" pitchFamily="18" charset="0"/>
              </a:rPr>
              <a:t>. В методе </a:t>
            </a:r>
            <a:r>
              <a:rPr lang="ru-RU" dirty="0" err="1">
                <a:cs typeface="Times New Roman" panose="02020603050405020304" pitchFamily="18" charset="0"/>
              </a:rPr>
              <a:t>layoutContainer</a:t>
            </a:r>
            <a:r>
              <a:rPr lang="ru-RU" dirty="0">
                <a:cs typeface="Times New Roman" panose="02020603050405020304" pitchFamily="18" charset="0"/>
              </a:rPr>
              <a:t>() и происходит основная работа по расположению компонентов в контейнере.</a:t>
            </a:r>
          </a:p>
          <a:p>
            <a:pPr marL="0" indent="0" algn="just">
              <a:buFontTx/>
              <a:buNone/>
            </a:pPr>
            <a:r>
              <a:rPr lang="ru-RU" dirty="0">
                <a:cs typeface="Times New Roman" panose="02020603050405020304" pitchFamily="18" charset="0"/>
              </a:rPr>
              <a:t>Менеджер расположения учитывает различные размеры и свойства компонентов и контейнера, и должен расположить компоненты на определенных позициях в контейнере, вызывая для каждого из них метод </a:t>
            </a:r>
            <a:r>
              <a:rPr lang="ru-RU" dirty="0" err="1">
                <a:cs typeface="Times New Roman" panose="02020603050405020304" pitchFamily="18" charset="0"/>
              </a:rPr>
              <a:t>setBounds</a:t>
            </a:r>
            <a:r>
              <a:rPr lang="ru-RU" dirty="0">
                <a:cs typeface="Times New Roman" panose="02020603050405020304" pitchFamily="18" charset="0"/>
              </a:rPr>
              <a:t>(), позволяющий указать в пикселах в системе координат контейнера прямоугольник, который будет занимать компонент. Для сложных менеджеров расположения с гибким поведением это означает массу работы и сложные вычисления, однако простые алгоритмы расположения компонентов реализовать совсем несложно.</a:t>
            </a:r>
          </a:p>
          <a:p>
            <a:pPr marL="0" indent="0" algn="just">
              <a:buFontTx/>
              <a:buNone/>
            </a:pPr>
            <a:endParaRPr lang="ru-RU" dirty="0">
              <a:cs typeface="Times New Roman" panose="02020603050405020304" pitchFamily="18" charset="0"/>
            </a:endParaRPr>
          </a:p>
          <a:p>
            <a:pPr marL="171450" indent="-171450">
              <a:buFont typeface="Arial" panose="020B0604020202020204" pitchFamily="34" charset="0"/>
              <a:buChar char="•"/>
            </a:pPr>
            <a:endParaRPr lang="ru-RU" dirty="0"/>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21</a:t>
            </a:fld>
            <a:endParaRPr lang="ru-RU"/>
          </a:p>
        </p:txBody>
      </p:sp>
    </p:spTree>
    <p:extLst>
      <p:ext uri="{BB962C8B-B14F-4D97-AF65-F5344CB8AC3E}">
        <p14:creationId xmlns:p14="http://schemas.microsoft.com/office/powerpoint/2010/main" val="1479248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latin typeface="Times New Roman" panose="02020603050405020304" pitchFamily="18" charset="0"/>
                <a:cs typeface="Times New Roman" panose="02020603050405020304" pitchFamily="18" charset="0"/>
              </a:rPr>
              <a:t>Менеджер </a:t>
            </a:r>
            <a:r>
              <a:rPr lang="ru-RU" dirty="0" err="1">
                <a:latin typeface="Times New Roman" panose="02020603050405020304" pitchFamily="18" charset="0"/>
                <a:cs typeface="Times New Roman" panose="02020603050405020304" pitchFamily="18" charset="0"/>
              </a:rPr>
              <a:t>BorderLayout</a:t>
            </a:r>
            <a:r>
              <a:rPr lang="ru-RU" dirty="0">
                <a:latin typeface="Times New Roman" panose="02020603050405020304" pitchFamily="18" charset="0"/>
                <a:cs typeface="Times New Roman" panose="02020603050405020304" pitchFamily="18" charset="0"/>
              </a:rPr>
              <a:t> специально предназначен для обычных и диалоговых окон. Он позволяет быстро и просто расположить наиболее часто используемые элементы любого окна: панель инструментов, строку состояния и основное содержимое. Для этого </a:t>
            </a:r>
            <a:r>
              <a:rPr lang="ru-RU" dirty="0" err="1">
                <a:latin typeface="Times New Roman" panose="02020603050405020304" pitchFamily="18" charset="0"/>
                <a:cs typeface="Times New Roman" panose="02020603050405020304" pitchFamily="18" charset="0"/>
              </a:rPr>
              <a:t>BorderLayout</a:t>
            </a:r>
            <a:r>
              <a:rPr lang="ru-RU" dirty="0">
                <a:latin typeface="Times New Roman" panose="02020603050405020304" pitchFamily="18" charset="0"/>
                <a:cs typeface="Times New Roman" panose="02020603050405020304" pitchFamily="18" charset="0"/>
              </a:rPr>
              <a:t> разбивает окно на четыре области, а все оставшееся место заполняется компонентом, выполняющим основную функцию приложения - в редакторе это будет текстовое поле, в многооконном приложении — рабочий стол.</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A </a:t>
            </a:r>
            <a:r>
              <a:rPr lang="ru-RU" dirty="0" err="1"/>
              <a:t>BorderLayout</a:t>
            </a:r>
            <a:r>
              <a:rPr lang="ru-RU" dirty="0"/>
              <a:t> </a:t>
            </a:r>
            <a:r>
              <a:rPr lang="ru-RU" sz="1200" b="0" i="0" kern="1200" dirty="0">
                <a:solidFill>
                  <a:schemeClr val="tx1"/>
                </a:solidFill>
                <a:effectLst/>
                <a:latin typeface="+mn-lt"/>
                <a:ea typeface="+mn-ea"/>
                <a:cs typeface="+mn-cs"/>
              </a:rPr>
              <a:t>размещает компоненты в пяти областях: сверху, снизу, слева, справа и по центру. Все дополнительное пространство размещается в центральной области. </a:t>
            </a:r>
          </a:p>
          <a:p>
            <a:endParaRPr lang="ru-RU" sz="1200" b="0" i="0" kern="1200" dirty="0">
              <a:solidFill>
                <a:schemeClr val="tx1"/>
              </a:solidFill>
              <a:effectLst/>
              <a:latin typeface="+mn-lt"/>
              <a:ea typeface="+mn-ea"/>
              <a:cs typeface="+mn-cs"/>
            </a:endParaRPr>
          </a:p>
          <a:p>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22</a:t>
            </a:fld>
            <a:endParaRPr lang="ru-RU"/>
          </a:p>
        </p:txBody>
      </p:sp>
    </p:spTree>
    <p:extLst>
      <p:ext uri="{BB962C8B-B14F-4D97-AF65-F5344CB8AC3E}">
        <p14:creationId xmlns:p14="http://schemas.microsoft.com/office/powerpoint/2010/main" val="2889798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latin typeface="Times New Roman" panose="02020603050405020304" pitchFamily="18" charset="0"/>
                <a:cs typeface="Times New Roman" panose="02020603050405020304" pitchFamily="18" charset="0"/>
              </a:rPr>
              <a:t>В примере метод установки менеджера расположения </a:t>
            </a:r>
            <a:r>
              <a:rPr lang="ru-RU" dirty="0" err="1">
                <a:latin typeface="Times New Roman" panose="02020603050405020304" pitchFamily="18" charset="0"/>
                <a:cs typeface="Times New Roman" panose="02020603050405020304" pitchFamily="18" charset="0"/>
              </a:rPr>
              <a:t>setLayout</a:t>
            </a:r>
            <a:r>
              <a:rPr lang="ru-RU" dirty="0">
                <a:latin typeface="Times New Roman" panose="02020603050405020304" pitchFamily="18" charset="0"/>
                <a:cs typeface="Times New Roman" panose="02020603050405020304" pitchFamily="18" charset="0"/>
              </a:rPr>
              <a:t>() не вызывался. В окнах </a:t>
            </a:r>
            <a:r>
              <a:rPr lang="ru-RU" dirty="0" err="1">
                <a:latin typeface="Times New Roman" panose="02020603050405020304" pitchFamily="18" charset="0"/>
                <a:cs typeface="Times New Roman" panose="02020603050405020304" pitchFamily="18" charset="0"/>
              </a:rPr>
              <a:t>JFrame</a:t>
            </a:r>
            <a:r>
              <a:rPr lang="ru-RU" dirty="0">
                <a:latin typeface="Times New Roman" panose="02020603050405020304" pitchFamily="18" charset="0"/>
                <a:cs typeface="Times New Roman" panose="02020603050405020304" pitchFamily="18" charset="0"/>
              </a:rPr>
              <a:t> (также в окнах </a:t>
            </a:r>
            <a:r>
              <a:rPr lang="ru-RU" dirty="0" err="1">
                <a:latin typeface="Times New Roman" panose="02020603050405020304" pitchFamily="18" charset="0"/>
                <a:cs typeface="Times New Roman" panose="02020603050405020304" pitchFamily="18" charset="0"/>
              </a:rPr>
              <a:t>JWindow</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JDialog</a:t>
            </a:r>
            <a:r>
              <a:rPr lang="ru-RU" dirty="0">
                <a:latin typeface="Times New Roman" panose="02020603050405020304" pitchFamily="18" charset="0"/>
                <a:cs typeface="Times New Roman" panose="02020603050405020304" pitchFamily="18" charset="0"/>
              </a:rPr>
              <a:t>) расположение </a:t>
            </a:r>
            <a:r>
              <a:rPr lang="ru-RU" dirty="0" err="1">
                <a:latin typeface="Times New Roman" panose="02020603050405020304" pitchFamily="18" charset="0"/>
                <a:cs typeface="Times New Roman" panose="02020603050405020304" pitchFamily="18" charset="0"/>
              </a:rPr>
              <a:t>BorderLayout</a:t>
            </a:r>
            <a:r>
              <a:rPr lang="ru-RU" dirty="0">
                <a:latin typeface="Times New Roman" panose="02020603050405020304" pitchFamily="18" charset="0"/>
                <a:cs typeface="Times New Roman" panose="02020603050405020304" pitchFamily="18" charset="0"/>
              </a:rPr>
              <a:t> применяется автоматически c принимаемой по умолчанию константой </a:t>
            </a:r>
            <a:r>
              <a:rPr lang="ru-RU" dirty="0" err="1">
                <a:latin typeface="Times New Roman" panose="02020603050405020304" pitchFamily="18" charset="0"/>
                <a:cs typeface="Times New Roman" panose="02020603050405020304" pitchFamily="18" charset="0"/>
              </a:rPr>
              <a:t>Center</a:t>
            </a:r>
            <a:r>
              <a:rPr lang="ru-RU" dirty="0">
                <a:latin typeface="Times New Roman" panose="02020603050405020304" pitchFamily="18" charset="0"/>
                <a:cs typeface="Times New Roman" panose="02020603050405020304" pitchFamily="18" charset="0"/>
              </a:rPr>
              <a:t>. При использовании строк в качестве параметров метода </a:t>
            </a:r>
            <a:r>
              <a:rPr lang="ru-RU" dirty="0" err="1">
                <a:latin typeface="Times New Roman" panose="02020603050405020304" pitchFamily="18" charset="0"/>
                <a:cs typeface="Times New Roman" panose="02020603050405020304" pitchFamily="18" charset="0"/>
              </a:rPr>
              <a:t>add</a:t>
            </a:r>
            <a:r>
              <a:rPr lang="ru-RU" dirty="0">
                <a:latin typeface="Times New Roman" panose="02020603050405020304" pitchFamily="18" charset="0"/>
                <a:cs typeface="Times New Roman" panose="02020603050405020304" pitchFamily="18" charset="0"/>
              </a:rPr>
              <a:t>() надо быть внимательным. Со строкой легко сделать трудно обнаруживаемую ошибку, в то время как ошибку при использовании констант сразу же обнаружит компилятор.</a:t>
            </a:r>
          </a:p>
          <a:p>
            <a:endParaRPr lang="ru-RU" sz="1200" b="0" i="0" kern="1200" dirty="0">
              <a:solidFill>
                <a:schemeClr val="tx1"/>
              </a:solidFill>
              <a:effectLst/>
              <a:latin typeface="+mn-lt"/>
              <a:ea typeface="+mn-ea"/>
              <a:cs typeface="+mn-cs"/>
            </a:endParaRPr>
          </a:p>
          <a:p>
            <a:endParaRPr lang="ru-RU"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23</a:t>
            </a:fld>
            <a:endParaRPr lang="ru-RU"/>
          </a:p>
        </p:txBody>
      </p:sp>
    </p:spTree>
    <p:extLst>
      <p:ext uri="{BB962C8B-B14F-4D97-AF65-F5344CB8AC3E}">
        <p14:creationId xmlns:p14="http://schemas.microsoft.com/office/powerpoint/2010/main" val="2591985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latin typeface="Times New Roman" panose="02020603050405020304" pitchFamily="18" charset="0"/>
                <a:cs typeface="Times New Roman" panose="02020603050405020304" pitchFamily="18" charset="0"/>
              </a:rPr>
              <a:t>Менеджер последовательного расположение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размещает компоненты в контейнере слева направо, сверху вниз. При полном заполнении компонентами строки контейнера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переходит на следующую строку вниз. Данное расположение устанавливается по умолчанию в панелях </a:t>
            </a:r>
            <a:r>
              <a:rPr lang="ru-RU" dirty="0" err="1">
                <a:latin typeface="Times New Roman" panose="02020603050405020304" pitchFamily="18" charset="0"/>
                <a:cs typeface="Times New Roman" panose="02020603050405020304" pitchFamily="18" charset="0"/>
              </a:rPr>
              <a:t>JPanel</a:t>
            </a:r>
            <a:r>
              <a:rPr lang="ru-RU" dirty="0">
                <a:latin typeface="Times New Roman" panose="02020603050405020304" pitchFamily="18" charset="0"/>
                <a:cs typeface="Times New Roman" panose="02020603050405020304" pitchFamily="18" charset="0"/>
              </a:rPr>
              <a:t>. Основным свойством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является определение предпочтительного размера компонентов. Например, размер метки с текстом </a:t>
            </a:r>
            <a:r>
              <a:rPr lang="ru-RU" dirty="0" err="1">
                <a:latin typeface="Times New Roman" panose="02020603050405020304" pitchFamily="18" charset="0"/>
                <a:cs typeface="Times New Roman" panose="02020603050405020304" pitchFamily="18" charset="0"/>
              </a:rPr>
              <a:t>JLabel</a:t>
            </a:r>
            <a:r>
              <a:rPr lang="ru-RU" dirty="0">
                <a:latin typeface="Times New Roman" panose="02020603050405020304" pitchFamily="18" charset="0"/>
                <a:cs typeface="Times New Roman" panose="02020603050405020304" pitchFamily="18" charset="0"/>
              </a:rPr>
              <a:t> соответствует размеру текста.</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Конструктор класса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имеет три перегруженные версии: без параметров, с параметрами выравнивания компонентов, с параметрами выравнивания компонентов и расстояний между ними.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При последовательном расположении менеджер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всегда сохраняет предпочтительный размер компонентов. Если места в контейнере становится мало, то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просто прячет «лишние» компоненты, а не уменьшает их размеры.</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Поэтому использовать последовательное расположение следует только в контейнере, где достаточно места, или там, где контейнеру некуда будет «прятать» свои компоненты. </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Также к важным свойствам менеджера расположения </a:t>
            </a:r>
            <a:r>
              <a:rPr lang="ru-RU" dirty="0" err="1">
                <a:latin typeface="Times New Roman" panose="02020603050405020304" pitchFamily="18" charset="0"/>
                <a:cs typeface="Times New Roman" panose="02020603050405020304" pitchFamily="18" charset="0"/>
              </a:rPr>
              <a:t>FlowLayout</a:t>
            </a:r>
            <a:r>
              <a:rPr lang="ru-RU" dirty="0">
                <a:latin typeface="Times New Roman" panose="02020603050405020304" pitchFamily="18" charset="0"/>
                <a:cs typeface="Times New Roman" panose="02020603050405020304" pitchFamily="18" charset="0"/>
              </a:rPr>
              <a:t> следует отнести то, что при вызове метода </a:t>
            </a:r>
            <a:r>
              <a:rPr lang="ru-RU" dirty="0" err="1">
                <a:latin typeface="Times New Roman" panose="02020603050405020304" pitchFamily="18" charset="0"/>
                <a:cs typeface="Times New Roman" panose="02020603050405020304" pitchFamily="18" charset="0"/>
              </a:rPr>
              <a:t>preferredLayoutSize</a:t>
            </a:r>
            <a:r>
              <a:rPr lang="ru-RU" dirty="0">
                <a:latin typeface="Times New Roman" panose="02020603050405020304" pitchFamily="18" charset="0"/>
                <a:cs typeface="Times New Roman" panose="02020603050405020304" pitchFamily="18" charset="0"/>
              </a:rPr>
              <a:t>() или </a:t>
            </a:r>
            <a:r>
              <a:rPr lang="ru-RU" dirty="0" err="1">
                <a:latin typeface="Times New Roman" panose="02020603050405020304" pitchFamily="18" charset="0"/>
                <a:cs typeface="Times New Roman" panose="02020603050405020304" pitchFamily="18" charset="0"/>
              </a:rPr>
              <a:t>minimumLayoutSize</a:t>
            </a:r>
            <a:r>
              <a:rPr lang="ru-RU" dirty="0">
                <a:latin typeface="Times New Roman" panose="02020603050405020304" pitchFamily="18" charset="0"/>
                <a:cs typeface="Times New Roman" panose="02020603050405020304" pitchFamily="18" charset="0"/>
              </a:rPr>
              <a:t>(), позволяющего узнать предпочтительный и минимальный размеры контейнера, в котором этот менеджер действует, метод возвращает размер, соответствующий ситуации расположения всех компонентов в одну строку. Это особенно важно при совмещении последовательного расположения с другими вариантами расположения. Вследствие этого свойства менеджеры других вариантов расположения будут стараться найти достаточно места для размещения компонентов в одну строку.</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24</a:t>
            </a:fld>
            <a:endParaRPr lang="ru-RU"/>
          </a:p>
        </p:txBody>
      </p:sp>
    </p:spTree>
    <p:extLst>
      <p:ext uri="{BB962C8B-B14F-4D97-AF65-F5344CB8AC3E}">
        <p14:creationId xmlns:p14="http://schemas.microsoft.com/office/powerpoint/2010/main" val="1118872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latin typeface="Times New Roman" panose="02020603050405020304" pitchFamily="18" charset="0"/>
                <a:cs typeface="Times New Roman" panose="02020603050405020304" pitchFamily="18" charset="0"/>
              </a:rPr>
              <a:t>Менеджер расположения </a:t>
            </a:r>
            <a:r>
              <a:rPr lang="ru-RU" dirty="0" err="1">
                <a:latin typeface="Times New Roman" panose="02020603050405020304" pitchFamily="18" charset="0"/>
                <a:cs typeface="Times New Roman" panose="02020603050405020304" pitchFamily="18" charset="0"/>
              </a:rPr>
              <a:t>GridLayout</a:t>
            </a:r>
            <a:r>
              <a:rPr lang="ru-RU" dirty="0">
                <a:latin typeface="Times New Roman" panose="02020603050405020304" pitchFamily="18" charset="0"/>
                <a:cs typeface="Times New Roman" panose="02020603050405020304" pitchFamily="18" charset="0"/>
              </a:rPr>
              <a:t> представляет контейнер в виде таблицы с ячейками одинакового размера. Количество строк и столбцов можно указать в конструкторе. Имеется возможность задать произвольное количество либо строк, либо столбцов, но не одновременно. Все ячейки таблицы имеют одинаковый размер, равный размеру самого большого компонента, находящегося в таблице.</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Первые два параметра конструктора </a:t>
            </a:r>
            <a:r>
              <a:rPr lang="en-US" dirty="0" err="1">
                <a:latin typeface="Times New Roman" panose="02020603050405020304" pitchFamily="18" charset="0"/>
                <a:cs typeface="Times New Roman" panose="02020603050405020304" pitchFamily="18" charset="0"/>
              </a:rPr>
              <a:t>GridLayout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определяют количество</a:t>
            </a:r>
          </a:p>
          <a:p>
            <a:r>
              <a:rPr lang="ru-RU" dirty="0">
                <a:latin typeface="Times New Roman" panose="02020603050405020304" pitchFamily="18" charset="0"/>
                <a:cs typeface="Times New Roman" panose="02020603050405020304" pitchFamily="18" charset="0"/>
              </a:rPr>
              <a:t>         * строк и столбцов в таблице. Вторые 2 параметра - расстояние между</a:t>
            </a:r>
          </a:p>
          <a:p>
            <a:r>
              <a:rPr lang="ru-RU" dirty="0">
                <a:latin typeface="Times New Roman" panose="02020603050405020304" pitchFamily="18" charset="0"/>
                <a:cs typeface="Times New Roman" panose="02020603050405020304" pitchFamily="18" charset="0"/>
              </a:rPr>
              <a:t>         * ячейками по горизонтали и вертикали</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В примере задается произвольное количество столбцов. Для этого в конструкторе вместо конкретного числа столбцов указывается ноль. Аналогично можно задать и произвольное количество строк в таблице.</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Если произвольно увеличить размер окна, то менеджер расположения </a:t>
            </a:r>
            <a:r>
              <a:rPr lang="ru-RU" dirty="0" err="1">
                <a:latin typeface="Times New Roman" panose="02020603050405020304" pitchFamily="18" charset="0"/>
                <a:cs typeface="Times New Roman" panose="02020603050405020304" pitchFamily="18" charset="0"/>
              </a:rPr>
              <a:t>GridLayout</a:t>
            </a:r>
            <a:r>
              <a:rPr lang="ru-RU" dirty="0">
                <a:latin typeface="Times New Roman" panose="02020603050405020304" pitchFamily="18" charset="0"/>
                <a:cs typeface="Times New Roman" panose="02020603050405020304" pitchFamily="18" charset="0"/>
              </a:rPr>
              <a:t> также занимает все место, доступное в данный момент в окне, и пропорционально увеличивает размеры компонентов. Если уменьшить окно, то </a:t>
            </a:r>
            <a:r>
              <a:rPr lang="ru-RU" dirty="0" err="1">
                <a:latin typeface="Times New Roman" panose="02020603050405020304" pitchFamily="18" charset="0"/>
                <a:cs typeface="Times New Roman" panose="02020603050405020304" pitchFamily="18" charset="0"/>
              </a:rPr>
              <a:t>GridLayout</a:t>
            </a:r>
            <a:r>
              <a:rPr lang="ru-RU" dirty="0">
                <a:latin typeface="Times New Roman" panose="02020603050405020304" pitchFamily="18" charset="0"/>
                <a:cs typeface="Times New Roman" panose="02020603050405020304" pitchFamily="18" charset="0"/>
              </a:rPr>
              <a:t> также пропорционально уменьшит размеры компонентов. Основные свойства менеджера табличного расположения :</a:t>
            </a:r>
          </a:p>
          <a:p>
            <a:r>
              <a:rPr lang="ru-RU" dirty="0">
                <a:latin typeface="Times New Roman" panose="02020603050405020304" pitchFamily="18" charset="0"/>
                <a:cs typeface="Times New Roman" panose="02020603050405020304" pitchFamily="18" charset="0"/>
              </a:rPr>
              <a:t>Все компоненты имеют одинаковый размер. Доступное пространство контейнера с табличным расположением разбивается на одинаковое количество ячеек, в каждую из которых помещается компонент.</a:t>
            </a:r>
            <a:endParaRPr lang="en-US"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25</a:t>
            </a:fld>
            <a:endParaRPr lang="ru-RU"/>
          </a:p>
        </p:txBody>
      </p:sp>
    </p:spTree>
    <p:extLst>
      <p:ext uri="{BB962C8B-B14F-4D97-AF65-F5344CB8AC3E}">
        <p14:creationId xmlns:p14="http://schemas.microsoft.com/office/powerpoint/2010/main" val="1177991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Пример использования совмещенного табличного </a:t>
            </a:r>
            <a:r>
              <a:rPr lang="ru-RU" dirty="0" err="1"/>
              <a:t>GridLayout</a:t>
            </a:r>
            <a:r>
              <a:rPr lang="ru-RU" dirty="0"/>
              <a:t> и последовательного </a:t>
            </a:r>
            <a:r>
              <a:rPr lang="ru-RU" dirty="0" err="1"/>
              <a:t>FlowLayout</a:t>
            </a:r>
            <a:r>
              <a:rPr lang="ru-RU" dirty="0"/>
              <a:t> расположения компонентов.</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latin typeface="Times New Roman" panose="02020603050405020304" pitchFamily="18" charset="0"/>
                <a:cs typeface="Times New Roman" panose="02020603050405020304" pitchFamily="18" charset="0"/>
              </a:rPr>
              <a:t>В примере как бы не изменять размер окна полярное расположение заставит панель с кнопками разместиться вдоль нижней границы окна, а последовательное расположение заставит их прижаться к правому краю.</a:t>
            </a:r>
            <a:endParaRPr lang="en-US" dirty="0">
              <a:latin typeface="Times New Roman" panose="02020603050405020304" pitchFamily="18" charset="0"/>
              <a:cs typeface="Times New Roman" panose="02020603050405020304" pitchFamily="18" charset="0"/>
            </a:endParaRPr>
          </a:p>
          <a:p>
            <a:endParaRPr lang="ru-RU" dirty="0"/>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26</a:t>
            </a:fld>
            <a:endParaRPr lang="ru-RU"/>
          </a:p>
        </p:txBody>
      </p:sp>
    </p:spTree>
    <p:extLst>
      <p:ext uri="{BB962C8B-B14F-4D97-AF65-F5344CB8AC3E}">
        <p14:creationId xmlns:p14="http://schemas.microsoft.com/office/powerpoint/2010/main" val="3473856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err="1"/>
              <a:t>GridBagLayout</a:t>
            </a:r>
            <a:r>
              <a:rPr lang="ru-RU" sz="1200" b="0" i="0" kern="1200" dirty="0">
                <a:solidFill>
                  <a:schemeClr val="tx1"/>
                </a:solidFill>
                <a:effectLst/>
                <a:latin typeface="+mn-lt"/>
                <a:ea typeface="+mn-ea"/>
                <a:cs typeface="+mn-cs"/>
              </a:rPr>
              <a:t>— это сложный, гибкий менеджер макетов. Он выравнивает компоненты, размещая их в сетке ячеек, позволяя компонентам охватывать более одной ячейки. Строки в сетке могут иметь разную высоту, а столбцы сетки — разную ширину. </a:t>
            </a:r>
            <a:r>
              <a:rPr lang="ru-RU" dirty="0">
                <a:latin typeface="Times New Roman" panose="02020603050405020304" pitchFamily="18" charset="0"/>
                <a:cs typeface="Times New Roman" panose="02020603050405020304" pitchFamily="18" charset="0"/>
              </a:rPr>
              <a:t>Фактически </a:t>
            </a:r>
            <a:r>
              <a:rPr lang="ru-RU" dirty="0" err="1">
                <a:latin typeface="Times New Roman" panose="02020603050405020304" pitchFamily="18" charset="0"/>
                <a:cs typeface="Times New Roman" panose="02020603050405020304" pitchFamily="18" charset="0"/>
              </a:rPr>
              <a:t>GridBagLayout</a:t>
            </a:r>
            <a:r>
              <a:rPr lang="ru-RU" dirty="0">
                <a:latin typeface="Times New Roman" panose="02020603050405020304" pitchFamily="18" charset="0"/>
                <a:cs typeface="Times New Roman" panose="02020603050405020304" pitchFamily="18" charset="0"/>
              </a:rPr>
              <a:t> позволяет получить абсолютно любое расположение компонентов.</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latin typeface="Times New Roman" panose="02020603050405020304" pitchFamily="18" charset="0"/>
                <a:cs typeface="Times New Roman" panose="02020603050405020304" pitchFamily="18" charset="0"/>
              </a:rPr>
              <a:t>При использовании менеджера расположения </a:t>
            </a:r>
            <a:r>
              <a:rPr lang="ru-RU" dirty="0" err="1">
                <a:latin typeface="Times New Roman" panose="02020603050405020304" pitchFamily="18" charset="0"/>
                <a:cs typeface="Times New Roman" panose="02020603050405020304" pitchFamily="18" charset="0"/>
              </a:rPr>
              <a:t>GridBagLayout</a:t>
            </a:r>
            <a:r>
              <a:rPr lang="ru-RU" dirty="0">
                <a:latin typeface="Times New Roman" panose="02020603050405020304" pitchFamily="18" charset="0"/>
                <a:cs typeface="Times New Roman" panose="02020603050405020304" pitchFamily="18" charset="0"/>
              </a:rPr>
              <a:t> необходимо настраивать класс </a:t>
            </a:r>
            <a:r>
              <a:rPr lang="ru-RU" dirty="0" err="1">
                <a:latin typeface="Times New Roman" panose="02020603050405020304" pitchFamily="18" charset="0"/>
                <a:cs typeface="Times New Roman" panose="02020603050405020304" pitchFamily="18" charset="0"/>
              </a:rPr>
              <a:t>GridBagConstraints</a:t>
            </a:r>
            <a:r>
              <a:rPr lang="ru-RU" dirty="0">
                <a:latin typeface="Times New Roman" panose="02020603050405020304" pitchFamily="18" charset="0"/>
                <a:cs typeface="Times New Roman" panose="02020603050405020304" pitchFamily="18" charset="0"/>
              </a:rPr>
              <a:t> для каждого добавляемого компонента. Это существенно усложняет процесс разработки. Поэтому </a:t>
            </a:r>
            <a:r>
              <a:rPr lang="ru-RU" dirty="0" err="1">
                <a:latin typeface="Times New Roman" panose="02020603050405020304" pitchFamily="18" charset="0"/>
                <a:cs typeface="Times New Roman" panose="02020603050405020304" pitchFamily="18" charset="0"/>
              </a:rPr>
              <a:t>GridBagLayout</a:t>
            </a:r>
            <a:r>
              <a:rPr lang="ru-RU" dirty="0">
                <a:latin typeface="Times New Roman" panose="02020603050405020304" pitchFamily="18" charset="0"/>
                <a:cs typeface="Times New Roman" panose="02020603050405020304" pitchFamily="18" charset="0"/>
              </a:rPr>
              <a:t> используется большей частью при автоматизированной разработке интерфейса, при которой мышью указывается расположение компонентов, а система требуемым образом настраивает менеджер </a:t>
            </a:r>
            <a:r>
              <a:rPr lang="ru-RU" dirty="0" err="1">
                <a:latin typeface="Times New Roman" panose="02020603050405020304" pitchFamily="18" charset="0"/>
                <a:cs typeface="Times New Roman" panose="02020603050405020304" pitchFamily="18" charset="0"/>
              </a:rPr>
              <a:t>GridBagLayout</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27</a:t>
            </a:fld>
            <a:endParaRPr lang="ru-RU"/>
          </a:p>
        </p:txBody>
      </p:sp>
    </p:spTree>
    <p:extLst>
      <p:ext uri="{BB962C8B-B14F-4D97-AF65-F5344CB8AC3E}">
        <p14:creationId xmlns:p14="http://schemas.microsoft.com/office/powerpoint/2010/main" val="1095146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latin typeface="Times New Roman" panose="02020603050405020304" pitchFamily="18" charset="0"/>
                <a:cs typeface="Times New Roman" panose="02020603050405020304" pitchFamily="18" charset="0"/>
              </a:rPr>
              <a:t>Менеджер </a:t>
            </a:r>
            <a:r>
              <a:rPr lang="ru-RU" dirty="0" err="1">
                <a:latin typeface="Times New Roman" panose="02020603050405020304" pitchFamily="18" charset="0"/>
                <a:cs typeface="Times New Roman" panose="02020603050405020304" pitchFamily="18" charset="0"/>
              </a:rPr>
              <a:t>CardLayout</a:t>
            </a:r>
            <a:r>
              <a:rPr lang="ru-RU" dirty="0">
                <a:latin typeface="Times New Roman" panose="02020603050405020304" pitchFamily="18" charset="0"/>
                <a:cs typeface="Times New Roman" panose="02020603050405020304" pitchFamily="18" charset="0"/>
              </a:rPr>
              <a:t> можно использовать для создания так называемых вкладок (</a:t>
            </a:r>
            <a:r>
              <a:rPr lang="ru-RU" dirty="0" err="1">
                <a:latin typeface="Times New Roman" panose="02020603050405020304" pitchFamily="18" charset="0"/>
                <a:cs typeface="Times New Roman" panose="02020603050405020304" pitchFamily="18" charset="0"/>
              </a:rPr>
              <a:t>tabs</a:t>
            </a:r>
            <a:r>
              <a:rPr lang="ru-RU" dirty="0">
                <a:latin typeface="Times New Roman" panose="02020603050405020304" pitchFamily="18" charset="0"/>
                <a:cs typeface="Times New Roman" panose="02020603050405020304" pitchFamily="18" charset="0"/>
              </a:rPr>
              <a:t>), выбирая которые будут избранно открываться разные панели, занимающие одно и то же место в интерфейсе окна. В библиотеке </a:t>
            </a:r>
            <a:r>
              <a:rPr lang="ru-RU" dirty="0" err="1">
                <a:latin typeface="Times New Roman" panose="02020603050405020304" pitchFamily="18" charset="0"/>
                <a:cs typeface="Times New Roman" panose="02020603050405020304" pitchFamily="18" charset="0"/>
              </a:rPr>
              <a:t>Swing</a:t>
            </a:r>
            <a:r>
              <a:rPr lang="ru-RU" dirty="0">
                <a:latin typeface="Times New Roman" panose="02020603050405020304" pitchFamily="18" charset="0"/>
                <a:cs typeface="Times New Roman" panose="02020603050405020304" pitchFamily="18" charset="0"/>
              </a:rPr>
              <a:t> данную задачу можно решить с использованием класса </a:t>
            </a:r>
            <a:r>
              <a:rPr lang="ru-RU" dirty="0" err="1">
                <a:latin typeface="Times New Roman" panose="02020603050405020304" pitchFamily="18" charset="0"/>
                <a:cs typeface="Times New Roman" panose="02020603050405020304" pitchFamily="18" charset="0"/>
              </a:rPr>
              <a:t>JTabbedPane</a:t>
            </a:r>
            <a:r>
              <a:rPr lang="ru-RU" dirty="0">
                <a:latin typeface="Times New Roman" panose="02020603050405020304" pitchFamily="18" charset="0"/>
                <a:cs typeface="Times New Roman" panose="02020603050405020304" pitchFamily="18" charset="0"/>
              </a:rPr>
              <a:t>, организовывающего управление панелями с вкладками.</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834B684-8AB7-403C-9E68-1BD1028EDF33}" type="slidenum">
              <a:rPr lang="ru-RU" smtClean="0"/>
              <a:t>28</a:t>
            </a:fld>
            <a:endParaRPr lang="ru-RU"/>
          </a:p>
        </p:txBody>
      </p:sp>
    </p:spTree>
    <p:extLst>
      <p:ext uri="{BB962C8B-B14F-4D97-AF65-F5344CB8AC3E}">
        <p14:creationId xmlns:p14="http://schemas.microsoft.com/office/powerpoint/2010/main" val="26984542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Менеджер расположения (</a:t>
            </a:r>
            <a:r>
              <a:rPr lang="ru-RU" sz="1200" b="0" i="0" kern="1200" dirty="0" err="1">
                <a:solidFill>
                  <a:schemeClr val="tx1"/>
                </a:solidFill>
                <a:effectLst/>
                <a:latin typeface="+mn-lt"/>
                <a:ea typeface="+mn-ea"/>
                <a:cs typeface="+mn-cs"/>
              </a:rPr>
              <a:t>layout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manager</a:t>
            </a:r>
            <a:r>
              <a:rPr lang="ru-RU" sz="1200" b="0" i="0" kern="1200" dirty="0">
                <a:solidFill>
                  <a:schemeClr val="tx1"/>
                </a:solidFill>
                <a:effectLst/>
                <a:latin typeface="+mn-lt"/>
                <a:ea typeface="+mn-ea"/>
                <a:cs typeface="+mn-cs"/>
              </a:rPr>
              <a:t>) определяет, каким образом на форме будут располагаться компоненты. Независимо от платформы, виртуальной машины, разрешения и размеров экрана менеджер расположения гарантирует, что компоненты будут иметь предпочтительный или близкий к нему размер и располагаться в том порядке, который был указан программистом при создании программы.</a:t>
            </a:r>
            <a:endParaRPr lang="ru-RU" dirty="0"/>
          </a:p>
          <a:p>
            <a:r>
              <a:rPr lang="ru-RU" dirty="0" err="1"/>
              <a:t>FlowLayout</a:t>
            </a:r>
            <a:r>
              <a:rPr lang="ru-RU" dirty="0"/>
              <a:t> </a:t>
            </a:r>
            <a:r>
              <a:rPr lang="ru-RU" sz="1200" b="0" i="0" kern="1200" dirty="0">
                <a:solidFill>
                  <a:schemeClr val="tx1"/>
                </a:solidFill>
                <a:effectLst/>
                <a:latin typeface="+mn-lt"/>
                <a:ea typeface="+mn-ea"/>
                <a:cs typeface="+mn-cs"/>
              </a:rPr>
              <a:t>является менеджером макета по умолчанию для каждого </a:t>
            </a:r>
            <a:r>
              <a:rPr lang="ru-RU" dirty="0" err="1"/>
              <a:t>JPanel</a:t>
            </a:r>
            <a:r>
              <a:rPr lang="ru-RU" sz="1200" b="0" i="0" kern="1200" dirty="0">
                <a:solidFill>
                  <a:schemeClr val="tx1"/>
                </a:solidFill>
                <a:effectLst/>
                <a:latin typeface="+mn-lt"/>
                <a:ea typeface="+mn-ea"/>
                <a:cs typeface="+mn-cs"/>
              </a:rPr>
              <a:t>. Он просто размещает компоненты в одну строку, начиная новую строку, если его контейнер недостаточно широкий.</a:t>
            </a:r>
          </a:p>
          <a:p>
            <a:r>
              <a:rPr lang="ru-RU" sz="1200" b="0" i="0" kern="1200" dirty="0">
                <a:solidFill>
                  <a:schemeClr val="tx1"/>
                </a:solidFill>
                <a:effectLst/>
                <a:latin typeface="+mn-lt"/>
                <a:ea typeface="+mn-ea"/>
                <a:cs typeface="+mn-cs"/>
              </a:rPr>
              <a:t>A </a:t>
            </a:r>
            <a:r>
              <a:rPr lang="ru-RU" dirty="0" err="1"/>
              <a:t>BorderLayout</a:t>
            </a:r>
            <a:r>
              <a:rPr lang="ru-RU" dirty="0"/>
              <a:t> </a:t>
            </a:r>
            <a:r>
              <a:rPr lang="ru-RU" sz="1200" b="0" i="0" kern="1200" dirty="0">
                <a:solidFill>
                  <a:schemeClr val="tx1"/>
                </a:solidFill>
                <a:effectLst/>
                <a:latin typeface="+mn-lt"/>
                <a:ea typeface="+mn-ea"/>
                <a:cs typeface="+mn-cs"/>
              </a:rPr>
              <a:t>размещает компоненты в пяти областях: сверху, снизу, слева, справа и по центру. Все дополнительное пространство размещается в центральной области. </a:t>
            </a:r>
          </a:p>
          <a:p>
            <a:r>
              <a:rPr lang="ru-RU" dirty="0" err="1"/>
              <a:t>GridLayout</a:t>
            </a:r>
            <a:r>
              <a:rPr lang="ru-RU" dirty="0"/>
              <a:t>- </a:t>
            </a:r>
            <a:r>
              <a:rPr lang="ru-RU" sz="1200" b="0" i="0" kern="1200" dirty="0">
                <a:solidFill>
                  <a:schemeClr val="tx1"/>
                </a:solidFill>
                <a:effectLst/>
                <a:latin typeface="+mn-lt"/>
                <a:ea typeface="+mn-ea"/>
                <a:cs typeface="+mn-cs"/>
              </a:rPr>
              <a:t>просто делает кучу компонентов одинакового размера и отображает их в запрошенном количестве строк и столбцов.</a:t>
            </a:r>
          </a:p>
          <a:p>
            <a:endParaRPr lang="ru-RU" sz="1200" b="0" i="0" kern="1200" dirty="0">
              <a:solidFill>
                <a:schemeClr val="tx1"/>
              </a:solidFill>
              <a:effectLst/>
              <a:latin typeface="+mn-lt"/>
              <a:ea typeface="+mn-ea"/>
              <a:cs typeface="+mn-cs"/>
            </a:endParaRPr>
          </a:p>
          <a:p>
            <a:r>
              <a:rPr lang="ru-RU" dirty="0" err="1"/>
              <a:t>GridBagLayout</a:t>
            </a:r>
            <a:r>
              <a:rPr lang="ru-RU" sz="1200" b="0" i="0" kern="1200" dirty="0">
                <a:solidFill>
                  <a:schemeClr val="tx1"/>
                </a:solidFill>
                <a:effectLst/>
                <a:latin typeface="+mn-lt"/>
                <a:ea typeface="+mn-ea"/>
                <a:cs typeface="+mn-cs"/>
              </a:rPr>
              <a:t>— это сложный, гибкий менеджер макетов. Он выравнивает компоненты, размещая их в сетке ячеек, позволяя компонентам охватывать более одной ячейки. Строки в сетке могут иметь разную высоту, а столбцы сетки — разную ширину. </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Класс </a:t>
            </a:r>
            <a:r>
              <a:rPr lang="ru-RU" dirty="0" err="1"/>
              <a:t>BoxLayout</a:t>
            </a:r>
            <a:r>
              <a:rPr lang="ru-RU" dirty="0"/>
              <a:t> </a:t>
            </a:r>
            <a:r>
              <a:rPr lang="ru-RU" sz="1200" b="0" i="0" kern="1200" dirty="0">
                <a:solidFill>
                  <a:schemeClr val="tx1"/>
                </a:solidFill>
                <a:effectLst/>
                <a:latin typeface="+mn-lt"/>
                <a:ea typeface="+mn-ea"/>
                <a:cs typeface="+mn-cs"/>
              </a:rPr>
              <a:t>размещает компоненты в одной строке или столбце. Он учитывает запрошенные максимальные размеры компонентов, а также позволяет выравнивать компоненты.</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Класс </a:t>
            </a:r>
            <a:r>
              <a:rPr lang="ru-RU" dirty="0" err="1"/>
              <a:t>CardLayout</a:t>
            </a:r>
            <a:r>
              <a:rPr lang="ru-RU" dirty="0"/>
              <a:t> </a:t>
            </a:r>
            <a:r>
              <a:rPr lang="ru-RU" sz="1200" b="0" i="0" kern="1200" dirty="0">
                <a:solidFill>
                  <a:schemeClr val="tx1"/>
                </a:solidFill>
                <a:effectLst/>
                <a:latin typeface="+mn-lt"/>
                <a:ea typeface="+mn-ea"/>
                <a:cs typeface="+mn-cs"/>
              </a:rPr>
              <a:t>позволяет реализовать область, содержащую различные компоненты в разное время. A </a:t>
            </a:r>
            <a:r>
              <a:rPr lang="ru-RU" dirty="0" err="1"/>
              <a:t>CardLayout</a:t>
            </a:r>
            <a:r>
              <a:rPr lang="ru-RU" sz="1200" b="0" i="0" kern="1200" dirty="0" err="1">
                <a:solidFill>
                  <a:schemeClr val="tx1"/>
                </a:solidFill>
                <a:effectLst/>
                <a:latin typeface="+mn-lt"/>
                <a:ea typeface="+mn-ea"/>
                <a:cs typeface="+mn-cs"/>
              </a:rPr>
              <a:t>часто</a:t>
            </a:r>
            <a:r>
              <a:rPr lang="ru-RU" sz="1200" b="0" i="0" kern="1200" dirty="0">
                <a:solidFill>
                  <a:schemeClr val="tx1"/>
                </a:solidFill>
                <a:effectLst/>
                <a:latin typeface="+mn-lt"/>
                <a:ea typeface="+mn-ea"/>
                <a:cs typeface="+mn-cs"/>
              </a:rPr>
              <a:t> управляется выпадающим списком, при этом состояние выпадающего списка определяет, какую панель (группу компонентов) </a:t>
            </a:r>
            <a:r>
              <a:rPr lang="ru-RU" dirty="0" err="1"/>
              <a:t>CardLayout</a:t>
            </a:r>
            <a:r>
              <a:rPr lang="ru-RU" dirty="0"/>
              <a:t> </a:t>
            </a:r>
            <a:r>
              <a:rPr lang="ru-RU" sz="1200" b="0" i="0" kern="1200" dirty="0">
                <a:solidFill>
                  <a:schemeClr val="tx1"/>
                </a:solidFill>
                <a:effectLst/>
                <a:latin typeface="+mn-lt"/>
                <a:ea typeface="+mn-ea"/>
                <a:cs typeface="+mn-cs"/>
              </a:rPr>
              <a:t>отображать. Альтернативой использованию </a:t>
            </a:r>
            <a:r>
              <a:rPr lang="ru-RU" dirty="0" err="1"/>
              <a:t>CardLayout</a:t>
            </a:r>
            <a:r>
              <a:rPr lang="ru-RU" sz="1200" b="0" i="0" kern="1200" dirty="0" err="1">
                <a:solidFill>
                  <a:schemeClr val="tx1"/>
                </a:solidFill>
                <a:effectLst/>
                <a:latin typeface="+mn-lt"/>
                <a:ea typeface="+mn-ea"/>
                <a:cs typeface="+mn-cs"/>
              </a:rPr>
              <a:t>является</a:t>
            </a:r>
            <a:r>
              <a:rPr lang="ru-RU" sz="1200" b="0" i="0" kern="1200" dirty="0">
                <a:solidFill>
                  <a:schemeClr val="tx1"/>
                </a:solidFill>
                <a:effectLst/>
                <a:latin typeface="+mn-lt"/>
                <a:ea typeface="+mn-ea"/>
                <a:cs typeface="+mn-cs"/>
              </a:rPr>
              <a:t> использование </a:t>
            </a:r>
            <a:r>
              <a:rPr lang="ru-RU" sz="1200" b="0" i="0" u="none" strike="noStrike" kern="1200" dirty="0">
                <a:solidFill>
                  <a:schemeClr val="tx1"/>
                </a:solidFill>
                <a:effectLst/>
                <a:latin typeface="+mn-lt"/>
                <a:ea typeface="+mn-ea"/>
                <a:cs typeface="+mn-cs"/>
                <a:hlinkClick r:id="rId3"/>
              </a:rPr>
              <a:t>вкладки</a:t>
            </a:r>
            <a:r>
              <a:rPr lang="ru-RU" sz="1200" b="0" i="0" kern="1200" dirty="0">
                <a:solidFill>
                  <a:schemeClr val="tx1"/>
                </a:solidFill>
                <a:effectLst/>
                <a:latin typeface="+mn-lt"/>
                <a:ea typeface="+mn-ea"/>
                <a:cs typeface="+mn-cs"/>
              </a:rPr>
              <a:t> , которая обеспечивает схожую функциональность, но с предопределенным графическим интерфейсом.</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Класс </a:t>
            </a:r>
            <a:r>
              <a:rPr lang="ru-RU" dirty="0" err="1"/>
              <a:t>BoxLayout</a:t>
            </a:r>
            <a:r>
              <a:rPr lang="ru-RU" dirty="0"/>
              <a:t> </a:t>
            </a:r>
            <a:r>
              <a:rPr lang="ru-RU" sz="1200" b="0" i="0" kern="1200" dirty="0">
                <a:solidFill>
                  <a:schemeClr val="tx1"/>
                </a:solidFill>
                <a:effectLst/>
                <a:latin typeface="+mn-lt"/>
                <a:ea typeface="+mn-ea"/>
                <a:cs typeface="+mn-cs"/>
              </a:rPr>
              <a:t>размещает компоненты в одной строке или столбце. Он учитывает запрошенные максимальные размеры компонентов, а также позволяет выравнивать компоненты. </a:t>
            </a:r>
          </a:p>
          <a:p>
            <a:endParaRPr lang="ru-RU" dirty="0"/>
          </a:p>
          <a:p>
            <a:r>
              <a:rPr lang="ru-RU" dirty="0" err="1"/>
              <a:t>GroupLayout</a:t>
            </a:r>
            <a:r>
              <a:rPr lang="ru-RU" dirty="0"/>
              <a:t>— это менеджер макетов, разработанный для использования инструментами GUI </a:t>
            </a:r>
            <a:r>
              <a:rPr lang="ru-RU" dirty="0" err="1"/>
              <a:t>Builder</a:t>
            </a:r>
            <a:r>
              <a:rPr lang="ru-RU" dirty="0"/>
              <a:t>, но его также можно использовать вручную. </a:t>
            </a:r>
            <a:r>
              <a:rPr lang="ru-RU" dirty="0" err="1"/>
              <a:t>GroupLayoutработает</a:t>
            </a:r>
            <a:r>
              <a:rPr lang="ru-RU" dirty="0"/>
              <a:t> с горизонтальными и вертикальными макетами отдельно. Макет определяется для каждого измерения независимо. Следовательно, однако, каждый компонент должен быть определен дважды в макете. Окно </a:t>
            </a:r>
            <a:r>
              <a:rPr lang="ru-RU" dirty="0" err="1"/>
              <a:t>Find</a:t>
            </a:r>
            <a:r>
              <a:rPr lang="ru-RU" dirty="0"/>
              <a:t>, показанное выше, является примером </a:t>
            </a:r>
            <a:r>
              <a:rPr lang="ru-RU" dirty="0" err="1"/>
              <a:t>GroupLayout</a:t>
            </a:r>
            <a:r>
              <a:rPr lang="ru-RU" dirty="0"/>
              <a:t>.</a:t>
            </a:r>
          </a:p>
          <a:p>
            <a:endParaRPr lang="ru-RU" dirty="0"/>
          </a:p>
          <a:p>
            <a:r>
              <a:rPr lang="ru-RU" dirty="0" err="1"/>
              <a:t>SpringLayout</a:t>
            </a:r>
            <a:r>
              <a:rPr lang="ru-RU" dirty="0"/>
              <a:t>— гибкий менеджер компоновки, разработанный для использования разработчиками GUI. Он позволяет вам указывать точные отношения между краями компонентов, находящихся под его контролем. Например, вы можете определить, что левый край одного компонента находится на определенном расстоянии (которое может быть динамически рассчитано) от правого края второго компонента. </a:t>
            </a:r>
            <a:r>
              <a:rPr lang="ru-RU" dirty="0" err="1"/>
              <a:t>SpringLayout</a:t>
            </a:r>
            <a:r>
              <a:rPr lang="ru-RU" dirty="0"/>
              <a:t> размещает дочерние элементы своего связанного контейнера в соответствии с набором ограничений</a:t>
            </a:r>
          </a:p>
          <a:p>
            <a:endParaRPr lang="ru-RU" dirty="0"/>
          </a:p>
          <a:p>
            <a:r>
              <a:rPr lang="ru-RU" sz="1200" b="0" i="0" kern="1200" dirty="0">
                <a:solidFill>
                  <a:schemeClr val="tx1"/>
                </a:solidFill>
                <a:effectLst/>
                <a:latin typeface="+mn-lt"/>
                <a:ea typeface="+mn-ea"/>
                <a:cs typeface="+mn-cs"/>
              </a:rPr>
              <a:t>Поддержка менеджеров расположения встроена в базовый класс контейнеров </a:t>
            </a:r>
            <a:r>
              <a:rPr lang="ru-RU" sz="1200" b="0" i="0" kern="1200" dirty="0" err="1">
                <a:solidFill>
                  <a:schemeClr val="tx1"/>
                </a:solidFill>
                <a:effectLst/>
                <a:latin typeface="+mn-lt"/>
                <a:ea typeface="+mn-ea"/>
                <a:cs typeface="+mn-cs"/>
              </a:rPr>
              <a:t>java.awt.Container</a:t>
            </a:r>
            <a:r>
              <a:rPr lang="ru-RU" sz="1200" b="0" i="0" kern="1200" dirty="0">
                <a:solidFill>
                  <a:schemeClr val="tx1"/>
                </a:solidFill>
                <a:effectLst/>
                <a:latin typeface="+mn-lt"/>
                <a:ea typeface="+mn-ea"/>
                <a:cs typeface="+mn-cs"/>
              </a:rPr>
              <a:t>. Все компоненты библиотеки </a:t>
            </a:r>
            <a:r>
              <a:rPr lang="ru-RU" sz="1200" b="0" i="0" kern="1200" dirty="0" err="1">
                <a:solidFill>
                  <a:schemeClr val="tx1"/>
                </a:solidFill>
                <a:effectLst/>
                <a:latin typeface="+mn-lt"/>
                <a:ea typeface="+mn-ea"/>
                <a:cs typeface="+mn-cs"/>
              </a:rPr>
              <a:t>Swing</a:t>
            </a:r>
            <a:r>
              <a:rPr lang="ru-RU" sz="1200" b="0" i="0" kern="1200" dirty="0">
                <a:solidFill>
                  <a:schemeClr val="tx1"/>
                </a:solidFill>
                <a:effectLst/>
                <a:latin typeface="+mn-lt"/>
                <a:ea typeface="+mn-ea"/>
                <a:cs typeface="+mn-cs"/>
              </a:rPr>
              <a:t> унаследованы от базового класса </a:t>
            </a:r>
            <a:r>
              <a:rPr lang="ru-RU" sz="1200" b="0" i="0" kern="1200" dirty="0" err="1">
                <a:solidFill>
                  <a:schemeClr val="tx1"/>
                </a:solidFill>
                <a:effectLst/>
                <a:latin typeface="+mn-lt"/>
                <a:ea typeface="+mn-ea"/>
                <a:cs typeface="+mn-cs"/>
              </a:rPr>
              <a:t>JComponent</a:t>
            </a:r>
            <a:r>
              <a:rPr lang="ru-RU" sz="1200" b="0" i="0" kern="1200" dirty="0">
                <a:solidFill>
                  <a:schemeClr val="tx1"/>
                </a:solidFill>
                <a:effectLst/>
                <a:latin typeface="+mn-lt"/>
                <a:ea typeface="+mn-ea"/>
                <a:cs typeface="+mn-cs"/>
              </a:rPr>
              <a:t>, который, в свою очередь, унаследован от класса </a:t>
            </a:r>
            <a:r>
              <a:rPr lang="ru-RU" sz="1200" b="0" i="0" kern="1200" dirty="0" err="1">
                <a:solidFill>
                  <a:schemeClr val="tx1"/>
                </a:solidFill>
                <a:effectLst/>
                <a:latin typeface="+mn-lt"/>
                <a:ea typeface="+mn-ea"/>
                <a:cs typeface="+mn-cs"/>
              </a:rPr>
              <a:t>Container</a:t>
            </a:r>
            <a:r>
              <a:rPr lang="ru-RU" sz="1200" b="0" i="0" kern="1200" dirty="0">
                <a:solidFill>
                  <a:schemeClr val="tx1"/>
                </a:solidFill>
                <a:effectLst/>
                <a:latin typeface="+mn-lt"/>
                <a:ea typeface="+mn-ea"/>
                <a:cs typeface="+mn-cs"/>
              </a:rPr>
              <a:t>. Таким образом, для любого компонента </a:t>
            </a:r>
            <a:r>
              <a:rPr lang="ru-RU" sz="1200" b="0" i="0" kern="1200" dirty="0" err="1">
                <a:solidFill>
                  <a:schemeClr val="tx1"/>
                </a:solidFill>
                <a:effectLst/>
                <a:latin typeface="+mn-lt"/>
                <a:ea typeface="+mn-ea"/>
                <a:cs typeface="+mn-cs"/>
              </a:rPr>
              <a:t>Swing</a:t>
            </a:r>
            <a:r>
              <a:rPr lang="ru-RU" sz="1200" b="0" i="0" kern="1200" dirty="0">
                <a:solidFill>
                  <a:schemeClr val="tx1"/>
                </a:solidFill>
                <a:effectLst/>
                <a:latin typeface="+mn-lt"/>
                <a:ea typeface="+mn-ea"/>
                <a:cs typeface="+mn-cs"/>
              </a:rPr>
              <a:t> можно установить менеджер расположения или узнать, какой менеджер им используется в данный момент. Для этого предназначены методы </a:t>
            </a:r>
            <a:r>
              <a:rPr lang="ru-RU" sz="1200" b="1" i="0" kern="1200" dirty="0" err="1">
                <a:solidFill>
                  <a:schemeClr val="tx1"/>
                </a:solidFill>
                <a:effectLst/>
                <a:latin typeface="+mn-lt"/>
                <a:ea typeface="+mn-ea"/>
                <a:cs typeface="+mn-cs"/>
              </a:rPr>
              <a:t>setLayout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и </a:t>
            </a:r>
            <a:r>
              <a:rPr lang="ru-RU" sz="1200" b="1" i="0" kern="1200" dirty="0" err="1">
                <a:solidFill>
                  <a:schemeClr val="tx1"/>
                </a:solidFill>
                <a:effectLst/>
                <a:latin typeface="+mn-lt"/>
                <a:ea typeface="+mn-ea"/>
                <a:cs typeface="+mn-cs"/>
              </a:rPr>
              <a:t>getLayout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29</a:t>
            </a:fld>
            <a:endParaRPr lang="ru-RU"/>
          </a:p>
        </p:txBody>
      </p:sp>
    </p:spTree>
    <p:extLst>
      <p:ext uri="{BB962C8B-B14F-4D97-AF65-F5344CB8AC3E}">
        <p14:creationId xmlns:p14="http://schemas.microsoft.com/office/powerpoint/2010/main" val="41277588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GroupLayout</a:t>
            </a:r>
            <a:r>
              <a:rPr lang="ru-RU" dirty="0"/>
              <a:t>— это менеджер макетов, разработанный для использования инструментами GUI </a:t>
            </a:r>
            <a:r>
              <a:rPr lang="ru-RU" dirty="0" err="1"/>
              <a:t>Builder</a:t>
            </a:r>
            <a:r>
              <a:rPr lang="ru-RU" dirty="0"/>
              <a:t>, но его также можно использовать вручную. </a:t>
            </a:r>
            <a:r>
              <a:rPr lang="ru-RU" dirty="0" err="1"/>
              <a:t>GroupLayout</a:t>
            </a:r>
            <a:r>
              <a:rPr lang="ru-RU" dirty="0"/>
              <a:t> работает с горизонтальными и вертикальными макетами отдельно. Макет определяется для каждого измерения независимо. Следовательно,, однако каждый компонент должен быть определен дважды в макете.</a:t>
            </a:r>
          </a:p>
        </p:txBody>
      </p:sp>
      <p:sp>
        <p:nvSpPr>
          <p:cNvPr id="4" name="Slide Number Placeholder 3"/>
          <p:cNvSpPr>
            <a:spLocks noGrp="1"/>
          </p:cNvSpPr>
          <p:nvPr>
            <p:ph type="sldNum" sz="quarter" idx="5"/>
          </p:nvPr>
        </p:nvSpPr>
        <p:spPr/>
        <p:txBody>
          <a:bodyPr/>
          <a:lstStyle/>
          <a:p>
            <a:fld id="{E834B684-8AB7-403C-9E68-1BD1028EDF33}" type="slidenum">
              <a:rPr lang="ru-RU" smtClean="0"/>
              <a:t>30</a:t>
            </a:fld>
            <a:endParaRPr lang="ru-RU"/>
          </a:p>
        </p:txBody>
      </p:sp>
    </p:spTree>
    <p:extLst>
      <p:ext uri="{BB962C8B-B14F-4D97-AF65-F5344CB8AC3E}">
        <p14:creationId xmlns:p14="http://schemas.microsoft.com/office/powerpoint/2010/main" val="15172164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SpringLayout</a:t>
            </a:r>
            <a:r>
              <a:rPr lang="ru-RU" dirty="0"/>
              <a:t>— гибкий менеджер компоновки, разработанный для использования разработчиками GUI. Он позволяет вам указывать точные отношения между краями компонентов, находящихся под его контролем. Например, вы можете определить, что левый край одного компонента находится на определенном расстоянии (которое может быть динамически рассчитано) от правого края второго компонента. </a:t>
            </a:r>
            <a:r>
              <a:rPr lang="ru-RU" dirty="0" err="1"/>
              <a:t>SpringLayout</a:t>
            </a:r>
            <a:r>
              <a:rPr lang="ru-RU" dirty="0"/>
              <a:t> размещает дочерние элементы своего связанного контейнера в соответствии с набором ограничений</a:t>
            </a:r>
          </a:p>
          <a:p>
            <a:endParaRPr lang="ru-RU" dirty="0"/>
          </a:p>
          <a:p>
            <a:pPr algn="just"/>
            <a:r>
              <a:rPr lang="ru-RU" dirty="0">
                <a:latin typeface="Times New Roman" panose="02020603050405020304" pitchFamily="18" charset="0"/>
                <a:cs typeface="Times New Roman" panose="02020603050405020304" pitchFamily="18" charset="0"/>
              </a:rPr>
              <a:t>Несмотря на универсальность менеджера расположения </a:t>
            </a:r>
            <a:r>
              <a:rPr lang="ru-RU" dirty="0" err="1">
                <a:latin typeface="Times New Roman" panose="02020603050405020304" pitchFamily="18" charset="0"/>
                <a:cs typeface="Times New Roman" panose="02020603050405020304" pitchFamily="18" charset="0"/>
              </a:rPr>
              <a:t>SpringLayout</a:t>
            </a:r>
            <a:r>
              <a:rPr lang="ru-RU" dirty="0">
                <a:latin typeface="Times New Roman" panose="02020603050405020304" pitchFamily="18" charset="0"/>
                <a:cs typeface="Times New Roman" panose="02020603050405020304" pitchFamily="18" charset="0"/>
              </a:rPr>
              <a:t>, действие его весьма специфично и не похоже на действие ни одного из уже рассмотренных выше менеджеров расположения.</a:t>
            </a:r>
          </a:p>
          <a:p>
            <a:pPr algn="just"/>
            <a:endParaRPr lang="ru-RU" dirty="0">
              <a:latin typeface="Times New Roman" panose="02020603050405020304" pitchFamily="18" charset="0"/>
              <a:cs typeface="Times New Roman" panose="02020603050405020304" pitchFamily="18" charset="0"/>
            </a:endParaRPr>
          </a:p>
          <a:p>
            <a:pPr algn="just"/>
            <a:r>
              <a:rPr lang="ru-RU" dirty="0">
                <a:latin typeface="Times New Roman" panose="02020603050405020304" pitchFamily="18" charset="0"/>
                <a:cs typeface="Times New Roman" panose="02020603050405020304" pitchFamily="18" charset="0"/>
              </a:rPr>
              <a:t>С каждым компонентом ассоциируется особый информационный объект </a:t>
            </a:r>
            <a:r>
              <a:rPr lang="ru-RU" dirty="0" err="1">
                <a:latin typeface="Times New Roman" panose="02020603050405020304" pitchFamily="18" charset="0"/>
                <a:cs typeface="Times New Roman" panose="02020603050405020304" pitchFamily="18" charset="0"/>
              </a:rPr>
              <a:t>SpringLayout</a:t>
            </a:r>
            <a:r>
              <a:rPr lang="ru-RU" dirty="0">
                <a:latin typeface="Times New Roman" panose="02020603050405020304" pitchFamily="18" charset="0"/>
                <a:cs typeface="Times New Roman" panose="02020603050405020304" pitchFamily="18" charset="0"/>
              </a:rPr>
              <a:t>, который позволяет задать расстояние (в пикселах) между парой границ различных компонентов. Границ у компонента четыре — это его северная, восточная, западная и южная стороны. Можно задавать расстояние и между границами одного и того же компонента: к примеру, задав расстояние между северной и южной сторонами одного компонента, вы укажете его высоту. По умолчанию все компоненты имеют предпочтительный размер, однако </a:t>
            </a:r>
            <a:r>
              <a:rPr lang="ru-RU" dirty="0" err="1">
                <a:latin typeface="Times New Roman" panose="02020603050405020304" pitchFamily="18" charset="0"/>
                <a:cs typeface="Times New Roman" panose="02020603050405020304" pitchFamily="18" charset="0"/>
              </a:rPr>
              <a:t>SpringLayout</a:t>
            </a:r>
            <a:r>
              <a:rPr lang="ru-RU" dirty="0">
                <a:latin typeface="Times New Roman" panose="02020603050405020304" pitchFamily="18" charset="0"/>
                <a:cs typeface="Times New Roman" panose="02020603050405020304" pitchFamily="18" charset="0"/>
              </a:rPr>
              <a:t> учитывает и два остальных размера, не делая компоненты меньше минимального и больше максимального размеров.</a:t>
            </a:r>
          </a:p>
        </p:txBody>
      </p:sp>
      <p:sp>
        <p:nvSpPr>
          <p:cNvPr id="4" name="Slide Number Placeholder 3"/>
          <p:cNvSpPr>
            <a:spLocks noGrp="1"/>
          </p:cNvSpPr>
          <p:nvPr>
            <p:ph type="sldNum" sz="quarter" idx="5"/>
          </p:nvPr>
        </p:nvSpPr>
        <p:spPr/>
        <p:txBody>
          <a:bodyPr/>
          <a:lstStyle/>
          <a:p>
            <a:fld id="{E834B684-8AB7-403C-9E68-1BD1028EDF33}" type="slidenum">
              <a:rPr lang="ru-RU" smtClean="0"/>
              <a:t>31</a:t>
            </a:fld>
            <a:endParaRPr lang="ru-RU"/>
          </a:p>
        </p:txBody>
      </p:sp>
    </p:spTree>
    <p:extLst>
      <p:ext uri="{BB962C8B-B14F-4D97-AF65-F5344CB8AC3E}">
        <p14:creationId xmlns:p14="http://schemas.microsoft.com/office/powerpoint/2010/main" val="1434399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Первая часть </a:t>
            </a:r>
            <a:r>
              <a:rPr lang="ru-RU" dirty="0" err="1"/>
              <a:t>Model</a:t>
            </a:r>
            <a:r>
              <a:rPr lang="ru-RU" dirty="0"/>
              <a:t>, составляет один или несколько классов, в которых хранится или вырабатывается вся информация, обрабатываемая компонентом, и текущее состояние объектов, созданных этим компонентом. Эти классы обладают методами </a:t>
            </a:r>
            <a:r>
              <a:rPr lang="ru-RU" dirty="0" err="1"/>
              <a:t>setXXX</a:t>
            </a:r>
            <a:r>
              <a:rPr lang="ru-RU" dirty="0"/>
              <a:t>() ввода и изменения информации.</a:t>
            </a:r>
          </a:p>
          <a:p>
            <a:r>
              <a:rPr lang="ru-RU" dirty="0"/>
              <a:t>Вторая часть – один или несколько классов, составляющих </a:t>
            </a:r>
            <a:r>
              <a:rPr lang="ru-RU" dirty="0" err="1"/>
              <a:t>View</a:t>
            </a:r>
            <a:r>
              <a:rPr lang="ru-RU" dirty="0"/>
              <a:t>. Эта часть компонента описывает способ представления результатов, сгенерированных Моделью, на экране дисплея, принтере, или другом устройстве в определенном виде: таблица, график, диаграмма. К одной Модели можно подключить несколько Видов, по-разному </a:t>
            </a:r>
            <a:r>
              <a:rPr lang="ru-RU" dirty="0" err="1"/>
              <a:t>предстваляющих</a:t>
            </a:r>
            <a:r>
              <a:rPr lang="ru-RU" dirty="0"/>
              <a:t> одни и те же результаты или отражающие разную информацию. Виды получают информацию методами </a:t>
            </a:r>
            <a:r>
              <a:rPr lang="ru-RU" dirty="0" err="1"/>
              <a:t>getXxx</a:t>
            </a:r>
            <a:r>
              <a:rPr lang="ru-RU" dirty="0"/>
              <a:t>() и </a:t>
            </a:r>
            <a:r>
              <a:rPr lang="ru-RU" dirty="0" err="1"/>
              <a:t>isXxx</a:t>
            </a:r>
            <a:r>
              <a:rPr lang="ru-RU" dirty="0"/>
              <a:t>() Модели.</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chemeClr val="dk1"/>
                </a:solidFill>
                <a:latin typeface="+mn-lt"/>
              </a:rPr>
              <a:t>Третья часть – классы, образующие </a:t>
            </a:r>
            <a:r>
              <a:rPr lang="ru-RU" sz="1200" b="0" strike="noStrike" spc="-1" dirty="0" err="1">
                <a:solidFill>
                  <a:schemeClr val="dk1"/>
                </a:solidFill>
                <a:latin typeface="+mn-lt"/>
              </a:rPr>
              <a:t>Controller</a:t>
            </a:r>
            <a:r>
              <a:rPr lang="ru-RU" sz="1200" b="0" strike="noStrike" spc="-1" dirty="0">
                <a:solidFill>
                  <a:schemeClr val="dk1"/>
                </a:solidFill>
                <a:latin typeface="+mn-lt"/>
              </a:rPr>
              <a:t>, - создают интерфейс для ввода информации и изменения состояния объекта. Они реагируют на события ввода с клавиатуры, действия мыши и прочие воздействия на объект и обращаются к методам </a:t>
            </a:r>
            <a:r>
              <a:rPr lang="ru-RU" sz="1200" b="0" strike="noStrike" spc="-1" dirty="0" err="1">
                <a:solidFill>
                  <a:schemeClr val="dk1"/>
                </a:solidFill>
                <a:latin typeface="+mn-lt"/>
              </a:rPr>
              <a:t>setXxx</a:t>
            </a:r>
            <a:r>
              <a:rPr lang="ru-RU" sz="1200" b="0" strike="noStrike" spc="-1" dirty="0">
                <a:solidFill>
                  <a:schemeClr val="dk1"/>
                </a:solidFill>
                <a:latin typeface="+mn-lt"/>
              </a:rPr>
              <a:t>() Модели, изменяя её поля или вызывая генерацию информации. Одна Модель может использоваться несколькими Контроллерами.</a:t>
            </a:r>
            <a:endParaRPr lang="ru-RU" sz="1200" b="0" strike="noStrike" spc="-1" dirty="0">
              <a:solidFill>
                <a:srgbClr val="000000"/>
              </a:solidFill>
              <a:latin typeface="Arial"/>
            </a:endParaRPr>
          </a:p>
          <a:p>
            <a:endParaRPr lang="ru-RU" dirty="0"/>
          </a:p>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33</a:t>
            </a:fld>
            <a:endParaRPr lang="ru-RU"/>
          </a:p>
        </p:txBody>
      </p:sp>
    </p:spTree>
    <p:extLst>
      <p:ext uri="{BB962C8B-B14F-4D97-AF65-F5344CB8AC3E}">
        <p14:creationId xmlns:p14="http://schemas.microsoft.com/office/powerpoint/2010/main" val="27871080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E834B684-8AB7-403C-9E68-1BD1028EDF33}" type="slidenum">
              <a:rPr lang="ru-RU" smtClean="0"/>
              <a:t>35</a:t>
            </a:fld>
            <a:endParaRPr lang="ru-RU"/>
          </a:p>
        </p:txBody>
      </p:sp>
    </p:spTree>
    <p:extLst>
      <p:ext uri="{BB962C8B-B14F-4D97-AF65-F5344CB8AC3E}">
        <p14:creationId xmlns:p14="http://schemas.microsoft.com/office/powerpoint/2010/main" val="25434687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36</a:t>
            </a:fld>
            <a:endParaRPr lang="ru-RU"/>
          </a:p>
        </p:txBody>
      </p:sp>
    </p:spTree>
    <p:extLst>
      <p:ext uri="{BB962C8B-B14F-4D97-AF65-F5344CB8AC3E}">
        <p14:creationId xmlns:p14="http://schemas.microsoft.com/office/powerpoint/2010/main" val="3942423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Преимущества использования логических имен:</a:t>
            </a:r>
          </a:p>
          <a:p>
            <a:r>
              <a:rPr lang="ru-RU" dirty="0"/>
              <a:t>Логические имена обеспечивают независимость от платформы. Приложение будет использовать соответствующий физический шрифт, установленный в системе.</a:t>
            </a:r>
          </a:p>
          <a:p>
            <a:r>
              <a:rPr lang="ru-RU" dirty="0"/>
              <a:t>Логические имена упрощают использование шрифтов, не требуя знания конкретных физических имен шрифтов на каждой платформе. </a:t>
            </a:r>
          </a:p>
          <a:p>
            <a:endParaRPr lang="ru-RU" dirty="0"/>
          </a:p>
          <a:p>
            <a:r>
              <a:rPr lang="ru-RU" b="1" dirty="0"/>
              <a:t>Преимущества использования физических имен:</a:t>
            </a:r>
          </a:p>
          <a:p>
            <a:r>
              <a:rPr lang="ru-RU" dirty="0"/>
              <a:t>Более точный контроль над внешним видом текста.</a:t>
            </a:r>
          </a:p>
          <a:p>
            <a:r>
              <a:rPr lang="ru-RU" dirty="0"/>
              <a:t>Возможность использования конкретных шрифтов, которые могут не иметь логического аналога. </a:t>
            </a:r>
          </a:p>
          <a:p>
            <a:endParaRPr lang="ru-RU" dirty="0"/>
          </a:p>
          <a:p>
            <a:r>
              <a:rPr lang="ru-RU" dirty="0"/>
              <a:t>В целом, рекомендуется использовать логические имена шрифтов для обеспечения переносимости, а физические имена - когда требуется более точный контроль над внешним видом текста. </a:t>
            </a:r>
          </a:p>
        </p:txBody>
      </p:sp>
      <p:sp>
        <p:nvSpPr>
          <p:cNvPr id="4" name="Slide Number Placeholder 3"/>
          <p:cNvSpPr>
            <a:spLocks noGrp="1"/>
          </p:cNvSpPr>
          <p:nvPr>
            <p:ph type="sldNum" sz="quarter" idx="5"/>
          </p:nvPr>
        </p:nvSpPr>
        <p:spPr/>
        <p:txBody>
          <a:bodyPr/>
          <a:lstStyle/>
          <a:p>
            <a:fld id="{E834B684-8AB7-403C-9E68-1BD1028EDF33}" type="slidenum">
              <a:rPr lang="ru-RU" smtClean="0"/>
              <a:t>37</a:t>
            </a:fld>
            <a:endParaRPr lang="ru-RU"/>
          </a:p>
        </p:txBody>
      </p:sp>
    </p:spTree>
    <p:extLst>
      <p:ext uri="{BB962C8B-B14F-4D97-AF65-F5344CB8AC3E}">
        <p14:creationId xmlns:p14="http://schemas.microsoft.com/office/powerpoint/2010/main" val="1271802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fld id="{04AA17DC-0146-41E1-85DF-DB864DE714DC}" type="datetimeFigureOut">
              <a:rPr lang="ru-RU" smtClean="0"/>
              <a:t>11.07.2025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565599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fld id="{04AA17DC-0146-41E1-85DF-DB864DE714DC}" type="datetimeFigureOut">
              <a:rPr lang="ru-RU" smtClean="0"/>
              <a:t>11.07.2025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1338459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fld id="{04AA17DC-0146-41E1-85DF-DB864DE714DC}" type="datetimeFigureOut">
              <a:rPr lang="ru-RU" smtClean="0"/>
              <a:t>11.07.2025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2658042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fld id="{04AA17DC-0146-41E1-85DF-DB864DE714DC}" type="datetimeFigureOut">
              <a:rPr lang="ru-RU" smtClean="0"/>
              <a:t>11.07.2025</a:t>
            </a:fld>
            <a:endParaRPr lang="ru-RU"/>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endParaRPr lang="ru-RU"/>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7259289C-ADFC-4EF1-88D4-E27A13A1F5F5}" type="slidenum">
              <a:rPr lang="ru-RU" smtClean="0"/>
              <a:t>‹#›</a:t>
            </a:fld>
            <a:endParaRPr lang="ru-RU"/>
          </a:p>
        </p:txBody>
      </p:sp>
    </p:spTree>
    <p:extLst>
      <p:ext uri="{BB962C8B-B14F-4D97-AF65-F5344CB8AC3E}">
        <p14:creationId xmlns:p14="http://schemas.microsoft.com/office/powerpoint/2010/main" val="283048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fld id="{04AA17DC-0146-41E1-85DF-DB864DE714DC}" type="datetimeFigureOut">
              <a:rPr lang="ru-RU" smtClean="0"/>
              <a:t>11.07.2025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2813030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fld id="{04AA17DC-0146-41E1-85DF-DB864DE714DC}" type="datetimeFigureOut">
              <a:rPr lang="ru-RU" smtClean="0"/>
              <a:t>11.07.2025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3261106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4AA17DC-0146-41E1-85DF-DB864DE714DC}" type="datetimeFigureOut">
              <a:rPr lang="ru-RU" smtClean="0"/>
              <a:t>11.07.2025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310576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endParaRPr lang="ru-RU"/>
          </a:p>
        </p:txBody>
      </p:sp>
      <p:sp>
        <p:nvSpPr>
          <p:cNvPr id="3" name="Содержимое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fld id="{04AA17DC-0146-41E1-85DF-DB864DE714DC}" type="datetimeFigureOut">
              <a:rPr lang="ru-RU" smtClean="0"/>
              <a:t>11.07.2025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68983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ru-RU"/>
          </a:p>
        </p:txBody>
      </p:sp>
      <p:sp>
        <p:nvSpPr>
          <p:cNvPr id="4" name="Текст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fld id="{04AA17DC-0146-41E1-85DF-DB864DE714DC}" type="datetimeFigureOut">
              <a:rPr lang="ru-RU" smtClean="0"/>
              <a:t>11.07.2025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9289C-ADFC-4EF1-88D4-E27A13A1F5F5}" type="slidenum">
              <a:rPr lang="ru-RU" smtClean="0"/>
              <a:t>‹#›</a:t>
            </a:fld>
            <a:endParaRPr lang="ru-RU"/>
          </a:p>
        </p:txBody>
      </p:sp>
    </p:spTree>
    <p:extLst>
      <p:ext uri="{BB962C8B-B14F-4D97-AF65-F5344CB8AC3E}">
        <p14:creationId xmlns:p14="http://schemas.microsoft.com/office/powerpoint/2010/main" val="344949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904989"/>
            <a:ext cx="10972800" cy="4221175"/>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bg1"/>
                </a:solidFill>
              </a:defRPr>
            </a:lvl1pPr>
          </a:lstStyle>
          <a:p>
            <a:fld id="{04AA17DC-0146-41E1-85DF-DB864DE714DC}" type="datetimeFigureOut">
              <a:rPr lang="ru-RU" smtClean="0"/>
              <a:t>11.07.2025</a:t>
            </a:fld>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bg1"/>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bg1"/>
                </a:solidFill>
              </a:defRPr>
            </a:lvl1pPr>
          </a:lstStyle>
          <a:p>
            <a:fld id="{7259289C-ADFC-4EF1-88D4-E27A13A1F5F5}" type="slidenum">
              <a:rPr lang="ru-RU" smtClean="0"/>
              <a:t>‹#›</a:t>
            </a:fld>
            <a:endParaRPr lang="ru-RU"/>
          </a:p>
        </p:txBody>
      </p:sp>
    </p:spTree>
    <p:extLst>
      <p:ext uri="{BB962C8B-B14F-4D97-AF65-F5344CB8AC3E}">
        <p14:creationId xmlns:p14="http://schemas.microsoft.com/office/powerpoint/2010/main" val="2042868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1219170" rtl="0" eaLnBrk="1" latinLnBrk="0" hangingPunct="1">
        <a:spcBef>
          <a:spcPct val="0"/>
        </a:spcBef>
        <a:buNone/>
        <a:defRPr sz="5867" kern="1200">
          <a:solidFill>
            <a:schemeClr val="accent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docs.oracle.com/javase/7/docs/technotes/guides/awt/"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www.eclipse.org/sw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oracle.com/"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4.gif"/></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43.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6305-EB75-42B6-8452-1EA4F09B50AC}"/>
              </a:ext>
            </a:extLst>
          </p:cNvPr>
          <p:cNvSpPr>
            <a:spLocks noGrp="1"/>
          </p:cNvSpPr>
          <p:nvPr>
            <p:ph type="ctrTitle"/>
          </p:nvPr>
        </p:nvSpPr>
        <p:spPr/>
        <p:txBody>
          <a:bodyPr/>
          <a:lstStyle/>
          <a:p>
            <a:r>
              <a:rPr lang="ru-RU" dirty="0"/>
              <a:t>Программирование на </a:t>
            </a:r>
            <a:r>
              <a:rPr lang="en-US" dirty="0"/>
              <a:t>Java</a:t>
            </a:r>
            <a:endParaRPr lang="ru-RU" dirty="0"/>
          </a:p>
        </p:txBody>
      </p:sp>
      <p:sp>
        <p:nvSpPr>
          <p:cNvPr id="3" name="Subtitle 2">
            <a:extLst>
              <a:ext uri="{FF2B5EF4-FFF2-40B4-BE49-F238E27FC236}">
                <a16:creationId xmlns:a16="http://schemas.microsoft.com/office/drawing/2014/main" id="{8DDC1F84-DBD3-4041-958C-83519EF8277B}"/>
              </a:ext>
            </a:extLst>
          </p:cNvPr>
          <p:cNvSpPr>
            <a:spLocks noGrp="1"/>
          </p:cNvSpPr>
          <p:nvPr>
            <p:ph type="subTitle" idx="1"/>
          </p:nvPr>
        </p:nvSpPr>
        <p:spPr>
          <a:xfrm>
            <a:off x="1828800" y="3600451"/>
            <a:ext cx="8534400" cy="1752600"/>
          </a:xfrm>
        </p:spPr>
        <p:txBody>
          <a:bodyPr/>
          <a:lstStyle/>
          <a:p>
            <a:r>
              <a:rPr lang="ru-RU" dirty="0"/>
              <a:t>Построения графического интерфейса</a:t>
            </a:r>
          </a:p>
          <a:p>
            <a:endParaRPr lang="ru-RU" dirty="0"/>
          </a:p>
        </p:txBody>
      </p:sp>
    </p:spTree>
    <p:extLst>
      <p:ext uri="{BB962C8B-B14F-4D97-AF65-F5344CB8AC3E}">
        <p14:creationId xmlns:p14="http://schemas.microsoft.com/office/powerpoint/2010/main" val="135021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B67865-6363-4277-A95A-D5D7AD73103F}"/>
              </a:ext>
            </a:extLst>
          </p:cNvPr>
          <p:cNvSpPr>
            <a:spLocks noGrp="1"/>
          </p:cNvSpPr>
          <p:nvPr>
            <p:ph type="title"/>
          </p:nvPr>
        </p:nvSpPr>
        <p:spPr/>
        <p:txBody>
          <a:bodyPr/>
          <a:lstStyle/>
          <a:p>
            <a:r>
              <a:rPr lang="ru-RU" dirty="0"/>
              <a:t>Графические библиотеки </a:t>
            </a:r>
            <a:r>
              <a:rPr lang="en-US" dirty="0"/>
              <a:t>Java</a:t>
            </a:r>
            <a:endParaRPr lang="ru-RU" dirty="0"/>
          </a:p>
        </p:txBody>
      </p:sp>
      <p:sp>
        <p:nvSpPr>
          <p:cNvPr id="5" name="Content Placeholder 4">
            <a:extLst>
              <a:ext uri="{FF2B5EF4-FFF2-40B4-BE49-F238E27FC236}">
                <a16:creationId xmlns:a16="http://schemas.microsoft.com/office/drawing/2014/main" id="{0E1340E2-411F-44D9-9E26-F0E0A0AAFA8B}"/>
              </a:ext>
            </a:extLst>
          </p:cNvPr>
          <p:cNvSpPr>
            <a:spLocks noGrp="1"/>
          </p:cNvSpPr>
          <p:nvPr>
            <p:ph idx="1"/>
          </p:nvPr>
        </p:nvSpPr>
        <p:spPr>
          <a:xfrm>
            <a:off x="609600" y="1904987"/>
            <a:ext cx="7130143" cy="4221175"/>
          </a:xfrm>
        </p:spPr>
        <p:txBody>
          <a:bodyPr/>
          <a:lstStyle/>
          <a:p>
            <a:pPr marL="0" indent="0">
              <a:buNone/>
            </a:pPr>
            <a:r>
              <a:rPr lang="ru-RU" dirty="0"/>
              <a:t>Для реализации графического интерфейса в языке программирования </a:t>
            </a:r>
            <a:r>
              <a:rPr lang="en-US" dirty="0"/>
              <a:t>Java </a:t>
            </a:r>
            <a:r>
              <a:rPr lang="ru-RU" dirty="0"/>
              <a:t>есть библиотеки, а также дополнительные утилиты </a:t>
            </a:r>
          </a:p>
        </p:txBody>
      </p:sp>
      <p:pic>
        <p:nvPicPr>
          <p:cNvPr id="6" name="Picture 5">
            <a:extLst>
              <a:ext uri="{FF2B5EF4-FFF2-40B4-BE49-F238E27FC236}">
                <a16:creationId xmlns:a16="http://schemas.microsoft.com/office/drawing/2014/main" id="{4414DE8B-808A-4FA2-819C-FE578681B881}"/>
              </a:ext>
            </a:extLst>
          </p:cNvPr>
          <p:cNvPicPr>
            <a:picLocks noChangeAspect="1"/>
          </p:cNvPicPr>
          <p:nvPr/>
        </p:nvPicPr>
        <p:blipFill rotWithShape="1">
          <a:blip r:embed="rId3"/>
          <a:srcRect t="8644"/>
          <a:stretch/>
        </p:blipFill>
        <p:spPr>
          <a:xfrm>
            <a:off x="8632371" y="2304683"/>
            <a:ext cx="3116036" cy="3421785"/>
          </a:xfrm>
          <a:prstGeom prst="rect">
            <a:avLst/>
          </a:prstGeom>
          <a:ln>
            <a:noFill/>
          </a:ln>
          <a:effectLst>
            <a:softEdge rad="112500"/>
          </a:effectLst>
        </p:spPr>
      </p:pic>
    </p:spTree>
    <p:extLst>
      <p:ext uri="{BB962C8B-B14F-4D97-AF65-F5344CB8AC3E}">
        <p14:creationId xmlns:p14="http://schemas.microsoft.com/office/powerpoint/2010/main" val="349740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26CFF9-B590-4E6F-93D5-201AA4E386E3}"/>
              </a:ext>
            </a:extLst>
          </p:cNvPr>
          <p:cNvSpPr>
            <a:spLocks noGrp="1"/>
          </p:cNvSpPr>
          <p:nvPr>
            <p:ph type="title"/>
          </p:nvPr>
        </p:nvSpPr>
        <p:spPr/>
        <p:txBody>
          <a:bodyPr>
            <a:normAutofit/>
          </a:bodyPr>
          <a:lstStyle/>
          <a:p>
            <a:r>
              <a:rPr lang="ru-RU" dirty="0"/>
              <a:t>Развитие графических библиотек</a:t>
            </a:r>
          </a:p>
        </p:txBody>
      </p:sp>
      <p:pic>
        <p:nvPicPr>
          <p:cNvPr id="2050" name="Picture 2" descr="Читать онлайн «Графические интерфейсы пользователя Java», Тимур Машнин –  Литрес">
            <a:extLst>
              <a:ext uri="{FF2B5EF4-FFF2-40B4-BE49-F238E27FC236}">
                <a16:creationId xmlns:a16="http://schemas.microsoft.com/office/drawing/2014/main" id="{FC7A7D45-E7E3-4DB7-82E9-5B31B9F6CB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296"/>
          <a:stretch/>
        </p:blipFill>
        <p:spPr bwMode="auto">
          <a:xfrm>
            <a:off x="1829775" y="1891566"/>
            <a:ext cx="8532450" cy="4299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024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3937A-21B9-4191-8881-2053818ECEA5}"/>
              </a:ext>
            </a:extLst>
          </p:cNvPr>
          <p:cNvSpPr>
            <a:spLocks noGrp="1"/>
          </p:cNvSpPr>
          <p:nvPr>
            <p:ph type="title"/>
          </p:nvPr>
        </p:nvSpPr>
        <p:spPr/>
        <p:txBody>
          <a:bodyPr/>
          <a:lstStyle/>
          <a:p>
            <a:r>
              <a:rPr lang="en-US" dirty="0"/>
              <a:t>Abstract Window Toolkit</a:t>
            </a:r>
            <a:r>
              <a:rPr lang="ru-RU" dirty="0"/>
              <a:t> (</a:t>
            </a:r>
            <a:r>
              <a:rPr lang="en-US" dirty="0"/>
              <a:t>AWT)</a:t>
            </a:r>
            <a:endParaRPr lang="ru-RU" dirty="0"/>
          </a:p>
        </p:txBody>
      </p:sp>
      <p:sp>
        <p:nvSpPr>
          <p:cNvPr id="4" name="Content Placeholder 3">
            <a:extLst>
              <a:ext uri="{FF2B5EF4-FFF2-40B4-BE49-F238E27FC236}">
                <a16:creationId xmlns:a16="http://schemas.microsoft.com/office/drawing/2014/main" id="{9C84975B-9AAD-43BA-BE56-CEF0485DF245}"/>
              </a:ext>
            </a:extLst>
          </p:cNvPr>
          <p:cNvSpPr>
            <a:spLocks noGrp="1"/>
          </p:cNvSpPr>
          <p:nvPr>
            <p:ph sz="half" idx="1"/>
          </p:nvPr>
        </p:nvSpPr>
        <p:spPr>
          <a:xfrm>
            <a:off x="609600" y="1600200"/>
            <a:ext cx="7282544" cy="4963885"/>
          </a:xfrm>
        </p:spPr>
        <p:txBody>
          <a:bodyPr>
            <a:normAutofit fontScale="47500" lnSpcReduction="20000"/>
          </a:bodyPr>
          <a:lstStyle/>
          <a:p>
            <a:pPr marL="0" indent="0">
              <a:buNone/>
            </a:pPr>
            <a:r>
              <a:rPr lang="ru-RU" dirty="0"/>
              <a:t>Официальный сайт: </a:t>
            </a:r>
            <a:r>
              <a:rPr lang="en-US" dirty="0">
                <a:hlinkClick r:id="rId3" tooltip="docs.oracle.com/javase/7/docs/technotes/guides/awt/"/>
              </a:rPr>
              <a:t>docs.oracle.com/</a:t>
            </a:r>
            <a:r>
              <a:rPr lang="en-US" dirty="0" err="1">
                <a:hlinkClick r:id="rId3" tooltip="docs.oracle.com/javase/7/docs/technotes/guides/awt/"/>
              </a:rPr>
              <a:t>javase</a:t>
            </a:r>
            <a:r>
              <a:rPr lang="en-US" dirty="0">
                <a:hlinkClick r:id="rId3" tooltip="docs.oracle.com/javase/7/docs/technotes/guides/awt/"/>
              </a:rPr>
              <a:t>/7/docs/technotes/guides/</a:t>
            </a:r>
            <a:r>
              <a:rPr lang="en-US" dirty="0" err="1">
                <a:hlinkClick r:id="rId3" tooltip="docs.oracle.com/javase/7/docs/technotes/guides/awt/"/>
              </a:rPr>
              <a:t>awt</a:t>
            </a:r>
            <a:r>
              <a:rPr lang="en-US" dirty="0">
                <a:hlinkClick r:id="rId3" tooltip="docs.oracle.com/javase/7/docs/technotes/guides/awt/"/>
              </a:rPr>
              <a:t>/</a:t>
            </a:r>
            <a:endParaRPr lang="ru-RU" dirty="0"/>
          </a:p>
          <a:p>
            <a:pPr marL="0" indent="0">
              <a:buNone/>
            </a:pPr>
            <a:endParaRPr lang="ru-RU" dirty="0"/>
          </a:p>
          <a:p>
            <a:pPr marL="0" indent="0">
              <a:buNone/>
            </a:pPr>
            <a:r>
              <a:rPr lang="ru-RU" dirty="0"/>
              <a:t>Достоинства:</a:t>
            </a:r>
          </a:p>
          <a:p>
            <a:r>
              <a:rPr lang="ru-RU" dirty="0"/>
              <a:t>часть JDK;</a:t>
            </a:r>
          </a:p>
          <a:p>
            <a:r>
              <a:rPr lang="ru-RU" dirty="0"/>
              <a:t>скорость работы;</a:t>
            </a:r>
          </a:p>
          <a:p>
            <a:r>
              <a:rPr lang="ru-RU" dirty="0"/>
              <a:t>графические компоненты похожи на стандартные.</a:t>
            </a:r>
          </a:p>
          <a:p>
            <a:pPr marL="0" indent="0">
              <a:buNone/>
            </a:pPr>
            <a:endParaRPr lang="ru-RU" dirty="0"/>
          </a:p>
          <a:p>
            <a:pPr marL="0" indent="0">
              <a:buNone/>
            </a:pPr>
            <a:r>
              <a:rPr lang="ru-RU" dirty="0"/>
              <a:t>Недостатки:</a:t>
            </a:r>
          </a:p>
          <a:p>
            <a:r>
              <a:rPr lang="ru-RU" dirty="0"/>
              <a:t>использование </a:t>
            </a:r>
            <a:r>
              <a:rPr lang="ru-RU" dirty="0" err="1"/>
              <a:t>нативных</a:t>
            </a:r>
            <a:r>
              <a:rPr lang="ru-RU" dirty="0"/>
              <a:t> компонентов налагает ограничения на использование их свойств. Некоторые компоненты могут вообще не работать на «неродных» платформах;</a:t>
            </a:r>
          </a:p>
          <a:p>
            <a:r>
              <a:rPr lang="ru-RU" dirty="0"/>
              <a:t>некоторые свойства, такие как иконки и всплывающие подсказки, в AWT вообще отсутствуют;</a:t>
            </a:r>
          </a:p>
          <a:p>
            <a:r>
              <a:rPr lang="ru-RU" dirty="0"/>
              <a:t>стандартных компонентов AWT очень немного, программисту приходится реализовывать много </a:t>
            </a:r>
            <a:r>
              <a:rPr lang="ru-RU" dirty="0" err="1"/>
              <a:t>кастомных</a:t>
            </a:r>
            <a:r>
              <a:rPr lang="ru-RU" dirty="0"/>
              <a:t>;</a:t>
            </a:r>
          </a:p>
          <a:p>
            <a:r>
              <a:rPr lang="ru-RU" dirty="0"/>
              <a:t>программа выглядит по-разному на разных платформах (может быть кривоватой).</a:t>
            </a:r>
          </a:p>
        </p:txBody>
      </p:sp>
      <p:pic>
        <p:nvPicPr>
          <p:cNvPr id="3074" name="Picture 2" descr="Как выглядит AWT">
            <a:extLst>
              <a:ext uri="{FF2B5EF4-FFF2-40B4-BE49-F238E27FC236}">
                <a16:creationId xmlns:a16="http://schemas.microsoft.com/office/drawing/2014/main" id="{CDFA0A87-B323-451A-976F-24946CEAFF19}"/>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8025078" y="2482946"/>
            <a:ext cx="3938322" cy="1892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112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188AD-AB23-44EB-9ABA-69258BCCFE67}"/>
              </a:ext>
            </a:extLst>
          </p:cNvPr>
          <p:cNvSpPr>
            <a:spLocks noGrp="1"/>
          </p:cNvSpPr>
          <p:nvPr>
            <p:ph type="title"/>
          </p:nvPr>
        </p:nvSpPr>
        <p:spPr/>
        <p:txBody>
          <a:bodyPr/>
          <a:lstStyle/>
          <a:p>
            <a:r>
              <a:rPr lang="en-US" dirty="0"/>
              <a:t>Swing</a:t>
            </a:r>
            <a:endParaRPr lang="ru-RU" dirty="0"/>
          </a:p>
        </p:txBody>
      </p:sp>
      <p:sp>
        <p:nvSpPr>
          <p:cNvPr id="3" name="Content Placeholder 2">
            <a:extLst>
              <a:ext uri="{FF2B5EF4-FFF2-40B4-BE49-F238E27FC236}">
                <a16:creationId xmlns:a16="http://schemas.microsoft.com/office/drawing/2014/main" id="{03360F9A-7ABA-401A-AC15-80AD2917EFB2}"/>
              </a:ext>
            </a:extLst>
          </p:cNvPr>
          <p:cNvSpPr>
            <a:spLocks noGrp="1"/>
          </p:cNvSpPr>
          <p:nvPr>
            <p:ph sz="half" idx="1"/>
          </p:nvPr>
        </p:nvSpPr>
        <p:spPr>
          <a:xfrm>
            <a:off x="609600" y="1600201"/>
            <a:ext cx="6527778" cy="4525963"/>
          </a:xfrm>
        </p:spPr>
        <p:txBody>
          <a:bodyPr>
            <a:normAutofit fontScale="47500" lnSpcReduction="20000"/>
          </a:bodyPr>
          <a:lstStyle/>
          <a:p>
            <a:pPr marL="0" indent="0">
              <a:buNone/>
            </a:pPr>
            <a:r>
              <a:rPr lang="ru-RU" dirty="0"/>
              <a:t>Официальный сайт: </a:t>
            </a:r>
            <a:r>
              <a:rPr lang="en-US" dirty="0"/>
              <a:t>docs.oracle.com/</a:t>
            </a:r>
            <a:r>
              <a:rPr lang="en-US" dirty="0" err="1"/>
              <a:t>javase</a:t>
            </a:r>
            <a:r>
              <a:rPr lang="en-US" dirty="0"/>
              <a:t>/tutorial/</a:t>
            </a:r>
            <a:r>
              <a:rPr lang="en-US" dirty="0" err="1"/>
              <a:t>uiswing</a:t>
            </a:r>
            <a:r>
              <a:rPr lang="en-US" dirty="0"/>
              <a:t>/</a:t>
            </a:r>
          </a:p>
          <a:p>
            <a:pPr marL="0" indent="0">
              <a:buNone/>
            </a:pPr>
            <a:endParaRPr lang="en-US" b="1" dirty="0"/>
          </a:p>
          <a:p>
            <a:pPr marL="0" indent="0">
              <a:buNone/>
            </a:pPr>
            <a:r>
              <a:rPr lang="ru-RU" b="1" dirty="0"/>
              <a:t>Достоинства:</a:t>
            </a:r>
            <a:endParaRPr lang="ru-RU" dirty="0"/>
          </a:p>
          <a:p>
            <a:r>
              <a:rPr lang="ru-RU" dirty="0"/>
              <a:t>часть JDK, не нужно ставить дополнительных библиотек;</a:t>
            </a:r>
          </a:p>
          <a:p>
            <a:r>
              <a:rPr lang="ru-RU" dirty="0"/>
              <a:t>по </a:t>
            </a:r>
            <a:r>
              <a:rPr lang="ru-RU" dirty="0" err="1"/>
              <a:t>Swing</a:t>
            </a:r>
            <a:r>
              <a:rPr lang="ru-RU" dirty="0"/>
              <a:t> гораздо больше книжек и ответов на форумах. Все проблемы, особенно у начинающих, </a:t>
            </a:r>
            <a:r>
              <a:rPr lang="ru-RU" dirty="0" err="1"/>
              <a:t>гуглу</a:t>
            </a:r>
            <a:r>
              <a:rPr lang="ru-RU" dirty="0"/>
              <a:t> досконально известны;</a:t>
            </a:r>
          </a:p>
          <a:p>
            <a:r>
              <a:rPr lang="ru-RU" dirty="0"/>
              <a:t>встроенный редактор форм почти во всех средах разработки;</a:t>
            </a:r>
          </a:p>
          <a:p>
            <a:r>
              <a:rPr lang="ru-RU" dirty="0"/>
              <a:t>на базе свинга есть много расширений типа </a:t>
            </a:r>
            <a:r>
              <a:rPr lang="ru-RU" dirty="0" err="1"/>
              <a:t>SwingX</a:t>
            </a:r>
            <a:r>
              <a:rPr lang="ru-RU" dirty="0"/>
              <a:t>;</a:t>
            </a:r>
          </a:p>
          <a:p>
            <a:r>
              <a:rPr lang="ru-RU" dirty="0"/>
              <a:t>поддержка различных стилей (</a:t>
            </a:r>
            <a:r>
              <a:rPr lang="ru-RU" dirty="0" err="1"/>
              <a:t>Look</a:t>
            </a:r>
            <a:r>
              <a:rPr lang="ru-RU" dirty="0"/>
              <a:t> </a:t>
            </a:r>
            <a:r>
              <a:rPr lang="ru-RU" dirty="0" err="1"/>
              <a:t>and</a:t>
            </a:r>
            <a:r>
              <a:rPr lang="ru-RU" dirty="0"/>
              <a:t> </a:t>
            </a:r>
            <a:r>
              <a:rPr lang="ru-RU" dirty="0" err="1"/>
              <a:t>feel</a:t>
            </a:r>
            <a:r>
              <a:rPr lang="ru-RU" dirty="0"/>
              <a:t>).</a:t>
            </a:r>
          </a:p>
          <a:p>
            <a:pPr marL="0" indent="0">
              <a:buNone/>
            </a:pPr>
            <a:endParaRPr lang="en-US" b="1" dirty="0"/>
          </a:p>
          <a:p>
            <a:pPr marL="0" indent="0">
              <a:buNone/>
            </a:pPr>
            <a:r>
              <a:rPr lang="ru-RU" b="1" dirty="0"/>
              <a:t>Недостатки:</a:t>
            </a:r>
            <a:endParaRPr lang="ru-RU" dirty="0"/>
          </a:p>
          <a:p>
            <a:r>
              <a:rPr lang="ru-RU" dirty="0"/>
              <a:t>окно с множеством компонентов начинает подтормаживать;</a:t>
            </a:r>
          </a:p>
          <a:p>
            <a:r>
              <a:rPr lang="ru-RU" dirty="0"/>
              <a:t>работа с менеджерами компоновки может стать настоящим кошмаром в сложных интерфейсах.</a:t>
            </a:r>
          </a:p>
        </p:txBody>
      </p:sp>
      <p:pic>
        <p:nvPicPr>
          <p:cNvPr id="5" name="Content Placeholder 4">
            <a:extLst>
              <a:ext uri="{FF2B5EF4-FFF2-40B4-BE49-F238E27FC236}">
                <a16:creationId xmlns:a16="http://schemas.microsoft.com/office/drawing/2014/main" id="{5B87008B-0A1B-4528-A8BD-E3EFD153F65E}"/>
              </a:ext>
            </a:extLst>
          </p:cNvPr>
          <p:cNvPicPr>
            <a:picLocks noGrp="1" noChangeAspect="1"/>
          </p:cNvPicPr>
          <p:nvPr>
            <p:ph sz="half" idx="2"/>
          </p:nvPr>
        </p:nvPicPr>
        <p:blipFill>
          <a:blip r:embed="rId3"/>
          <a:stretch>
            <a:fillRect/>
          </a:stretch>
        </p:blipFill>
        <p:spPr>
          <a:xfrm>
            <a:off x="7474835" y="1909196"/>
            <a:ext cx="4267114" cy="3907971"/>
          </a:xfrm>
          <a:prstGeom prst="rect">
            <a:avLst/>
          </a:prstGeom>
        </p:spPr>
      </p:pic>
    </p:spTree>
    <p:extLst>
      <p:ext uri="{BB962C8B-B14F-4D97-AF65-F5344CB8AC3E}">
        <p14:creationId xmlns:p14="http://schemas.microsoft.com/office/powerpoint/2010/main" val="2018004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Как выглядит SWT">
            <a:extLst>
              <a:ext uri="{FF2B5EF4-FFF2-40B4-BE49-F238E27FC236}">
                <a16:creationId xmlns:a16="http://schemas.microsoft.com/office/drawing/2014/main" id="{8899A416-9499-4AF0-8609-8F0591DE028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663184" y="3207506"/>
            <a:ext cx="4202244" cy="15859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7A8BBE-2444-47B5-8487-53CCD202EF64}"/>
              </a:ext>
            </a:extLst>
          </p:cNvPr>
          <p:cNvSpPr>
            <a:spLocks noGrp="1"/>
          </p:cNvSpPr>
          <p:nvPr>
            <p:ph type="title"/>
          </p:nvPr>
        </p:nvSpPr>
        <p:spPr/>
        <p:txBody>
          <a:bodyPr/>
          <a:lstStyle/>
          <a:p>
            <a:r>
              <a:rPr lang="en-US" dirty="0"/>
              <a:t>Standard Widget Toolkit (SWT)</a:t>
            </a:r>
            <a:endParaRPr lang="ru-RU" dirty="0"/>
          </a:p>
        </p:txBody>
      </p:sp>
      <p:sp>
        <p:nvSpPr>
          <p:cNvPr id="3" name="Content Placeholder 2">
            <a:extLst>
              <a:ext uri="{FF2B5EF4-FFF2-40B4-BE49-F238E27FC236}">
                <a16:creationId xmlns:a16="http://schemas.microsoft.com/office/drawing/2014/main" id="{52CD9CBD-6344-4DED-B25D-2FE90A2DE8B4}"/>
              </a:ext>
            </a:extLst>
          </p:cNvPr>
          <p:cNvSpPr>
            <a:spLocks noGrp="1"/>
          </p:cNvSpPr>
          <p:nvPr>
            <p:ph sz="half" idx="1"/>
          </p:nvPr>
        </p:nvSpPr>
        <p:spPr>
          <a:xfrm>
            <a:off x="609600" y="1600200"/>
            <a:ext cx="11255828" cy="4591061"/>
          </a:xfrm>
        </p:spPr>
        <p:txBody>
          <a:bodyPr>
            <a:noAutofit/>
          </a:bodyPr>
          <a:lstStyle/>
          <a:p>
            <a:pPr marL="0" indent="0">
              <a:buNone/>
            </a:pPr>
            <a:r>
              <a:rPr lang="ru-RU" sz="2000" dirty="0"/>
              <a:t>Официальный сайт: </a:t>
            </a:r>
            <a:r>
              <a:rPr lang="ru-RU" sz="2000" dirty="0">
                <a:hlinkClick r:id="rId4"/>
              </a:rPr>
              <a:t>www.eclipse.org/swt</a:t>
            </a:r>
            <a:endParaRPr lang="en-US" sz="2000" dirty="0"/>
          </a:p>
          <a:p>
            <a:pPr marL="0" indent="0">
              <a:buNone/>
            </a:pPr>
            <a:endParaRPr lang="en-US" sz="1400" b="1" dirty="0"/>
          </a:p>
          <a:p>
            <a:pPr marL="0" indent="0">
              <a:buNone/>
            </a:pPr>
            <a:r>
              <a:rPr lang="ru-RU" sz="2000" b="1" dirty="0"/>
              <a:t>Достоинства:</a:t>
            </a:r>
            <a:endParaRPr lang="ru-RU" sz="2000" dirty="0"/>
          </a:p>
          <a:p>
            <a:r>
              <a:rPr lang="ru-RU" sz="2000" dirty="0"/>
              <a:t>использует компоненты операционной системы — скорость выше;</a:t>
            </a:r>
          </a:p>
          <a:p>
            <a:r>
              <a:rPr lang="ru-RU" sz="2000" dirty="0" err="1"/>
              <a:t>Eclipse</a:t>
            </a:r>
            <a:r>
              <a:rPr lang="ru-RU" sz="2000" dirty="0"/>
              <a:t> предоставляет визуальный редактор форм;</a:t>
            </a:r>
          </a:p>
          <a:p>
            <a:r>
              <a:rPr lang="ru-RU" sz="2000" dirty="0"/>
              <a:t>обширная документация и множество примеров;</a:t>
            </a:r>
          </a:p>
          <a:p>
            <a:r>
              <a:rPr lang="ru-RU" sz="2000" dirty="0"/>
              <a:t>возможно использование AWT- и </a:t>
            </a:r>
            <a:r>
              <a:rPr lang="ru-RU" sz="2000" dirty="0" err="1"/>
              <a:t>Swing</a:t>
            </a:r>
            <a:r>
              <a:rPr lang="ru-RU" sz="2000" dirty="0"/>
              <a:t>-компонентов.</a:t>
            </a:r>
            <a:endParaRPr lang="en-US" sz="2000" dirty="0"/>
          </a:p>
          <a:p>
            <a:pPr marL="0" lvl="0" indent="0">
              <a:spcBef>
                <a:spcPts val="0"/>
              </a:spcBef>
              <a:buNone/>
            </a:pPr>
            <a:endParaRPr lang="en-US" sz="1400" dirty="0">
              <a:solidFill>
                <a:srgbClr val="244061"/>
              </a:solidFill>
            </a:endParaRPr>
          </a:p>
          <a:p>
            <a:pPr marL="0" lvl="0" indent="0">
              <a:buNone/>
            </a:pPr>
            <a:r>
              <a:rPr lang="ru-RU" sz="2000" b="1" dirty="0">
                <a:solidFill>
                  <a:srgbClr val="244061"/>
                </a:solidFill>
              </a:rPr>
              <a:t>Недостатки:</a:t>
            </a:r>
            <a:endParaRPr lang="ru-RU" sz="2000" dirty="0">
              <a:solidFill>
                <a:srgbClr val="244061"/>
              </a:solidFill>
            </a:endParaRPr>
          </a:p>
          <a:p>
            <a:pPr lvl="0"/>
            <a:r>
              <a:rPr lang="ru-RU" sz="2000" dirty="0">
                <a:solidFill>
                  <a:srgbClr val="244061"/>
                </a:solidFill>
              </a:rPr>
              <a:t>для каждой платформы необходимо поставлять отдельную библиотеку;</a:t>
            </a:r>
            <a:endParaRPr lang="en-US" sz="2000" dirty="0">
              <a:solidFill>
                <a:srgbClr val="244061"/>
              </a:solidFill>
            </a:endParaRPr>
          </a:p>
          <a:p>
            <a:pPr lvl="0"/>
            <a:r>
              <a:rPr lang="ru-RU" sz="2000" dirty="0">
                <a:solidFill>
                  <a:srgbClr val="244061"/>
                </a:solidFill>
              </a:rPr>
              <a:t>нужно все время следить за использованием ресурсов и вовремя их освобождать;</a:t>
            </a:r>
          </a:p>
          <a:p>
            <a:pPr lvl="0"/>
            <a:r>
              <a:rPr lang="ru-RU" sz="2000" dirty="0">
                <a:solidFill>
                  <a:srgbClr val="244061"/>
                </a:solidFill>
              </a:rPr>
              <a:t>сложная архитектура, навевающая суицидальные мысли после тщетных попыток реализовать </a:t>
            </a:r>
            <a:r>
              <a:rPr lang="ru-RU" sz="2000" dirty="0" err="1">
                <a:solidFill>
                  <a:srgbClr val="244061"/>
                </a:solidFill>
              </a:rPr>
              <a:t>кастомный</a:t>
            </a:r>
            <a:r>
              <a:rPr lang="ru-RU" sz="2000" dirty="0">
                <a:solidFill>
                  <a:srgbClr val="244061"/>
                </a:solidFill>
              </a:rPr>
              <a:t> интерфейс.</a:t>
            </a:r>
            <a:endParaRPr lang="en-US" sz="2000" b="1" dirty="0"/>
          </a:p>
          <a:p>
            <a:pPr marL="0" indent="0">
              <a:buNone/>
            </a:pPr>
            <a:endParaRPr lang="ru-RU" sz="2100" dirty="0"/>
          </a:p>
        </p:txBody>
      </p:sp>
    </p:spTree>
    <p:extLst>
      <p:ext uri="{BB962C8B-B14F-4D97-AF65-F5344CB8AC3E}">
        <p14:creationId xmlns:p14="http://schemas.microsoft.com/office/powerpoint/2010/main" val="4288838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1ADB-899B-42C5-AF3B-5D2703BF263A}"/>
              </a:ext>
            </a:extLst>
          </p:cNvPr>
          <p:cNvSpPr>
            <a:spLocks noGrp="1"/>
          </p:cNvSpPr>
          <p:nvPr>
            <p:ph type="title"/>
          </p:nvPr>
        </p:nvSpPr>
        <p:spPr/>
        <p:txBody>
          <a:bodyPr/>
          <a:lstStyle/>
          <a:p>
            <a:r>
              <a:rPr lang="en-US" dirty="0"/>
              <a:t>JavaFX</a:t>
            </a:r>
            <a:endParaRPr lang="ru-RU" dirty="0"/>
          </a:p>
        </p:txBody>
      </p:sp>
      <p:sp>
        <p:nvSpPr>
          <p:cNvPr id="3" name="Content Placeholder 2">
            <a:extLst>
              <a:ext uri="{FF2B5EF4-FFF2-40B4-BE49-F238E27FC236}">
                <a16:creationId xmlns:a16="http://schemas.microsoft.com/office/drawing/2014/main" id="{CCAD91F1-DE06-4AB6-9DF9-54869A9D0BB6}"/>
              </a:ext>
            </a:extLst>
          </p:cNvPr>
          <p:cNvSpPr>
            <a:spLocks noGrp="1"/>
          </p:cNvSpPr>
          <p:nvPr>
            <p:ph sz="half" idx="1"/>
          </p:nvPr>
        </p:nvSpPr>
        <p:spPr/>
        <p:txBody>
          <a:bodyPr>
            <a:normAutofit fontScale="47500" lnSpcReduction="20000"/>
          </a:bodyPr>
          <a:lstStyle/>
          <a:p>
            <a:pPr marL="0" indent="0">
              <a:buNone/>
            </a:pPr>
            <a:r>
              <a:rPr lang="ru-RU" dirty="0"/>
              <a:t>Официальный сайт: </a:t>
            </a:r>
            <a:r>
              <a:rPr lang="ru-RU" dirty="0">
                <a:hlinkClick r:id="rId3"/>
              </a:rPr>
              <a:t>www.oracle.com/</a:t>
            </a:r>
            <a:endParaRPr lang="en-US" dirty="0"/>
          </a:p>
          <a:p>
            <a:pPr marL="0" indent="0">
              <a:buNone/>
            </a:pPr>
            <a:endParaRPr lang="en-US" b="1" dirty="0"/>
          </a:p>
          <a:p>
            <a:pPr marL="0" indent="0">
              <a:buNone/>
            </a:pPr>
            <a:r>
              <a:rPr lang="ru-RU" b="1" dirty="0"/>
              <a:t>Достоинства:</a:t>
            </a:r>
            <a:endParaRPr lang="ru-RU" dirty="0"/>
          </a:p>
          <a:p>
            <a:r>
              <a:rPr lang="ru-RU" dirty="0"/>
              <a:t>быстрая работа за счет графического конвейера;</a:t>
            </a:r>
          </a:p>
          <a:p>
            <a:r>
              <a:rPr lang="ru-RU" dirty="0"/>
              <a:t>множество различных компонентов;</a:t>
            </a:r>
          </a:p>
          <a:p>
            <a:r>
              <a:rPr lang="ru-RU" dirty="0"/>
              <a:t>поддержка стилей;</a:t>
            </a:r>
          </a:p>
          <a:p>
            <a:r>
              <a:rPr lang="ru-RU" dirty="0"/>
              <a:t>утилиты для создания установщика программы;</a:t>
            </a:r>
          </a:p>
          <a:p>
            <a:r>
              <a:rPr lang="ru-RU" dirty="0"/>
              <a:t>приложение можно запускать как десктопное и в браузере как часть страницы.</a:t>
            </a:r>
          </a:p>
          <a:p>
            <a:pPr marL="0" indent="0">
              <a:buNone/>
            </a:pPr>
            <a:endParaRPr lang="en-US" b="1" dirty="0"/>
          </a:p>
          <a:p>
            <a:pPr marL="0" indent="0">
              <a:buNone/>
            </a:pPr>
            <a:r>
              <a:rPr lang="ru-RU" b="1" dirty="0"/>
              <a:t>Недостатки:</a:t>
            </a:r>
            <a:endParaRPr lang="ru-RU" dirty="0"/>
          </a:p>
          <a:p>
            <a:r>
              <a:rPr lang="ru-RU" dirty="0"/>
              <a:t>фреймворк еще разрабатывается, поэтому случаются и падения и некоторые глюки;</a:t>
            </a:r>
          </a:p>
          <a:p>
            <a:r>
              <a:rPr lang="ru-RU" dirty="0" err="1"/>
              <a:t>JavaFX</a:t>
            </a:r>
            <a:r>
              <a:rPr lang="ru-RU" dirty="0"/>
              <a:t> пока не получил широкого распространения.</a:t>
            </a:r>
          </a:p>
          <a:p>
            <a:pPr marL="0" indent="0">
              <a:buNone/>
            </a:pPr>
            <a:endParaRPr lang="ru-RU" dirty="0"/>
          </a:p>
        </p:txBody>
      </p:sp>
      <p:pic>
        <p:nvPicPr>
          <p:cNvPr id="5" name="Content Placeholder 4">
            <a:extLst>
              <a:ext uri="{FF2B5EF4-FFF2-40B4-BE49-F238E27FC236}">
                <a16:creationId xmlns:a16="http://schemas.microsoft.com/office/drawing/2014/main" id="{D5365DD4-C976-4D74-A6A1-27E082B91E2F}"/>
              </a:ext>
            </a:extLst>
          </p:cNvPr>
          <p:cNvPicPr>
            <a:picLocks noGrp="1" noChangeAspect="1"/>
          </p:cNvPicPr>
          <p:nvPr>
            <p:ph sz="half" idx="2"/>
          </p:nvPr>
        </p:nvPicPr>
        <p:blipFill>
          <a:blip r:embed="rId4"/>
          <a:stretch>
            <a:fillRect/>
          </a:stretch>
        </p:blipFill>
        <p:spPr>
          <a:xfrm>
            <a:off x="6197600" y="2440732"/>
            <a:ext cx="5384800" cy="2844899"/>
          </a:xfrm>
          <a:prstGeom prst="rect">
            <a:avLst/>
          </a:prstGeom>
        </p:spPr>
      </p:pic>
    </p:spTree>
    <p:extLst>
      <p:ext uri="{BB962C8B-B14F-4D97-AF65-F5344CB8AC3E}">
        <p14:creationId xmlns:p14="http://schemas.microsoft.com/office/powerpoint/2010/main" val="299081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41181-2C00-451C-9D09-717F43524BBC}"/>
              </a:ext>
            </a:extLst>
          </p:cNvPr>
          <p:cNvSpPr>
            <a:spLocks noGrp="1"/>
          </p:cNvSpPr>
          <p:nvPr>
            <p:ph type="title"/>
          </p:nvPr>
        </p:nvSpPr>
        <p:spPr>
          <a:xfrm>
            <a:off x="609600" y="1028701"/>
            <a:ext cx="10972800" cy="1143000"/>
          </a:xfrm>
        </p:spPr>
        <p:txBody>
          <a:bodyPr>
            <a:normAutofit fontScale="90000"/>
          </a:bodyPr>
          <a:lstStyle/>
          <a:p>
            <a:r>
              <a:rPr lang="ru-RU" dirty="0"/>
              <a:t>Принципы построения графического интерфейса</a:t>
            </a:r>
          </a:p>
        </p:txBody>
      </p:sp>
      <p:sp>
        <p:nvSpPr>
          <p:cNvPr id="3" name="Content Placeholder 2">
            <a:extLst>
              <a:ext uri="{FF2B5EF4-FFF2-40B4-BE49-F238E27FC236}">
                <a16:creationId xmlns:a16="http://schemas.microsoft.com/office/drawing/2014/main" id="{EBCDF46C-5C5C-4768-BD80-6BA908645C87}"/>
              </a:ext>
            </a:extLst>
          </p:cNvPr>
          <p:cNvSpPr>
            <a:spLocks noGrp="1"/>
          </p:cNvSpPr>
          <p:nvPr>
            <p:ph sz="half" idx="1"/>
          </p:nvPr>
        </p:nvSpPr>
        <p:spPr>
          <a:xfrm>
            <a:off x="609600" y="2541815"/>
            <a:ext cx="7990114" cy="3592286"/>
          </a:xfrm>
        </p:spPr>
        <p:txBody>
          <a:bodyPr>
            <a:normAutofit fontScale="77500" lnSpcReduction="20000"/>
          </a:bodyPr>
          <a:lstStyle/>
          <a:p>
            <a:pPr marL="0" indent="0">
              <a:buNone/>
            </a:pPr>
            <a:r>
              <a:rPr lang="ru-RU" dirty="0"/>
              <a:t>Основные принципы построения GUI с использованием </a:t>
            </a:r>
            <a:r>
              <a:rPr lang="ru-RU" dirty="0" err="1"/>
              <a:t>Swing</a:t>
            </a:r>
            <a:r>
              <a:rPr lang="ru-RU" dirty="0"/>
              <a:t> включают</a:t>
            </a:r>
            <a:r>
              <a:rPr lang="en-US" dirty="0"/>
              <a:t>:</a:t>
            </a:r>
          </a:p>
          <a:p>
            <a:r>
              <a:rPr lang="ru-RU" dirty="0"/>
              <a:t>создание контейнеров (например, </a:t>
            </a:r>
            <a:r>
              <a:rPr lang="ru-RU" dirty="0" err="1"/>
              <a:t>JFrame</a:t>
            </a:r>
            <a:r>
              <a:rPr lang="ru-RU" dirty="0"/>
              <a:t> для окон)</a:t>
            </a:r>
            <a:endParaRPr lang="en-US" dirty="0"/>
          </a:p>
          <a:p>
            <a:r>
              <a:rPr lang="ru-RU" dirty="0"/>
              <a:t>добавление компонентов (кнопки, текстовые поля, метки и т.д.) </a:t>
            </a:r>
            <a:endParaRPr lang="en-US" dirty="0"/>
          </a:p>
          <a:p>
            <a:r>
              <a:rPr lang="ru-RU" dirty="0"/>
              <a:t>обработку событий, возникающих при взаимодействии пользователя с интерфейсом. </a:t>
            </a:r>
          </a:p>
        </p:txBody>
      </p:sp>
      <p:pic>
        <p:nvPicPr>
          <p:cNvPr id="10" name="Content Placeholder 9">
            <a:extLst>
              <a:ext uri="{FF2B5EF4-FFF2-40B4-BE49-F238E27FC236}">
                <a16:creationId xmlns:a16="http://schemas.microsoft.com/office/drawing/2014/main" id="{54E1E97B-EB9D-4B82-A919-A4FFA0DAA92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844644" y="2966358"/>
            <a:ext cx="2737756" cy="2737756"/>
          </a:xfrm>
        </p:spPr>
      </p:pic>
    </p:spTree>
    <p:extLst>
      <p:ext uri="{BB962C8B-B14F-4D97-AF65-F5344CB8AC3E}">
        <p14:creationId xmlns:p14="http://schemas.microsoft.com/office/powerpoint/2010/main" val="2572540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36B1A2-2C62-4A3C-B617-906CC0023610}"/>
              </a:ext>
            </a:extLst>
          </p:cNvPr>
          <p:cNvSpPr>
            <a:spLocks noGrp="1"/>
          </p:cNvSpPr>
          <p:nvPr>
            <p:ph type="title"/>
          </p:nvPr>
        </p:nvSpPr>
        <p:spPr/>
        <p:txBody>
          <a:bodyPr/>
          <a:lstStyle/>
          <a:p>
            <a:r>
              <a:rPr lang="ru-RU" dirty="0"/>
              <a:t>Контейнеры</a:t>
            </a:r>
          </a:p>
        </p:txBody>
      </p:sp>
      <p:sp>
        <p:nvSpPr>
          <p:cNvPr id="9" name="Content Placeholder 8">
            <a:extLst>
              <a:ext uri="{FF2B5EF4-FFF2-40B4-BE49-F238E27FC236}">
                <a16:creationId xmlns:a16="http://schemas.microsoft.com/office/drawing/2014/main" id="{B960C8DB-61F1-4F48-AC12-46757543A05F}"/>
              </a:ext>
            </a:extLst>
          </p:cNvPr>
          <p:cNvSpPr>
            <a:spLocks noGrp="1"/>
          </p:cNvSpPr>
          <p:nvPr>
            <p:ph sz="half" idx="1"/>
          </p:nvPr>
        </p:nvSpPr>
        <p:spPr>
          <a:xfrm>
            <a:off x="609600" y="1600202"/>
            <a:ext cx="5170939" cy="4441370"/>
          </a:xfrm>
        </p:spPr>
        <p:txBody>
          <a:bodyPr>
            <a:normAutofit fontScale="92500" lnSpcReduction="20000"/>
          </a:bodyPr>
          <a:lstStyle/>
          <a:p>
            <a:r>
              <a:rPr lang="ru-RU" dirty="0"/>
              <a:t>Контейнеры:</a:t>
            </a:r>
          </a:p>
          <a:p>
            <a:pPr lvl="1"/>
            <a:r>
              <a:rPr lang="ru-RU" dirty="0" err="1"/>
              <a:t>Swing</a:t>
            </a:r>
            <a:r>
              <a:rPr lang="ru-RU" dirty="0"/>
              <a:t>-приложения строятся на основе иерархии контейнеров, которые служат для размещения других компонентов.</a:t>
            </a:r>
          </a:p>
          <a:p>
            <a:pPr lvl="1"/>
            <a:r>
              <a:rPr lang="ru-RU" dirty="0"/>
              <a:t>Основным контейнером является </a:t>
            </a:r>
            <a:r>
              <a:rPr lang="ru-RU" dirty="0" err="1"/>
              <a:t>JFrame</a:t>
            </a:r>
            <a:r>
              <a:rPr lang="ru-RU" dirty="0"/>
              <a:t>, представляющий собой окно. </a:t>
            </a:r>
          </a:p>
        </p:txBody>
      </p:sp>
      <p:grpSp>
        <p:nvGrpSpPr>
          <p:cNvPr id="39" name="Group 38">
            <a:extLst>
              <a:ext uri="{FF2B5EF4-FFF2-40B4-BE49-F238E27FC236}">
                <a16:creationId xmlns:a16="http://schemas.microsoft.com/office/drawing/2014/main" id="{6414FE9D-6E00-4B88-BB23-9CF899576447}"/>
              </a:ext>
            </a:extLst>
          </p:cNvPr>
          <p:cNvGrpSpPr/>
          <p:nvPr/>
        </p:nvGrpSpPr>
        <p:grpSpPr>
          <a:xfrm>
            <a:off x="5945697" y="1969350"/>
            <a:ext cx="6086534" cy="3452820"/>
            <a:chOff x="5945697" y="1969350"/>
            <a:chExt cx="6086534" cy="3452820"/>
          </a:xfrm>
        </p:grpSpPr>
        <p:sp>
          <p:nvSpPr>
            <p:cNvPr id="14" name="TextBox 13">
              <a:extLst>
                <a:ext uri="{FF2B5EF4-FFF2-40B4-BE49-F238E27FC236}">
                  <a16:creationId xmlns:a16="http://schemas.microsoft.com/office/drawing/2014/main" id="{17C0BBB7-64B7-40D8-AF40-30B2A245E2C2}"/>
                </a:ext>
              </a:extLst>
            </p:cNvPr>
            <p:cNvSpPr txBox="1"/>
            <p:nvPr/>
          </p:nvSpPr>
          <p:spPr>
            <a:xfrm>
              <a:off x="7699941" y="1969350"/>
              <a:ext cx="2590800" cy="369332"/>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ru-RU" dirty="0"/>
                <a:t>Контейнер</a:t>
              </a:r>
            </a:p>
          </p:txBody>
        </p:sp>
        <p:sp>
          <p:nvSpPr>
            <p:cNvPr id="16" name="TextBox 15">
              <a:extLst>
                <a:ext uri="{FF2B5EF4-FFF2-40B4-BE49-F238E27FC236}">
                  <a16:creationId xmlns:a16="http://schemas.microsoft.com/office/drawing/2014/main" id="{E2C14311-4256-4AEC-A642-53BC5CE68AFA}"/>
                </a:ext>
              </a:extLst>
            </p:cNvPr>
            <p:cNvSpPr txBox="1"/>
            <p:nvPr/>
          </p:nvSpPr>
          <p:spPr>
            <a:xfrm>
              <a:off x="9071543" y="2867625"/>
              <a:ext cx="2960688" cy="2554545"/>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ru-RU" sz="1600" dirty="0"/>
                <a:t>Легковесные контейнер:</a:t>
              </a:r>
            </a:p>
            <a:p>
              <a:pPr marL="285750" indent="-285750">
                <a:buFont typeface="Arial" panose="020B0604020202020204" pitchFamily="34" charset="0"/>
                <a:buChar char="•"/>
              </a:pPr>
              <a:r>
                <a:rPr lang="ru-RU" sz="1600" dirty="0"/>
                <a:t>Примеры: </a:t>
              </a:r>
              <a:r>
                <a:rPr lang="en-US" sz="1600" dirty="0" err="1"/>
                <a:t>JPanel</a:t>
              </a:r>
              <a:endParaRPr lang="en-US" sz="1600" dirty="0"/>
            </a:p>
            <a:p>
              <a:pPr marL="285750" indent="-285750">
                <a:buFont typeface="Arial" panose="020B0604020202020204" pitchFamily="34" charset="0"/>
                <a:buChar char="•"/>
              </a:pPr>
              <a:r>
                <a:rPr lang="ru-RU" sz="1600" dirty="0"/>
                <a:t> Не содержат </a:t>
              </a:r>
              <a:r>
                <a:rPr lang="ru-RU" sz="1600" dirty="0" err="1"/>
                <a:t>платформо</a:t>
              </a:r>
              <a:r>
                <a:rPr lang="ru-RU" sz="1600" dirty="0"/>
                <a:t>-зависимого кода</a:t>
              </a:r>
              <a:endParaRPr lang="en-US" sz="1600" dirty="0"/>
            </a:p>
            <a:p>
              <a:pPr marL="285750" indent="-285750">
                <a:buFont typeface="Arial" panose="020B0604020202020204" pitchFamily="34" charset="0"/>
                <a:buChar char="•"/>
              </a:pPr>
              <a:r>
                <a:rPr lang="ru-RU" sz="1600" dirty="0"/>
                <a:t>Используются для организации и управления группами связанных компонентов</a:t>
              </a:r>
            </a:p>
            <a:p>
              <a:pPr marL="285750" indent="-285750">
                <a:buFont typeface="Arial" panose="020B0604020202020204" pitchFamily="34" charset="0"/>
                <a:buChar char="•"/>
              </a:pPr>
              <a:r>
                <a:rPr lang="ru-RU" sz="1600" dirty="0"/>
                <a:t>Могут содержать только компоненты</a:t>
              </a:r>
            </a:p>
          </p:txBody>
        </p:sp>
        <p:sp>
          <p:nvSpPr>
            <p:cNvPr id="17" name="TextBox 16">
              <a:extLst>
                <a:ext uri="{FF2B5EF4-FFF2-40B4-BE49-F238E27FC236}">
                  <a16:creationId xmlns:a16="http://schemas.microsoft.com/office/drawing/2014/main" id="{D15E1D14-04DC-48D1-BA19-B4CB962D6F6F}"/>
                </a:ext>
              </a:extLst>
            </p:cNvPr>
            <p:cNvSpPr txBox="1"/>
            <p:nvPr/>
          </p:nvSpPr>
          <p:spPr>
            <a:xfrm>
              <a:off x="5945697" y="2867625"/>
              <a:ext cx="2960687" cy="2062103"/>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ru-RU" sz="1600" dirty="0"/>
                <a:t>Контейнер высшего уровня:</a:t>
              </a:r>
            </a:p>
            <a:p>
              <a:pPr marL="285750" indent="-285750">
                <a:buFont typeface="Arial" panose="020B0604020202020204" pitchFamily="34" charset="0"/>
                <a:buChar char="•"/>
              </a:pPr>
              <a:r>
                <a:rPr lang="ru-RU" sz="1600" dirty="0"/>
                <a:t>Примеры: </a:t>
              </a:r>
              <a:r>
                <a:rPr lang="en-US" sz="1600" dirty="0" err="1"/>
                <a:t>JFrame</a:t>
              </a:r>
              <a:r>
                <a:rPr lang="en-US" sz="1600" dirty="0"/>
                <a:t>, </a:t>
              </a:r>
              <a:r>
                <a:rPr lang="en-US" sz="1600" dirty="0" err="1"/>
                <a:t>JWindow</a:t>
              </a:r>
              <a:r>
                <a:rPr lang="en-US" sz="1600" dirty="0"/>
                <a:t>,  </a:t>
              </a:r>
              <a:r>
                <a:rPr lang="en-US" sz="1600" dirty="0" err="1"/>
                <a:t>JApplet</a:t>
              </a:r>
              <a:r>
                <a:rPr lang="en-US" sz="1600" dirty="0"/>
                <a:t>, </a:t>
              </a:r>
              <a:r>
                <a:rPr lang="en-US" sz="1600" dirty="0" err="1"/>
                <a:t>JDialog</a:t>
              </a:r>
              <a:endParaRPr lang="ru-RU" sz="1600" dirty="0"/>
            </a:p>
            <a:p>
              <a:pPr marL="285750" indent="-285750">
                <a:buFont typeface="Arial" panose="020B0604020202020204" pitchFamily="34" charset="0"/>
                <a:buChar char="•"/>
              </a:pPr>
              <a:r>
                <a:rPr lang="ru-RU" sz="1600" dirty="0"/>
                <a:t>Зависят от собственных библиотек для рисования графических компонентов</a:t>
              </a:r>
              <a:endParaRPr lang="en-US" sz="1600" dirty="0"/>
            </a:p>
            <a:p>
              <a:pPr marL="285750" indent="-285750">
                <a:buFont typeface="Arial" panose="020B0604020202020204" pitchFamily="34" charset="0"/>
                <a:buChar char="•"/>
              </a:pPr>
              <a:r>
                <a:rPr lang="en-US" sz="1600" dirty="0"/>
                <a:t> </a:t>
              </a:r>
              <a:r>
                <a:rPr lang="ru-RU" sz="1600" dirty="0"/>
                <a:t>Могут содержать другие контейнеры</a:t>
              </a:r>
            </a:p>
          </p:txBody>
        </p:sp>
        <p:cxnSp>
          <p:nvCxnSpPr>
            <p:cNvPr id="20" name="Connector: Elbow 19">
              <a:extLst>
                <a:ext uri="{FF2B5EF4-FFF2-40B4-BE49-F238E27FC236}">
                  <a16:creationId xmlns:a16="http://schemas.microsoft.com/office/drawing/2014/main" id="{8B307E73-28C2-4048-A7F2-178890C946A1}"/>
                </a:ext>
              </a:extLst>
            </p:cNvPr>
            <p:cNvCxnSpPr>
              <a:cxnSpLocks/>
              <a:stCxn id="14" idx="2"/>
              <a:endCxn id="17" idx="0"/>
            </p:cNvCxnSpPr>
            <p:nvPr/>
          </p:nvCxnSpPr>
          <p:spPr>
            <a:xfrm rot="5400000">
              <a:off x="7946220" y="1818503"/>
              <a:ext cx="528943" cy="1569300"/>
            </a:xfrm>
            <a:prstGeom prst="bentConnector3">
              <a:avLst/>
            </a:prstGeom>
            <a:ln w="1905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Connector: Elbow 21">
              <a:extLst>
                <a:ext uri="{FF2B5EF4-FFF2-40B4-BE49-F238E27FC236}">
                  <a16:creationId xmlns:a16="http://schemas.microsoft.com/office/drawing/2014/main" id="{A48F6DA8-A67B-4288-86B0-2E72C425EB0D}"/>
                </a:ext>
              </a:extLst>
            </p:cNvPr>
            <p:cNvCxnSpPr>
              <a:cxnSpLocks/>
              <a:stCxn id="14" idx="2"/>
              <a:endCxn id="16" idx="0"/>
            </p:cNvCxnSpPr>
            <p:nvPr/>
          </p:nvCxnSpPr>
          <p:spPr>
            <a:xfrm rot="16200000" flipH="1">
              <a:off x="9509143" y="1824880"/>
              <a:ext cx="528943" cy="1556546"/>
            </a:xfrm>
            <a:prstGeom prst="bentConnector3">
              <a:avLst/>
            </a:prstGeom>
            <a:ln w="1905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81311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16FF-5F2C-4491-B8DF-0485D3B1050A}"/>
              </a:ext>
            </a:extLst>
          </p:cNvPr>
          <p:cNvSpPr>
            <a:spLocks noGrp="1"/>
          </p:cNvSpPr>
          <p:nvPr>
            <p:ph type="title"/>
          </p:nvPr>
        </p:nvSpPr>
        <p:spPr/>
        <p:txBody>
          <a:bodyPr/>
          <a:lstStyle/>
          <a:p>
            <a:r>
              <a:rPr lang="ru-RU" dirty="0"/>
              <a:t>Компоненты</a:t>
            </a:r>
          </a:p>
        </p:txBody>
      </p:sp>
      <p:sp>
        <p:nvSpPr>
          <p:cNvPr id="3" name="Content Placeholder 2">
            <a:extLst>
              <a:ext uri="{FF2B5EF4-FFF2-40B4-BE49-F238E27FC236}">
                <a16:creationId xmlns:a16="http://schemas.microsoft.com/office/drawing/2014/main" id="{F2A59A0D-DBB3-4C74-8550-845F995D6304}"/>
              </a:ext>
            </a:extLst>
          </p:cNvPr>
          <p:cNvSpPr>
            <a:spLocks noGrp="1"/>
          </p:cNvSpPr>
          <p:nvPr>
            <p:ph sz="half" idx="1"/>
          </p:nvPr>
        </p:nvSpPr>
        <p:spPr>
          <a:xfrm>
            <a:off x="609600" y="1809740"/>
            <a:ext cx="5588000" cy="4025004"/>
          </a:xfrm>
        </p:spPr>
        <p:txBody>
          <a:bodyPr>
            <a:normAutofit fontScale="62500" lnSpcReduction="20000"/>
          </a:bodyPr>
          <a:lstStyle/>
          <a:p>
            <a:pPr marL="0" indent="0">
              <a:buNone/>
            </a:pPr>
            <a:r>
              <a:rPr lang="en-US" dirty="0"/>
              <a:t>Swing </a:t>
            </a:r>
            <a:r>
              <a:rPr lang="ru-RU" dirty="0"/>
              <a:t>предлагает широкий выбор компонентов для создания </a:t>
            </a:r>
            <a:r>
              <a:rPr lang="en-US" dirty="0"/>
              <a:t>GUI, </a:t>
            </a:r>
            <a:r>
              <a:rPr lang="ru-RU" dirty="0"/>
              <a:t>включая:</a:t>
            </a:r>
          </a:p>
          <a:p>
            <a:r>
              <a:rPr lang="ru-RU" dirty="0"/>
              <a:t>Кнопки: </a:t>
            </a:r>
            <a:r>
              <a:rPr lang="en-US" dirty="0" err="1"/>
              <a:t>JButton</a:t>
            </a:r>
            <a:endParaRPr lang="en-US" dirty="0"/>
          </a:p>
          <a:p>
            <a:r>
              <a:rPr lang="ru-RU" dirty="0"/>
              <a:t>Текстовые поля: </a:t>
            </a:r>
            <a:r>
              <a:rPr lang="en-US" dirty="0" err="1"/>
              <a:t>JTextField</a:t>
            </a:r>
            <a:r>
              <a:rPr lang="en-US" dirty="0"/>
              <a:t>, </a:t>
            </a:r>
            <a:r>
              <a:rPr lang="en-US" dirty="0" err="1"/>
              <a:t>JTextArea</a:t>
            </a:r>
            <a:endParaRPr lang="en-US" dirty="0"/>
          </a:p>
          <a:p>
            <a:r>
              <a:rPr lang="ru-RU" dirty="0"/>
              <a:t>Метки: </a:t>
            </a:r>
            <a:r>
              <a:rPr lang="en-US" dirty="0" err="1"/>
              <a:t>JLabel</a:t>
            </a:r>
            <a:endParaRPr lang="en-US" dirty="0"/>
          </a:p>
          <a:p>
            <a:r>
              <a:rPr lang="ru-RU" dirty="0"/>
              <a:t>Списки: </a:t>
            </a:r>
            <a:r>
              <a:rPr lang="en-US" dirty="0" err="1"/>
              <a:t>JList</a:t>
            </a:r>
            <a:endParaRPr lang="en-US" dirty="0"/>
          </a:p>
          <a:p>
            <a:r>
              <a:rPr lang="ru-RU" dirty="0"/>
              <a:t>Таблицы: </a:t>
            </a:r>
            <a:r>
              <a:rPr lang="en-US" dirty="0" err="1"/>
              <a:t>JTable</a:t>
            </a:r>
            <a:endParaRPr lang="en-US" dirty="0"/>
          </a:p>
          <a:p>
            <a:r>
              <a:rPr lang="ru-RU" dirty="0"/>
              <a:t>Диалоги: </a:t>
            </a:r>
            <a:r>
              <a:rPr lang="en-US" dirty="0" err="1"/>
              <a:t>JDialog</a:t>
            </a:r>
            <a:endParaRPr lang="en-US" dirty="0"/>
          </a:p>
          <a:p>
            <a:r>
              <a:rPr lang="ru-RU" dirty="0"/>
              <a:t>Панели прокрутки: </a:t>
            </a:r>
            <a:r>
              <a:rPr lang="en-US" dirty="0" err="1"/>
              <a:t>JScrollPane</a:t>
            </a:r>
            <a:endParaRPr lang="en-US" dirty="0"/>
          </a:p>
          <a:p>
            <a:r>
              <a:rPr lang="ru-RU" dirty="0"/>
              <a:t>Меню: </a:t>
            </a:r>
            <a:r>
              <a:rPr lang="en-US" dirty="0" err="1"/>
              <a:t>JMenuBar</a:t>
            </a:r>
            <a:r>
              <a:rPr lang="en-US" dirty="0"/>
              <a:t>, </a:t>
            </a:r>
            <a:r>
              <a:rPr lang="en-US" dirty="0" err="1"/>
              <a:t>JMenu</a:t>
            </a:r>
            <a:r>
              <a:rPr lang="en-US" dirty="0"/>
              <a:t>, </a:t>
            </a:r>
            <a:r>
              <a:rPr lang="en-US" dirty="0" err="1"/>
              <a:t>JMenuItem</a:t>
            </a:r>
            <a:endParaRPr lang="ru-RU" dirty="0"/>
          </a:p>
        </p:txBody>
      </p:sp>
      <p:pic>
        <p:nvPicPr>
          <p:cNvPr id="5" name="Content Placeholder 4">
            <a:extLst>
              <a:ext uri="{FF2B5EF4-FFF2-40B4-BE49-F238E27FC236}">
                <a16:creationId xmlns:a16="http://schemas.microsoft.com/office/drawing/2014/main" id="{81078A06-A94E-4153-9605-71FB3BB4EE3D}"/>
              </a:ext>
            </a:extLst>
          </p:cNvPr>
          <p:cNvPicPr>
            <a:picLocks noGrp="1" noChangeAspect="1"/>
          </p:cNvPicPr>
          <p:nvPr>
            <p:ph sz="half" idx="2"/>
          </p:nvPr>
        </p:nvPicPr>
        <p:blipFill>
          <a:blip r:embed="rId3"/>
          <a:stretch>
            <a:fillRect/>
          </a:stretch>
        </p:blipFill>
        <p:spPr>
          <a:xfrm>
            <a:off x="6311168" y="2022030"/>
            <a:ext cx="5157663" cy="3682303"/>
          </a:xfrm>
          <a:prstGeom prst="rect">
            <a:avLst/>
          </a:prstGeom>
        </p:spPr>
      </p:pic>
    </p:spTree>
    <p:extLst>
      <p:ext uri="{BB962C8B-B14F-4D97-AF65-F5344CB8AC3E}">
        <p14:creationId xmlns:p14="http://schemas.microsoft.com/office/powerpoint/2010/main" val="362044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211D7-08F9-4AF1-97AF-3B1CD5809E3B}"/>
              </a:ext>
            </a:extLst>
          </p:cNvPr>
          <p:cNvSpPr>
            <a:spLocks noGrp="1"/>
          </p:cNvSpPr>
          <p:nvPr>
            <p:ph type="title"/>
          </p:nvPr>
        </p:nvSpPr>
        <p:spPr/>
        <p:txBody>
          <a:bodyPr/>
          <a:lstStyle/>
          <a:p>
            <a:r>
              <a:rPr lang="ru-RU" dirty="0"/>
              <a:t>Компонент </a:t>
            </a:r>
            <a:r>
              <a:rPr lang="en-US" dirty="0" err="1"/>
              <a:t>JButton</a:t>
            </a:r>
            <a:endParaRPr lang="ru-RU" dirty="0"/>
          </a:p>
        </p:txBody>
      </p:sp>
      <p:sp>
        <p:nvSpPr>
          <p:cNvPr id="3" name="Content Placeholder 2">
            <a:extLst>
              <a:ext uri="{FF2B5EF4-FFF2-40B4-BE49-F238E27FC236}">
                <a16:creationId xmlns:a16="http://schemas.microsoft.com/office/drawing/2014/main" id="{12D24B58-DECC-4280-8EA1-2BD03D382AE3}"/>
              </a:ext>
            </a:extLst>
          </p:cNvPr>
          <p:cNvSpPr>
            <a:spLocks noGrp="1"/>
          </p:cNvSpPr>
          <p:nvPr>
            <p:ph sz="half" idx="1"/>
          </p:nvPr>
        </p:nvSpPr>
        <p:spPr>
          <a:xfrm>
            <a:off x="609600" y="1600201"/>
            <a:ext cx="5384800" cy="4789713"/>
          </a:xfrm>
        </p:spPr>
        <p:txBody>
          <a:bodyPr>
            <a:normAutofit fontScale="40000" lnSpcReduction="20000"/>
          </a:bodyPr>
          <a:lstStyle/>
          <a:p>
            <a:pPr marL="0" indent="0">
              <a:lnSpc>
                <a:spcPct val="120000"/>
              </a:lnSpc>
              <a:spcBef>
                <a:spcPts val="600"/>
              </a:spcBef>
              <a:buNone/>
            </a:pPr>
            <a:r>
              <a:rPr lang="ru-RU" b="1" dirty="0"/>
              <a:t>Назначение:</a:t>
            </a:r>
          </a:p>
          <a:p>
            <a:pPr marL="0" indent="0">
              <a:buNone/>
            </a:pPr>
            <a:r>
              <a:rPr lang="ru-RU" dirty="0"/>
              <a:t>Создание интерактивных кнопок в пользовательском интерфейсе. </a:t>
            </a:r>
          </a:p>
          <a:p>
            <a:pPr marL="0" indent="0">
              <a:lnSpc>
                <a:spcPct val="170000"/>
              </a:lnSpc>
              <a:spcBef>
                <a:spcPts val="600"/>
              </a:spcBef>
              <a:buNone/>
            </a:pPr>
            <a:r>
              <a:rPr lang="ru-RU" b="1" dirty="0"/>
              <a:t>Графическое представление:</a:t>
            </a:r>
          </a:p>
          <a:p>
            <a:pPr marL="0" indent="0">
              <a:buNone/>
            </a:pPr>
            <a:r>
              <a:rPr lang="ru-RU" dirty="0"/>
              <a:t>Кнопки отображаются в виде прямоугольников с текстом (и/или изображением) и могут изменять свой внешний вид при нажатии. </a:t>
            </a:r>
          </a:p>
          <a:p>
            <a:pPr marL="0" indent="0">
              <a:lnSpc>
                <a:spcPct val="170000"/>
              </a:lnSpc>
              <a:spcBef>
                <a:spcPts val="600"/>
              </a:spcBef>
              <a:buNone/>
            </a:pPr>
            <a:r>
              <a:rPr lang="ru-RU" b="1" dirty="0"/>
              <a:t>Взаимодействие:</a:t>
            </a:r>
          </a:p>
          <a:p>
            <a:pPr marL="0" indent="0">
              <a:buNone/>
            </a:pPr>
            <a:r>
              <a:rPr lang="ru-RU" dirty="0"/>
              <a:t>Пользователь может взаимодействовать с кнопкой, нажимая на нее, что вызывает определенное событие, которое может быть обработано. </a:t>
            </a:r>
          </a:p>
          <a:p>
            <a:pPr marL="0" indent="0">
              <a:lnSpc>
                <a:spcPct val="170000"/>
              </a:lnSpc>
              <a:spcBef>
                <a:spcPts val="600"/>
              </a:spcBef>
              <a:buNone/>
            </a:pPr>
            <a:r>
              <a:rPr lang="ru-RU" b="1" dirty="0"/>
              <a:t>Контейнеры:</a:t>
            </a:r>
          </a:p>
          <a:p>
            <a:pPr marL="0" indent="0">
              <a:buNone/>
            </a:pPr>
            <a:r>
              <a:rPr lang="ru-RU" dirty="0"/>
              <a:t>Кнопки, как и другие компоненты </a:t>
            </a:r>
            <a:r>
              <a:rPr lang="ru-RU" dirty="0" err="1"/>
              <a:t>Swing</a:t>
            </a:r>
            <a:r>
              <a:rPr lang="ru-RU" dirty="0"/>
              <a:t>, не могут существовать сами по себе и должны быть добавлены в контейнер, такой как </a:t>
            </a:r>
            <a:r>
              <a:rPr lang="ru-RU" dirty="0" err="1"/>
              <a:t>JFrame</a:t>
            </a:r>
            <a:r>
              <a:rPr lang="ru-RU" dirty="0"/>
              <a:t> или </a:t>
            </a:r>
            <a:r>
              <a:rPr lang="ru-RU" dirty="0" err="1"/>
              <a:t>JPanel</a:t>
            </a:r>
            <a:r>
              <a:rPr lang="ru-RU" dirty="0"/>
              <a:t>. </a:t>
            </a:r>
          </a:p>
          <a:p>
            <a:pPr marL="0" indent="0">
              <a:lnSpc>
                <a:spcPct val="170000"/>
              </a:lnSpc>
              <a:spcBef>
                <a:spcPts val="600"/>
              </a:spcBef>
              <a:buNone/>
            </a:pPr>
            <a:r>
              <a:rPr lang="ru-RU" b="1" dirty="0"/>
              <a:t>Обработка событий:</a:t>
            </a:r>
          </a:p>
          <a:p>
            <a:pPr marL="0" indent="0">
              <a:buNone/>
            </a:pPr>
            <a:r>
              <a:rPr lang="ru-RU" dirty="0"/>
              <a:t>Для реагирования на нажатие кнопки используется интерфейс </a:t>
            </a:r>
            <a:r>
              <a:rPr lang="ru-RU" dirty="0" err="1"/>
              <a:t>ActionListener</a:t>
            </a:r>
            <a:endParaRPr lang="ru-RU" dirty="0"/>
          </a:p>
        </p:txBody>
      </p:sp>
      <p:pic>
        <p:nvPicPr>
          <p:cNvPr id="5" name="Content Placeholder 4">
            <a:extLst>
              <a:ext uri="{FF2B5EF4-FFF2-40B4-BE49-F238E27FC236}">
                <a16:creationId xmlns:a16="http://schemas.microsoft.com/office/drawing/2014/main" id="{AD53D858-F6A8-468D-90DC-15F02237C0A9}"/>
              </a:ext>
            </a:extLst>
          </p:cNvPr>
          <p:cNvPicPr>
            <a:picLocks noGrp="1" noChangeAspect="1"/>
          </p:cNvPicPr>
          <p:nvPr>
            <p:ph sz="half" idx="2"/>
          </p:nvPr>
        </p:nvPicPr>
        <p:blipFill>
          <a:blip r:embed="rId3"/>
          <a:stretch>
            <a:fillRect/>
          </a:stretch>
        </p:blipFill>
        <p:spPr>
          <a:xfrm>
            <a:off x="6197602" y="2152499"/>
            <a:ext cx="5798841" cy="255300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33E32106-6FAF-4761-B4D2-F432708B5CEA}"/>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609115" y="4961175"/>
            <a:ext cx="2930297" cy="1318257"/>
          </a:xfrm>
          <a:prstGeom prst="rect">
            <a:avLst/>
          </a:prstGeom>
          <a:ln>
            <a:noFill/>
          </a:ln>
          <a:effectLst>
            <a:softEdge rad="112500"/>
          </a:effectLst>
        </p:spPr>
      </p:pic>
    </p:spTree>
    <p:extLst>
      <p:ext uri="{BB962C8B-B14F-4D97-AF65-F5344CB8AC3E}">
        <p14:creationId xmlns:p14="http://schemas.microsoft.com/office/powerpoint/2010/main" val="4194768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JTextField</a:t>
            </a:r>
            <a:r>
              <a:rPr lang="en-US" dirty="0"/>
              <a:t>, </a:t>
            </a:r>
            <a:r>
              <a:rPr lang="en-US" dirty="0" err="1"/>
              <a:t>JTextArea</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601" y="2046515"/>
            <a:ext cx="6444342" cy="4005942"/>
          </a:xfrm>
        </p:spPr>
        <p:txBody>
          <a:bodyPr>
            <a:normAutofit fontScale="47500" lnSpcReduction="20000"/>
          </a:bodyPr>
          <a:lstStyle/>
          <a:p>
            <a:r>
              <a:rPr lang="ru-RU" dirty="0"/>
              <a:t>Компоненты для отображения и редактирования текста</a:t>
            </a:r>
          </a:p>
          <a:p>
            <a:r>
              <a:rPr lang="ru-RU" b="1" dirty="0" err="1"/>
              <a:t>JTextField</a:t>
            </a:r>
            <a:r>
              <a:rPr lang="ru-RU" dirty="0"/>
              <a:t> предназначен для однострочного ввода текста</a:t>
            </a:r>
            <a:endParaRPr lang="en-US" dirty="0"/>
          </a:p>
          <a:p>
            <a:r>
              <a:rPr lang="ru-RU" b="1" dirty="0" err="1"/>
              <a:t>JPasswordField</a:t>
            </a:r>
            <a:r>
              <a:rPr lang="ru-RU" dirty="0"/>
              <a:t> дает возможность организовать ввод «закрытой» информации</a:t>
            </a:r>
            <a:endParaRPr lang="en-US" dirty="0"/>
          </a:p>
          <a:p>
            <a:r>
              <a:rPr lang="ru-RU" b="1" dirty="0" err="1"/>
              <a:t>JFormattedTextField</a:t>
            </a:r>
            <a:r>
              <a:rPr lang="ru-RU" dirty="0"/>
              <a:t> позволяет представлять данные согласно специальным текстовым форматам и маскам, а также ограничивает ввод пользователя, разрешая тому вводить данные только в соответствии с заданным в поле форматом</a:t>
            </a:r>
          </a:p>
          <a:p>
            <a:r>
              <a:rPr lang="ru-RU" b="1" dirty="0" err="1"/>
              <a:t>JTextArea</a:t>
            </a:r>
            <a:r>
              <a:rPr lang="ru-RU" dirty="0"/>
              <a:t> позволяет вводить и отображать текст в несколько строк</a:t>
            </a:r>
          </a:p>
          <a:p>
            <a:r>
              <a:rPr lang="ru-RU" dirty="0"/>
              <a:t>Для получения текста используется метод </a:t>
            </a:r>
            <a:r>
              <a:rPr lang="ru-RU" dirty="0" err="1"/>
              <a:t>getText</a:t>
            </a:r>
            <a:r>
              <a:rPr lang="ru-RU" dirty="0"/>
              <a:t>()</a:t>
            </a:r>
          </a:p>
          <a:p>
            <a:r>
              <a:rPr lang="ru-RU" dirty="0"/>
              <a:t>Метод </a:t>
            </a:r>
            <a:r>
              <a:rPr lang="ru-RU" dirty="0" err="1"/>
              <a:t>setBounds</a:t>
            </a:r>
            <a:r>
              <a:rPr lang="ru-RU" dirty="0"/>
              <a:t>() позволяет задавать положение и размер компонента на экране</a:t>
            </a:r>
          </a:p>
          <a:p>
            <a:endParaRPr lang="ru-RU" dirty="0"/>
          </a:p>
          <a:p>
            <a:endParaRPr lang="ru-RU" dirty="0"/>
          </a:p>
          <a:p>
            <a:endParaRPr lang="ru-RU" dirty="0"/>
          </a:p>
        </p:txBody>
      </p:sp>
      <p:pic>
        <p:nvPicPr>
          <p:cNvPr id="13" name="Picture 12">
            <a:extLst>
              <a:ext uri="{FF2B5EF4-FFF2-40B4-BE49-F238E27FC236}">
                <a16:creationId xmlns:a16="http://schemas.microsoft.com/office/drawing/2014/main" id="{CDC98B15-426B-4D7E-9065-FE3DC7D85E2B}"/>
              </a:ext>
            </a:extLst>
          </p:cNvPr>
          <p:cNvPicPr>
            <a:picLocks noChangeAspect="1"/>
          </p:cNvPicPr>
          <p:nvPr/>
        </p:nvPicPr>
        <p:blipFill>
          <a:blip r:embed="rId2"/>
          <a:stretch>
            <a:fillRect/>
          </a:stretch>
        </p:blipFill>
        <p:spPr>
          <a:xfrm>
            <a:off x="7130143" y="1964889"/>
            <a:ext cx="3026229" cy="3026229"/>
          </a:xfrm>
          <a:prstGeom prst="rect">
            <a:avLst/>
          </a:prstGeom>
        </p:spPr>
      </p:pic>
      <p:pic>
        <p:nvPicPr>
          <p:cNvPr id="14" name="Picture 13">
            <a:extLst>
              <a:ext uri="{FF2B5EF4-FFF2-40B4-BE49-F238E27FC236}">
                <a16:creationId xmlns:a16="http://schemas.microsoft.com/office/drawing/2014/main" id="{B1FFFED3-0C1D-4BC1-85A6-E4A3E9B8920C}"/>
              </a:ext>
            </a:extLst>
          </p:cNvPr>
          <p:cNvPicPr>
            <a:picLocks noChangeAspect="1"/>
          </p:cNvPicPr>
          <p:nvPr/>
        </p:nvPicPr>
        <p:blipFill>
          <a:blip r:embed="rId3"/>
          <a:stretch>
            <a:fillRect/>
          </a:stretch>
        </p:blipFill>
        <p:spPr>
          <a:xfrm>
            <a:off x="7130143" y="5138133"/>
            <a:ext cx="4673033" cy="11429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47238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JLabel</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600" y="1809739"/>
            <a:ext cx="5384800" cy="4525963"/>
          </a:xfrm>
        </p:spPr>
        <p:txBody>
          <a:bodyPr>
            <a:normAutofit fontScale="62500" lnSpcReduction="20000"/>
          </a:bodyPr>
          <a:lstStyle/>
          <a:p>
            <a:r>
              <a:rPr lang="ru-RU" dirty="0"/>
              <a:t>Не редактируемый:</a:t>
            </a:r>
            <a:r>
              <a:rPr lang="en-US" dirty="0"/>
              <a:t> </a:t>
            </a:r>
            <a:r>
              <a:rPr lang="ru-RU" dirty="0"/>
              <a:t>Пользователь не может вводить текст непосредственно в </a:t>
            </a:r>
            <a:r>
              <a:rPr lang="ru-RU" dirty="0" err="1"/>
              <a:t>JLabel</a:t>
            </a:r>
            <a:r>
              <a:rPr lang="ru-RU" dirty="0"/>
              <a:t>. </a:t>
            </a:r>
            <a:endParaRPr lang="en-US" dirty="0"/>
          </a:p>
          <a:p>
            <a:r>
              <a:rPr lang="ru-RU" dirty="0" err="1"/>
              <a:t>JLabel</a:t>
            </a:r>
            <a:r>
              <a:rPr lang="ru-RU" dirty="0"/>
              <a:t> может отображать строку текста, значок изображения или и то, и другое. </a:t>
            </a:r>
            <a:endParaRPr lang="en-US" dirty="0"/>
          </a:p>
          <a:p>
            <a:r>
              <a:rPr lang="ru-RU" dirty="0" err="1"/>
              <a:t>JLabel</a:t>
            </a:r>
            <a:r>
              <a:rPr lang="ru-RU" dirty="0"/>
              <a:t> не может быть активным элементом, на который можно переключиться с помощью клавиатуры. </a:t>
            </a:r>
            <a:endParaRPr lang="en-US" dirty="0"/>
          </a:p>
          <a:p>
            <a:r>
              <a:rPr lang="ru-RU" dirty="0" err="1"/>
              <a:t>Label</a:t>
            </a:r>
            <a:r>
              <a:rPr lang="ru-RU" dirty="0"/>
              <a:t> обычно используется для отображения статических данных, таких как метки, заголовки, или для отображения иконок. </a:t>
            </a:r>
          </a:p>
        </p:txBody>
      </p:sp>
      <p:pic>
        <p:nvPicPr>
          <p:cNvPr id="5" name="Picture 4">
            <a:extLst>
              <a:ext uri="{FF2B5EF4-FFF2-40B4-BE49-F238E27FC236}">
                <a16:creationId xmlns:a16="http://schemas.microsoft.com/office/drawing/2014/main" id="{517D5932-1CE6-469F-AE94-CF90B97F53EB}"/>
              </a:ext>
            </a:extLst>
          </p:cNvPr>
          <p:cNvPicPr>
            <a:picLocks noChangeAspect="1"/>
          </p:cNvPicPr>
          <p:nvPr/>
        </p:nvPicPr>
        <p:blipFill>
          <a:blip r:embed="rId3"/>
          <a:stretch>
            <a:fillRect/>
          </a:stretch>
        </p:blipFill>
        <p:spPr>
          <a:xfrm>
            <a:off x="8219394" y="4286262"/>
            <a:ext cx="1724025" cy="1524000"/>
          </a:xfrm>
          <a:prstGeom prst="rect">
            <a:avLst/>
          </a:prstGeom>
        </p:spPr>
      </p:pic>
      <p:pic>
        <p:nvPicPr>
          <p:cNvPr id="8" name="Picture 7">
            <a:extLst>
              <a:ext uri="{FF2B5EF4-FFF2-40B4-BE49-F238E27FC236}">
                <a16:creationId xmlns:a16="http://schemas.microsoft.com/office/drawing/2014/main" id="{4B0BC57D-48D7-46DF-9C27-D29E473ACEBA}"/>
              </a:ext>
            </a:extLst>
          </p:cNvPr>
          <p:cNvPicPr>
            <a:picLocks noChangeAspect="1"/>
          </p:cNvPicPr>
          <p:nvPr/>
        </p:nvPicPr>
        <p:blipFill>
          <a:blip r:embed="rId4"/>
          <a:stretch>
            <a:fillRect/>
          </a:stretch>
        </p:blipFill>
        <p:spPr>
          <a:xfrm>
            <a:off x="6096000" y="3154984"/>
            <a:ext cx="5970814" cy="9177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49134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JList</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599" y="1809739"/>
            <a:ext cx="6879771" cy="4316425"/>
          </a:xfrm>
        </p:spPr>
        <p:txBody>
          <a:bodyPr>
            <a:normAutofit fontScale="55000" lnSpcReduction="20000"/>
          </a:bodyPr>
          <a:lstStyle/>
          <a:p>
            <a:r>
              <a:rPr lang="ru-RU" dirty="0"/>
              <a:t>Компонент </a:t>
            </a:r>
            <a:r>
              <a:rPr lang="ru-RU" i="1" dirty="0" err="1">
                <a:solidFill>
                  <a:schemeClr val="accent4">
                    <a:lumMod val="10000"/>
                  </a:schemeClr>
                </a:solidFill>
                <a:latin typeface="Courier New" panose="02070309020205020404" pitchFamily="49" charset="0"/>
                <a:cs typeface="Courier New" panose="02070309020205020404" pitchFamily="49" charset="0"/>
              </a:rPr>
              <a:t>JList</a:t>
            </a:r>
            <a:r>
              <a:rPr lang="ru-RU" dirty="0"/>
              <a:t> в </a:t>
            </a:r>
            <a:r>
              <a:rPr lang="ru-RU" dirty="0" err="1"/>
              <a:t>Swing</a:t>
            </a:r>
            <a:r>
              <a:rPr lang="ru-RU" dirty="0"/>
              <a:t> используется для отображения списка объектов и предоставления возможности выбора одного или нескольких из них пользователю</a:t>
            </a:r>
            <a:endParaRPr lang="en-US" dirty="0"/>
          </a:p>
          <a:p>
            <a:r>
              <a:rPr lang="ru-RU" i="1" dirty="0" err="1">
                <a:solidFill>
                  <a:schemeClr val="accent4">
                    <a:lumMod val="10000"/>
                  </a:schemeClr>
                </a:solidFill>
                <a:latin typeface="Courier New" panose="02070309020205020404" pitchFamily="49" charset="0"/>
                <a:cs typeface="Courier New" panose="02070309020205020404" pitchFamily="49" charset="0"/>
              </a:rPr>
              <a:t>JList</a:t>
            </a:r>
            <a:r>
              <a:rPr lang="ru-RU" dirty="0"/>
              <a:t> создается путем передачи массива или списка данных в конструктор</a:t>
            </a:r>
            <a:endParaRPr lang="en-US" dirty="0"/>
          </a:p>
          <a:p>
            <a:r>
              <a:rPr lang="ru-RU" dirty="0"/>
              <a:t>Элементы можно добавлять в </a:t>
            </a:r>
            <a:r>
              <a:rPr lang="ru-RU" i="1" dirty="0" err="1">
                <a:solidFill>
                  <a:schemeClr val="accent4">
                    <a:lumMod val="10000"/>
                  </a:schemeClr>
                </a:solidFill>
                <a:latin typeface="Courier New" panose="02070309020205020404" pitchFamily="49" charset="0"/>
                <a:cs typeface="Courier New" panose="02070309020205020404" pitchFamily="49" charset="0"/>
              </a:rPr>
              <a:t>JList</a:t>
            </a:r>
            <a:r>
              <a:rPr lang="ru-RU" dirty="0"/>
              <a:t> с помощью моделей, таких как </a:t>
            </a:r>
            <a:r>
              <a:rPr lang="ru-RU" i="1" dirty="0" err="1">
                <a:solidFill>
                  <a:schemeClr val="accent4">
                    <a:lumMod val="10000"/>
                  </a:schemeClr>
                </a:solidFill>
                <a:latin typeface="Courier New" panose="02070309020205020404" pitchFamily="49" charset="0"/>
                <a:cs typeface="Courier New" panose="02070309020205020404" pitchFamily="49" charset="0"/>
              </a:rPr>
              <a:t>DefaultListModel</a:t>
            </a:r>
            <a:r>
              <a:rPr lang="ru-RU" dirty="0"/>
              <a:t>. Метод </a:t>
            </a:r>
            <a:r>
              <a:rPr lang="ru-RU" i="1" dirty="0" err="1">
                <a:solidFill>
                  <a:schemeClr val="accent4">
                    <a:lumMod val="10000"/>
                  </a:schemeClr>
                </a:solidFill>
                <a:latin typeface="Courier New" panose="02070309020205020404" pitchFamily="49" charset="0"/>
                <a:cs typeface="Courier New" panose="02070309020205020404" pitchFamily="49" charset="0"/>
              </a:rPr>
              <a:t>addElement</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 используется для добавления новых элементов</a:t>
            </a:r>
            <a:endParaRPr lang="en-US" dirty="0"/>
          </a:p>
          <a:p>
            <a:r>
              <a:rPr lang="ru-RU" dirty="0"/>
              <a:t>По умолчанию </a:t>
            </a:r>
            <a:r>
              <a:rPr lang="ru-RU" i="1" dirty="0" err="1">
                <a:solidFill>
                  <a:schemeClr val="accent4">
                    <a:lumMod val="10000"/>
                  </a:schemeClr>
                </a:solidFill>
                <a:latin typeface="Courier New" panose="02070309020205020404" pitchFamily="49" charset="0"/>
                <a:cs typeface="Courier New" panose="02070309020205020404" pitchFamily="49" charset="0"/>
              </a:rPr>
              <a:t>JList</a:t>
            </a:r>
            <a:r>
              <a:rPr lang="ru-RU" dirty="0"/>
              <a:t> отображает объекты, возвращая значение метода </a:t>
            </a:r>
            <a:r>
              <a:rPr lang="ru-RU" i="1" dirty="0" err="1">
                <a:solidFill>
                  <a:schemeClr val="accent4">
                    <a:lumMod val="10000"/>
                  </a:schemeClr>
                </a:solidFill>
                <a:latin typeface="Courier New" panose="02070309020205020404" pitchFamily="49" charset="0"/>
                <a:cs typeface="Courier New" panose="02070309020205020404" pitchFamily="49" charset="0"/>
              </a:rPr>
              <a:t>toString</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 для каждого элемента. Можно настроить отображение, создав собственный </a:t>
            </a:r>
            <a:r>
              <a:rPr lang="ru-RU" i="1" dirty="0" err="1">
                <a:solidFill>
                  <a:schemeClr val="accent4">
                    <a:lumMod val="10000"/>
                  </a:schemeClr>
                </a:solidFill>
                <a:latin typeface="Courier New" panose="02070309020205020404" pitchFamily="49" charset="0"/>
                <a:cs typeface="Courier New" panose="02070309020205020404" pitchFamily="49" charset="0"/>
              </a:rPr>
              <a:t>ListCellRenderer</a:t>
            </a:r>
            <a:r>
              <a:rPr lang="ru-RU" dirty="0"/>
              <a:t>. </a:t>
            </a:r>
            <a:endParaRPr lang="en-US" dirty="0"/>
          </a:p>
        </p:txBody>
      </p:sp>
      <p:pic>
        <p:nvPicPr>
          <p:cNvPr id="9" name="Picture 8">
            <a:extLst>
              <a:ext uri="{FF2B5EF4-FFF2-40B4-BE49-F238E27FC236}">
                <a16:creationId xmlns:a16="http://schemas.microsoft.com/office/drawing/2014/main" id="{8DFC0189-B8EB-4611-9902-D45143C21BF8}"/>
              </a:ext>
            </a:extLst>
          </p:cNvPr>
          <p:cNvPicPr>
            <a:picLocks noChangeAspect="1"/>
          </p:cNvPicPr>
          <p:nvPr/>
        </p:nvPicPr>
        <p:blipFill rotWithShape="1">
          <a:blip r:embed="rId2"/>
          <a:srcRect r="50000"/>
          <a:stretch/>
        </p:blipFill>
        <p:spPr>
          <a:xfrm>
            <a:off x="8448358" y="2426834"/>
            <a:ext cx="2665956" cy="2004332"/>
          </a:xfrm>
          <a:prstGeom prst="rect">
            <a:avLst/>
          </a:prstGeom>
        </p:spPr>
      </p:pic>
    </p:spTree>
    <p:extLst>
      <p:ext uri="{BB962C8B-B14F-4D97-AF65-F5344CB8AC3E}">
        <p14:creationId xmlns:p14="http://schemas.microsoft.com/office/powerpoint/2010/main" val="142767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JTable</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600" y="1665298"/>
            <a:ext cx="7707086" cy="4525963"/>
          </a:xfrm>
        </p:spPr>
        <p:txBody>
          <a:bodyPr>
            <a:normAutofit fontScale="62500" lnSpcReduction="20000"/>
          </a:bodyPr>
          <a:lstStyle/>
          <a:p>
            <a:r>
              <a:rPr lang="ru-RU" dirty="0"/>
              <a:t>Компонент </a:t>
            </a:r>
            <a:r>
              <a:rPr lang="ru-RU" i="1" dirty="0" err="1">
                <a:solidFill>
                  <a:schemeClr val="accent4">
                    <a:lumMod val="10000"/>
                  </a:schemeClr>
                </a:solidFill>
                <a:latin typeface="Courier New" panose="02070309020205020404" pitchFamily="49" charset="0"/>
                <a:cs typeface="Courier New" panose="02070309020205020404" pitchFamily="49" charset="0"/>
              </a:rPr>
              <a:t>JTable</a:t>
            </a:r>
            <a:r>
              <a:rPr lang="ru-RU" dirty="0"/>
              <a:t> в </a:t>
            </a:r>
            <a:r>
              <a:rPr lang="ru-RU" dirty="0" err="1"/>
              <a:t>Swing</a:t>
            </a:r>
            <a:r>
              <a:rPr lang="ru-RU" dirty="0"/>
              <a:t> используется для отображения и редактирования данных в табличном формате, то есть в виде строк и столбцов</a:t>
            </a:r>
            <a:endParaRPr lang="en-US" dirty="0"/>
          </a:p>
          <a:p>
            <a:r>
              <a:rPr lang="ru-RU" i="1" dirty="0" err="1">
                <a:solidFill>
                  <a:schemeClr val="accent4">
                    <a:lumMod val="10000"/>
                  </a:schemeClr>
                </a:solidFill>
                <a:latin typeface="Courier New" panose="02070309020205020404" pitchFamily="49" charset="0"/>
                <a:cs typeface="Courier New" panose="02070309020205020404" pitchFamily="49" charset="0"/>
              </a:rPr>
              <a:t>JTable</a:t>
            </a:r>
            <a:r>
              <a:rPr lang="ru-RU" dirty="0"/>
              <a:t> отображает данные, предоставленные </a:t>
            </a:r>
            <a:r>
              <a:rPr lang="ru-RU" i="1" dirty="0" err="1">
                <a:solidFill>
                  <a:schemeClr val="accent4">
                    <a:lumMod val="10000"/>
                  </a:schemeClr>
                </a:solidFill>
                <a:latin typeface="Courier New" panose="02070309020205020404" pitchFamily="49" charset="0"/>
                <a:cs typeface="Courier New" panose="02070309020205020404" pitchFamily="49" charset="0"/>
              </a:rPr>
              <a:t>TableModel</a:t>
            </a:r>
            <a:endParaRPr lang="en-US" i="1" dirty="0">
              <a:solidFill>
                <a:schemeClr val="accent4">
                  <a:lumMod val="10000"/>
                </a:schemeClr>
              </a:solidFill>
              <a:latin typeface="Courier New" panose="02070309020205020404" pitchFamily="49" charset="0"/>
              <a:cs typeface="Courier New" panose="02070309020205020404" pitchFamily="49" charset="0"/>
            </a:endParaRPr>
          </a:p>
          <a:p>
            <a:r>
              <a:rPr lang="ru-RU" dirty="0"/>
              <a:t>Используя </a:t>
            </a:r>
            <a:r>
              <a:rPr lang="ru-RU" i="1" dirty="0" err="1">
                <a:solidFill>
                  <a:schemeClr val="accent4">
                    <a:lumMod val="10000"/>
                  </a:schemeClr>
                </a:solidFill>
                <a:latin typeface="Courier New" panose="02070309020205020404" pitchFamily="49" charset="0"/>
                <a:cs typeface="Courier New" panose="02070309020205020404" pitchFamily="49" charset="0"/>
              </a:rPr>
              <a:t>DefaultTableModel</a:t>
            </a:r>
            <a:r>
              <a:rPr lang="ru-RU" dirty="0"/>
              <a:t> (или другие изменяемые модели), можно добавлять, удалять и изменять строки в таблице</a:t>
            </a:r>
            <a:endParaRPr lang="en-US" dirty="0"/>
          </a:p>
          <a:p>
            <a:r>
              <a:rPr lang="ru-RU" dirty="0"/>
              <a:t>При изменении данных в таблице генерируются события, которые могут быть обработаны слушателями событий</a:t>
            </a:r>
            <a:endParaRPr lang="en-US" dirty="0"/>
          </a:p>
          <a:p>
            <a:r>
              <a:rPr lang="ru-RU" dirty="0"/>
              <a:t>Внешний вид </a:t>
            </a:r>
            <a:r>
              <a:rPr lang="ru-RU" i="1" dirty="0" err="1">
                <a:solidFill>
                  <a:schemeClr val="accent4">
                    <a:lumMod val="10000"/>
                  </a:schemeClr>
                </a:solidFill>
                <a:latin typeface="Courier New" panose="02070309020205020404" pitchFamily="49" charset="0"/>
                <a:cs typeface="Courier New" panose="02070309020205020404" pitchFamily="49" charset="0"/>
              </a:rPr>
              <a:t>JTable</a:t>
            </a:r>
            <a:r>
              <a:rPr lang="ru-RU" dirty="0"/>
              <a:t> можно настраивать с помощью различных свойств и стилей</a:t>
            </a:r>
          </a:p>
        </p:txBody>
      </p:sp>
      <p:pic>
        <p:nvPicPr>
          <p:cNvPr id="12290" name="Picture 2" descr="JTable Component in Java | SourceCodester">
            <a:extLst>
              <a:ext uri="{FF2B5EF4-FFF2-40B4-BE49-F238E27FC236}">
                <a16:creationId xmlns:a16="http://schemas.microsoft.com/office/drawing/2014/main" id="{6A6E5098-A700-4ED5-BBDA-48EA5B91E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9945" y="2705100"/>
            <a:ext cx="2867025"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512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JDialog</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p:txBody>
          <a:bodyPr>
            <a:normAutofit fontScale="55000" lnSpcReduction="20000"/>
          </a:bodyPr>
          <a:lstStyle/>
          <a:p>
            <a:r>
              <a:rPr lang="ru-RU" dirty="0" err="1"/>
              <a:t>JDialog</a:t>
            </a:r>
            <a:r>
              <a:rPr lang="ru-RU" dirty="0"/>
              <a:t> в </a:t>
            </a:r>
            <a:r>
              <a:rPr lang="ru-RU" dirty="0" err="1"/>
              <a:t>Swing</a:t>
            </a:r>
            <a:r>
              <a:rPr lang="ru-RU" dirty="0"/>
              <a:t> это компонент, представляющий собой модальное или немодальное диалоговое окно</a:t>
            </a:r>
            <a:endParaRPr lang="en-US" dirty="0"/>
          </a:p>
          <a:p>
            <a:r>
              <a:rPr lang="ru-RU" dirty="0"/>
              <a:t>Он используется для отображения дополнительной информации, запроса пользовательского ввода или предоставления дополнительных опций в рамках основного приложения</a:t>
            </a:r>
            <a:endParaRPr lang="en-US" dirty="0"/>
          </a:p>
          <a:p>
            <a:r>
              <a:rPr lang="ru-RU" dirty="0"/>
              <a:t>В отличие от </a:t>
            </a:r>
            <a:r>
              <a:rPr lang="ru-RU" dirty="0" err="1"/>
              <a:t>JFrame</a:t>
            </a:r>
            <a:r>
              <a:rPr lang="ru-RU" dirty="0"/>
              <a:t>, обычно не имеет кнопок сворачивания/разворачивания и предназначен для временных окон, которые должны быть закрыты пользователем, прежде чем продолжить работу с основным окном</a:t>
            </a:r>
          </a:p>
        </p:txBody>
      </p:sp>
      <p:pic>
        <p:nvPicPr>
          <p:cNvPr id="9" name="Picture 8">
            <a:extLst>
              <a:ext uri="{FF2B5EF4-FFF2-40B4-BE49-F238E27FC236}">
                <a16:creationId xmlns:a16="http://schemas.microsoft.com/office/drawing/2014/main" id="{874B5115-AEDF-4F4A-B2C2-24D694D21505}"/>
              </a:ext>
            </a:extLst>
          </p:cNvPr>
          <p:cNvPicPr>
            <a:picLocks noChangeAspect="1"/>
          </p:cNvPicPr>
          <p:nvPr/>
        </p:nvPicPr>
        <p:blipFill>
          <a:blip r:embed="rId3"/>
          <a:stretch>
            <a:fillRect/>
          </a:stretch>
        </p:blipFill>
        <p:spPr>
          <a:xfrm>
            <a:off x="7167111" y="4721690"/>
            <a:ext cx="3536496" cy="1242553"/>
          </a:xfrm>
          <a:prstGeom prst="rect">
            <a:avLst/>
          </a:prstGeom>
        </p:spPr>
      </p:pic>
      <p:pic>
        <p:nvPicPr>
          <p:cNvPr id="10" name="Picture 9">
            <a:extLst>
              <a:ext uri="{FF2B5EF4-FFF2-40B4-BE49-F238E27FC236}">
                <a16:creationId xmlns:a16="http://schemas.microsoft.com/office/drawing/2014/main" id="{A51F95D6-2001-4658-A3D3-B9D4CC4F7080}"/>
              </a:ext>
            </a:extLst>
          </p:cNvPr>
          <p:cNvPicPr>
            <a:picLocks noChangeAspect="1"/>
          </p:cNvPicPr>
          <p:nvPr/>
        </p:nvPicPr>
        <p:blipFill>
          <a:blip r:embed="rId4"/>
          <a:stretch>
            <a:fillRect/>
          </a:stretch>
        </p:blipFill>
        <p:spPr>
          <a:xfrm>
            <a:off x="6197602" y="2201623"/>
            <a:ext cx="5475514" cy="22758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7747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74DD-37CC-4FF0-96E8-7C9AF2395E11}"/>
              </a:ext>
            </a:extLst>
          </p:cNvPr>
          <p:cNvSpPr>
            <a:spLocks noGrp="1"/>
          </p:cNvSpPr>
          <p:nvPr>
            <p:ph type="title"/>
          </p:nvPr>
        </p:nvSpPr>
        <p:spPr/>
        <p:txBody>
          <a:bodyPr/>
          <a:lstStyle/>
          <a:p>
            <a:r>
              <a:rPr lang="ru-RU" dirty="0"/>
              <a:t>Диалоговые окна </a:t>
            </a:r>
            <a:r>
              <a:rPr lang="en-US" dirty="0" err="1"/>
              <a:t>JOptionPane</a:t>
            </a:r>
            <a:endParaRPr lang="ru-RU" dirty="0"/>
          </a:p>
        </p:txBody>
      </p:sp>
      <p:graphicFrame>
        <p:nvGraphicFramePr>
          <p:cNvPr id="6" name="Content Placeholder 5">
            <a:extLst>
              <a:ext uri="{FF2B5EF4-FFF2-40B4-BE49-F238E27FC236}">
                <a16:creationId xmlns:a16="http://schemas.microsoft.com/office/drawing/2014/main" id="{85E31CBF-AE60-473D-9E21-17A45D904450}"/>
              </a:ext>
            </a:extLst>
          </p:cNvPr>
          <p:cNvGraphicFramePr>
            <a:graphicFrameLocks noGrp="1"/>
          </p:cNvGraphicFramePr>
          <p:nvPr>
            <p:ph sz="half" idx="1"/>
            <p:extLst>
              <p:ext uri="{D42A27DB-BD31-4B8C-83A1-F6EECF244321}">
                <p14:modId xmlns:p14="http://schemas.microsoft.com/office/powerpoint/2010/main" val="634426244"/>
              </p:ext>
            </p:extLst>
          </p:nvPr>
        </p:nvGraphicFramePr>
        <p:xfrm>
          <a:off x="7826828" y="1872343"/>
          <a:ext cx="3755572" cy="1556657"/>
        </p:xfrm>
        <a:graphic>
          <a:graphicData uri="http://schemas.openxmlformats.org/drawingml/2006/table">
            <a:tbl>
              <a:tblPr firstRow="1" bandRow="1">
                <a:tableStyleId>{5940675A-B579-460E-94D1-54222C63F5DA}</a:tableStyleId>
              </a:tblPr>
              <a:tblGrid>
                <a:gridCol w="1045029">
                  <a:extLst>
                    <a:ext uri="{9D8B030D-6E8A-4147-A177-3AD203B41FA5}">
                      <a16:colId xmlns:a16="http://schemas.microsoft.com/office/drawing/2014/main" val="2508485480"/>
                    </a:ext>
                  </a:extLst>
                </a:gridCol>
                <a:gridCol w="2710543">
                  <a:extLst>
                    <a:ext uri="{9D8B030D-6E8A-4147-A177-3AD203B41FA5}">
                      <a16:colId xmlns:a16="http://schemas.microsoft.com/office/drawing/2014/main" val="1038767108"/>
                    </a:ext>
                  </a:extLst>
                </a:gridCol>
              </a:tblGrid>
              <a:tr h="1099457">
                <a:tc>
                  <a:txBody>
                    <a:bodyPr/>
                    <a:lstStyle/>
                    <a:p>
                      <a:endParaRPr lang="ru-RU" dirty="0"/>
                    </a:p>
                  </a:txBody>
                  <a:tcPr marL="130725" marR="130725"/>
                </a:tc>
                <a:tc>
                  <a:txBody>
                    <a:bodyPr/>
                    <a:lstStyle/>
                    <a:p>
                      <a:r>
                        <a:rPr lang="ru-RU" sz="1800" dirty="0"/>
                        <a:t>область вывода сообщений и ввода данных</a:t>
                      </a:r>
                    </a:p>
                  </a:txBody>
                  <a:tcPr marL="130725" marR="130725"/>
                </a:tc>
                <a:extLst>
                  <a:ext uri="{0D108BD9-81ED-4DB2-BD59-A6C34878D82A}">
                    <a16:rowId xmlns:a16="http://schemas.microsoft.com/office/drawing/2014/main" val="2297454496"/>
                  </a:ext>
                </a:extLst>
              </a:tr>
              <a:tr h="370840">
                <a:tc>
                  <a:txBody>
                    <a:bodyPr/>
                    <a:lstStyle/>
                    <a:p>
                      <a:endParaRPr lang="ru-RU" dirty="0"/>
                    </a:p>
                  </a:txBody>
                  <a:tcPr marL="130725" marR="130725"/>
                </a:tc>
                <a:tc>
                  <a:txBody>
                    <a:bodyPr/>
                    <a:lstStyle/>
                    <a:p>
                      <a:r>
                        <a:rPr lang="ru-RU" sz="1800" dirty="0"/>
                        <a:t>кнопки управления</a:t>
                      </a:r>
                    </a:p>
                  </a:txBody>
                  <a:tcPr marL="130725" marR="130725"/>
                </a:tc>
                <a:extLst>
                  <a:ext uri="{0D108BD9-81ED-4DB2-BD59-A6C34878D82A}">
                    <a16:rowId xmlns:a16="http://schemas.microsoft.com/office/drawing/2014/main" val="4181193194"/>
                  </a:ext>
                </a:extLst>
              </a:tr>
            </a:tbl>
          </a:graphicData>
        </a:graphic>
      </p:graphicFrame>
      <p:sp>
        <p:nvSpPr>
          <p:cNvPr id="9" name="Content Placeholder 8">
            <a:extLst>
              <a:ext uri="{FF2B5EF4-FFF2-40B4-BE49-F238E27FC236}">
                <a16:creationId xmlns:a16="http://schemas.microsoft.com/office/drawing/2014/main" id="{DF49EB15-DEA9-4C8C-9958-9A1F6CF0EBE8}"/>
              </a:ext>
            </a:extLst>
          </p:cNvPr>
          <p:cNvSpPr>
            <a:spLocks noGrp="1"/>
          </p:cNvSpPr>
          <p:nvPr>
            <p:ph sz="half" idx="2"/>
          </p:nvPr>
        </p:nvSpPr>
        <p:spPr>
          <a:xfrm>
            <a:off x="609409" y="1809739"/>
            <a:ext cx="6977934" cy="4525963"/>
          </a:xfrm>
        </p:spPr>
        <p:txBody>
          <a:bodyPr>
            <a:normAutofit fontScale="62500" lnSpcReduction="20000"/>
          </a:bodyPr>
          <a:lstStyle/>
          <a:p>
            <a:r>
              <a:rPr lang="ru-RU" i="1" dirty="0" err="1">
                <a:solidFill>
                  <a:schemeClr val="accent4">
                    <a:lumMod val="10000"/>
                  </a:schemeClr>
                </a:solidFill>
                <a:latin typeface="Courier New" panose="02070309020205020404" pitchFamily="49" charset="0"/>
                <a:cs typeface="Courier New" panose="02070309020205020404" pitchFamily="49" charset="0"/>
              </a:rPr>
              <a:t>JOptionPane</a:t>
            </a:r>
            <a:r>
              <a:rPr lang="ru-RU" dirty="0"/>
              <a:t> - это служебный класс в </a:t>
            </a:r>
            <a:r>
              <a:rPr lang="ru-RU" dirty="0" err="1"/>
              <a:t>Java</a:t>
            </a:r>
            <a:r>
              <a:rPr lang="ru-RU" dirty="0"/>
              <a:t>, который предоставляет стандартные диалоговые окна для взаимодействия с пользователем</a:t>
            </a:r>
            <a:endParaRPr lang="en-US" dirty="0"/>
          </a:p>
          <a:p>
            <a:r>
              <a:rPr lang="ru-RU" dirty="0"/>
              <a:t>Он позволяет отображать сообщения, запрашивать ввод данных и подтверждение действий</a:t>
            </a:r>
            <a:endParaRPr lang="en-US" dirty="0"/>
          </a:p>
          <a:p>
            <a:r>
              <a:rPr lang="ru-RU" dirty="0"/>
              <a:t>Для создания диалогового окна используется статический метод </a:t>
            </a:r>
            <a:r>
              <a:rPr lang="ru-RU" dirty="0" err="1"/>
              <a:t>showXXXDialog</a:t>
            </a:r>
            <a:r>
              <a:rPr lang="ru-RU" dirty="0"/>
              <a:t>, где XXX может быть:</a:t>
            </a:r>
            <a:endParaRPr lang="en-US" dirty="0"/>
          </a:p>
          <a:p>
            <a:pPr lvl="1"/>
            <a:r>
              <a:rPr lang="ru-RU" i="1" dirty="0" err="1">
                <a:solidFill>
                  <a:schemeClr val="accent4">
                    <a:lumMod val="10000"/>
                  </a:schemeClr>
                </a:solidFill>
                <a:latin typeface="Courier New" panose="02070309020205020404" pitchFamily="49" charset="0"/>
                <a:cs typeface="Courier New" panose="02070309020205020404" pitchFamily="49" charset="0"/>
              </a:rPr>
              <a:t>showMessageDialog</a:t>
            </a:r>
            <a:r>
              <a:rPr lang="ru-RU" dirty="0"/>
              <a:t>: для отображения сообщения, </a:t>
            </a:r>
            <a:endParaRPr lang="en-US" dirty="0"/>
          </a:p>
          <a:p>
            <a:pPr lvl="1"/>
            <a:r>
              <a:rPr lang="ru-RU" i="1" dirty="0" err="1">
                <a:solidFill>
                  <a:schemeClr val="accent4">
                    <a:lumMod val="10000"/>
                  </a:schemeClr>
                </a:solidFill>
                <a:latin typeface="Courier New" panose="02070309020205020404" pitchFamily="49" charset="0"/>
                <a:cs typeface="Courier New" panose="02070309020205020404" pitchFamily="49" charset="0"/>
              </a:rPr>
              <a:t>showInputDialog</a:t>
            </a:r>
            <a:r>
              <a:rPr lang="ru-RU" dirty="0"/>
              <a:t>: для запроса ввода данных</a:t>
            </a:r>
            <a:endParaRPr lang="en-US" dirty="0"/>
          </a:p>
          <a:p>
            <a:pPr lvl="1"/>
            <a:r>
              <a:rPr lang="ru-RU" i="1" dirty="0" err="1">
                <a:solidFill>
                  <a:schemeClr val="accent4">
                    <a:lumMod val="10000"/>
                  </a:schemeClr>
                </a:solidFill>
                <a:latin typeface="Courier New" panose="02070309020205020404" pitchFamily="49" charset="0"/>
                <a:cs typeface="Courier New" panose="02070309020205020404" pitchFamily="49" charset="0"/>
              </a:rPr>
              <a:t>showConfirmDialog</a:t>
            </a:r>
            <a:r>
              <a:rPr lang="ru-RU" dirty="0"/>
              <a:t>: для получения подтверждения пользователя. </a:t>
            </a:r>
          </a:p>
        </p:txBody>
      </p:sp>
      <p:sp>
        <p:nvSpPr>
          <p:cNvPr id="7" name="TextBox 6">
            <a:extLst>
              <a:ext uri="{FF2B5EF4-FFF2-40B4-BE49-F238E27FC236}">
                <a16:creationId xmlns:a16="http://schemas.microsoft.com/office/drawing/2014/main" id="{55321D30-7803-47FB-92E5-85AD380E7177}"/>
              </a:ext>
            </a:extLst>
          </p:cNvPr>
          <p:cNvSpPr txBox="1"/>
          <p:nvPr/>
        </p:nvSpPr>
        <p:spPr>
          <a:xfrm>
            <a:off x="7979229" y="2049223"/>
            <a:ext cx="809075" cy="89255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ru-RU" dirty="0"/>
          </a:p>
          <a:p>
            <a:r>
              <a:rPr lang="ru-RU" sz="1600" dirty="0"/>
              <a:t>иконка</a:t>
            </a:r>
          </a:p>
          <a:p>
            <a:endParaRPr lang="ru-RU" dirty="0"/>
          </a:p>
        </p:txBody>
      </p:sp>
      <p:pic>
        <p:nvPicPr>
          <p:cNvPr id="12" name="Picture 11">
            <a:extLst>
              <a:ext uri="{FF2B5EF4-FFF2-40B4-BE49-F238E27FC236}">
                <a16:creationId xmlns:a16="http://schemas.microsoft.com/office/drawing/2014/main" id="{C59D4B79-4BEA-465E-B89A-EEB39925774C}"/>
              </a:ext>
            </a:extLst>
          </p:cNvPr>
          <p:cNvPicPr>
            <a:picLocks noChangeAspect="1"/>
          </p:cNvPicPr>
          <p:nvPr/>
        </p:nvPicPr>
        <p:blipFill>
          <a:blip r:embed="rId3"/>
          <a:stretch>
            <a:fillRect/>
          </a:stretch>
        </p:blipFill>
        <p:spPr>
          <a:xfrm>
            <a:off x="7445828" y="4119368"/>
            <a:ext cx="4517571" cy="905263"/>
          </a:xfrm>
          <a:prstGeom prst="rect">
            <a:avLst/>
          </a:prstGeom>
          <a:ln>
            <a:noFill/>
          </a:ln>
          <a:effectLst>
            <a:outerShdw blurRad="292100" dist="139700" dir="2700000" algn="tl" rotWithShape="0">
              <a:srgbClr val="333333">
                <a:alpha val="65000"/>
              </a:srgbClr>
            </a:outerShdw>
          </a:effectLst>
        </p:spPr>
      </p:pic>
      <p:pic>
        <p:nvPicPr>
          <p:cNvPr id="11266" name="Picture 2" descr="https://java-online.ru/images/libs/swing-joptionpane-13.png">
            <a:extLst>
              <a:ext uri="{FF2B5EF4-FFF2-40B4-BE49-F238E27FC236}">
                <a16:creationId xmlns:a16="http://schemas.microsoft.com/office/drawing/2014/main" id="{080AE65D-BDA5-4116-8294-65D421883F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7493" y="5230181"/>
            <a:ext cx="2894239" cy="1016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302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p:txBody>
          <a:bodyPr/>
          <a:lstStyle/>
          <a:p>
            <a:r>
              <a:rPr lang="ru-RU" dirty="0"/>
              <a:t>Компонент </a:t>
            </a:r>
            <a:r>
              <a:rPr lang="en-US" dirty="0" err="1"/>
              <a:t>JScrollPane</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599" y="1600201"/>
            <a:ext cx="6988629" cy="4525963"/>
          </a:xfrm>
        </p:spPr>
        <p:txBody>
          <a:bodyPr>
            <a:normAutofit fontScale="92500" lnSpcReduction="10000"/>
          </a:bodyPr>
          <a:lstStyle/>
          <a:p>
            <a:r>
              <a:rPr lang="ru-RU" dirty="0"/>
              <a:t>Используется для создания прокручиваемого представления другого компонента</a:t>
            </a:r>
          </a:p>
          <a:p>
            <a:r>
              <a:rPr lang="ru-RU" dirty="0"/>
              <a:t>Позволяет отображать компоненты, которые превышают размеры видимой области, такие как большие текстовые области, таблицы или изображения. </a:t>
            </a:r>
          </a:p>
        </p:txBody>
      </p:sp>
      <p:pic>
        <p:nvPicPr>
          <p:cNvPr id="13314" name="Picture 2" descr="A quick demonstration of JScrollBar both vertical and horizontal :  ScrollBar « Swing JFC « Java">
            <a:extLst>
              <a:ext uri="{FF2B5EF4-FFF2-40B4-BE49-F238E27FC236}">
                <a16:creationId xmlns:a16="http://schemas.microsoft.com/office/drawing/2014/main" id="{894CFFA7-224D-4202-BF30-797A5D20D60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086498" y="2652712"/>
            <a:ext cx="2943225"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96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243E5-5079-4F24-BBE9-D5EEAF33A120}"/>
              </a:ext>
            </a:extLst>
          </p:cNvPr>
          <p:cNvSpPr>
            <a:spLocks noGrp="1"/>
          </p:cNvSpPr>
          <p:nvPr>
            <p:ph type="title"/>
          </p:nvPr>
        </p:nvSpPr>
        <p:spPr>
          <a:xfrm>
            <a:off x="609600" y="799643"/>
            <a:ext cx="10972800" cy="1143000"/>
          </a:xfrm>
        </p:spPr>
        <p:txBody>
          <a:bodyPr>
            <a:normAutofit fontScale="90000"/>
          </a:bodyPr>
          <a:lstStyle/>
          <a:p>
            <a:r>
              <a:rPr lang="ru-RU" dirty="0"/>
              <a:t>Компонент </a:t>
            </a:r>
            <a:r>
              <a:rPr lang="en-US" dirty="0" err="1"/>
              <a:t>JMenuBar</a:t>
            </a:r>
            <a:r>
              <a:rPr lang="en-US" dirty="0"/>
              <a:t>, </a:t>
            </a:r>
            <a:r>
              <a:rPr lang="en-US" dirty="0" err="1"/>
              <a:t>JMenu</a:t>
            </a:r>
            <a:r>
              <a:rPr lang="en-US" dirty="0"/>
              <a:t>, </a:t>
            </a:r>
            <a:r>
              <a:rPr lang="en-US" dirty="0" err="1"/>
              <a:t>JMenuItem</a:t>
            </a:r>
            <a:endParaRPr lang="ru-RU" dirty="0"/>
          </a:p>
        </p:txBody>
      </p:sp>
      <p:sp>
        <p:nvSpPr>
          <p:cNvPr id="3" name="Content Placeholder 2">
            <a:extLst>
              <a:ext uri="{FF2B5EF4-FFF2-40B4-BE49-F238E27FC236}">
                <a16:creationId xmlns:a16="http://schemas.microsoft.com/office/drawing/2014/main" id="{6C4BDF2E-9884-4FA2-A750-BFA50AFF0508}"/>
              </a:ext>
            </a:extLst>
          </p:cNvPr>
          <p:cNvSpPr>
            <a:spLocks noGrp="1"/>
          </p:cNvSpPr>
          <p:nvPr>
            <p:ph sz="half" idx="1"/>
          </p:nvPr>
        </p:nvSpPr>
        <p:spPr>
          <a:xfrm>
            <a:off x="609601" y="2144487"/>
            <a:ext cx="5384800" cy="4525963"/>
          </a:xfrm>
        </p:spPr>
        <p:txBody>
          <a:bodyPr>
            <a:normAutofit fontScale="62500" lnSpcReduction="20000"/>
          </a:bodyPr>
          <a:lstStyle/>
          <a:p>
            <a:pPr marL="0" indent="0">
              <a:buNone/>
            </a:pPr>
            <a:r>
              <a:rPr lang="ru-RU" b="1" dirty="0" err="1"/>
              <a:t>JMenuBar</a:t>
            </a:r>
            <a:r>
              <a:rPr lang="ru-RU" dirty="0"/>
              <a:t>:</a:t>
            </a:r>
          </a:p>
          <a:p>
            <a:pPr marL="0" indent="0">
              <a:spcAft>
                <a:spcPts val="600"/>
              </a:spcAft>
              <a:buNone/>
            </a:pPr>
            <a:r>
              <a:rPr lang="ru-RU" dirty="0"/>
              <a:t>Основной контейнер для меню, располагается в верхней части окна.</a:t>
            </a:r>
          </a:p>
          <a:p>
            <a:pPr marL="0" indent="0">
              <a:buNone/>
            </a:pPr>
            <a:r>
              <a:rPr lang="ru-RU" b="1" dirty="0" err="1"/>
              <a:t>JMenu</a:t>
            </a:r>
            <a:r>
              <a:rPr lang="ru-RU" dirty="0"/>
              <a:t>:</a:t>
            </a:r>
          </a:p>
          <a:p>
            <a:pPr marL="0" indent="0">
              <a:spcAft>
                <a:spcPts val="600"/>
              </a:spcAft>
              <a:buNone/>
            </a:pPr>
            <a:r>
              <a:rPr lang="ru-RU" dirty="0"/>
              <a:t>Представляет собой отдельное выпадающее меню, которое может быть добавлено в </a:t>
            </a:r>
            <a:r>
              <a:rPr lang="ru-RU" dirty="0" err="1"/>
              <a:t>JMenuBar</a:t>
            </a:r>
            <a:r>
              <a:rPr lang="ru-RU" dirty="0"/>
              <a:t> или в другое меню (подменю).</a:t>
            </a:r>
          </a:p>
          <a:p>
            <a:pPr marL="0" indent="0">
              <a:buNone/>
            </a:pPr>
            <a:r>
              <a:rPr lang="ru-RU" b="1" dirty="0" err="1"/>
              <a:t>JMenuItem</a:t>
            </a:r>
            <a:r>
              <a:rPr lang="ru-RU" dirty="0"/>
              <a:t>:</a:t>
            </a:r>
          </a:p>
          <a:p>
            <a:pPr marL="0" indent="0">
              <a:spcAft>
                <a:spcPts val="600"/>
              </a:spcAft>
              <a:buNone/>
            </a:pPr>
            <a:r>
              <a:rPr lang="ru-RU" dirty="0"/>
              <a:t>Элемент меню, который пользователь может выбрать для выполнения определенного действия. </a:t>
            </a:r>
          </a:p>
        </p:txBody>
      </p:sp>
      <p:pic>
        <p:nvPicPr>
          <p:cNvPr id="8" name="Picture 7">
            <a:extLst>
              <a:ext uri="{FF2B5EF4-FFF2-40B4-BE49-F238E27FC236}">
                <a16:creationId xmlns:a16="http://schemas.microsoft.com/office/drawing/2014/main" id="{AECD41B4-300B-4B04-89FE-F0B5821F048A}"/>
              </a:ext>
            </a:extLst>
          </p:cNvPr>
          <p:cNvPicPr>
            <a:picLocks noChangeAspect="1"/>
          </p:cNvPicPr>
          <p:nvPr/>
        </p:nvPicPr>
        <p:blipFill>
          <a:blip r:embed="rId2"/>
          <a:stretch>
            <a:fillRect/>
          </a:stretch>
        </p:blipFill>
        <p:spPr>
          <a:xfrm>
            <a:off x="5994401" y="2144487"/>
            <a:ext cx="3838220" cy="327909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A46DB1A7-650E-46CB-8B87-4589FBAD9F14}"/>
              </a:ext>
            </a:extLst>
          </p:cNvPr>
          <p:cNvPicPr>
            <a:picLocks noChangeAspect="1"/>
          </p:cNvPicPr>
          <p:nvPr/>
        </p:nvPicPr>
        <p:blipFill>
          <a:blip r:embed="rId3"/>
          <a:stretch>
            <a:fillRect/>
          </a:stretch>
        </p:blipFill>
        <p:spPr>
          <a:xfrm>
            <a:off x="9201149" y="4471080"/>
            <a:ext cx="2381250" cy="1905000"/>
          </a:xfrm>
          <a:prstGeom prst="rect">
            <a:avLst/>
          </a:prstGeom>
        </p:spPr>
      </p:pic>
    </p:spTree>
    <p:extLst>
      <p:ext uri="{BB962C8B-B14F-4D97-AF65-F5344CB8AC3E}">
        <p14:creationId xmlns:p14="http://schemas.microsoft.com/office/powerpoint/2010/main" val="2037328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ru-RU" dirty="0"/>
              <a:t>Компоновка</a:t>
            </a:r>
          </a:p>
        </p:txBody>
      </p:sp>
      <p:sp>
        <p:nvSpPr>
          <p:cNvPr id="4" name="Content Placeholder 3">
            <a:extLst>
              <a:ext uri="{FF2B5EF4-FFF2-40B4-BE49-F238E27FC236}">
                <a16:creationId xmlns:a16="http://schemas.microsoft.com/office/drawing/2014/main" id="{FEFFECDA-DC52-4D2E-80A3-AC882CA55187}"/>
              </a:ext>
            </a:extLst>
          </p:cNvPr>
          <p:cNvSpPr>
            <a:spLocks noGrp="1"/>
          </p:cNvSpPr>
          <p:nvPr>
            <p:ph idx="1"/>
          </p:nvPr>
        </p:nvSpPr>
        <p:spPr>
          <a:xfrm>
            <a:off x="609601" y="1904989"/>
            <a:ext cx="10280072" cy="4221175"/>
          </a:xfrm>
        </p:spPr>
        <p:txBody>
          <a:bodyPr>
            <a:normAutofit fontScale="40000" lnSpcReduction="20000"/>
          </a:bodyPr>
          <a:lstStyle/>
          <a:p>
            <a:r>
              <a:rPr lang="ru-RU" dirty="0"/>
              <a:t>Компоненты размещаются внутри контейнеров с помощью компоновщиков (</a:t>
            </a:r>
            <a:r>
              <a:rPr lang="ru-RU" dirty="0" err="1"/>
              <a:t>layout</a:t>
            </a:r>
            <a:r>
              <a:rPr lang="ru-RU" dirty="0"/>
              <a:t> </a:t>
            </a:r>
            <a:r>
              <a:rPr lang="ru-RU" dirty="0" err="1"/>
              <a:t>managers</a:t>
            </a:r>
            <a:r>
              <a:rPr lang="ru-RU" dirty="0"/>
              <a:t>). </a:t>
            </a:r>
            <a:r>
              <a:rPr lang="ru-RU" dirty="0" err="1"/>
              <a:t>Swing</a:t>
            </a:r>
            <a:r>
              <a:rPr lang="ru-RU" dirty="0"/>
              <a:t> предоставляет несколько типов компоновщиков:</a:t>
            </a:r>
          </a:p>
          <a:p>
            <a:pPr lvl="1"/>
            <a:r>
              <a:rPr lang="ru-RU" dirty="0"/>
              <a:t>Полярное расположение </a:t>
            </a:r>
            <a:r>
              <a:rPr lang="ru-RU" i="1" dirty="0" err="1">
                <a:solidFill>
                  <a:schemeClr val="accent4">
                    <a:lumMod val="10000"/>
                  </a:schemeClr>
                </a:solidFill>
                <a:latin typeface="Courier New" panose="02070309020205020404" pitchFamily="49" charset="0"/>
                <a:cs typeface="Courier New" panose="02070309020205020404" pitchFamily="49" charset="0"/>
              </a:rPr>
              <a:t>BorderLayout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Последовательное расположение </a:t>
            </a:r>
            <a:r>
              <a:rPr lang="ru-RU" i="1" dirty="0" err="1">
                <a:solidFill>
                  <a:schemeClr val="accent4">
                    <a:lumMod val="10000"/>
                  </a:schemeClr>
                </a:solidFill>
                <a:latin typeface="Courier New" panose="02070309020205020404" pitchFamily="49" charset="0"/>
                <a:cs typeface="Courier New" panose="02070309020205020404" pitchFamily="49" charset="0"/>
              </a:rPr>
              <a:t>FlowLayout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Табличное расположение </a:t>
            </a:r>
            <a:r>
              <a:rPr lang="ru-RU" i="1" dirty="0" err="1">
                <a:solidFill>
                  <a:schemeClr val="accent4">
                    <a:lumMod val="10000"/>
                  </a:schemeClr>
                </a:solidFill>
                <a:latin typeface="Courier New" panose="02070309020205020404" pitchFamily="49" charset="0"/>
                <a:cs typeface="Courier New" panose="02070309020205020404" pitchFamily="49" charset="0"/>
              </a:rPr>
              <a:t>GridLayout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GridBagLayout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CardLayout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BoxLayout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GroupLayout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lvl="1"/>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SpringLayout</a:t>
            </a:r>
            <a:endParaRPr lang="ru-RU" i="1" dirty="0">
              <a:solidFill>
                <a:schemeClr val="accent4">
                  <a:lumMod val="10000"/>
                </a:schemeClr>
              </a:solidFill>
              <a:latin typeface="Courier New" panose="02070309020205020404" pitchFamily="49" charset="0"/>
              <a:cs typeface="Courier New" panose="02070309020205020404" pitchFamily="49" charset="0"/>
            </a:endParaRPr>
          </a:p>
          <a:p>
            <a:r>
              <a:rPr lang="ru-RU" dirty="0"/>
              <a:t>Для любого компонента </a:t>
            </a:r>
            <a:r>
              <a:rPr lang="ru-RU" dirty="0" err="1"/>
              <a:t>Swing</a:t>
            </a:r>
            <a:r>
              <a:rPr lang="ru-RU" dirty="0"/>
              <a:t> можно установить менеджер расположения или узнать, какой менеджер им используется с помощью методов </a:t>
            </a:r>
            <a:r>
              <a:rPr lang="ru-RU" i="1" dirty="0" err="1">
                <a:solidFill>
                  <a:schemeClr val="accent4">
                    <a:lumMod val="10000"/>
                  </a:schemeClr>
                </a:solidFill>
                <a:latin typeface="Courier New" panose="02070309020205020404" pitchFamily="49" charset="0"/>
                <a:cs typeface="Courier New" panose="02070309020205020404" pitchFamily="49" charset="0"/>
              </a:rPr>
              <a:t>setLayout</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 и </a:t>
            </a:r>
            <a:r>
              <a:rPr lang="ru-RU" i="1" dirty="0" err="1">
                <a:solidFill>
                  <a:schemeClr val="accent4">
                    <a:lumMod val="10000"/>
                  </a:schemeClr>
                </a:solidFill>
                <a:latin typeface="Courier New" panose="02070309020205020404" pitchFamily="49" charset="0"/>
                <a:cs typeface="Courier New" panose="02070309020205020404" pitchFamily="49" charset="0"/>
              </a:rPr>
              <a:t>getLayout</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a:t>
            </a:r>
            <a:r>
              <a:rPr lang="en-US" dirty="0"/>
              <a:t> </a:t>
            </a:r>
            <a:r>
              <a:rPr lang="ru-RU" dirty="0"/>
              <a:t>Изменять расположение следует только в контейнерах, то есть в панелях (</a:t>
            </a:r>
            <a:r>
              <a:rPr lang="ru-RU" i="1" dirty="0" err="1">
                <a:solidFill>
                  <a:schemeClr val="accent4">
                    <a:lumMod val="10000"/>
                  </a:schemeClr>
                </a:solidFill>
                <a:latin typeface="Courier New" panose="02070309020205020404" pitchFamily="49" charset="0"/>
                <a:cs typeface="Courier New" panose="02070309020205020404" pitchFamily="49" charset="0"/>
              </a:rPr>
              <a:t>JPanel</a:t>
            </a:r>
            <a:r>
              <a:rPr lang="ru-RU" dirty="0"/>
              <a:t>) и окнах (унаследованных от класса </a:t>
            </a:r>
            <a:r>
              <a:rPr lang="ru-RU" i="1" dirty="0" err="1">
                <a:solidFill>
                  <a:schemeClr val="accent4">
                    <a:lumMod val="10000"/>
                  </a:schemeClr>
                </a:solidFill>
                <a:latin typeface="Courier New" panose="02070309020205020404" pitchFamily="49" charset="0"/>
                <a:cs typeface="Courier New" panose="02070309020205020404" pitchFamily="49" charset="0"/>
              </a:rPr>
              <a:t>Window</a:t>
            </a:r>
            <a:r>
              <a:rPr lang="ru-RU" dirty="0"/>
              <a:t>). </a:t>
            </a:r>
          </a:p>
          <a:p>
            <a:r>
              <a:rPr lang="ru-RU" dirty="0"/>
              <a:t>Контейнер окна вызывает методы менеджера расположения каждый раз при изменении своих размеров или при первом появлении на экране. Кроме этого, можно </a:t>
            </a:r>
            <a:r>
              <a:rPr lang="ru-RU" dirty="0" err="1"/>
              <a:t>программно</a:t>
            </a:r>
            <a:r>
              <a:rPr lang="ru-RU" dirty="0"/>
              <a:t> запросить менеджер расположения заново расположить компоненты в контейнере с помощью метода </a:t>
            </a:r>
            <a:r>
              <a:rPr lang="ru-RU" i="1" dirty="0" err="1">
                <a:solidFill>
                  <a:schemeClr val="accent4">
                    <a:lumMod val="10000"/>
                  </a:schemeClr>
                </a:solidFill>
                <a:latin typeface="Courier New" panose="02070309020205020404" pitchFamily="49" charset="0"/>
                <a:cs typeface="Courier New" panose="02070309020205020404" pitchFamily="49" charset="0"/>
              </a:rPr>
              <a:t>revalidate</a:t>
            </a:r>
            <a:r>
              <a:rPr lang="ru-RU" i="1" dirty="0">
                <a:solidFill>
                  <a:schemeClr val="accent4">
                    <a:lumMod val="10000"/>
                  </a:schemeClr>
                </a:solidFill>
                <a:latin typeface="Courier New" panose="02070309020205020404" pitchFamily="49" charset="0"/>
                <a:cs typeface="Courier New" panose="02070309020205020404" pitchFamily="49" charset="0"/>
              </a:rPr>
              <a:t>()</a:t>
            </a:r>
          </a:p>
          <a:p>
            <a:endParaRPr lang="ru-RU" dirty="0"/>
          </a:p>
        </p:txBody>
      </p:sp>
      <p:pic>
        <p:nvPicPr>
          <p:cNvPr id="12" name="Picture 11">
            <a:extLst>
              <a:ext uri="{FF2B5EF4-FFF2-40B4-BE49-F238E27FC236}">
                <a16:creationId xmlns:a16="http://schemas.microsoft.com/office/drawing/2014/main" id="{43CB9425-BDF9-4FB2-8E33-67BE0C6DF28D}"/>
              </a:ext>
            </a:extLst>
          </p:cNvPr>
          <p:cNvPicPr>
            <a:picLocks noChangeAspect="1"/>
          </p:cNvPicPr>
          <p:nvPr/>
        </p:nvPicPr>
        <p:blipFill>
          <a:blip r:embed="rId3"/>
          <a:stretch>
            <a:fillRect/>
          </a:stretch>
        </p:blipFill>
        <p:spPr>
          <a:xfrm>
            <a:off x="9152148" y="2556756"/>
            <a:ext cx="2430251" cy="1744487"/>
          </a:xfrm>
          <a:prstGeom prst="rect">
            <a:avLst/>
          </a:prstGeom>
        </p:spPr>
      </p:pic>
    </p:spTree>
    <p:extLst>
      <p:ext uri="{BB962C8B-B14F-4D97-AF65-F5344CB8AC3E}">
        <p14:creationId xmlns:p14="http://schemas.microsoft.com/office/powerpoint/2010/main" val="3454719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C9CD5-FBB5-4EAC-910C-D6DD771D93DD}"/>
              </a:ext>
            </a:extLst>
          </p:cNvPr>
          <p:cNvSpPr>
            <a:spLocks noGrp="1"/>
          </p:cNvSpPr>
          <p:nvPr>
            <p:ph type="title"/>
          </p:nvPr>
        </p:nvSpPr>
        <p:spPr/>
        <p:txBody>
          <a:bodyPr/>
          <a:lstStyle/>
          <a:p>
            <a:r>
              <a:rPr lang="ru-RU" dirty="0"/>
              <a:t>Компоновка</a:t>
            </a:r>
          </a:p>
        </p:txBody>
      </p:sp>
      <p:sp>
        <p:nvSpPr>
          <p:cNvPr id="3" name="Content Placeholder 2">
            <a:extLst>
              <a:ext uri="{FF2B5EF4-FFF2-40B4-BE49-F238E27FC236}">
                <a16:creationId xmlns:a16="http://schemas.microsoft.com/office/drawing/2014/main" id="{975DF65C-9A73-43B4-8376-90113B793357}"/>
              </a:ext>
            </a:extLst>
          </p:cNvPr>
          <p:cNvSpPr>
            <a:spLocks noGrp="1"/>
          </p:cNvSpPr>
          <p:nvPr>
            <p:ph idx="1"/>
          </p:nvPr>
        </p:nvSpPr>
        <p:spPr/>
        <p:txBody>
          <a:bodyPr>
            <a:normAutofit fontScale="55000" lnSpcReduction="20000"/>
          </a:bodyPr>
          <a:lstStyle/>
          <a:p>
            <a:r>
              <a:rPr lang="ru-RU" dirty="0"/>
              <a:t>Компонент можно поместить вручную с помощью метода </a:t>
            </a:r>
            <a:r>
              <a:rPr lang="en-US" i="1" dirty="0" err="1">
                <a:solidFill>
                  <a:schemeClr val="accent4">
                    <a:lumMod val="10000"/>
                  </a:schemeClr>
                </a:solidFill>
                <a:latin typeface="Courier New" panose="02070309020205020404" pitchFamily="49" charset="0"/>
                <a:cs typeface="Courier New" panose="02070309020205020404" pitchFamily="49" charset="0"/>
              </a:rPr>
              <a:t>setBounds</a:t>
            </a:r>
            <a:r>
              <a:rPr lang="en-US" i="1" dirty="0">
                <a:solidFill>
                  <a:schemeClr val="accent4">
                    <a:lumMod val="10000"/>
                  </a:schemeClr>
                </a:solidFill>
                <a:latin typeface="Courier New" panose="02070309020205020404" pitchFamily="49" charset="0"/>
                <a:cs typeface="Courier New" panose="02070309020205020404" pitchFamily="49" charset="0"/>
              </a:rPr>
              <a:t>()</a:t>
            </a:r>
          </a:p>
          <a:p>
            <a:r>
              <a:rPr lang="ru-RU" dirty="0"/>
              <a:t>Компоновщик размещает добавляемые в контейнер компоненты в некотором порядке согласно реализованного в нем алгоритма, учитывая следующие свойства:</a:t>
            </a:r>
          </a:p>
          <a:p>
            <a:pPr lvl="1"/>
            <a:r>
              <a:rPr lang="ru-RU" dirty="0"/>
              <a:t>Предпочтительный размер, который можно изменить с помощью метода </a:t>
            </a:r>
            <a:r>
              <a:rPr lang="ru-RU" i="1" dirty="0" err="1">
                <a:solidFill>
                  <a:schemeClr val="accent4">
                    <a:lumMod val="10000"/>
                  </a:schemeClr>
                </a:solidFill>
                <a:latin typeface="Courier New" panose="02070309020205020404" pitchFamily="49" charset="0"/>
                <a:cs typeface="Courier New" panose="02070309020205020404" pitchFamily="49" charset="0"/>
              </a:rPr>
              <a:t>setPrefferedSize</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a:t>
            </a:r>
          </a:p>
          <a:p>
            <a:pPr lvl="1"/>
            <a:r>
              <a:rPr lang="ru-RU" dirty="0"/>
              <a:t>Минимальный размер, который можно изменить с помощью метода </a:t>
            </a:r>
            <a:r>
              <a:rPr lang="ru-RU" i="1" dirty="0" err="1">
                <a:solidFill>
                  <a:schemeClr val="accent4">
                    <a:lumMod val="10000"/>
                  </a:schemeClr>
                </a:solidFill>
                <a:latin typeface="Courier New" panose="02070309020205020404" pitchFamily="49" charset="0"/>
                <a:cs typeface="Courier New" panose="02070309020205020404" pitchFamily="49" charset="0"/>
              </a:rPr>
              <a:t>setMinimumSize</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a:t>
            </a:r>
          </a:p>
          <a:p>
            <a:pPr lvl="1"/>
            <a:r>
              <a:rPr lang="ru-RU" dirty="0"/>
              <a:t>Максимальный размер, который можно исправить с помощью метода </a:t>
            </a:r>
            <a:r>
              <a:rPr lang="ru-RU" i="1" dirty="0" err="1">
                <a:solidFill>
                  <a:schemeClr val="accent4">
                    <a:lumMod val="10000"/>
                  </a:schemeClr>
                </a:solidFill>
                <a:latin typeface="Courier New" panose="02070309020205020404" pitchFamily="49" charset="0"/>
                <a:cs typeface="Courier New" panose="02070309020205020404" pitchFamily="49" charset="0"/>
              </a:rPr>
              <a:t>setMaximumSize</a:t>
            </a:r>
            <a:r>
              <a:rPr lang="ru-RU" i="1" dirty="0">
                <a:solidFill>
                  <a:schemeClr val="accent4">
                    <a:lumMod val="10000"/>
                  </a:schemeClr>
                </a:solidFill>
                <a:latin typeface="Courier New" panose="02070309020205020404" pitchFamily="49" charset="0"/>
                <a:cs typeface="Courier New" panose="02070309020205020404" pitchFamily="49" charset="0"/>
              </a:rPr>
              <a:t>()</a:t>
            </a:r>
            <a:r>
              <a:rPr lang="ru-RU" dirty="0"/>
              <a:t>.</a:t>
            </a:r>
          </a:p>
          <a:p>
            <a:pPr lvl="1"/>
            <a:r>
              <a:rPr lang="ru-RU" dirty="0"/>
              <a:t>Выравнивание по осям X и Y. </a:t>
            </a:r>
          </a:p>
          <a:p>
            <a:pPr lvl="1"/>
            <a:r>
              <a:rPr lang="ru-RU" dirty="0"/>
              <a:t>Границы контейнера. </a:t>
            </a:r>
            <a:endParaRPr lang="en-US" dirty="0"/>
          </a:p>
        </p:txBody>
      </p:sp>
    </p:spTree>
    <p:extLst>
      <p:ext uri="{BB962C8B-B14F-4D97-AF65-F5344CB8AC3E}">
        <p14:creationId xmlns:p14="http://schemas.microsoft.com/office/powerpoint/2010/main" val="1596413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BorderLayout</a:t>
            </a:r>
            <a:endParaRPr lang="ru-RU" dirty="0"/>
          </a:p>
        </p:txBody>
      </p:sp>
      <p:sp>
        <p:nvSpPr>
          <p:cNvPr id="3" name="Content Placeholder 2">
            <a:extLst>
              <a:ext uri="{FF2B5EF4-FFF2-40B4-BE49-F238E27FC236}">
                <a16:creationId xmlns:a16="http://schemas.microsoft.com/office/drawing/2014/main" id="{3EA2BE39-72A6-42E1-B99A-CC5D5B29FF71}"/>
              </a:ext>
            </a:extLst>
          </p:cNvPr>
          <p:cNvSpPr>
            <a:spLocks noGrp="1"/>
          </p:cNvSpPr>
          <p:nvPr>
            <p:ph sz="half" idx="1"/>
          </p:nvPr>
        </p:nvSpPr>
        <p:spPr>
          <a:xfrm>
            <a:off x="709898" y="1809739"/>
            <a:ext cx="11070424" cy="1619261"/>
          </a:xfrm>
        </p:spPr>
        <p:txBody>
          <a:bodyPr>
            <a:noAutofit/>
          </a:bodyPr>
          <a:lstStyle/>
          <a:p>
            <a:r>
              <a:rPr lang="ru-RU" sz="1900" dirty="0"/>
              <a:t>Размещает компоненты в центре, на севере, юге, востоке и западе.</a:t>
            </a:r>
          </a:p>
          <a:p>
            <a:r>
              <a:rPr lang="ru-RU" sz="1900" dirty="0">
                <a:cs typeface="Times New Roman" panose="02020603050405020304" pitchFamily="18" charset="0"/>
              </a:rPr>
              <a:t>Чтобы добавить с помощью </a:t>
            </a:r>
            <a:r>
              <a:rPr lang="ru-RU" sz="1900" i="1" dirty="0" err="1">
                <a:solidFill>
                  <a:schemeClr val="accent4">
                    <a:lumMod val="10000"/>
                  </a:schemeClr>
                </a:solidFill>
                <a:latin typeface="Courier New" panose="02070309020205020404" pitchFamily="49" charset="0"/>
                <a:cs typeface="Courier New" panose="02070309020205020404" pitchFamily="49" charset="0"/>
              </a:rPr>
              <a:t>BorderLayout</a:t>
            </a:r>
            <a:r>
              <a:rPr lang="ru-RU" sz="1900" dirty="0">
                <a:cs typeface="Times New Roman" panose="02020603050405020304" pitchFamily="18" charset="0"/>
              </a:rPr>
              <a:t> компонент в методе </a:t>
            </a:r>
            <a:r>
              <a:rPr lang="ru-RU" sz="1900" i="1" dirty="0" err="1">
                <a:solidFill>
                  <a:schemeClr val="accent4">
                    <a:lumMod val="10000"/>
                  </a:schemeClr>
                </a:solidFill>
                <a:latin typeface="Courier New" panose="02070309020205020404" pitchFamily="49" charset="0"/>
                <a:cs typeface="Courier New" panose="02070309020205020404" pitchFamily="49" charset="0"/>
              </a:rPr>
              <a:t>add</a:t>
            </a:r>
            <a:r>
              <a:rPr lang="ru-RU" sz="1900" i="1" dirty="0">
                <a:solidFill>
                  <a:schemeClr val="accent4">
                    <a:lumMod val="10000"/>
                  </a:schemeClr>
                </a:solidFill>
                <a:latin typeface="Courier New" panose="02070309020205020404" pitchFamily="49" charset="0"/>
                <a:cs typeface="Courier New" panose="02070309020205020404" pitchFamily="49" charset="0"/>
              </a:rPr>
              <a:t>()</a:t>
            </a:r>
            <a:r>
              <a:rPr lang="ru-RU" sz="1900" dirty="0">
                <a:cs typeface="Times New Roman" panose="02020603050405020304" pitchFamily="18" charset="0"/>
              </a:rPr>
              <a:t> необходимо использовать дополнительный параметр, который определяет область контейнера для размещения компонента.</a:t>
            </a:r>
            <a:endParaRPr lang="en-US" sz="1900" dirty="0">
              <a:cs typeface="Times New Roman" panose="02020603050405020304" pitchFamily="18" charset="0"/>
            </a:endParaRPr>
          </a:p>
          <a:p>
            <a:r>
              <a:rPr lang="ru-RU" sz="1900" dirty="0"/>
              <a:t>По умолчанию компоненты </a:t>
            </a:r>
            <a:r>
              <a:rPr lang="en-US" sz="1900" i="1" dirty="0" err="1">
                <a:solidFill>
                  <a:schemeClr val="accent4">
                    <a:lumMod val="10000"/>
                  </a:schemeClr>
                </a:solidFill>
                <a:latin typeface="Courier New" panose="02070309020205020404" pitchFamily="49" charset="0"/>
                <a:cs typeface="Courier New" panose="02070309020205020404" pitchFamily="49" charset="0"/>
              </a:rPr>
              <a:t>JFrame</a:t>
            </a:r>
            <a:r>
              <a:rPr lang="en-US" sz="1900" dirty="0"/>
              <a:t> </a:t>
            </a:r>
            <a:r>
              <a:rPr lang="ru-RU" sz="1900" dirty="0"/>
              <a:t>, а также в окнах </a:t>
            </a:r>
            <a:r>
              <a:rPr lang="en-US" sz="1900" i="1" dirty="0" err="1">
                <a:solidFill>
                  <a:schemeClr val="accent4">
                    <a:lumMod val="10000"/>
                  </a:schemeClr>
                </a:solidFill>
                <a:latin typeface="Courier New" panose="02070309020205020404" pitchFamily="49" charset="0"/>
                <a:cs typeface="Courier New" panose="02070309020205020404" pitchFamily="49" charset="0"/>
              </a:rPr>
              <a:t>JWindow</a:t>
            </a:r>
            <a:r>
              <a:rPr lang="en-US" sz="1900" dirty="0"/>
              <a:t> </a:t>
            </a:r>
            <a:r>
              <a:rPr lang="ru-RU" sz="1900" dirty="0"/>
              <a:t>и </a:t>
            </a:r>
            <a:r>
              <a:rPr lang="en-US" sz="1900" i="1" dirty="0" err="1">
                <a:solidFill>
                  <a:schemeClr val="accent4">
                    <a:lumMod val="10000"/>
                  </a:schemeClr>
                </a:solidFill>
                <a:latin typeface="Courier New" panose="02070309020205020404" pitchFamily="49" charset="0"/>
                <a:cs typeface="Courier New" panose="02070309020205020404" pitchFamily="49" charset="0"/>
              </a:rPr>
              <a:t>JDialog</a:t>
            </a:r>
            <a:r>
              <a:rPr lang="ru-RU" sz="1900" dirty="0"/>
              <a:t> имеют </a:t>
            </a:r>
            <a:r>
              <a:rPr lang="en-US" sz="1900" i="1" dirty="0" err="1">
                <a:solidFill>
                  <a:schemeClr val="accent4">
                    <a:lumMod val="10000"/>
                  </a:schemeClr>
                </a:solidFill>
                <a:latin typeface="Courier New" panose="02070309020205020404" pitchFamily="49" charset="0"/>
                <a:cs typeface="Courier New" panose="02070309020205020404" pitchFamily="49" charset="0"/>
              </a:rPr>
              <a:t>BorderLayout</a:t>
            </a:r>
            <a:r>
              <a:rPr lang="ru-RU" sz="1900" i="1" dirty="0">
                <a:solidFill>
                  <a:schemeClr val="accent4">
                    <a:lumMod val="10000"/>
                  </a:schemeClr>
                </a:solidFill>
                <a:latin typeface="Courier New" panose="02070309020205020404" pitchFamily="49" charset="0"/>
                <a:cs typeface="Courier New" panose="02070309020205020404" pitchFamily="49" charset="0"/>
              </a:rPr>
              <a:t> </a:t>
            </a:r>
            <a:r>
              <a:rPr lang="ru-RU" sz="1900" dirty="0"/>
              <a:t>c принимаемой по умолчанию константой </a:t>
            </a:r>
            <a:r>
              <a:rPr lang="ru-RU" sz="1900" i="1" dirty="0" err="1">
                <a:solidFill>
                  <a:schemeClr val="accent4">
                    <a:lumMod val="10000"/>
                  </a:schemeClr>
                </a:solidFill>
                <a:latin typeface="Courier New" panose="02070309020205020404" pitchFamily="49" charset="0"/>
                <a:cs typeface="Courier New" panose="02070309020205020404" pitchFamily="49" charset="0"/>
              </a:rPr>
              <a:t>Center</a:t>
            </a:r>
            <a:r>
              <a:rPr lang="ru-RU" sz="1900" dirty="0"/>
              <a:t>.</a:t>
            </a:r>
            <a:endParaRPr lang="en-US" sz="1900" dirty="0"/>
          </a:p>
        </p:txBody>
      </p:sp>
      <p:graphicFrame>
        <p:nvGraphicFramePr>
          <p:cNvPr id="14" name="Table 13">
            <a:extLst>
              <a:ext uri="{FF2B5EF4-FFF2-40B4-BE49-F238E27FC236}">
                <a16:creationId xmlns:a16="http://schemas.microsoft.com/office/drawing/2014/main" id="{CF2CE02D-430A-4432-A0C0-4EBE309CF69D}"/>
              </a:ext>
            </a:extLst>
          </p:cNvPr>
          <p:cNvGraphicFramePr>
            <a:graphicFrameLocks noGrp="1"/>
          </p:cNvGraphicFramePr>
          <p:nvPr>
            <p:extLst>
              <p:ext uri="{D42A27DB-BD31-4B8C-83A1-F6EECF244321}">
                <p14:modId xmlns:p14="http://schemas.microsoft.com/office/powerpoint/2010/main" val="2974667842"/>
              </p:ext>
            </p:extLst>
          </p:nvPr>
        </p:nvGraphicFramePr>
        <p:xfrm>
          <a:off x="2479963" y="3679830"/>
          <a:ext cx="7232073" cy="2511431"/>
        </p:xfrm>
        <a:graphic>
          <a:graphicData uri="http://schemas.openxmlformats.org/drawingml/2006/table">
            <a:tbl>
              <a:tblPr/>
              <a:tblGrid>
                <a:gridCol w="1484417">
                  <a:extLst>
                    <a:ext uri="{9D8B030D-6E8A-4147-A177-3AD203B41FA5}">
                      <a16:colId xmlns:a16="http://schemas.microsoft.com/office/drawing/2014/main" val="1188318056"/>
                    </a:ext>
                  </a:extLst>
                </a:gridCol>
                <a:gridCol w="5747656">
                  <a:extLst>
                    <a:ext uri="{9D8B030D-6E8A-4147-A177-3AD203B41FA5}">
                      <a16:colId xmlns:a16="http://schemas.microsoft.com/office/drawing/2014/main" val="2822264328"/>
                    </a:ext>
                  </a:extLst>
                </a:gridCol>
              </a:tblGrid>
              <a:tr h="192336">
                <a:tc>
                  <a:txBody>
                    <a:bodyPr/>
                    <a:lstStyle/>
                    <a:p>
                      <a:pPr marL="82550" indent="0"/>
                      <a:r>
                        <a:rPr lang="ru-RU" sz="1200" dirty="0"/>
                        <a:t>Значение</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r>
                        <a:rPr lang="ru-RU" sz="1200" dirty="0"/>
                        <a:t>Описание</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674803"/>
                  </a:ext>
                </a:extLst>
              </a:tr>
              <a:tr h="468090">
                <a:tc>
                  <a:txBody>
                    <a:bodyPr/>
                    <a:lstStyle/>
                    <a:p>
                      <a:pPr marL="82550" indent="0"/>
                      <a:r>
                        <a:rPr lang="en-US" sz="1200" dirty="0" err="1"/>
                        <a:t>BorderLayout.NORTH</a:t>
                      </a:r>
                      <a:endParaRPr lang="en-US" sz="1200" dirty="0"/>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r>
                        <a:rPr lang="ru-RU" sz="1200" dirty="0"/>
                        <a:t>Компонент располагается вдоль верхней границы окна и растягивается на всю его ширину. Обычно в этом месте размещается панель инструментов.</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347547"/>
                  </a:ext>
                </a:extLst>
              </a:tr>
              <a:tr h="451262">
                <a:tc>
                  <a:txBody>
                    <a:bodyPr/>
                    <a:lstStyle/>
                    <a:p>
                      <a:pPr marL="82550" indent="0"/>
                      <a:r>
                        <a:rPr lang="en-US" sz="1200" dirty="0" err="1"/>
                        <a:t>BorderLayout.SOUTH</a:t>
                      </a:r>
                      <a:endParaRPr lang="en-US" sz="1200" dirty="0"/>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r>
                        <a:rPr lang="ru-RU" sz="1200" dirty="0"/>
                        <a:t>Компонент располагается вдоль нижней границы и растягивается на всю ширину окна. Такое положение характерно для строки состояния.</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0164425"/>
                  </a:ext>
                </a:extLst>
              </a:tr>
              <a:tr h="570016">
                <a:tc>
                  <a:txBody>
                    <a:bodyPr/>
                    <a:lstStyle/>
                    <a:p>
                      <a:pPr marL="82550" indent="0"/>
                      <a:r>
                        <a:rPr lang="en-US" sz="1200" dirty="0" err="1"/>
                        <a:t>BorderLayout.WEST</a:t>
                      </a:r>
                      <a:endParaRPr lang="en-US" sz="1200" dirty="0"/>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r>
                        <a:rPr lang="ru-RU" sz="1200" dirty="0"/>
                        <a:t>Компонент располагается вдоль левой границы окна и растягивается на всю его высоту; при этом учитываются размеры северных и южных компонентов, имеющих приоритет.</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0524008"/>
                  </a:ext>
                </a:extLst>
              </a:tr>
              <a:tr h="439387">
                <a:tc>
                  <a:txBody>
                    <a:bodyPr/>
                    <a:lstStyle/>
                    <a:p>
                      <a:pPr marL="82550" indent="0"/>
                      <a:r>
                        <a:rPr lang="en-US" sz="1200" dirty="0" err="1"/>
                        <a:t>BorderLayout.EAST</a:t>
                      </a:r>
                      <a:endParaRPr lang="en-US" sz="1200" dirty="0"/>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tabLst>
                          <a:tab pos="82550" algn="l"/>
                        </a:tabLst>
                      </a:pPr>
                      <a:r>
                        <a:rPr lang="ru-RU" sz="1200" dirty="0"/>
                        <a:t>Компонент располагается вдоль правой границы окна. В остальном его расположение аналогично западному компоненту.</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9374942"/>
                  </a:ext>
                </a:extLst>
              </a:tr>
              <a:tr h="215738">
                <a:tc>
                  <a:txBody>
                    <a:bodyPr/>
                    <a:lstStyle/>
                    <a:p>
                      <a:pPr marL="82550" indent="0"/>
                      <a:r>
                        <a:rPr lang="en-US" sz="1200" dirty="0" err="1"/>
                        <a:t>BorderLayout.CENTER</a:t>
                      </a:r>
                      <a:endParaRPr lang="en-US" sz="1200" dirty="0"/>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0" indent="0"/>
                      <a:r>
                        <a:rPr lang="ru-RU" sz="1200" dirty="0"/>
                        <a:t>Компонент помещается в центр окна, занимая максимально возможное пространство.</a:t>
                      </a:r>
                    </a:p>
                  </a:txBody>
                  <a:tcPr marL="8509" marR="8509" marT="8509" marB="85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2697940"/>
                  </a:ext>
                </a:extLst>
              </a:tr>
            </a:tbl>
          </a:graphicData>
        </a:graphic>
      </p:graphicFrame>
    </p:spTree>
    <p:extLst>
      <p:ext uri="{BB962C8B-B14F-4D97-AF65-F5344CB8AC3E}">
        <p14:creationId xmlns:p14="http://schemas.microsoft.com/office/powerpoint/2010/main" val="1327243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BorderLayout</a:t>
            </a:r>
            <a:endParaRPr lang="ru-RU" dirty="0"/>
          </a:p>
        </p:txBody>
      </p:sp>
      <p:pic>
        <p:nvPicPr>
          <p:cNvPr id="15" name="Рисунок 4">
            <a:extLst>
              <a:ext uri="{FF2B5EF4-FFF2-40B4-BE49-F238E27FC236}">
                <a16:creationId xmlns:a16="http://schemas.microsoft.com/office/drawing/2014/main" id="{470FCAD1-E2AD-481F-B389-FE35CE65E308}"/>
              </a:ext>
            </a:extLst>
          </p:cNvPr>
          <p:cNvPicPr>
            <a:picLocks noChangeAspect="1"/>
          </p:cNvPicPr>
          <p:nvPr/>
        </p:nvPicPr>
        <p:blipFill>
          <a:blip r:embed="rId3"/>
          <a:stretch>
            <a:fillRect/>
          </a:stretch>
        </p:blipFill>
        <p:spPr>
          <a:xfrm>
            <a:off x="8202294" y="2913804"/>
            <a:ext cx="3201976" cy="2013859"/>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DB633EC1-BEC9-4387-B1CE-067D3403A184}"/>
              </a:ext>
            </a:extLst>
          </p:cNvPr>
          <p:cNvPicPr>
            <a:picLocks noChangeAspect="1"/>
          </p:cNvPicPr>
          <p:nvPr/>
        </p:nvPicPr>
        <p:blipFill>
          <a:blip r:embed="rId4"/>
          <a:stretch>
            <a:fillRect/>
          </a:stretch>
        </p:blipFill>
        <p:spPr>
          <a:xfrm>
            <a:off x="609600" y="1809738"/>
            <a:ext cx="6955718" cy="42823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7535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ru-RU" dirty="0" err="1"/>
              <a:t>FlowLayout</a:t>
            </a:r>
            <a:endParaRPr lang="ru-RU" dirty="0"/>
          </a:p>
        </p:txBody>
      </p:sp>
      <p:sp>
        <p:nvSpPr>
          <p:cNvPr id="12" name="Content Placeholder 11">
            <a:extLst>
              <a:ext uri="{FF2B5EF4-FFF2-40B4-BE49-F238E27FC236}">
                <a16:creationId xmlns:a16="http://schemas.microsoft.com/office/drawing/2014/main" id="{792CC13B-71EA-493D-89C7-E326FE8AB8B2}"/>
              </a:ext>
            </a:extLst>
          </p:cNvPr>
          <p:cNvSpPr>
            <a:spLocks noGrp="1"/>
          </p:cNvSpPr>
          <p:nvPr>
            <p:ph sz="half" idx="1"/>
          </p:nvPr>
        </p:nvSpPr>
        <p:spPr>
          <a:xfrm>
            <a:off x="609600" y="1809741"/>
            <a:ext cx="5486400" cy="4222924"/>
          </a:xfrm>
        </p:spPr>
        <p:txBody>
          <a:bodyPr>
            <a:normAutofit fontScale="55000" lnSpcReduction="20000"/>
          </a:bodyPr>
          <a:lstStyle/>
          <a:p>
            <a:r>
              <a:rPr lang="ru-RU" dirty="0"/>
              <a:t>Размещает компоненты слева направо, переходя на следующую строку, когда не хватает мест</a:t>
            </a:r>
          </a:p>
          <a:p>
            <a:r>
              <a:rPr lang="ru-RU" dirty="0">
                <a:cs typeface="Times New Roman" panose="02020603050405020304" pitchFamily="18" charset="0"/>
              </a:rPr>
              <a:t>Данное расположение устанавливается по умолчанию в панелях </a:t>
            </a:r>
            <a:r>
              <a:rPr lang="ru-RU" i="1" dirty="0">
                <a:solidFill>
                  <a:schemeClr val="accent4">
                    <a:lumMod val="10000"/>
                  </a:schemeClr>
                </a:solidFill>
                <a:latin typeface="Courier New" panose="02070309020205020404" pitchFamily="49" charset="0"/>
                <a:cs typeface="Courier New" panose="02070309020205020404" pitchFamily="49" charset="0"/>
              </a:rPr>
              <a:t>J</a:t>
            </a:r>
            <a:r>
              <a:rPr lang="en-US" i="1" dirty="0">
                <a:solidFill>
                  <a:schemeClr val="accent4">
                    <a:lumMod val="10000"/>
                  </a:schemeClr>
                </a:solidFill>
                <a:latin typeface="Courier New" panose="02070309020205020404" pitchFamily="49" charset="0"/>
                <a:cs typeface="Courier New" panose="02070309020205020404" pitchFamily="49" charset="0"/>
              </a:rPr>
              <a:t>P</a:t>
            </a:r>
            <a:r>
              <a:rPr lang="ru-RU" i="1" dirty="0" err="1">
                <a:solidFill>
                  <a:schemeClr val="accent4">
                    <a:lumMod val="10000"/>
                  </a:schemeClr>
                </a:solidFill>
                <a:latin typeface="Courier New" panose="02070309020205020404" pitchFamily="49" charset="0"/>
                <a:cs typeface="Courier New" panose="02070309020205020404" pitchFamily="49" charset="0"/>
              </a:rPr>
              <a:t>anel</a:t>
            </a:r>
            <a:endParaRPr lang="ru-RU" i="1" dirty="0">
              <a:solidFill>
                <a:schemeClr val="accent4">
                  <a:lumMod val="10000"/>
                </a:schemeClr>
              </a:solidFill>
              <a:latin typeface="Courier New" panose="02070309020205020404" pitchFamily="49" charset="0"/>
              <a:cs typeface="Courier New" panose="02070309020205020404" pitchFamily="49" charset="0"/>
            </a:endParaRPr>
          </a:p>
          <a:p>
            <a:r>
              <a:rPr lang="ru-RU" dirty="0">
                <a:cs typeface="Times New Roman" panose="02020603050405020304" pitchFamily="18" charset="0"/>
              </a:rPr>
              <a:t>Основным свойством </a:t>
            </a:r>
            <a:r>
              <a:rPr lang="ru-RU" i="1" dirty="0" err="1">
                <a:solidFill>
                  <a:schemeClr val="accent4">
                    <a:lumMod val="10000"/>
                  </a:schemeClr>
                </a:solidFill>
                <a:latin typeface="Courier New" panose="02070309020205020404" pitchFamily="49" charset="0"/>
                <a:cs typeface="Courier New" panose="02070309020205020404" pitchFamily="49" charset="0"/>
              </a:rPr>
              <a:t>FlowLayout</a:t>
            </a:r>
            <a:r>
              <a:rPr lang="ru-RU" dirty="0">
                <a:cs typeface="Times New Roman" panose="02020603050405020304" pitchFamily="18" charset="0"/>
              </a:rPr>
              <a:t> является определение предпочтительного размера компонентов</a:t>
            </a:r>
            <a:endParaRPr lang="en-US" dirty="0">
              <a:cs typeface="Times New Roman" panose="02020603050405020304" pitchFamily="18" charset="0"/>
            </a:endParaRPr>
          </a:p>
          <a:p>
            <a:r>
              <a:rPr lang="ru-RU" dirty="0">
                <a:cs typeface="Times New Roman" panose="02020603050405020304" pitchFamily="18" charset="0"/>
              </a:rPr>
              <a:t>Конструктор класса </a:t>
            </a:r>
            <a:r>
              <a:rPr lang="ru-RU" i="1" dirty="0" err="1">
                <a:solidFill>
                  <a:schemeClr val="accent4">
                    <a:lumMod val="10000"/>
                  </a:schemeClr>
                </a:solidFill>
                <a:latin typeface="Courier New" panose="02070309020205020404" pitchFamily="49" charset="0"/>
                <a:cs typeface="Courier New" panose="02070309020205020404" pitchFamily="49" charset="0"/>
              </a:rPr>
              <a:t>FlowLayout</a:t>
            </a:r>
            <a:r>
              <a:rPr lang="ru-RU" dirty="0">
                <a:cs typeface="Times New Roman" panose="02020603050405020304" pitchFamily="18" charset="0"/>
              </a:rPr>
              <a:t> имеет три перегруженные версии: без параметров, с параметрами выравнивания компонентов, с параметрами выравнивания компонентов и расстояний между ними.</a:t>
            </a:r>
            <a:endParaRPr lang="ru-RU" dirty="0"/>
          </a:p>
          <a:p>
            <a:endParaRPr lang="ru-RU" dirty="0"/>
          </a:p>
        </p:txBody>
      </p:sp>
      <p:pic>
        <p:nvPicPr>
          <p:cNvPr id="16" name="Рисунок 4">
            <a:extLst>
              <a:ext uri="{FF2B5EF4-FFF2-40B4-BE49-F238E27FC236}">
                <a16:creationId xmlns:a16="http://schemas.microsoft.com/office/drawing/2014/main" id="{A8025223-50FA-4D8F-9A6A-0E5D4EE6734B}"/>
              </a:ext>
            </a:extLst>
          </p:cNvPr>
          <p:cNvPicPr>
            <a:picLocks noChangeAspect="1"/>
          </p:cNvPicPr>
          <p:nvPr/>
        </p:nvPicPr>
        <p:blipFill>
          <a:blip r:embed="rId3"/>
          <a:stretch>
            <a:fillRect/>
          </a:stretch>
        </p:blipFill>
        <p:spPr>
          <a:xfrm>
            <a:off x="6280674" y="5391645"/>
            <a:ext cx="3038475" cy="1047750"/>
          </a:xfrm>
          <a:prstGeom prst="rect">
            <a:avLst/>
          </a:prstGeom>
          <a:ln>
            <a:noFill/>
          </a:ln>
          <a:effectLst>
            <a:outerShdw blurRad="292100" dist="139700" dir="2700000" algn="tl" rotWithShape="0">
              <a:srgbClr val="333333">
                <a:alpha val="65000"/>
              </a:srgbClr>
            </a:outerShdw>
          </a:effectLst>
        </p:spPr>
      </p:pic>
      <p:pic>
        <p:nvPicPr>
          <p:cNvPr id="17" name="Рисунок 8">
            <a:extLst>
              <a:ext uri="{FF2B5EF4-FFF2-40B4-BE49-F238E27FC236}">
                <a16:creationId xmlns:a16="http://schemas.microsoft.com/office/drawing/2014/main" id="{DA6D0CD7-08E7-48AA-B5E6-3888B1CC8F50}"/>
              </a:ext>
            </a:extLst>
          </p:cNvPr>
          <p:cNvPicPr>
            <a:picLocks noChangeAspect="1"/>
          </p:cNvPicPr>
          <p:nvPr/>
        </p:nvPicPr>
        <p:blipFill>
          <a:blip r:embed="rId4"/>
          <a:stretch>
            <a:fillRect/>
          </a:stretch>
        </p:blipFill>
        <p:spPr>
          <a:xfrm>
            <a:off x="9398262" y="5391645"/>
            <a:ext cx="2276475" cy="1047750"/>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41FA4526-C109-4512-90C3-0B567246B801}"/>
              </a:ext>
            </a:extLst>
          </p:cNvPr>
          <p:cNvPicPr>
            <a:picLocks noChangeAspect="1"/>
          </p:cNvPicPr>
          <p:nvPr/>
        </p:nvPicPr>
        <p:blipFill>
          <a:blip r:embed="rId5"/>
          <a:stretch>
            <a:fillRect/>
          </a:stretch>
        </p:blipFill>
        <p:spPr>
          <a:xfrm>
            <a:off x="6280674" y="1809739"/>
            <a:ext cx="5394063" cy="34866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00351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GridLayout</a:t>
            </a:r>
            <a:endParaRPr lang="ru-RU" dirty="0"/>
          </a:p>
        </p:txBody>
      </p:sp>
      <p:sp>
        <p:nvSpPr>
          <p:cNvPr id="12" name="Content Placeholder 11">
            <a:extLst>
              <a:ext uri="{FF2B5EF4-FFF2-40B4-BE49-F238E27FC236}">
                <a16:creationId xmlns:a16="http://schemas.microsoft.com/office/drawing/2014/main" id="{13734018-FD9F-464A-ADE6-7E9DBB6D1883}"/>
              </a:ext>
            </a:extLst>
          </p:cNvPr>
          <p:cNvSpPr>
            <a:spLocks noGrp="1"/>
          </p:cNvSpPr>
          <p:nvPr>
            <p:ph sz="half" idx="1"/>
          </p:nvPr>
        </p:nvSpPr>
        <p:spPr>
          <a:xfrm>
            <a:off x="609600" y="1809739"/>
            <a:ext cx="10972800" cy="1143001"/>
          </a:xfrm>
        </p:spPr>
        <p:txBody>
          <a:bodyPr>
            <a:normAutofit fontScale="62500" lnSpcReduction="20000"/>
          </a:bodyPr>
          <a:lstStyle/>
          <a:p>
            <a:r>
              <a:rPr lang="ru-RU" i="1" dirty="0" err="1">
                <a:solidFill>
                  <a:schemeClr val="accent4">
                    <a:lumMod val="10000"/>
                  </a:schemeClr>
                </a:solidFill>
                <a:latin typeface="Courier New" panose="02070309020205020404" pitchFamily="49" charset="0"/>
                <a:cs typeface="Courier New" panose="02070309020205020404" pitchFamily="49" charset="0"/>
              </a:rPr>
              <a:t>GridLayout</a:t>
            </a:r>
            <a:r>
              <a:rPr lang="ru-RU" dirty="0"/>
              <a:t> представляет контейнер в виде таблицы с ячейками одинакового размера, </a:t>
            </a:r>
            <a:r>
              <a:rPr lang="ru-RU" dirty="0">
                <a:cs typeface="Times New Roman" panose="02020603050405020304" pitchFamily="18" charset="0"/>
              </a:rPr>
              <a:t>равного размеру самого большого компонента, находящегося в таблице</a:t>
            </a:r>
            <a:r>
              <a:rPr lang="ru-RU" dirty="0"/>
              <a:t>.</a:t>
            </a:r>
            <a:endParaRPr lang="en-US" dirty="0"/>
          </a:p>
          <a:p>
            <a:r>
              <a:rPr lang="ru-RU" dirty="0"/>
              <a:t> Количество строк и столбцов можно указать в конструкторе. </a:t>
            </a:r>
          </a:p>
        </p:txBody>
      </p:sp>
      <p:pic>
        <p:nvPicPr>
          <p:cNvPr id="16" name="Рисунок 4">
            <a:extLst>
              <a:ext uri="{FF2B5EF4-FFF2-40B4-BE49-F238E27FC236}">
                <a16:creationId xmlns:a16="http://schemas.microsoft.com/office/drawing/2014/main" id="{3698E810-5A13-48AD-ACBC-534100108A64}"/>
              </a:ext>
            </a:extLst>
          </p:cNvPr>
          <p:cNvPicPr>
            <a:picLocks noChangeAspect="1"/>
          </p:cNvPicPr>
          <p:nvPr/>
        </p:nvPicPr>
        <p:blipFill>
          <a:blip r:embed="rId3"/>
          <a:stretch>
            <a:fillRect/>
          </a:stretch>
        </p:blipFill>
        <p:spPr>
          <a:xfrm>
            <a:off x="6118726" y="3654631"/>
            <a:ext cx="3824719" cy="1451223"/>
          </a:xfrm>
          <a:prstGeom prst="rect">
            <a:avLst/>
          </a:prstGeom>
        </p:spPr>
      </p:pic>
      <p:pic>
        <p:nvPicPr>
          <p:cNvPr id="17" name="Рисунок 8">
            <a:extLst>
              <a:ext uri="{FF2B5EF4-FFF2-40B4-BE49-F238E27FC236}">
                <a16:creationId xmlns:a16="http://schemas.microsoft.com/office/drawing/2014/main" id="{ED88E970-EBCD-4BBB-9F8A-3596324A2984}"/>
              </a:ext>
            </a:extLst>
          </p:cNvPr>
          <p:cNvPicPr>
            <a:picLocks noChangeAspect="1"/>
          </p:cNvPicPr>
          <p:nvPr/>
        </p:nvPicPr>
        <p:blipFill>
          <a:blip r:embed="rId4"/>
          <a:stretch>
            <a:fillRect/>
          </a:stretch>
        </p:blipFill>
        <p:spPr>
          <a:xfrm>
            <a:off x="10603668" y="3630177"/>
            <a:ext cx="978732" cy="1451223"/>
          </a:xfrm>
          <a:prstGeom prst="rect">
            <a:avLst/>
          </a:prstGeom>
        </p:spPr>
      </p:pic>
      <p:pic>
        <p:nvPicPr>
          <p:cNvPr id="18" name="Рисунок 10">
            <a:extLst>
              <a:ext uri="{FF2B5EF4-FFF2-40B4-BE49-F238E27FC236}">
                <a16:creationId xmlns:a16="http://schemas.microsoft.com/office/drawing/2014/main" id="{2E08518C-6D54-465B-9A18-E794D352B932}"/>
              </a:ext>
            </a:extLst>
          </p:cNvPr>
          <p:cNvPicPr>
            <a:picLocks noChangeAspect="1"/>
          </p:cNvPicPr>
          <p:nvPr/>
        </p:nvPicPr>
        <p:blipFill>
          <a:blip r:embed="rId5"/>
          <a:stretch>
            <a:fillRect/>
          </a:stretch>
        </p:blipFill>
        <p:spPr>
          <a:xfrm>
            <a:off x="6118726" y="5316112"/>
            <a:ext cx="5463674" cy="540792"/>
          </a:xfrm>
          <a:prstGeom prst="rect">
            <a:avLst/>
          </a:prstGeom>
        </p:spPr>
      </p:pic>
      <p:pic>
        <p:nvPicPr>
          <p:cNvPr id="19" name="Picture 18">
            <a:extLst>
              <a:ext uri="{FF2B5EF4-FFF2-40B4-BE49-F238E27FC236}">
                <a16:creationId xmlns:a16="http://schemas.microsoft.com/office/drawing/2014/main" id="{9ABC573F-1788-40B6-9657-C1DCD6CBE0B6}"/>
              </a:ext>
            </a:extLst>
          </p:cNvPr>
          <p:cNvPicPr>
            <a:picLocks noChangeAspect="1"/>
          </p:cNvPicPr>
          <p:nvPr/>
        </p:nvPicPr>
        <p:blipFill>
          <a:blip r:embed="rId6"/>
          <a:stretch>
            <a:fillRect/>
          </a:stretch>
        </p:blipFill>
        <p:spPr>
          <a:xfrm>
            <a:off x="609600" y="2952739"/>
            <a:ext cx="4936177" cy="37279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48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A0956-5615-42D9-BEFA-C6D3F7BB8142}"/>
              </a:ext>
            </a:extLst>
          </p:cNvPr>
          <p:cNvSpPr>
            <a:spLocks noGrp="1"/>
          </p:cNvSpPr>
          <p:nvPr>
            <p:ph type="title"/>
          </p:nvPr>
        </p:nvSpPr>
        <p:spPr/>
        <p:txBody>
          <a:bodyPr/>
          <a:lstStyle/>
          <a:p>
            <a:r>
              <a:rPr lang="en-US" dirty="0" err="1"/>
              <a:t>Grid+FlowLayout</a:t>
            </a:r>
            <a:endParaRPr lang="ru-RU" dirty="0"/>
          </a:p>
        </p:txBody>
      </p:sp>
      <p:pic>
        <p:nvPicPr>
          <p:cNvPr id="5" name="Content Placeholder 4">
            <a:extLst>
              <a:ext uri="{FF2B5EF4-FFF2-40B4-BE49-F238E27FC236}">
                <a16:creationId xmlns:a16="http://schemas.microsoft.com/office/drawing/2014/main" id="{C0166DFE-DA0F-4786-ACB7-30137DC5BA76}"/>
              </a:ext>
            </a:extLst>
          </p:cNvPr>
          <p:cNvPicPr>
            <a:picLocks noGrp="1" noChangeAspect="1"/>
          </p:cNvPicPr>
          <p:nvPr>
            <p:ph sz="half" idx="1"/>
          </p:nvPr>
        </p:nvPicPr>
        <p:blipFill>
          <a:blip r:embed="rId3"/>
          <a:stretch>
            <a:fillRect/>
          </a:stretch>
        </p:blipFill>
        <p:spPr>
          <a:xfrm>
            <a:off x="609600" y="1790009"/>
            <a:ext cx="5384800" cy="4146345"/>
          </a:xfrm>
          <a:prstGeom prst="rect">
            <a:avLst/>
          </a:prstGeom>
          <a:ln>
            <a:noFill/>
          </a:ln>
          <a:effectLst>
            <a:outerShdw blurRad="292100" dist="139700" dir="2700000" algn="tl" rotWithShape="0">
              <a:srgbClr val="333333">
                <a:alpha val="65000"/>
              </a:srgbClr>
            </a:outerShdw>
          </a:effectLst>
        </p:spPr>
      </p:pic>
      <p:pic>
        <p:nvPicPr>
          <p:cNvPr id="6" name="Рисунок 4">
            <a:extLst>
              <a:ext uri="{FF2B5EF4-FFF2-40B4-BE49-F238E27FC236}">
                <a16:creationId xmlns:a16="http://schemas.microsoft.com/office/drawing/2014/main" id="{FB0D5FFF-9ACD-4F5D-B4AA-ECECD91F3306}"/>
              </a:ext>
            </a:extLst>
          </p:cNvPr>
          <p:cNvPicPr>
            <a:picLocks noChangeAspect="1"/>
          </p:cNvPicPr>
          <p:nvPr/>
        </p:nvPicPr>
        <p:blipFill>
          <a:blip r:embed="rId4"/>
          <a:stretch>
            <a:fillRect/>
          </a:stretch>
        </p:blipFill>
        <p:spPr>
          <a:xfrm>
            <a:off x="7268783" y="1808563"/>
            <a:ext cx="3039234" cy="2304256"/>
          </a:xfrm>
          <a:prstGeom prst="rect">
            <a:avLst/>
          </a:prstGeom>
          <a:ln>
            <a:noFill/>
          </a:ln>
          <a:effectLst>
            <a:outerShdw blurRad="292100" dist="139700" dir="2700000" algn="tl" rotWithShape="0">
              <a:srgbClr val="333333">
                <a:alpha val="65000"/>
              </a:srgbClr>
            </a:outerShdw>
          </a:effectLst>
        </p:spPr>
      </p:pic>
      <p:pic>
        <p:nvPicPr>
          <p:cNvPr id="7" name="Рисунок 8">
            <a:extLst>
              <a:ext uri="{FF2B5EF4-FFF2-40B4-BE49-F238E27FC236}">
                <a16:creationId xmlns:a16="http://schemas.microsoft.com/office/drawing/2014/main" id="{8C2C0524-9DE4-4E4C-97E8-0E9ADF6C2B82}"/>
              </a:ext>
            </a:extLst>
          </p:cNvPr>
          <p:cNvPicPr>
            <a:picLocks noChangeAspect="1"/>
          </p:cNvPicPr>
          <p:nvPr/>
        </p:nvPicPr>
        <p:blipFill>
          <a:blip r:embed="rId5"/>
          <a:stretch>
            <a:fillRect/>
          </a:stretch>
        </p:blipFill>
        <p:spPr>
          <a:xfrm>
            <a:off x="7268783" y="4409330"/>
            <a:ext cx="3039234" cy="14090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90843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GridBagLayout</a:t>
            </a:r>
            <a:endParaRPr lang="ru-RU" dirty="0"/>
          </a:p>
        </p:txBody>
      </p:sp>
      <p:sp>
        <p:nvSpPr>
          <p:cNvPr id="12" name="Content Placeholder 11">
            <a:extLst>
              <a:ext uri="{FF2B5EF4-FFF2-40B4-BE49-F238E27FC236}">
                <a16:creationId xmlns:a16="http://schemas.microsoft.com/office/drawing/2014/main" id="{7352F1F6-C71E-4958-B3EC-7F082D12DE0C}"/>
              </a:ext>
            </a:extLst>
          </p:cNvPr>
          <p:cNvSpPr>
            <a:spLocks noGrp="1"/>
          </p:cNvSpPr>
          <p:nvPr>
            <p:ph sz="half" idx="1"/>
          </p:nvPr>
        </p:nvSpPr>
        <p:spPr>
          <a:xfrm>
            <a:off x="609600" y="1809740"/>
            <a:ext cx="5384800" cy="2477084"/>
          </a:xfrm>
        </p:spPr>
        <p:txBody>
          <a:bodyPr>
            <a:normAutofit fontScale="47500" lnSpcReduction="20000"/>
          </a:bodyPr>
          <a:lstStyle/>
          <a:p>
            <a:r>
              <a:rPr lang="ru-RU" dirty="0">
                <a:cs typeface="Courier New" panose="02070309020205020404" pitchFamily="49" charset="0"/>
              </a:rPr>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GridBagLayout</a:t>
            </a:r>
            <a:r>
              <a:rPr lang="ru-RU" dirty="0">
                <a:cs typeface="Courier New" panose="02070309020205020404" pitchFamily="49" charset="0"/>
              </a:rPr>
              <a:t> устанавливает компоненты в таблицу</a:t>
            </a:r>
            <a:r>
              <a:rPr lang="en-US" dirty="0">
                <a:cs typeface="Courier New" panose="02070309020205020404" pitchFamily="49" charset="0"/>
              </a:rPr>
              <a:t>, </a:t>
            </a:r>
            <a:r>
              <a:rPr lang="ru-RU" dirty="0">
                <a:cs typeface="Courier New" panose="02070309020205020404" pitchFamily="49" charset="0"/>
              </a:rPr>
              <a:t>но дает возможность определять для компонентов разную ширину и высоту колонок и строк таблицы.</a:t>
            </a:r>
          </a:p>
          <a:p>
            <a:r>
              <a:rPr lang="ru-RU" dirty="0">
                <a:cs typeface="Times New Roman" panose="02020603050405020304" pitchFamily="18" charset="0"/>
              </a:rPr>
              <a:t>При использовании менеджера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GridBagLayout</a:t>
            </a:r>
            <a:r>
              <a:rPr lang="ru-RU" dirty="0">
                <a:cs typeface="Times New Roman" panose="02020603050405020304" pitchFamily="18" charset="0"/>
              </a:rPr>
              <a:t> необходимо настраивать класс </a:t>
            </a:r>
            <a:r>
              <a:rPr lang="ru-RU" i="1" dirty="0" err="1">
                <a:solidFill>
                  <a:schemeClr val="accent4">
                    <a:lumMod val="10000"/>
                  </a:schemeClr>
                </a:solidFill>
                <a:latin typeface="Courier New" panose="02070309020205020404" pitchFamily="49" charset="0"/>
                <a:cs typeface="Courier New" panose="02070309020205020404" pitchFamily="49" charset="0"/>
              </a:rPr>
              <a:t>GridBagConstraints</a:t>
            </a:r>
            <a:r>
              <a:rPr lang="ru-RU" dirty="0">
                <a:cs typeface="Times New Roman" panose="02020603050405020304" pitchFamily="18" charset="0"/>
              </a:rPr>
              <a:t> для каждого добавляемого компонента.</a:t>
            </a:r>
            <a:endParaRPr lang="ru-RU" dirty="0">
              <a:cs typeface="Courier New" panose="02070309020205020404" pitchFamily="49" charset="0"/>
            </a:endParaRPr>
          </a:p>
        </p:txBody>
      </p:sp>
      <p:pic>
        <p:nvPicPr>
          <p:cNvPr id="15" name="Рисунок 4">
            <a:extLst>
              <a:ext uri="{FF2B5EF4-FFF2-40B4-BE49-F238E27FC236}">
                <a16:creationId xmlns:a16="http://schemas.microsoft.com/office/drawing/2014/main" id="{CB5512B3-3038-4C4B-8CB1-C9D3B050CE80}"/>
              </a:ext>
            </a:extLst>
          </p:cNvPr>
          <p:cNvPicPr>
            <a:picLocks noChangeAspect="1"/>
          </p:cNvPicPr>
          <p:nvPr/>
        </p:nvPicPr>
        <p:blipFill>
          <a:blip r:embed="rId3"/>
          <a:stretch>
            <a:fillRect/>
          </a:stretch>
        </p:blipFill>
        <p:spPr>
          <a:xfrm>
            <a:off x="609600" y="4286823"/>
            <a:ext cx="2927103" cy="1336654"/>
          </a:xfrm>
          <a:prstGeom prst="rect">
            <a:avLst/>
          </a:prstGeom>
          <a:ln>
            <a:noFill/>
          </a:ln>
          <a:effectLst>
            <a:outerShdw blurRad="292100" dist="139700" dir="2700000" algn="tl" rotWithShape="0">
              <a:srgbClr val="333333">
                <a:alpha val="65000"/>
              </a:srgbClr>
            </a:outerShdw>
          </a:effectLst>
        </p:spPr>
      </p:pic>
      <p:pic>
        <p:nvPicPr>
          <p:cNvPr id="16" name="Рисунок 8">
            <a:extLst>
              <a:ext uri="{FF2B5EF4-FFF2-40B4-BE49-F238E27FC236}">
                <a16:creationId xmlns:a16="http://schemas.microsoft.com/office/drawing/2014/main" id="{6D2997ED-D80A-4FFC-B273-1D7A40CF2918}"/>
              </a:ext>
            </a:extLst>
          </p:cNvPr>
          <p:cNvPicPr>
            <a:picLocks noChangeAspect="1"/>
          </p:cNvPicPr>
          <p:nvPr/>
        </p:nvPicPr>
        <p:blipFill>
          <a:blip r:embed="rId4"/>
          <a:stretch>
            <a:fillRect/>
          </a:stretch>
        </p:blipFill>
        <p:spPr>
          <a:xfrm>
            <a:off x="3888456" y="4286823"/>
            <a:ext cx="1754190" cy="1902850"/>
          </a:xfrm>
          <a:prstGeom prst="rect">
            <a:avLst/>
          </a:prstGeom>
        </p:spPr>
      </p:pic>
      <p:pic>
        <p:nvPicPr>
          <p:cNvPr id="14" name="Picture 13">
            <a:extLst>
              <a:ext uri="{FF2B5EF4-FFF2-40B4-BE49-F238E27FC236}">
                <a16:creationId xmlns:a16="http://schemas.microsoft.com/office/drawing/2014/main" id="{0925FA0B-AA57-497A-9ADD-9A1CB3E2400C}"/>
              </a:ext>
            </a:extLst>
          </p:cNvPr>
          <p:cNvPicPr>
            <a:picLocks noChangeAspect="1"/>
          </p:cNvPicPr>
          <p:nvPr/>
        </p:nvPicPr>
        <p:blipFill>
          <a:blip r:embed="rId5"/>
          <a:stretch>
            <a:fillRect/>
          </a:stretch>
        </p:blipFill>
        <p:spPr>
          <a:xfrm>
            <a:off x="6958940" y="1809739"/>
            <a:ext cx="4498840" cy="49298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2271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CardLayout</a:t>
            </a:r>
            <a:endParaRPr lang="ru-RU" dirty="0"/>
          </a:p>
        </p:txBody>
      </p:sp>
      <p:sp>
        <p:nvSpPr>
          <p:cNvPr id="14" name="Content Placeholder 13">
            <a:extLst>
              <a:ext uri="{FF2B5EF4-FFF2-40B4-BE49-F238E27FC236}">
                <a16:creationId xmlns:a16="http://schemas.microsoft.com/office/drawing/2014/main" id="{4E06EA35-8237-4228-B618-F7F0BC5490AF}"/>
              </a:ext>
            </a:extLst>
          </p:cNvPr>
          <p:cNvSpPr>
            <a:spLocks noGrp="1"/>
          </p:cNvSpPr>
          <p:nvPr>
            <p:ph sz="half" idx="1"/>
          </p:nvPr>
        </p:nvSpPr>
        <p:spPr>
          <a:xfrm>
            <a:off x="609600" y="1809740"/>
            <a:ext cx="7204364" cy="1895362"/>
          </a:xfrm>
        </p:spPr>
        <p:txBody>
          <a:bodyPr>
            <a:noAutofit/>
          </a:bodyPr>
          <a:lstStyle/>
          <a:p>
            <a:pPr marL="0" indent="0">
              <a:buNone/>
            </a:pPr>
            <a:r>
              <a:rPr lang="ru-RU" sz="2400" dirty="0"/>
              <a:t>Менеджер </a:t>
            </a:r>
            <a:r>
              <a:rPr lang="ru-RU" sz="2400" i="1" dirty="0" err="1">
                <a:solidFill>
                  <a:schemeClr val="accent4">
                    <a:lumMod val="10000"/>
                  </a:schemeClr>
                </a:solidFill>
                <a:latin typeface="Courier New" panose="02070309020205020404" pitchFamily="49" charset="0"/>
                <a:cs typeface="Courier New" panose="02070309020205020404" pitchFamily="49" charset="0"/>
              </a:rPr>
              <a:t>CardLayout</a:t>
            </a:r>
            <a:r>
              <a:rPr lang="ru-RU" sz="2400" dirty="0"/>
              <a:t> можно использовать для создания так называемых вкладок (</a:t>
            </a:r>
            <a:r>
              <a:rPr lang="ru-RU" sz="2400" dirty="0" err="1"/>
              <a:t>tabs</a:t>
            </a:r>
            <a:r>
              <a:rPr lang="ru-RU" sz="2400" dirty="0"/>
              <a:t>), выбирая которые будут избранно открываться разные панели, занимающие одно и то же место в интерфейсе окна.</a:t>
            </a:r>
          </a:p>
        </p:txBody>
      </p:sp>
      <p:pic>
        <p:nvPicPr>
          <p:cNvPr id="16" name="Рисунок 4">
            <a:extLst>
              <a:ext uri="{FF2B5EF4-FFF2-40B4-BE49-F238E27FC236}">
                <a16:creationId xmlns:a16="http://schemas.microsoft.com/office/drawing/2014/main" id="{D46752C7-7AAF-47B7-BC92-CF4BAE375651}"/>
              </a:ext>
            </a:extLst>
          </p:cNvPr>
          <p:cNvPicPr>
            <a:picLocks noChangeAspect="1"/>
          </p:cNvPicPr>
          <p:nvPr/>
        </p:nvPicPr>
        <p:blipFill>
          <a:blip r:embed="rId3"/>
          <a:stretch>
            <a:fillRect/>
          </a:stretch>
        </p:blipFill>
        <p:spPr>
          <a:xfrm>
            <a:off x="609600" y="4543437"/>
            <a:ext cx="3300769" cy="1038224"/>
          </a:xfrm>
          <a:prstGeom prst="rect">
            <a:avLst/>
          </a:prstGeom>
          <a:ln>
            <a:noFill/>
          </a:ln>
          <a:effectLst>
            <a:outerShdw blurRad="292100" dist="139700" dir="2700000" algn="tl" rotWithShape="0">
              <a:srgbClr val="333333">
                <a:alpha val="65000"/>
              </a:srgbClr>
            </a:outerShdw>
          </a:effectLst>
        </p:spPr>
      </p:pic>
      <p:pic>
        <p:nvPicPr>
          <p:cNvPr id="17" name="Рисунок 8">
            <a:extLst>
              <a:ext uri="{FF2B5EF4-FFF2-40B4-BE49-F238E27FC236}">
                <a16:creationId xmlns:a16="http://schemas.microsoft.com/office/drawing/2014/main" id="{F8DCB65E-9C74-4A23-8B2F-D057388B08FC}"/>
              </a:ext>
            </a:extLst>
          </p:cNvPr>
          <p:cNvPicPr>
            <a:picLocks noChangeAspect="1"/>
          </p:cNvPicPr>
          <p:nvPr/>
        </p:nvPicPr>
        <p:blipFill>
          <a:blip r:embed="rId4"/>
          <a:stretch>
            <a:fillRect/>
          </a:stretch>
        </p:blipFill>
        <p:spPr>
          <a:xfrm>
            <a:off x="4322619" y="4543438"/>
            <a:ext cx="3209922" cy="1038224"/>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CB94380A-81C0-47E4-81BA-6A495E8CBC1A}"/>
              </a:ext>
            </a:extLst>
          </p:cNvPr>
          <p:cNvPicPr>
            <a:picLocks noChangeAspect="1"/>
          </p:cNvPicPr>
          <p:nvPr/>
        </p:nvPicPr>
        <p:blipFill>
          <a:blip r:embed="rId5"/>
          <a:stretch>
            <a:fillRect/>
          </a:stretch>
        </p:blipFill>
        <p:spPr>
          <a:xfrm>
            <a:off x="8098973" y="1789107"/>
            <a:ext cx="3483427" cy="48448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4325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sz="6000" dirty="0" err="1"/>
              <a:t>BoxLayout</a:t>
            </a:r>
            <a:endParaRPr lang="ru-RU" dirty="0"/>
          </a:p>
        </p:txBody>
      </p:sp>
      <p:sp>
        <p:nvSpPr>
          <p:cNvPr id="12" name="Content Placeholder 11">
            <a:extLst>
              <a:ext uri="{FF2B5EF4-FFF2-40B4-BE49-F238E27FC236}">
                <a16:creationId xmlns:a16="http://schemas.microsoft.com/office/drawing/2014/main" id="{BEBBE460-D19B-453C-A799-87A936C7F780}"/>
              </a:ext>
            </a:extLst>
          </p:cNvPr>
          <p:cNvSpPr>
            <a:spLocks noGrp="1"/>
          </p:cNvSpPr>
          <p:nvPr>
            <p:ph sz="half" idx="1"/>
          </p:nvPr>
        </p:nvSpPr>
        <p:spPr>
          <a:xfrm>
            <a:off x="541757" y="1665299"/>
            <a:ext cx="5704663" cy="3382964"/>
          </a:xfrm>
        </p:spPr>
        <p:txBody>
          <a:bodyPr>
            <a:normAutofit fontScale="55000" lnSpcReduction="20000"/>
          </a:bodyPr>
          <a:lstStyle/>
          <a:p>
            <a:r>
              <a:rPr lang="ru-RU" dirty="0"/>
              <a:t>Менеджер расположения </a:t>
            </a:r>
            <a:r>
              <a:rPr lang="ru-RU" i="1" dirty="0" err="1">
                <a:solidFill>
                  <a:schemeClr val="accent4">
                    <a:lumMod val="10000"/>
                  </a:schemeClr>
                </a:solidFill>
                <a:latin typeface="Courier New" panose="02070309020205020404" pitchFamily="49" charset="0"/>
                <a:cs typeface="Courier New" panose="02070309020205020404" pitchFamily="49" charset="0"/>
              </a:rPr>
              <a:t>BoxLayout</a:t>
            </a:r>
            <a:r>
              <a:rPr lang="ru-RU" dirty="0"/>
              <a:t> позволяет управлять размещением компонентов либо в вертикальном, либо в горизонтальном направлениях и управлять пространством между компонентами, используя вставки. </a:t>
            </a:r>
          </a:p>
          <a:p>
            <a:r>
              <a:rPr lang="ru-RU" dirty="0">
                <a:cs typeface="Times New Roman" panose="02020603050405020304" pitchFamily="18" charset="0"/>
              </a:rPr>
              <a:t>Для размещения компонентов в вертикальной плоскости необходимо конструктору передать константу </a:t>
            </a:r>
            <a:r>
              <a:rPr lang="ru-RU" i="1" dirty="0" err="1">
                <a:solidFill>
                  <a:schemeClr val="accent4">
                    <a:lumMod val="10000"/>
                  </a:schemeClr>
                </a:solidFill>
                <a:latin typeface="Courier New" panose="02070309020205020404" pitchFamily="49" charset="0"/>
                <a:cs typeface="Courier New" panose="02070309020205020404" pitchFamily="49" charset="0"/>
              </a:rPr>
              <a:t>BoxLayout.Y_AXIS</a:t>
            </a:r>
            <a:r>
              <a:rPr lang="ru-RU" dirty="0">
                <a:cs typeface="Times New Roman" panose="02020603050405020304" pitchFamily="18" charset="0"/>
              </a:rPr>
              <a:t>, для размещения в горизонтальной - </a:t>
            </a:r>
            <a:r>
              <a:rPr lang="ru-RU" i="1" dirty="0" err="1">
                <a:solidFill>
                  <a:schemeClr val="accent4">
                    <a:lumMod val="10000"/>
                  </a:schemeClr>
                </a:solidFill>
                <a:latin typeface="Courier New" panose="02070309020205020404" pitchFamily="49" charset="0"/>
                <a:cs typeface="Courier New" panose="02070309020205020404" pitchFamily="49" charset="0"/>
              </a:rPr>
              <a:t>BoxLayout.X_AXIS</a:t>
            </a:r>
            <a:r>
              <a:rPr lang="ru-RU" dirty="0">
                <a:cs typeface="Times New Roman" panose="02020603050405020304" pitchFamily="18" charset="0"/>
              </a:rPr>
              <a:t>.</a:t>
            </a:r>
            <a:endParaRPr lang="ru-RU" dirty="0"/>
          </a:p>
        </p:txBody>
      </p:sp>
      <p:pic>
        <p:nvPicPr>
          <p:cNvPr id="15" name="Рисунок 4">
            <a:extLst>
              <a:ext uri="{FF2B5EF4-FFF2-40B4-BE49-F238E27FC236}">
                <a16:creationId xmlns:a16="http://schemas.microsoft.com/office/drawing/2014/main" id="{6CE7C73B-885D-48CF-A26C-9B840E056A3A}"/>
              </a:ext>
            </a:extLst>
          </p:cNvPr>
          <p:cNvPicPr>
            <a:picLocks noChangeAspect="1"/>
          </p:cNvPicPr>
          <p:nvPr/>
        </p:nvPicPr>
        <p:blipFill>
          <a:blip r:embed="rId3"/>
          <a:stretch>
            <a:fillRect/>
          </a:stretch>
        </p:blipFill>
        <p:spPr>
          <a:xfrm>
            <a:off x="541756" y="5003848"/>
            <a:ext cx="2939884" cy="1285577"/>
          </a:xfrm>
          <a:prstGeom prst="rect">
            <a:avLst/>
          </a:prstGeom>
          <a:ln>
            <a:noFill/>
          </a:ln>
          <a:effectLst>
            <a:outerShdw blurRad="292100" dist="139700" dir="2700000" algn="tl" rotWithShape="0">
              <a:srgbClr val="333333">
                <a:alpha val="65000"/>
              </a:srgbClr>
            </a:outerShdw>
          </a:effectLst>
        </p:spPr>
      </p:pic>
      <p:pic>
        <p:nvPicPr>
          <p:cNvPr id="16" name="Рисунок 8">
            <a:extLst>
              <a:ext uri="{FF2B5EF4-FFF2-40B4-BE49-F238E27FC236}">
                <a16:creationId xmlns:a16="http://schemas.microsoft.com/office/drawing/2014/main" id="{EA7D8BA0-9B68-4B9B-89FC-3B2CA760E673}"/>
              </a:ext>
            </a:extLst>
          </p:cNvPr>
          <p:cNvPicPr>
            <a:picLocks noChangeAspect="1"/>
          </p:cNvPicPr>
          <p:nvPr/>
        </p:nvPicPr>
        <p:blipFill>
          <a:blip r:embed="rId4"/>
          <a:stretch>
            <a:fillRect/>
          </a:stretch>
        </p:blipFill>
        <p:spPr>
          <a:xfrm>
            <a:off x="3668346" y="5024509"/>
            <a:ext cx="2580431" cy="711273"/>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7F69448A-02A8-4DA9-8713-B93FF843D55D}"/>
              </a:ext>
            </a:extLst>
          </p:cNvPr>
          <p:cNvPicPr>
            <a:picLocks noChangeAspect="1"/>
          </p:cNvPicPr>
          <p:nvPr/>
        </p:nvPicPr>
        <p:blipFill>
          <a:blip r:embed="rId5"/>
          <a:stretch>
            <a:fillRect/>
          </a:stretch>
        </p:blipFill>
        <p:spPr>
          <a:xfrm>
            <a:off x="6471311" y="1665299"/>
            <a:ext cx="5111089" cy="49283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84662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a:xfrm>
            <a:off x="288966" y="714240"/>
            <a:ext cx="10972800" cy="1143000"/>
          </a:xfrm>
        </p:spPr>
        <p:txBody>
          <a:bodyPr/>
          <a:lstStyle/>
          <a:p>
            <a:r>
              <a:rPr lang="en-US" sz="6000" dirty="0" err="1"/>
              <a:t>GroupLayout</a:t>
            </a:r>
            <a:endParaRPr lang="ru-RU" dirty="0"/>
          </a:p>
        </p:txBody>
      </p:sp>
      <p:sp>
        <p:nvSpPr>
          <p:cNvPr id="14" name="Content Placeholder 13">
            <a:extLst>
              <a:ext uri="{FF2B5EF4-FFF2-40B4-BE49-F238E27FC236}">
                <a16:creationId xmlns:a16="http://schemas.microsoft.com/office/drawing/2014/main" id="{7A73193C-7705-4948-A68F-FB52C0B1F409}"/>
              </a:ext>
            </a:extLst>
          </p:cNvPr>
          <p:cNvSpPr>
            <a:spLocks noGrp="1"/>
          </p:cNvSpPr>
          <p:nvPr>
            <p:ph sz="half" idx="1"/>
          </p:nvPr>
        </p:nvSpPr>
        <p:spPr>
          <a:xfrm>
            <a:off x="507196" y="1857240"/>
            <a:ext cx="7045510" cy="2936173"/>
          </a:xfrm>
        </p:spPr>
        <p:txBody>
          <a:bodyPr>
            <a:normAutofit fontScale="55000" lnSpcReduction="20000"/>
          </a:bodyPr>
          <a:lstStyle/>
          <a:p>
            <a:r>
              <a:rPr lang="ru-RU" dirty="0">
                <a:cs typeface="Times New Roman" panose="02020603050405020304" pitchFamily="18" charset="0"/>
              </a:rPr>
              <a:t>Менеджер расположения компонентов </a:t>
            </a:r>
            <a:r>
              <a:rPr lang="ru-RU" i="1" dirty="0" err="1">
                <a:solidFill>
                  <a:schemeClr val="accent4">
                    <a:lumMod val="10000"/>
                  </a:schemeClr>
                </a:solidFill>
                <a:latin typeface="Courier New" panose="02070309020205020404" pitchFamily="49" charset="0"/>
                <a:cs typeface="Courier New" panose="02070309020205020404" pitchFamily="49" charset="0"/>
              </a:rPr>
              <a:t>GroupLayout</a:t>
            </a:r>
            <a:r>
              <a:rPr lang="ru-RU" dirty="0">
                <a:cs typeface="Times New Roman" panose="02020603050405020304" pitchFamily="18" charset="0"/>
              </a:rPr>
              <a:t> раскладывает компоненты по группам.</a:t>
            </a:r>
          </a:p>
          <a:p>
            <a:r>
              <a:rPr lang="ru-RU" dirty="0">
                <a:cs typeface="Times New Roman" panose="02020603050405020304" pitchFamily="18" charset="0"/>
              </a:rPr>
              <a:t>Группы имеют горизонтальное и вертикальное направление и могут быть параллельными и последовательными.</a:t>
            </a:r>
          </a:p>
          <a:p>
            <a:r>
              <a:rPr lang="ru-RU" dirty="0">
                <a:cs typeface="Times New Roman" panose="02020603050405020304" pitchFamily="18" charset="0"/>
              </a:rPr>
              <a:t>В последовательной группе у каждого следующего компонента координата вдоль оси на единицу больше (имеется в виду координата в сетке), в параллельной – компоненты имеют одну и ту же координату.</a:t>
            </a:r>
            <a:endParaRPr lang="ru-RU" dirty="0"/>
          </a:p>
        </p:txBody>
      </p:sp>
      <p:pic>
        <p:nvPicPr>
          <p:cNvPr id="16" name="Рисунок 4">
            <a:extLst>
              <a:ext uri="{FF2B5EF4-FFF2-40B4-BE49-F238E27FC236}">
                <a16:creationId xmlns:a16="http://schemas.microsoft.com/office/drawing/2014/main" id="{4525A877-9AF0-4518-82A1-827B9C4E79D2}"/>
              </a:ext>
            </a:extLst>
          </p:cNvPr>
          <p:cNvPicPr>
            <a:picLocks noChangeAspect="1"/>
          </p:cNvPicPr>
          <p:nvPr/>
        </p:nvPicPr>
        <p:blipFill>
          <a:blip r:embed="rId3"/>
          <a:stretch>
            <a:fillRect/>
          </a:stretch>
        </p:blipFill>
        <p:spPr>
          <a:xfrm>
            <a:off x="507196" y="4480830"/>
            <a:ext cx="3099388" cy="869044"/>
          </a:xfrm>
          <a:prstGeom prst="rect">
            <a:avLst/>
          </a:prstGeom>
        </p:spPr>
      </p:pic>
      <p:pic>
        <p:nvPicPr>
          <p:cNvPr id="17" name="Рисунок 8">
            <a:extLst>
              <a:ext uri="{FF2B5EF4-FFF2-40B4-BE49-F238E27FC236}">
                <a16:creationId xmlns:a16="http://schemas.microsoft.com/office/drawing/2014/main" id="{F6EA5BB1-37D8-4EBC-92DE-4150D21C5AA2}"/>
              </a:ext>
            </a:extLst>
          </p:cNvPr>
          <p:cNvPicPr>
            <a:picLocks noChangeAspect="1"/>
          </p:cNvPicPr>
          <p:nvPr/>
        </p:nvPicPr>
        <p:blipFill>
          <a:blip r:embed="rId4"/>
          <a:stretch>
            <a:fillRect/>
          </a:stretch>
        </p:blipFill>
        <p:spPr>
          <a:xfrm>
            <a:off x="3734297" y="4480830"/>
            <a:ext cx="3818409" cy="2181228"/>
          </a:xfrm>
          <a:prstGeom prst="rect">
            <a:avLst/>
          </a:prstGeom>
        </p:spPr>
      </p:pic>
      <p:pic>
        <p:nvPicPr>
          <p:cNvPr id="15" name="Picture 14">
            <a:extLst>
              <a:ext uri="{FF2B5EF4-FFF2-40B4-BE49-F238E27FC236}">
                <a16:creationId xmlns:a16="http://schemas.microsoft.com/office/drawing/2014/main" id="{F7C104DB-C55B-491C-AAF1-50E9AD99C836}"/>
              </a:ext>
            </a:extLst>
          </p:cNvPr>
          <p:cNvPicPr>
            <a:picLocks noChangeAspect="1"/>
          </p:cNvPicPr>
          <p:nvPr/>
        </p:nvPicPr>
        <p:blipFill>
          <a:blip r:embed="rId5"/>
          <a:stretch>
            <a:fillRect/>
          </a:stretch>
        </p:blipFill>
        <p:spPr>
          <a:xfrm>
            <a:off x="7958361" y="0"/>
            <a:ext cx="4233639"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45128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501F-D2ED-41D8-9328-5E6BAFE45B6F}"/>
              </a:ext>
            </a:extLst>
          </p:cNvPr>
          <p:cNvSpPr>
            <a:spLocks noGrp="1"/>
          </p:cNvSpPr>
          <p:nvPr>
            <p:ph type="title"/>
          </p:nvPr>
        </p:nvSpPr>
        <p:spPr/>
        <p:txBody>
          <a:bodyPr/>
          <a:lstStyle/>
          <a:p>
            <a:r>
              <a:rPr lang="en-US" dirty="0" err="1">
                <a:cs typeface="Times New Roman" panose="02020603050405020304" pitchFamily="18" charset="0"/>
              </a:rPr>
              <a:t>SpringLayout</a:t>
            </a:r>
            <a:endParaRPr lang="ru-RU" dirty="0"/>
          </a:p>
        </p:txBody>
      </p:sp>
      <p:sp>
        <p:nvSpPr>
          <p:cNvPr id="12" name="Content Placeholder 11">
            <a:extLst>
              <a:ext uri="{FF2B5EF4-FFF2-40B4-BE49-F238E27FC236}">
                <a16:creationId xmlns:a16="http://schemas.microsoft.com/office/drawing/2014/main" id="{302EAB8E-3713-4E02-9B53-1809229DB578}"/>
              </a:ext>
            </a:extLst>
          </p:cNvPr>
          <p:cNvSpPr>
            <a:spLocks noGrp="1"/>
          </p:cNvSpPr>
          <p:nvPr>
            <p:ph sz="half" idx="1"/>
          </p:nvPr>
        </p:nvSpPr>
        <p:spPr>
          <a:xfrm>
            <a:off x="609600" y="1809739"/>
            <a:ext cx="5384800" cy="3356027"/>
          </a:xfrm>
        </p:spPr>
        <p:txBody>
          <a:bodyPr>
            <a:normAutofit fontScale="47500" lnSpcReduction="20000"/>
          </a:bodyPr>
          <a:lstStyle/>
          <a:p>
            <a:r>
              <a:rPr lang="ru-RU" dirty="0">
                <a:cs typeface="Times New Roman" panose="02020603050405020304" pitchFamily="18" charset="0"/>
              </a:rPr>
              <a:t>На первом этапе работы менеджера </a:t>
            </a:r>
            <a:r>
              <a:rPr lang="ru-RU" i="1" dirty="0" err="1">
                <a:solidFill>
                  <a:schemeClr val="accent4">
                    <a:lumMod val="10000"/>
                  </a:schemeClr>
                </a:solidFill>
                <a:latin typeface="Courier New" panose="02070309020205020404" pitchFamily="49" charset="0"/>
                <a:cs typeface="Courier New" panose="02070309020205020404" pitchFamily="49" charset="0"/>
              </a:rPr>
              <a:t>SpringLayout</a:t>
            </a:r>
            <a:r>
              <a:rPr lang="ru-RU" dirty="0">
                <a:cs typeface="Times New Roman" panose="02020603050405020304" pitchFamily="18" charset="0"/>
              </a:rPr>
              <a:t> все компоненты находятся в начале координат контейнера и имеют предпочтительный размер.</a:t>
            </a:r>
          </a:p>
          <a:p>
            <a:r>
              <a:rPr lang="ru-RU" dirty="0">
                <a:cs typeface="Times New Roman" panose="02020603050405020304" pitchFamily="18" charset="0"/>
              </a:rPr>
              <a:t>Чтобы разместить их по нужным позициям, обычно проводят следующие действия: первый компонент отделяют некоторым расстоянием от границы контейнера, второй отделяют от первого расстоянием между нужными границами, далее размещают третий компонент и т.д.</a:t>
            </a:r>
            <a:endParaRPr lang="en-US" dirty="0">
              <a:cs typeface="Times New Roman" panose="02020603050405020304" pitchFamily="18" charset="0"/>
            </a:endParaRPr>
          </a:p>
        </p:txBody>
      </p:sp>
      <p:pic>
        <p:nvPicPr>
          <p:cNvPr id="16" name="Рисунок 4">
            <a:extLst>
              <a:ext uri="{FF2B5EF4-FFF2-40B4-BE49-F238E27FC236}">
                <a16:creationId xmlns:a16="http://schemas.microsoft.com/office/drawing/2014/main" id="{D24983A4-C1A5-45FB-BF4E-2E83689720CB}"/>
              </a:ext>
            </a:extLst>
          </p:cNvPr>
          <p:cNvPicPr>
            <a:picLocks noChangeAspect="1"/>
          </p:cNvPicPr>
          <p:nvPr/>
        </p:nvPicPr>
        <p:blipFill>
          <a:blip r:embed="rId3"/>
          <a:stretch>
            <a:fillRect/>
          </a:stretch>
        </p:blipFill>
        <p:spPr>
          <a:xfrm>
            <a:off x="1978025" y="4877800"/>
            <a:ext cx="2647950" cy="1019175"/>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FB0BD67-689B-401C-BD32-FBB8DE6965A4}"/>
              </a:ext>
            </a:extLst>
          </p:cNvPr>
          <p:cNvPicPr>
            <a:picLocks noChangeAspect="1"/>
          </p:cNvPicPr>
          <p:nvPr/>
        </p:nvPicPr>
        <p:blipFill rotWithShape="1">
          <a:blip r:embed="rId4"/>
          <a:srcRect r="7904"/>
          <a:stretch/>
        </p:blipFill>
        <p:spPr>
          <a:xfrm>
            <a:off x="6024549" y="1809739"/>
            <a:ext cx="5665228" cy="40872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16905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D1DCB-0480-4BFE-98C0-1B1151F2E804}"/>
              </a:ext>
            </a:extLst>
          </p:cNvPr>
          <p:cNvSpPr>
            <a:spLocks noGrp="1"/>
          </p:cNvSpPr>
          <p:nvPr>
            <p:ph type="title"/>
          </p:nvPr>
        </p:nvSpPr>
        <p:spPr/>
        <p:txBody>
          <a:bodyPr/>
          <a:lstStyle/>
          <a:p>
            <a:r>
              <a:rPr lang="ru-RU" dirty="0"/>
              <a:t>Обработка событий</a:t>
            </a:r>
          </a:p>
        </p:txBody>
      </p:sp>
      <p:sp>
        <p:nvSpPr>
          <p:cNvPr id="3" name="Content Placeholder 2">
            <a:extLst>
              <a:ext uri="{FF2B5EF4-FFF2-40B4-BE49-F238E27FC236}">
                <a16:creationId xmlns:a16="http://schemas.microsoft.com/office/drawing/2014/main" id="{49AA9225-B152-4D5D-B73E-E181F12A4119}"/>
              </a:ext>
            </a:extLst>
          </p:cNvPr>
          <p:cNvSpPr>
            <a:spLocks noGrp="1"/>
          </p:cNvSpPr>
          <p:nvPr>
            <p:ph sz="half" idx="1"/>
          </p:nvPr>
        </p:nvSpPr>
        <p:spPr>
          <a:xfrm>
            <a:off x="609599" y="1938105"/>
            <a:ext cx="5834744" cy="4188059"/>
          </a:xfrm>
        </p:spPr>
        <p:txBody>
          <a:bodyPr>
            <a:normAutofit fontScale="85000" lnSpcReduction="10000"/>
          </a:bodyPr>
          <a:lstStyle/>
          <a:p>
            <a:pPr marL="0" indent="0">
              <a:buNone/>
            </a:pPr>
            <a:r>
              <a:rPr lang="ru-RU" dirty="0"/>
              <a:t>Для обеспечения интерактивности интерфейса необходимо обрабатывать события, генерируемые пользователем. </a:t>
            </a:r>
            <a:r>
              <a:rPr lang="ru-RU" dirty="0" err="1"/>
              <a:t>Swing</a:t>
            </a:r>
            <a:r>
              <a:rPr lang="ru-RU" dirty="0"/>
              <a:t> предоставляет интерфейс </a:t>
            </a:r>
            <a:r>
              <a:rPr lang="ru-RU" i="1" dirty="0" err="1">
                <a:solidFill>
                  <a:schemeClr val="accent4">
                    <a:lumMod val="10000"/>
                  </a:schemeClr>
                </a:solidFill>
                <a:latin typeface="Courier New" panose="02070309020205020404" pitchFamily="49" charset="0"/>
                <a:cs typeface="Courier New" panose="02070309020205020404" pitchFamily="49" charset="0"/>
              </a:rPr>
              <a:t>ActionListener</a:t>
            </a:r>
            <a:r>
              <a:rPr lang="ru-RU" dirty="0"/>
              <a:t> для обработки нажатий кнопок и других действий пользователя. </a:t>
            </a:r>
          </a:p>
        </p:txBody>
      </p:sp>
      <p:pic>
        <p:nvPicPr>
          <p:cNvPr id="5" name="Picture 4">
            <a:extLst>
              <a:ext uri="{FF2B5EF4-FFF2-40B4-BE49-F238E27FC236}">
                <a16:creationId xmlns:a16="http://schemas.microsoft.com/office/drawing/2014/main" id="{D722A735-2080-49FB-877D-C3562C3BD7E4}"/>
              </a:ext>
            </a:extLst>
          </p:cNvPr>
          <p:cNvPicPr>
            <a:picLocks noChangeAspect="1"/>
          </p:cNvPicPr>
          <p:nvPr/>
        </p:nvPicPr>
        <p:blipFill>
          <a:blip r:embed="rId2"/>
          <a:stretch>
            <a:fillRect/>
          </a:stretch>
        </p:blipFill>
        <p:spPr>
          <a:xfrm>
            <a:off x="6292747" y="1938105"/>
            <a:ext cx="5557714" cy="1353231"/>
          </a:xfrm>
          <a:prstGeom prst="rect">
            <a:avLst/>
          </a:prstGeom>
          <a:ln>
            <a:noFill/>
          </a:ln>
          <a:effectLst>
            <a:outerShdw blurRad="292100" dist="139700" dir="2700000" algn="tl" rotWithShape="0">
              <a:srgbClr val="333333">
                <a:alpha val="65000"/>
              </a:srgbClr>
            </a:outerShdw>
          </a:effectLst>
        </p:spPr>
      </p:pic>
      <p:pic>
        <p:nvPicPr>
          <p:cNvPr id="6146" name="Picture 2" descr="SWING ActionListener">
            <a:extLst>
              <a:ext uri="{FF2B5EF4-FFF2-40B4-BE49-F238E27FC236}">
                <a16:creationId xmlns:a16="http://schemas.microsoft.com/office/drawing/2014/main" id="{705F6619-4D4C-4D03-802C-832280D10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0370" y="3720421"/>
            <a:ext cx="2405743" cy="240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308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05127-3F59-4E5A-9DBA-2061EB935287}"/>
              </a:ext>
            </a:extLst>
          </p:cNvPr>
          <p:cNvSpPr>
            <a:spLocks noGrp="1"/>
          </p:cNvSpPr>
          <p:nvPr>
            <p:ph type="title"/>
          </p:nvPr>
        </p:nvSpPr>
        <p:spPr>
          <a:xfrm>
            <a:off x="609600" y="884453"/>
            <a:ext cx="10972800" cy="1143000"/>
          </a:xfrm>
        </p:spPr>
        <p:txBody>
          <a:bodyPr>
            <a:normAutofit fontScale="90000"/>
          </a:bodyPr>
          <a:lstStyle/>
          <a:p>
            <a:r>
              <a:rPr lang="ru-RU" dirty="0"/>
              <a:t>Модель —представление — контроллер» (</a:t>
            </a:r>
            <a:r>
              <a:rPr lang="en-US" dirty="0"/>
              <a:t>MVC)</a:t>
            </a:r>
            <a:endParaRPr lang="ru-RU" dirty="0"/>
          </a:p>
        </p:txBody>
      </p:sp>
      <p:sp>
        <p:nvSpPr>
          <p:cNvPr id="3" name="Content Placeholder 2">
            <a:extLst>
              <a:ext uri="{FF2B5EF4-FFF2-40B4-BE49-F238E27FC236}">
                <a16:creationId xmlns:a16="http://schemas.microsoft.com/office/drawing/2014/main" id="{937C70C1-B75C-41F7-A5DB-887D778728D6}"/>
              </a:ext>
            </a:extLst>
          </p:cNvPr>
          <p:cNvSpPr>
            <a:spLocks noGrp="1"/>
          </p:cNvSpPr>
          <p:nvPr>
            <p:ph sz="half" idx="1"/>
          </p:nvPr>
        </p:nvSpPr>
        <p:spPr>
          <a:xfrm>
            <a:off x="609600" y="2318657"/>
            <a:ext cx="5301344" cy="3733799"/>
          </a:xfrm>
        </p:spPr>
        <p:txBody>
          <a:bodyPr>
            <a:normAutofit fontScale="70000" lnSpcReduction="20000"/>
          </a:bodyPr>
          <a:lstStyle/>
          <a:p>
            <a:r>
              <a:rPr lang="ru-RU" dirty="0" err="1"/>
              <a:t>Swing</a:t>
            </a:r>
            <a:r>
              <a:rPr lang="ru-RU" dirty="0"/>
              <a:t> построен на паттерне «Модель —представление — контроллер»</a:t>
            </a:r>
          </a:p>
          <a:p>
            <a:r>
              <a:rPr lang="ru-RU" dirty="0"/>
              <a:t>В архитектуре MVC модель предоставляет данные, представление отвечает за отображение данных (например, текст, поля ввода), а контроллер обеспечивает взаимодействие между моделью и представлением. </a:t>
            </a:r>
          </a:p>
        </p:txBody>
      </p:sp>
      <p:pic>
        <p:nvPicPr>
          <p:cNvPr id="5" name="Picture 4">
            <a:extLst>
              <a:ext uri="{FF2B5EF4-FFF2-40B4-BE49-F238E27FC236}">
                <a16:creationId xmlns:a16="http://schemas.microsoft.com/office/drawing/2014/main" id="{AFAFB671-91C9-494B-83E2-6419A7AB0ACB}"/>
              </a:ext>
            </a:extLst>
          </p:cNvPr>
          <p:cNvPicPr>
            <a:picLocks noChangeAspect="1"/>
          </p:cNvPicPr>
          <p:nvPr/>
        </p:nvPicPr>
        <p:blipFill rotWithShape="1">
          <a:blip r:embed="rId3"/>
          <a:srcRect t="5448"/>
          <a:stretch/>
        </p:blipFill>
        <p:spPr>
          <a:xfrm>
            <a:off x="6554640" y="2471057"/>
            <a:ext cx="5097995" cy="3324101"/>
          </a:xfrm>
          <a:prstGeom prst="rect">
            <a:avLst/>
          </a:prstGeom>
        </p:spPr>
      </p:pic>
    </p:spTree>
    <p:extLst>
      <p:ext uri="{BB962C8B-B14F-4D97-AF65-F5344CB8AC3E}">
        <p14:creationId xmlns:p14="http://schemas.microsoft.com/office/powerpoint/2010/main" val="3862754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07A9-076A-4046-B952-030AA627AF40}"/>
              </a:ext>
            </a:extLst>
          </p:cNvPr>
          <p:cNvSpPr>
            <a:spLocks noGrp="1"/>
          </p:cNvSpPr>
          <p:nvPr>
            <p:ph type="title"/>
          </p:nvPr>
        </p:nvSpPr>
        <p:spPr/>
        <p:txBody>
          <a:bodyPr/>
          <a:lstStyle/>
          <a:p>
            <a:r>
              <a:rPr lang="ru-RU" dirty="0"/>
              <a:t>Класс </a:t>
            </a:r>
            <a:r>
              <a:rPr lang="en-US" dirty="0"/>
              <a:t>Image</a:t>
            </a:r>
            <a:endParaRPr lang="ru-RU" dirty="0"/>
          </a:p>
        </p:txBody>
      </p:sp>
      <p:sp>
        <p:nvSpPr>
          <p:cNvPr id="3" name="Content Placeholder 2">
            <a:extLst>
              <a:ext uri="{FF2B5EF4-FFF2-40B4-BE49-F238E27FC236}">
                <a16:creationId xmlns:a16="http://schemas.microsoft.com/office/drawing/2014/main" id="{BAD89904-6740-419B-B648-ECA62F3C39A2}"/>
              </a:ext>
            </a:extLst>
          </p:cNvPr>
          <p:cNvSpPr>
            <a:spLocks noGrp="1"/>
          </p:cNvSpPr>
          <p:nvPr>
            <p:ph sz="half" idx="1"/>
          </p:nvPr>
        </p:nvSpPr>
        <p:spPr>
          <a:xfrm>
            <a:off x="609600" y="1907710"/>
            <a:ext cx="8164286" cy="4525963"/>
          </a:xfrm>
        </p:spPr>
        <p:txBody>
          <a:bodyPr>
            <a:normAutofit fontScale="55000" lnSpcReduction="20000"/>
          </a:bodyPr>
          <a:lstStyle/>
          <a:p>
            <a:pPr>
              <a:spcAft>
                <a:spcPts val="600"/>
              </a:spcAft>
            </a:pPr>
            <a:r>
              <a:rPr lang="ru-RU" dirty="0"/>
              <a:t>Изображение, хранящееся в файлах на диске компьютера или в глобальной сети, их можно прочитать, а затем отобразить на экране с помощью объекта класса </a:t>
            </a:r>
            <a:r>
              <a:rPr lang="ru-RU" i="1" dirty="0" err="1">
                <a:solidFill>
                  <a:schemeClr val="accent4">
                    <a:lumMod val="10000"/>
                  </a:schemeClr>
                </a:solidFill>
                <a:latin typeface="Courier New" panose="02070309020205020404" pitchFamily="49" charset="0"/>
                <a:cs typeface="Courier New" panose="02070309020205020404" pitchFamily="49" charset="0"/>
              </a:rPr>
              <a:t>Graphics</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marL="0" indent="0">
              <a:spcAft>
                <a:spcPts val="600"/>
              </a:spcAft>
              <a:buNone/>
            </a:pPr>
            <a:r>
              <a:rPr lang="ru-RU" sz="4000" dirty="0" err="1">
                <a:solidFill>
                  <a:schemeClr val="accent4">
                    <a:lumMod val="10000"/>
                  </a:schemeClr>
                </a:solidFill>
                <a:latin typeface="Courier New" panose="02070309020205020404" pitchFamily="49" charset="0"/>
                <a:cs typeface="Courier New" panose="02070309020205020404" pitchFamily="49" charset="0"/>
              </a:rPr>
              <a:t>Image</a:t>
            </a:r>
            <a:r>
              <a:rPr lang="ru-RU" sz="4000" dirty="0">
                <a:solidFill>
                  <a:schemeClr val="accent4">
                    <a:lumMod val="10000"/>
                  </a:schemeClr>
                </a:solidFill>
                <a:latin typeface="Courier New" panose="02070309020205020404" pitchFamily="49" charset="0"/>
                <a:cs typeface="Courier New" panose="02070309020205020404" pitchFamily="49" charset="0"/>
              </a:rPr>
              <a:t> </a:t>
            </a:r>
            <a:r>
              <a:rPr lang="ru-RU" sz="4000" dirty="0" err="1">
                <a:solidFill>
                  <a:schemeClr val="accent4">
                    <a:lumMod val="10000"/>
                  </a:schemeClr>
                </a:solidFill>
                <a:latin typeface="Courier New" panose="02070309020205020404" pitchFamily="49" charset="0"/>
                <a:cs typeface="Courier New" panose="02070309020205020404" pitchFamily="49" charset="0"/>
              </a:rPr>
              <a:t>image</a:t>
            </a:r>
            <a:r>
              <a:rPr lang="ru-RU" sz="4000" dirty="0">
                <a:solidFill>
                  <a:schemeClr val="accent4">
                    <a:lumMod val="10000"/>
                  </a:schemeClr>
                </a:solidFill>
                <a:latin typeface="Courier New" panose="02070309020205020404" pitchFamily="49" charset="0"/>
                <a:cs typeface="Courier New" panose="02070309020205020404" pitchFamily="49" charset="0"/>
              </a:rPr>
              <a:t> = </a:t>
            </a:r>
            <a:r>
              <a:rPr lang="ru-RU" sz="4000" dirty="0" err="1">
                <a:solidFill>
                  <a:schemeClr val="accent4">
                    <a:lumMod val="10000"/>
                  </a:schemeClr>
                </a:solidFill>
                <a:latin typeface="Courier New" panose="02070309020205020404" pitchFamily="49" charset="0"/>
                <a:cs typeface="Courier New" panose="02070309020205020404" pitchFamily="49" charset="0"/>
              </a:rPr>
              <a:t>ImageIO.read</a:t>
            </a:r>
            <a:r>
              <a:rPr lang="ru-RU" sz="4000" dirty="0">
                <a:solidFill>
                  <a:schemeClr val="accent4">
                    <a:lumMod val="10000"/>
                  </a:schemeClr>
                </a:solidFill>
                <a:latin typeface="Courier New" panose="02070309020205020404" pitchFamily="49" charset="0"/>
                <a:cs typeface="Courier New" panose="02070309020205020404" pitchFamily="49" charset="0"/>
              </a:rPr>
              <a:t>(</a:t>
            </a:r>
            <a:r>
              <a:rPr lang="ru-RU" sz="4000" dirty="0" err="1">
                <a:solidFill>
                  <a:schemeClr val="accent4">
                    <a:lumMod val="10000"/>
                  </a:schemeClr>
                </a:solidFill>
                <a:latin typeface="Courier New" panose="02070309020205020404" pitchFamily="49" charset="0"/>
                <a:cs typeface="Courier New" panose="02070309020205020404" pitchFamily="49" charset="0"/>
              </a:rPr>
              <a:t>new</a:t>
            </a:r>
            <a:r>
              <a:rPr lang="ru-RU" sz="4000" dirty="0">
                <a:solidFill>
                  <a:schemeClr val="accent4">
                    <a:lumMod val="10000"/>
                  </a:schemeClr>
                </a:solidFill>
                <a:latin typeface="Courier New" panose="02070309020205020404" pitchFamily="49" charset="0"/>
                <a:cs typeface="Courier New" panose="02070309020205020404" pitchFamily="49" charset="0"/>
              </a:rPr>
              <a:t> </a:t>
            </a:r>
            <a:r>
              <a:rPr lang="ru-RU" sz="4000" dirty="0" err="1">
                <a:solidFill>
                  <a:schemeClr val="accent4">
                    <a:lumMod val="10000"/>
                  </a:schemeClr>
                </a:solidFill>
                <a:latin typeface="Courier New" panose="02070309020205020404" pitchFamily="49" charset="0"/>
                <a:cs typeface="Courier New" panose="02070309020205020404" pitchFamily="49" charset="0"/>
              </a:rPr>
              <a:t>File</a:t>
            </a:r>
            <a:r>
              <a:rPr lang="ru-RU" sz="4000" dirty="0">
                <a:solidFill>
                  <a:schemeClr val="accent4">
                    <a:lumMod val="10000"/>
                  </a:schemeClr>
                </a:solidFill>
                <a:latin typeface="Courier New" panose="02070309020205020404" pitchFamily="49" charset="0"/>
                <a:cs typeface="Courier New" panose="02070309020205020404" pitchFamily="49" charset="0"/>
              </a:rPr>
              <a:t>(</a:t>
            </a:r>
            <a:r>
              <a:rPr lang="ru-RU" sz="4000" dirty="0" err="1">
                <a:solidFill>
                  <a:schemeClr val="accent4">
                    <a:lumMod val="10000"/>
                  </a:schemeClr>
                </a:solidFill>
                <a:latin typeface="Courier New" panose="02070309020205020404" pitchFamily="49" charset="0"/>
                <a:cs typeface="Courier New" panose="02070309020205020404" pitchFamily="49" charset="0"/>
              </a:rPr>
              <a:t>file</a:t>
            </a:r>
            <a:r>
              <a:rPr lang="en-US" sz="4000" dirty="0">
                <a:solidFill>
                  <a:schemeClr val="accent4">
                    <a:lumMod val="10000"/>
                  </a:schemeClr>
                </a:solidFill>
                <a:latin typeface="Courier New" panose="02070309020205020404" pitchFamily="49" charset="0"/>
                <a:cs typeface="Courier New" panose="02070309020205020404" pitchFamily="49" charset="0"/>
              </a:rPr>
              <a:t>path</a:t>
            </a:r>
            <a:r>
              <a:rPr lang="ru-RU" sz="4000" dirty="0">
                <a:solidFill>
                  <a:schemeClr val="accent4">
                    <a:lumMod val="10000"/>
                  </a:schemeClr>
                </a:solidFill>
                <a:latin typeface="Courier New" panose="02070309020205020404" pitchFamily="49" charset="0"/>
                <a:cs typeface="Courier New" panose="02070309020205020404" pitchFamily="49" charset="0"/>
              </a:rPr>
              <a:t>));</a:t>
            </a:r>
            <a:endParaRPr lang="en-US" sz="4000" dirty="0">
              <a:solidFill>
                <a:schemeClr val="accent4">
                  <a:lumMod val="10000"/>
                </a:schemeClr>
              </a:solidFill>
              <a:latin typeface="Courier New" panose="02070309020205020404" pitchFamily="49" charset="0"/>
              <a:cs typeface="Courier New" panose="02070309020205020404" pitchFamily="49" charset="0"/>
            </a:endParaRPr>
          </a:p>
          <a:p>
            <a:pPr marL="0" indent="0">
              <a:spcAft>
                <a:spcPts val="600"/>
              </a:spcAft>
              <a:buNone/>
            </a:pPr>
            <a:r>
              <a:rPr lang="en-US" sz="4000" dirty="0">
                <a:solidFill>
                  <a:schemeClr val="accent4">
                    <a:lumMod val="10000"/>
                  </a:schemeClr>
                </a:solidFill>
                <a:latin typeface="Courier New" panose="02070309020205020404" pitchFamily="49" charset="0"/>
                <a:cs typeface="Courier New" panose="02070309020205020404" pitchFamily="49" charset="0"/>
              </a:rPr>
              <a:t>Image </a:t>
            </a:r>
            <a:r>
              <a:rPr lang="en-US" sz="4000" dirty="0" err="1">
                <a:solidFill>
                  <a:schemeClr val="accent4">
                    <a:lumMod val="10000"/>
                  </a:schemeClr>
                </a:solidFill>
                <a:latin typeface="Courier New" panose="02070309020205020404" pitchFamily="49" charset="0"/>
                <a:cs typeface="Courier New" panose="02070309020205020404" pitchFamily="49" charset="0"/>
              </a:rPr>
              <a:t>image</a:t>
            </a:r>
            <a:r>
              <a:rPr lang="en-US" sz="4000" dirty="0">
                <a:solidFill>
                  <a:schemeClr val="accent4">
                    <a:lumMod val="10000"/>
                  </a:schemeClr>
                </a:solidFill>
                <a:latin typeface="Courier New" panose="02070309020205020404" pitchFamily="49" charset="0"/>
                <a:cs typeface="Courier New" panose="02070309020205020404" pitchFamily="49" charset="0"/>
              </a:rPr>
              <a:t> = </a:t>
            </a:r>
            <a:r>
              <a:rPr lang="en-US" sz="4000" dirty="0" err="1">
                <a:solidFill>
                  <a:schemeClr val="accent4">
                    <a:lumMod val="10000"/>
                  </a:schemeClr>
                </a:solidFill>
                <a:latin typeface="Courier New" panose="02070309020205020404" pitchFamily="49" charset="0"/>
                <a:cs typeface="Courier New" panose="02070309020205020404" pitchFamily="49" charset="0"/>
              </a:rPr>
              <a:t>ImageIO.read</a:t>
            </a:r>
            <a:r>
              <a:rPr lang="en-US" sz="4000" dirty="0">
                <a:solidFill>
                  <a:schemeClr val="accent4">
                    <a:lumMod val="10000"/>
                  </a:schemeClr>
                </a:solidFill>
                <a:latin typeface="Courier New" panose="02070309020205020404" pitchFamily="49" charset="0"/>
                <a:cs typeface="Courier New" panose="02070309020205020404" pitchFamily="49" charset="0"/>
              </a:rPr>
              <a:t>(new URL(</a:t>
            </a:r>
            <a:r>
              <a:rPr lang="en-US" sz="4000" dirty="0" err="1">
                <a:solidFill>
                  <a:schemeClr val="accent4">
                    <a:lumMod val="10000"/>
                  </a:schemeClr>
                </a:solidFill>
                <a:latin typeface="Courier New" panose="02070309020205020404" pitchFamily="49" charset="0"/>
                <a:cs typeface="Courier New" panose="02070309020205020404" pitchFamily="49" charset="0"/>
              </a:rPr>
              <a:t>urlname</a:t>
            </a:r>
            <a:r>
              <a:rPr lang="en-US" sz="4000" dirty="0">
                <a:solidFill>
                  <a:schemeClr val="accent4">
                    <a:lumMod val="10000"/>
                  </a:schemeClr>
                </a:solidFill>
                <a:latin typeface="Courier New" panose="02070309020205020404" pitchFamily="49" charset="0"/>
                <a:cs typeface="Courier New" panose="02070309020205020404" pitchFamily="49" charset="0"/>
              </a:rPr>
              <a:t>));</a:t>
            </a:r>
          </a:p>
          <a:p>
            <a:pPr>
              <a:spcAft>
                <a:spcPts val="600"/>
              </a:spcAft>
            </a:pPr>
            <a:r>
              <a:rPr lang="ru-RU" sz="4000" dirty="0">
                <a:cs typeface="Times New Roman" panose="02020603050405020304" pitchFamily="18" charset="0"/>
              </a:rPr>
              <a:t>Если рисунок не доступен, метод </a:t>
            </a:r>
            <a:r>
              <a:rPr lang="en-US" sz="4000" i="1" dirty="0">
                <a:solidFill>
                  <a:schemeClr val="accent4">
                    <a:lumMod val="10000"/>
                  </a:schemeClr>
                </a:solidFill>
                <a:latin typeface="Courier New" panose="02070309020205020404" pitchFamily="49" charset="0"/>
                <a:cs typeface="Courier New" panose="02070309020205020404" pitchFamily="49" charset="0"/>
              </a:rPr>
              <a:t>read()</a:t>
            </a:r>
            <a:r>
              <a:rPr lang="en-US" sz="4000" i="1" dirty="0">
                <a:cs typeface="Times New Roman" panose="02020603050405020304" pitchFamily="18" charset="0"/>
              </a:rPr>
              <a:t> </a:t>
            </a:r>
            <a:r>
              <a:rPr lang="ru-RU" sz="4000" dirty="0">
                <a:cs typeface="Times New Roman" panose="02020603050405020304" pitchFamily="18" charset="0"/>
              </a:rPr>
              <a:t>генерирует исключение </a:t>
            </a:r>
            <a:r>
              <a:rPr lang="en-US" sz="4000" i="1" dirty="0" err="1">
                <a:solidFill>
                  <a:schemeClr val="accent4">
                    <a:lumMod val="10000"/>
                  </a:schemeClr>
                </a:solidFill>
                <a:latin typeface="Courier New" panose="02070309020205020404" pitchFamily="49" charset="0"/>
                <a:cs typeface="Courier New" panose="02070309020205020404" pitchFamily="49" charset="0"/>
              </a:rPr>
              <a:t>IOException</a:t>
            </a:r>
            <a:endParaRPr lang="en-US" sz="4000" i="1" dirty="0">
              <a:solidFill>
                <a:schemeClr val="accent4">
                  <a:lumMod val="10000"/>
                </a:schemeClr>
              </a:solidFill>
              <a:latin typeface="Courier New" panose="02070309020205020404" pitchFamily="49" charset="0"/>
              <a:cs typeface="Courier New" panose="02070309020205020404" pitchFamily="49" charset="0"/>
            </a:endParaRPr>
          </a:p>
          <a:p>
            <a:pPr>
              <a:spcAft>
                <a:spcPts val="600"/>
              </a:spcAft>
            </a:pPr>
            <a:r>
              <a:rPr lang="ru-RU" sz="4000" dirty="0">
                <a:cs typeface="Times New Roman" panose="02020603050405020304" pitchFamily="18" charset="0"/>
              </a:rPr>
              <a:t>Объект рисунка можно отобразить на экране с помощью метода</a:t>
            </a:r>
            <a:r>
              <a:rPr lang="ru-RU" sz="4000" dirty="0">
                <a:solidFill>
                  <a:schemeClr val="accent4">
                    <a:lumMod val="10000"/>
                  </a:schemeClr>
                </a:solidFill>
                <a:latin typeface="Courier New" panose="02070309020205020404" pitchFamily="49" charset="0"/>
                <a:cs typeface="Courier New" panose="02070309020205020404" pitchFamily="49" charset="0"/>
              </a:rPr>
              <a:t> </a:t>
            </a:r>
            <a:r>
              <a:rPr lang="en-US" sz="4000" i="1" dirty="0" err="1">
                <a:solidFill>
                  <a:schemeClr val="accent4">
                    <a:lumMod val="10000"/>
                  </a:schemeClr>
                </a:solidFill>
                <a:latin typeface="Courier New" panose="02070309020205020404" pitchFamily="49" charset="0"/>
                <a:cs typeface="Courier New" panose="02070309020205020404" pitchFamily="49" charset="0"/>
              </a:rPr>
              <a:t>drawImage</a:t>
            </a:r>
            <a:r>
              <a:rPr lang="en-US" sz="4000" i="1" dirty="0">
                <a:solidFill>
                  <a:schemeClr val="accent4">
                    <a:lumMod val="10000"/>
                  </a:schemeClr>
                </a:solidFill>
                <a:latin typeface="Courier New" panose="02070309020205020404" pitchFamily="49" charset="0"/>
                <a:cs typeface="Courier New" panose="02070309020205020404" pitchFamily="49" charset="0"/>
              </a:rPr>
              <a:t>()</a:t>
            </a:r>
            <a:r>
              <a:rPr lang="en-US" sz="4000" i="1" dirty="0">
                <a:cs typeface="Times New Roman" panose="02020603050405020304" pitchFamily="18" charset="0"/>
              </a:rPr>
              <a:t> </a:t>
            </a:r>
            <a:r>
              <a:rPr lang="ru-RU" sz="4000" dirty="0">
                <a:cs typeface="Times New Roman" panose="02020603050405020304" pitchFamily="18" charset="0"/>
              </a:rPr>
              <a:t>класса </a:t>
            </a:r>
            <a:r>
              <a:rPr lang="en-US" sz="4000" i="1" dirty="0">
                <a:solidFill>
                  <a:schemeClr val="accent4">
                    <a:lumMod val="10000"/>
                  </a:schemeClr>
                </a:solidFill>
                <a:latin typeface="Courier New" panose="02070309020205020404" pitchFamily="49" charset="0"/>
                <a:cs typeface="Courier New" panose="02070309020205020404" pitchFamily="49" charset="0"/>
              </a:rPr>
              <a:t>Graphics</a:t>
            </a:r>
            <a:endParaRPr lang="ru-RU" sz="4000" i="1" dirty="0">
              <a:solidFill>
                <a:schemeClr val="accent4">
                  <a:lumMod val="10000"/>
                </a:schemeClr>
              </a:solidFill>
              <a:latin typeface="Courier New" panose="02070309020205020404" pitchFamily="49" charset="0"/>
              <a:cs typeface="Courier New" panose="02070309020205020404" pitchFamily="49" charset="0"/>
            </a:endParaRPr>
          </a:p>
          <a:p>
            <a:pPr marL="0" indent="0" algn="just">
              <a:spcAft>
                <a:spcPts val="600"/>
              </a:spcAft>
              <a:buNone/>
            </a:pPr>
            <a:r>
              <a:rPr lang="en-US" sz="4000" dirty="0">
                <a:solidFill>
                  <a:schemeClr val="accent4">
                    <a:lumMod val="10000"/>
                  </a:schemeClr>
                </a:solidFill>
                <a:latin typeface="Courier New" panose="02070309020205020404" pitchFamily="49" charset="0"/>
                <a:cs typeface="Courier New" panose="02070309020205020404" pitchFamily="49" charset="0"/>
              </a:rPr>
              <a:t>public void </a:t>
            </a:r>
            <a:r>
              <a:rPr lang="en-US" sz="4000" dirty="0" err="1">
                <a:solidFill>
                  <a:schemeClr val="accent4">
                    <a:lumMod val="10000"/>
                  </a:schemeClr>
                </a:solidFill>
                <a:latin typeface="Courier New" panose="02070309020205020404" pitchFamily="49" charset="0"/>
                <a:cs typeface="Courier New" panose="02070309020205020404" pitchFamily="49" charset="0"/>
              </a:rPr>
              <a:t>paintComponent</a:t>
            </a:r>
            <a:r>
              <a:rPr lang="en-US" sz="4000" dirty="0">
                <a:solidFill>
                  <a:schemeClr val="accent4">
                    <a:lumMod val="10000"/>
                  </a:schemeClr>
                </a:solidFill>
                <a:latin typeface="Courier New" panose="02070309020205020404" pitchFamily="49" charset="0"/>
                <a:cs typeface="Courier New" panose="02070309020205020404" pitchFamily="49" charset="0"/>
              </a:rPr>
              <a:t>(Graphics g)</a:t>
            </a:r>
          </a:p>
          <a:p>
            <a:pPr marL="0" indent="0" algn="just">
              <a:spcAft>
                <a:spcPts val="600"/>
              </a:spcAft>
              <a:buNone/>
            </a:pPr>
            <a:r>
              <a:rPr lang="en-US" sz="4000" dirty="0">
                <a:solidFill>
                  <a:schemeClr val="accent4">
                    <a:lumMod val="10000"/>
                  </a:schemeClr>
                </a:solidFill>
                <a:latin typeface="Courier New" panose="02070309020205020404" pitchFamily="49" charset="0"/>
                <a:cs typeface="Courier New" panose="02070309020205020404" pitchFamily="49" charset="0"/>
              </a:rPr>
              <a:t>{</a:t>
            </a:r>
            <a:r>
              <a:rPr lang="en-US" sz="4000" dirty="0" err="1">
                <a:solidFill>
                  <a:schemeClr val="accent4">
                    <a:lumMod val="10000"/>
                  </a:schemeClr>
                </a:solidFill>
                <a:latin typeface="Courier New" panose="02070309020205020404" pitchFamily="49" charset="0"/>
                <a:cs typeface="Courier New" panose="02070309020205020404" pitchFamily="49" charset="0"/>
              </a:rPr>
              <a:t>g.drawImage</a:t>
            </a:r>
            <a:r>
              <a:rPr lang="en-US" sz="4000" dirty="0">
                <a:solidFill>
                  <a:schemeClr val="accent4">
                    <a:lumMod val="10000"/>
                  </a:schemeClr>
                </a:solidFill>
                <a:latin typeface="Courier New" panose="02070309020205020404" pitchFamily="49" charset="0"/>
                <a:cs typeface="Courier New" panose="02070309020205020404" pitchFamily="49" charset="0"/>
              </a:rPr>
              <a:t>(image, x, y, null);}</a:t>
            </a:r>
            <a:endParaRPr lang="ru-RU" sz="4000" dirty="0">
              <a:cs typeface="Times New Roman" panose="02020603050405020304" pitchFamily="18" charset="0"/>
            </a:endParaRPr>
          </a:p>
          <a:p>
            <a:endParaRPr lang="ru-RU" dirty="0"/>
          </a:p>
        </p:txBody>
      </p:sp>
      <p:pic>
        <p:nvPicPr>
          <p:cNvPr id="5" name="Picture 4">
            <a:extLst>
              <a:ext uri="{FF2B5EF4-FFF2-40B4-BE49-F238E27FC236}">
                <a16:creationId xmlns:a16="http://schemas.microsoft.com/office/drawing/2014/main" id="{7919658F-AD5D-4A82-BA20-6A71DBEC414B}"/>
              </a:ext>
            </a:extLst>
          </p:cNvPr>
          <p:cNvPicPr>
            <a:picLocks noChangeAspect="1"/>
          </p:cNvPicPr>
          <p:nvPr/>
        </p:nvPicPr>
        <p:blipFill rotWithShape="1">
          <a:blip r:embed="rId2"/>
          <a:srcRect r="54233" b="8370"/>
          <a:stretch/>
        </p:blipFill>
        <p:spPr>
          <a:xfrm>
            <a:off x="8809264" y="2900804"/>
            <a:ext cx="2824843" cy="2539774"/>
          </a:xfrm>
          <a:prstGeom prst="rect">
            <a:avLst/>
          </a:prstGeom>
        </p:spPr>
      </p:pic>
    </p:spTree>
    <p:extLst>
      <p:ext uri="{BB962C8B-B14F-4D97-AF65-F5344CB8AC3E}">
        <p14:creationId xmlns:p14="http://schemas.microsoft.com/office/powerpoint/2010/main" val="2836889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07A9-076A-4046-B952-030AA627AF40}"/>
              </a:ext>
            </a:extLst>
          </p:cNvPr>
          <p:cNvSpPr>
            <a:spLocks noGrp="1"/>
          </p:cNvSpPr>
          <p:nvPr>
            <p:ph type="title"/>
          </p:nvPr>
        </p:nvSpPr>
        <p:spPr/>
        <p:txBody>
          <a:bodyPr/>
          <a:lstStyle/>
          <a:p>
            <a:r>
              <a:rPr lang="ru-RU" dirty="0"/>
              <a:t>Класс </a:t>
            </a:r>
            <a:r>
              <a:rPr lang="en-US" dirty="0"/>
              <a:t>Color</a:t>
            </a:r>
            <a:endParaRPr lang="ru-RU" dirty="0"/>
          </a:p>
        </p:txBody>
      </p:sp>
      <p:sp>
        <p:nvSpPr>
          <p:cNvPr id="3" name="Content Placeholder 2">
            <a:extLst>
              <a:ext uri="{FF2B5EF4-FFF2-40B4-BE49-F238E27FC236}">
                <a16:creationId xmlns:a16="http://schemas.microsoft.com/office/drawing/2014/main" id="{BAD89904-6740-419B-B648-ECA62F3C39A2}"/>
              </a:ext>
            </a:extLst>
          </p:cNvPr>
          <p:cNvSpPr>
            <a:spLocks noGrp="1"/>
          </p:cNvSpPr>
          <p:nvPr>
            <p:ph sz="half" idx="1"/>
          </p:nvPr>
        </p:nvSpPr>
        <p:spPr>
          <a:xfrm>
            <a:off x="609600" y="1600201"/>
            <a:ext cx="10972800" cy="2635623"/>
          </a:xfrm>
        </p:spPr>
        <p:txBody>
          <a:bodyPr>
            <a:normAutofit fontScale="70000" lnSpcReduction="20000"/>
          </a:bodyPr>
          <a:lstStyle/>
          <a:p>
            <a:r>
              <a:rPr lang="ru-RU" sz="4000" dirty="0">
                <a:cs typeface="Times New Roman" panose="02020603050405020304" pitchFamily="18" charset="0"/>
              </a:rPr>
              <a:t>Класс </a:t>
            </a:r>
            <a:r>
              <a:rPr lang="en-US" sz="4000" dirty="0" err="1"/>
              <a:t>java.awt</a:t>
            </a:r>
            <a:r>
              <a:rPr lang="en-US" sz="4000" dirty="0"/>
              <a:t>.</a:t>
            </a:r>
            <a:r>
              <a:rPr lang="ru-RU" sz="4000" dirty="0"/>
              <a:t> </a:t>
            </a:r>
            <a:r>
              <a:rPr lang="ru-RU" sz="4000" dirty="0" err="1"/>
              <a:t>Color</a:t>
            </a:r>
            <a:r>
              <a:rPr lang="ru-RU" sz="4000" dirty="0"/>
              <a:t> создает цвет, используя заданные значения RGBA (</a:t>
            </a:r>
            <a:r>
              <a:rPr lang="en-US" sz="4000" dirty="0"/>
              <a:t>red, green, blue, alpha) </a:t>
            </a:r>
            <a:r>
              <a:rPr lang="ru-RU" sz="4000" dirty="0"/>
              <a:t>или с использованием значения HSB</a:t>
            </a:r>
            <a:r>
              <a:rPr lang="en-US" sz="4000" dirty="0"/>
              <a:t> (hue, saturation, brightness)</a:t>
            </a:r>
          </a:p>
          <a:p>
            <a:r>
              <a:rPr lang="ru-RU" sz="4000" dirty="0">
                <a:cs typeface="Times New Roman" panose="02020603050405020304" pitchFamily="18" charset="0"/>
              </a:rPr>
              <a:t>Значение для отдельных компонентов RGBA колеблется от 0 до 255 или от 0,0 до 0,1. Значение альфа определяет непрозрачность цвета, где 0 или 0.0 означает полностью прозрачный, а 255 или 1.0 означает непрозрачный.</a:t>
            </a:r>
          </a:p>
        </p:txBody>
      </p:sp>
      <p:pic>
        <p:nvPicPr>
          <p:cNvPr id="4" name="Picture 3">
            <a:extLst>
              <a:ext uri="{FF2B5EF4-FFF2-40B4-BE49-F238E27FC236}">
                <a16:creationId xmlns:a16="http://schemas.microsoft.com/office/drawing/2014/main" id="{092D5356-73EA-4EED-85C7-3C8CFE41EF22}"/>
              </a:ext>
            </a:extLst>
          </p:cNvPr>
          <p:cNvPicPr>
            <a:picLocks noChangeAspect="1"/>
          </p:cNvPicPr>
          <p:nvPr/>
        </p:nvPicPr>
        <p:blipFill>
          <a:blip r:embed="rId3"/>
          <a:stretch>
            <a:fillRect/>
          </a:stretch>
        </p:blipFill>
        <p:spPr>
          <a:xfrm>
            <a:off x="6096000" y="3939295"/>
            <a:ext cx="4850275" cy="2459981"/>
          </a:xfrm>
          <a:prstGeom prst="rect">
            <a:avLst/>
          </a:prstGeom>
        </p:spPr>
      </p:pic>
    </p:spTree>
    <p:extLst>
      <p:ext uri="{BB962C8B-B14F-4D97-AF65-F5344CB8AC3E}">
        <p14:creationId xmlns:p14="http://schemas.microsoft.com/office/powerpoint/2010/main" val="3419608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Класс </a:t>
            </a:r>
            <a:r>
              <a:rPr lang="en-US" dirty="0"/>
              <a:t>Color</a:t>
            </a:r>
            <a:endParaRPr lang="ru-RU" dirty="0"/>
          </a:p>
        </p:txBody>
      </p:sp>
      <p:sp>
        <p:nvSpPr>
          <p:cNvPr id="3" name="Content Placeholder 2">
            <a:extLst>
              <a:ext uri="{FF2B5EF4-FFF2-40B4-BE49-F238E27FC236}">
                <a16:creationId xmlns:a16="http://schemas.microsoft.com/office/drawing/2014/main" id="{406C9D00-1257-4E5E-8AF8-C2F2C2346E65}"/>
              </a:ext>
            </a:extLst>
          </p:cNvPr>
          <p:cNvSpPr>
            <a:spLocks noGrp="1"/>
          </p:cNvSpPr>
          <p:nvPr>
            <p:ph idx="1"/>
          </p:nvPr>
        </p:nvSpPr>
        <p:spPr>
          <a:xfrm>
            <a:off x="609600" y="1809739"/>
            <a:ext cx="10972800" cy="4451362"/>
          </a:xfrm>
        </p:spPr>
        <p:txBody>
          <a:bodyPr>
            <a:normAutofit fontScale="47500" lnSpcReduction="20000"/>
          </a:bodyPr>
          <a:lstStyle/>
          <a:p>
            <a:pPr marL="0" indent="0">
              <a:buNone/>
            </a:pPr>
            <a:r>
              <a:rPr lang="ru-RU" dirty="0"/>
              <a:t>Конструкторы класса </a:t>
            </a:r>
            <a:r>
              <a:rPr lang="en-US" dirty="0"/>
              <a:t>Color:</a:t>
            </a:r>
          </a:p>
          <a:p>
            <a:r>
              <a:rPr lang="en-US" i="1" dirty="0">
                <a:solidFill>
                  <a:schemeClr val="accent4">
                    <a:lumMod val="10000"/>
                  </a:schemeClr>
                </a:solidFill>
                <a:latin typeface="Courier New" panose="02070309020205020404" pitchFamily="49" charset="0"/>
                <a:cs typeface="Courier New" panose="02070309020205020404" pitchFamily="49" charset="0"/>
              </a:rPr>
              <a:t>Color (float r, float g, float b)</a:t>
            </a:r>
            <a:r>
              <a:rPr lang="en-US" dirty="0"/>
              <a:t> : </a:t>
            </a:r>
            <a:r>
              <a:rPr lang="ru-RU" dirty="0"/>
              <a:t>создает непрозрачный цвет с указанными компонентами </a:t>
            </a:r>
            <a:r>
              <a:rPr lang="en-US" dirty="0"/>
              <a:t>RGB (</a:t>
            </a:r>
            <a:r>
              <a:rPr lang="ru-RU" dirty="0"/>
              <a:t>значения находятся в диапазоне 0.0 — 0.1)</a:t>
            </a:r>
          </a:p>
          <a:p>
            <a:r>
              <a:rPr lang="en-US" i="1" dirty="0">
                <a:solidFill>
                  <a:schemeClr val="accent4">
                    <a:lumMod val="10000"/>
                  </a:schemeClr>
                </a:solidFill>
                <a:latin typeface="Courier New" panose="02070309020205020404" pitchFamily="49" charset="0"/>
                <a:cs typeface="Courier New" panose="02070309020205020404" pitchFamily="49" charset="0"/>
              </a:rPr>
              <a:t>Color (float r, float g, float b, float a)</a:t>
            </a:r>
            <a:r>
              <a:rPr lang="en-US" dirty="0"/>
              <a:t> : </a:t>
            </a:r>
            <a:r>
              <a:rPr lang="ru-RU" dirty="0"/>
              <a:t>создает цвет с указанными компонентами </a:t>
            </a:r>
            <a:r>
              <a:rPr lang="en-US" dirty="0"/>
              <a:t>RGBA (</a:t>
            </a:r>
            <a:r>
              <a:rPr lang="ru-RU" dirty="0"/>
              <a:t>значения находятся в диапазоне 0,0 — 0,1)</a:t>
            </a:r>
          </a:p>
          <a:p>
            <a:r>
              <a:rPr lang="en-US" i="1" dirty="0">
                <a:solidFill>
                  <a:schemeClr val="accent4">
                    <a:lumMod val="10000"/>
                  </a:schemeClr>
                </a:solidFill>
                <a:latin typeface="Courier New" panose="02070309020205020404" pitchFamily="49" charset="0"/>
                <a:cs typeface="Courier New" panose="02070309020205020404" pitchFamily="49" charset="0"/>
              </a:rPr>
              <a:t>Color (int r, int g, int b) </a:t>
            </a:r>
            <a:r>
              <a:rPr lang="en-US" dirty="0"/>
              <a:t>: </a:t>
            </a:r>
            <a:r>
              <a:rPr lang="ru-RU" dirty="0"/>
              <a:t>создает непрозрачный цвет с указанными компонентами </a:t>
            </a:r>
            <a:r>
              <a:rPr lang="en-US" dirty="0"/>
              <a:t>RGB (</a:t>
            </a:r>
            <a:r>
              <a:rPr lang="ru-RU" dirty="0"/>
              <a:t>значения находятся в диапазоне 0 — 255)</a:t>
            </a:r>
          </a:p>
          <a:p>
            <a:r>
              <a:rPr lang="en-US" i="1" dirty="0">
                <a:solidFill>
                  <a:schemeClr val="accent4">
                    <a:lumMod val="10000"/>
                  </a:schemeClr>
                </a:solidFill>
                <a:latin typeface="Courier New" panose="02070309020205020404" pitchFamily="49" charset="0"/>
                <a:cs typeface="Courier New" panose="02070309020205020404" pitchFamily="49" charset="0"/>
              </a:rPr>
              <a:t>Color (int r, int g, int b, int a) </a:t>
            </a:r>
            <a:r>
              <a:rPr lang="en-US" dirty="0"/>
              <a:t>: </a:t>
            </a:r>
            <a:r>
              <a:rPr lang="ru-RU" dirty="0"/>
              <a:t>создает цвет с указанными компонентами </a:t>
            </a:r>
            <a:r>
              <a:rPr lang="en-US" dirty="0"/>
              <a:t>RGBA (</a:t>
            </a:r>
            <a:r>
              <a:rPr lang="ru-RU" dirty="0"/>
              <a:t>значения находятся в диапазоне 0 — 255)</a:t>
            </a:r>
          </a:p>
          <a:p>
            <a:r>
              <a:rPr lang="ru-RU" dirty="0"/>
              <a:t>Метод </a:t>
            </a:r>
            <a:r>
              <a:rPr lang="en-US" i="1" dirty="0" err="1">
                <a:solidFill>
                  <a:schemeClr val="accent4">
                    <a:lumMod val="10000"/>
                  </a:schemeClr>
                </a:solidFill>
                <a:latin typeface="Courier New" panose="02070309020205020404" pitchFamily="49" charset="0"/>
                <a:cs typeface="Courier New" panose="02070309020205020404" pitchFamily="49" charset="0"/>
              </a:rPr>
              <a:t>Color.getHSBColor</a:t>
            </a:r>
            <a:r>
              <a:rPr lang="en-US" i="1" dirty="0">
                <a:solidFill>
                  <a:schemeClr val="accent4">
                    <a:lumMod val="10000"/>
                  </a:schemeClr>
                </a:solidFill>
                <a:latin typeface="Courier New" panose="02070309020205020404" pitchFamily="49" charset="0"/>
                <a:cs typeface="Courier New" panose="02070309020205020404" pitchFamily="49" charset="0"/>
              </a:rPr>
              <a:t>(float h, float s, float b) </a:t>
            </a:r>
            <a:r>
              <a:rPr lang="ru-RU" dirty="0"/>
              <a:t>используется для создания объекта </a:t>
            </a:r>
            <a:r>
              <a:rPr lang="en-US" dirty="0"/>
              <a:t>Color </a:t>
            </a:r>
            <a:r>
              <a:rPr lang="ru-RU" dirty="0"/>
              <a:t>из </a:t>
            </a:r>
            <a:r>
              <a:rPr lang="en-US" dirty="0"/>
              <a:t>HSB </a:t>
            </a:r>
            <a:r>
              <a:rPr lang="ru-RU" dirty="0"/>
              <a:t>значений</a:t>
            </a:r>
            <a:endParaRPr lang="en-US" dirty="0"/>
          </a:p>
          <a:p>
            <a:pPr marL="0" indent="0">
              <a:buNone/>
            </a:pPr>
            <a:endParaRPr lang="ru-RU" dirty="0"/>
          </a:p>
          <a:p>
            <a:pPr marL="0" indent="0">
              <a:buNone/>
            </a:pPr>
            <a:r>
              <a:rPr lang="en-US" i="1" dirty="0">
                <a:solidFill>
                  <a:schemeClr val="accent4">
                    <a:lumMod val="10000"/>
                  </a:schemeClr>
                </a:solidFill>
                <a:latin typeface="Courier New" panose="02070309020205020404" pitchFamily="49" charset="0"/>
                <a:cs typeface="Courier New" panose="02070309020205020404" pitchFamily="49" charset="0"/>
              </a:rPr>
              <a:t>Color c = </a:t>
            </a:r>
            <a:r>
              <a:rPr lang="en-US" i="1" dirty="0" err="1">
                <a:solidFill>
                  <a:schemeClr val="accent4">
                    <a:lumMod val="10000"/>
                  </a:schemeClr>
                </a:solidFill>
                <a:latin typeface="Courier New" panose="02070309020205020404" pitchFamily="49" charset="0"/>
                <a:cs typeface="Courier New" panose="02070309020205020404" pitchFamily="49" charset="0"/>
              </a:rPr>
              <a:t>Color.yellow</a:t>
            </a:r>
            <a:r>
              <a:rPr lang="en-US" i="1" dirty="0">
                <a:solidFill>
                  <a:schemeClr val="accent4">
                    <a:lumMod val="10000"/>
                  </a:schemeClr>
                </a:solidFill>
                <a:latin typeface="Courier New" panose="02070309020205020404" pitchFamily="49" charset="0"/>
                <a:cs typeface="Courier New" panose="02070309020205020404" pitchFamily="49" charset="0"/>
              </a:rPr>
              <a:t>;</a:t>
            </a:r>
          </a:p>
          <a:p>
            <a:pPr marL="0" indent="0">
              <a:buNone/>
            </a:pPr>
            <a:r>
              <a:rPr lang="en-US" i="1" dirty="0">
                <a:solidFill>
                  <a:schemeClr val="accent4">
                    <a:lumMod val="10000"/>
                  </a:schemeClr>
                </a:solidFill>
                <a:latin typeface="Courier New" panose="02070309020205020404" pitchFamily="49" charset="0"/>
                <a:cs typeface="Courier New" panose="02070309020205020404" pitchFamily="49" charset="0"/>
              </a:rPr>
              <a:t>Color c = new Color(127,127,127);</a:t>
            </a:r>
            <a:endParaRPr lang="ru-RU" i="1" dirty="0">
              <a:solidFill>
                <a:schemeClr val="accent4">
                  <a:lumMod val="10000"/>
                </a:schemeClr>
              </a:solidFill>
              <a:latin typeface="Courier New" panose="02070309020205020404" pitchFamily="49" charset="0"/>
              <a:cs typeface="Courier New" panose="02070309020205020404" pitchFamily="49" charset="0"/>
            </a:endParaRPr>
          </a:p>
          <a:p>
            <a:pPr marL="0" indent="0">
              <a:buNone/>
            </a:pPr>
            <a:r>
              <a:rPr lang="en-US" i="1" dirty="0">
                <a:solidFill>
                  <a:schemeClr val="accent4">
                    <a:lumMod val="10000"/>
                  </a:schemeClr>
                </a:solidFill>
                <a:latin typeface="Courier New" panose="02070309020205020404" pitchFamily="49" charset="0"/>
                <a:cs typeface="Courier New" panose="02070309020205020404" pitchFamily="49" charset="0"/>
              </a:rPr>
              <a:t>Color </a:t>
            </a:r>
            <a:r>
              <a:rPr lang="en-US" i="1" dirty="0" err="1">
                <a:solidFill>
                  <a:schemeClr val="accent4">
                    <a:lumMod val="10000"/>
                  </a:schemeClr>
                </a:solidFill>
                <a:latin typeface="Courier New" panose="02070309020205020404" pitchFamily="49" charset="0"/>
                <a:cs typeface="Courier New" panose="02070309020205020404" pitchFamily="49" charset="0"/>
              </a:rPr>
              <a:t>color</a:t>
            </a:r>
            <a:r>
              <a:rPr lang="en-US" i="1" dirty="0">
                <a:solidFill>
                  <a:schemeClr val="accent4">
                    <a:lumMod val="10000"/>
                  </a:schemeClr>
                </a:solidFill>
                <a:latin typeface="Courier New" panose="02070309020205020404" pitchFamily="49" charset="0"/>
                <a:cs typeface="Courier New" panose="02070309020205020404" pitchFamily="49" charset="0"/>
              </a:rPr>
              <a:t> = </a:t>
            </a:r>
            <a:r>
              <a:rPr lang="en-US" i="1" dirty="0" err="1">
                <a:solidFill>
                  <a:schemeClr val="accent4">
                    <a:lumMod val="10000"/>
                  </a:schemeClr>
                </a:solidFill>
                <a:latin typeface="Courier New" panose="02070309020205020404" pitchFamily="49" charset="0"/>
                <a:cs typeface="Courier New" panose="02070309020205020404" pitchFamily="49" charset="0"/>
              </a:rPr>
              <a:t>Color.getHSBColor</a:t>
            </a:r>
            <a:r>
              <a:rPr lang="en-US" i="1" dirty="0">
                <a:solidFill>
                  <a:schemeClr val="accent4">
                    <a:lumMod val="10000"/>
                  </a:schemeClr>
                </a:solidFill>
                <a:latin typeface="Courier New" panose="02070309020205020404" pitchFamily="49" charset="0"/>
                <a:cs typeface="Courier New" panose="02070309020205020404" pitchFamily="49" charset="0"/>
              </a:rPr>
              <a:t>(0.33f, 1.0f, 0.8f);</a:t>
            </a:r>
          </a:p>
        </p:txBody>
      </p:sp>
      <p:sp>
        <p:nvSpPr>
          <p:cNvPr id="4" name="Номер слайда 3"/>
          <p:cNvSpPr>
            <a:spLocks noGrp="1"/>
          </p:cNvSpPr>
          <p:nvPr>
            <p:ph type="sldNum" sz="quarter" idx="12"/>
          </p:nvPr>
        </p:nvSpPr>
        <p:spPr/>
        <p:txBody>
          <a:bodyPr/>
          <a:lstStyle/>
          <a:p>
            <a:fld id="{2A69F336-2DD4-44CE-8205-AE3F61CEB7C8}" type="slidenum">
              <a:rPr lang="ru-RU" smtClean="0"/>
              <a:t>36</a:t>
            </a:fld>
            <a:endParaRPr lang="ru-RU"/>
          </a:p>
        </p:txBody>
      </p:sp>
    </p:spTree>
    <p:extLst>
      <p:ext uri="{BB962C8B-B14F-4D97-AF65-F5344CB8AC3E}">
        <p14:creationId xmlns:p14="http://schemas.microsoft.com/office/powerpoint/2010/main" val="23252982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07A9-076A-4046-B952-030AA627AF40}"/>
              </a:ext>
            </a:extLst>
          </p:cNvPr>
          <p:cNvSpPr>
            <a:spLocks noGrp="1"/>
          </p:cNvSpPr>
          <p:nvPr>
            <p:ph type="title"/>
          </p:nvPr>
        </p:nvSpPr>
        <p:spPr/>
        <p:txBody>
          <a:bodyPr/>
          <a:lstStyle/>
          <a:p>
            <a:r>
              <a:rPr lang="ru-RU" dirty="0"/>
              <a:t>Класс </a:t>
            </a:r>
            <a:r>
              <a:rPr lang="en-US" dirty="0"/>
              <a:t>Font</a:t>
            </a:r>
            <a:endParaRPr lang="ru-RU" dirty="0"/>
          </a:p>
        </p:txBody>
      </p:sp>
      <p:grpSp>
        <p:nvGrpSpPr>
          <p:cNvPr id="6" name="Group 5">
            <a:extLst>
              <a:ext uri="{FF2B5EF4-FFF2-40B4-BE49-F238E27FC236}">
                <a16:creationId xmlns:a16="http://schemas.microsoft.com/office/drawing/2014/main" id="{BBB7C3EB-141D-42A7-894C-43FEC73595F7}"/>
              </a:ext>
            </a:extLst>
          </p:cNvPr>
          <p:cNvGrpSpPr/>
          <p:nvPr/>
        </p:nvGrpSpPr>
        <p:grpSpPr>
          <a:xfrm>
            <a:off x="239487" y="1893150"/>
            <a:ext cx="11713026" cy="4653149"/>
            <a:chOff x="3132451" y="1969350"/>
            <a:chExt cx="11713026" cy="4653149"/>
          </a:xfrm>
        </p:grpSpPr>
        <p:sp>
          <p:nvSpPr>
            <p:cNvPr id="7" name="TextBox 6">
              <a:extLst>
                <a:ext uri="{FF2B5EF4-FFF2-40B4-BE49-F238E27FC236}">
                  <a16:creationId xmlns:a16="http://schemas.microsoft.com/office/drawing/2014/main" id="{1093C342-23B3-4131-932A-E22AD40D0D9D}"/>
                </a:ext>
              </a:extLst>
            </p:cNvPr>
            <p:cNvSpPr txBox="1"/>
            <p:nvPr/>
          </p:nvSpPr>
          <p:spPr>
            <a:xfrm>
              <a:off x="7699941" y="1969350"/>
              <a:ext cx="2590800" cy="369332"/>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ru-RU" dirty="0"/>
                <a:t>Шрифты в </a:t>
              </a:r>
              <a:r>
                <a:rPr lang="en-US" dirty="0"/>
                <a:t>Java</a:t>
              </a:r>
              <a:endParaRPr lang="ru-RU" dirty="0"/>
            </a:p>
          </p:txBody>
        </p:sp>
        <p:sp>
          <p:nvSpPr>
            <p:cNvPr id="8" name="TextBox 7">
              <a:extLst>
                <a:ext uri="{FF2B5EF4-FFF2-40B4-BE49-F238E27FC236}">
                  <a16:creationId xmlns:a16="http://schemas.microsoft.com/office/drawing/2014/main" id="{838226CE-3F50-432F-9163-6ADB1F48436F}"/>
                </a:ext>
              </a:extLst>
            </p:cNvPr>
            <p:cNvSpPr txBox="1"/>
            <p:nvPr/>
          </p:nvSpPr>
          <p:spPr>
            <a:xfrm>
              <a:off x="9071542" y="2867625"/>
              <a:ext cx="5773935" cy="3754874"/>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ru-RU" sz="1400" b="1" dirty="0"/>
                <a:t>Логические</a:t>
              </a:r>
              <a:r>
                <a:rPr lang="ru-RU" sz="1400" dirty="0"/>
                <a:t>:</a:t>
              </a:r>
            </a:p>
            <a:p>
              <a:pPr marL="285750" indent="-285750">
                <a:buFont typeface="Arial" panose="020B0604020202020204" pitchFamily="34" charset="0"/>
                <a:buChar char="•"/>
              </a:pPr>
              <a:r>
                <a:rPr lang="ru-RU" sz="1400" dirty="0"/>
                <a:t>Это общие имена, которые </a:t>
              </a:r>
              <a:r>
                <a:rPr lang="ru-RU" sz="1400" dirty="0" err="1"/>
                <a:t>Java</a:t>
              </a:r>
              <a:r>
                <a:rPr lang="ru-RU" sz="1400" dirty="0"/>
                <a:t> использует для представления различных типов шрифтов. </a:t>
              </a:r>
            </a:p>
            <a:p>
              <a:pPr marL="285750" indent="-285750">
                <a:buFont typeface="Arial" panose="020B0604020202020204" pitchFamily="34" charset="0"/>
                <a:buChar char="•"/>
              </a:pPr>
              <a:r>
                <a:rPr lang="ru-RU" sz="1400" dirty="0"/>
                <a:t>Они не указывают на конкретный шрифт, а скорее на определенный стиль или тип шрифта. </a:t>
              </a:r>
            </a:p>
            <a:p>
              <a:pPr marL="285750" indent="-285750">
                <a:buFont typeface="Arial" panose="020B0604020202020204" pitchFamily="34" charset="0"/>
                <a:buChar char="•"/>
              </a:pPr>
              <a:r>
                <a:rPr lang="ru-RU" sz="1400" dirty="0" err="1"/>
                <a:t>Java</a:t>
              </a:r>
              <a:r>
                <a:rPr lang="ru-RU" sz="1400" dirty="0"/>
                <a:t> сопоставляет логические имена с физическими шрифтами в зависимости от платформы. </a:t>
              </a:r>
            </a:p>
            <a:p>
              <a:pPr marL="285750" indent="-285750">
                <a:buFont typeface="Arial" panose="020B0604020202020204" pitchFamily="34" charset="0"/>
                <a:buChar char="•"/>
              </a:pPr>
              <a:r>
                <a:rPr lang="ru-RU" sz="1400" dirty="0"/>
                <a:t>Существуют следующие логические имена:</a:t>
              </a:r>
            </a:p>
            <a:p>
              <a:pPr marL="742950" lvl="1" indent="-285750">
                <a:buFont typeface="Arial" panose="020B0604020202020204" pitchFamily="34" charset="0"/>
                <a:buChar char="•"/>
              </a:pPr>
              <a:r>
                <a:rPr lang="ru-RU" sz="1400" dirty="0" err="1"/>
                <a:t>Serif</a:t>
              </a:r>
              <a:r>
                <a:rPr lang="ru-RU" sz="1400" dirty="0"/>
                <a:t>: Шрифт с засечками, например, </a:t>
              </a:r>
              <a:r>
                <a:rPr lang="ru-RU" sz="1400" dirty="0" err="1"/>
                <a:t>Times</a:t>
              </a:r>
              <a:r>
                <a:rPr lang="ru-RU" sz="1400" dirty="0"/>
                <a:t> </a:t>
              </a:r>
              <a:r>
                <a:rPr lang="ru-RU" sz="1400" dirty="0" err="1"/>
                <a:t>New</a:t>
              </a:r>
              <a:r>
                <a:rPr lang="ru-RU" sz="1400" dirty="0"/>
                <a:t> Roman. </a:t>
              </a:r>
            </a:p>
            <a:p>
              <a:pPr marL="742950" lvl="1" indent="-285750">
                <a:buFont typeface="Arial" panose="020B0604020202020204" pitchFamily="34" charset="0"/>
                <a:buChar char="•"/>
              </a:pPr>
              <a:r>
                <a:rPr lang="ru-RU" sz="1400" dirty="0" err="1"/>
                <a:t>SansSerif</a:t>
              </a:r>
              <a:r>
                <a:rPr lang="ru-RU" sz="1400" dirty="0"/>
                <a:t>: Шрифт без засечек, например, </a:t>
              </a:r>
              <a:r>
                <a:rPr lang="ru-RU" sz="1400" dirty="0" err="1"/>
                <a:t>Arial</a:t>
              </a:r>
              <a:r>
                <a:rPr lang="ru-RU" sz="1400" dirty="0"/>
                <a:t>. </a:t>
              </a:r>
            </a:p>
            <a:p>
              <a:pPr marL="742950" lvl="1" indent="-285750">
                <a:buFont typeface="Arial" panose="020B0604020202020204" pitchFamily="34" charset="0"/>
                <a:buChar char="•"/>
              </a:pPr>
              <a:r>
                <a:rPr lang="ru-RU" sz="1400" dirty="0" err="1"/>
                <a:t>Monospaced</a:t>
              </a:r>
              <a:r>
                <a:rPr lang="ru-RU" sz="1400" dirty="0"/>
                <a:t>: Шрифт с фиксированной шириной символов, например, </a:t>
              </a:r>
              <a:r>
                <a:rPr lang="ru-RU" sz="1400" dirty="0" err="1"/>
                <a:t>Courier</a:t>
              </a:r>
              <a:r>
                <a:rPr lang="ru-RU" sz="1400" dirty="0"/>
                <a:t> </a:t>
              </a:r>
              <a:r>
                <a:rPr lang="ru-RU" sz="1400" dirty="0" err="1"/>
                <a:t>New</a:t>
              </a:r>
              <a:r>
                <a:rPr lang="ru-RU" sz="1400" dirty="0"/>
                <a:t>. </a:t>
              </a:r>
            </a:p>
            <a:p>
              <a:pPr marL="742950" lvl="1" indent="-285750">
                <a:buFont typeface="Arial" panose="020B0604020202020204" pitchFamily="34" charset="0"/>
                <a:buChar char="•"/>
              </a:pPr>
              <a:r>
                <a:rPr lang="ru-RU" sz="1400" dirty="0" err="1"/>
                <a:t>Dialog</a:t>
              </a:r>
              <a:r>
                <a:rPr lang="ru-RU" sz="1400" dirty="0"/>
                <a:t>: Шрифт, используемый для диалоговых окон. </a:t>
              </a:r>
            </a:p>
            <a:p>
              <a:pPr marL="742950" lvl="1" indent="-285750">
                <a:buFont typeface="Arial" panose="020B0604020202020204" pitchFamily="34" charset="0"/>
                <a:buChar char="•"/>
              </a:pPr>
              <a:r>
                <a:rPr lang="ru-RU" sz="1400" dirty="0" err="1"/>
                <a:t>DialogInput</a:t>
              </a:r>
              <a:r>
                <a:rPr lang="ru-RU" sz="1400" dirty="0"/>
                <a:t>: Шрифт, используемый для ввода данных в диалоговых окнах. </a:t>
              </a:r>
            </a:p>
            <a:p>
              <a:pPr marL="742950" lvl="1" indent="-285750">
                <a:buFont typeface="Arial" panose="020B0604020202020204" pitchFamily="34" charset="0"/>
                <a:buChar char="•"/>
              </a:pPr>
              <a:r>
                <a:rPr lang="ru-RU" sz="1400" dirty="0" err="1"/>
                <a:t>Symbol</a:t>
              </a:r>
              <a:r>
                <a:rPr lang="ru-RU" sz="1400" dirty="0"/>
                <a:t>: Шрифт для специальных символов. </a:t>
              </a:r>
            </a:p>
            <a:p>
              <a:pPr marL="285750" indent="-285750">
                <a:buFont typeface="Arial" panose="020B0604020202020204" pitchFamily="34" charset="0"/>
                <a:buChar char="•"/>
              </a:pPr>
              <a:r>
                <a:rPr lang="ru-RU" sz="1400" dirty="0"/>
                <a:t>Пример: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 = </a:t>
              </a:r>
              <a:r>
                <a:rPr lang="ru-RU" sz="1200" i="1" dirty="0" err="1">
                  <a:latin typeface="Courier New" panose="02070309020205020404" pitchFamily="49" charset="0"/>
                  <a:cs typeface="Courier New" panose="02070309020205020404" pitchFamily="49" charset="0"/>
                </a:rPr>
                <a:t>new</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a:t>
              </a:r>
              <a:r>
                <a:rPr lang="ru-RU" sz="1200" i="1" dirty="0" err="1">
                  <a:latin typeface="Courier New" panose="02070309020205020404" pitchFamily="49" charset="0"/>
                  <a:cs typeface="Courier New" panose="02070309020205020404" pitchFamily="49" charset="0"/>
                </a:rPr>
                <a:t>Serif</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Font.BOLD</a:t>
              </a:r>
              <a:r>
                <a:rPr lang="ru-RU" sz="1200" i="1" dirty="0">
                  <a:latin typeface="Courier New" panose="02070309020205020404" pitchFamily="49" charset="0"/>
                  <a:cs typeface="Courier New" panose="02070309020205020404" pitchFamily="49" charset="0"/>
                </a:rPr>
                <a:t>, 16); </a:t>
              </a:r>
            </a:p>
          </p:txBody>
        </p:sp>
        <p:sp>
          <p:nvSpPr>
            <p:cNvPr id="9" name="TextBox 8">
              <a:extLst>
                <a:ext uri="{FF2B5EF4-FFF2-40B4-BE49-F238E27FC236}">
                  <a16:creationId xmlns:a16="http://schemas.microsoft.com/office/drawing/2014/main" id="{886C47EE-F31B-4AF1-9A96-8074A373926D}"/>
                </a:ext>
              </a:extLst>
            </p:cNvPr>
            <p:cNvSpPr txBox="1"/>
            <p:nvPr/>
          </p:nvSpPr>
          <p:spPr>
            <a:xfrm>
              <a:off x="3132451" y="2867625"/>
              <a:ext cx="5773934" cy="1384995"/>
            </a:xfrm>
            <a:prstGeom prst="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ru-RU" sz="1400" b="1" dirty="0"/>
                <a:t>Физические</a:t>
              </a:r>
              <a:r>
                <a:rPr lang="ru-RU" sz="1400" dirty="0"/>
                <a:t>:</a:t>
              </a:r>
            </a:p>
            <a:p>
              <a:pPr marL="285750" indent="-285750">
                <a:buFont typeface="Arial" panose="020B0604020202020204" pitchFamily="34" charset="0"/>
                <a:buChar char="•"/>
              </a:pPr>
              <a:r>
                <a:rPr lang="ru-RU" sz="1400" dirty="0"/>
                <a:t>Это конкретные шрифты, установленные в операционной системе, например, "</a:t>
              </a:r>
              <a:r>
                <a:rPr lang="ru-RU" sz="1400" dirty="0" err="1"/>
                <a:t>Arial</a:t>
              </a:r>
              <a:r>
                <a:rPr lang="ru-RU" sz="1400" dirty="0"/>
                <a:t>", "</a:t>
              </a:r>
              <a:r>
                <a:rPr lang="ru-RU" sz="1400" dirty="0" err="1"/>
                <a:t>Courier</a:t>
              </a:r>
              <a:r>
                <a:rPr lang="ru-RU" sz="1400" dirty="0"/>
                <a:t> </a:t>
              </a:r>
              <a:r>
                <a:rPr lang="ru-RU" sz="1400" dirty="0" err="1"/>
                <a:t>New</a:t>
              </a:r>
              <a:r>
                <a:rPr lang="ru-RU" sz="1400" dirty="0"/>
                <a:t>", "</a:t>
              </a:r>
              <a:r>
                <a:rPr lang="ru-RU" sz="1400" dirty="0" err="1"/>
                <a:t>Times</a:t>
              </a:r>
              <a:r>
                <a:rPr lang="ru-RU" sz="1400" dirty="0"/>
                <a:t> </a:t>
              </a:r>
              <a:r>
                <a:rPr lang="ru-RU" sz="1400" dirty="0" err="1"/>
                <a:t>New</a:t>
              </a:r>
              <a:r>
                <a:rPr lang="ru-RU" sz="1400" dirty="0"/>
                <a:t> Roman«</a:t>
              </a:r>
            </a:p>
            <a:p>
              <a:pPr marL="285750" indent="-285750">
                <a:buFont typeface="Arial" panose="020B0604020202020204" pitchFamily="34" charset="0"/>
                <a:buChar char="•"/>
              </a:pPr>
              <a:r>
                <a:rPr lang="ru-RU" sz="1400" dirty="0"/>
                <a:t>Они имеют уникальные имена и могут быть использованы для отображения текста в приложениях.</a:t>
              </a:r>
            </a:p>
            <a:p>
              <a:pPr marL="285750" indent="-285750">
                <a:buFont typeface="Arial" panose="020B0604020202020204" pitchFamily="34" charset="0"/>
                <a:buChar char="•"/>
              </a:pPr>
              <a:r>
                <a:rPr lang="ru-RU" sz="1400" dirty="0"/>
                <a:t>Пример: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 = </a:t>
              </a:r>
              <a:r>
                <a:rPr lang="ru-RU" sz="1200" i="1" dirty="0" err="1">
                  <a:latin typeface="Courier New" panose="02070309020205020404" pitchFamily="49" charset="0"/>
                  <a:cs typeface="Courier New" panose="02070309020205020404" pitchFamily="49" charset="0"/>
                </a:rPr>
                <a:t>new</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a:t>
              </a:r>
              <a:r>
                <a:rPr lang="ru-RU" sz="1200" i="1" dirty="0">
                  <a:latin typeface="Courier New" panose="02070309020205020404" pitchFamily="49" charset="0"/>
                  <a:cs typeface="Courier New" panose="02070309020205020404" pitchFamily="49" charset="0"/>
                </a:rPr>
                <a:t>("</a:t>
              </a:r>
              <a:r>
                <a:rPr lang="ru-RU" sz="1200" i="1" dirty="0" err="1">
                  <a:latin typeface="Courier New" panose="02070309020205020404" pitchFamily="49" charset="0"/>
                  <a:cs typeface="Courier New" panose="02070309020205020404" pitchFamily="49" charset="0"/>
                </a:rPr>
                <a:t>Arial</a:t>
              </a:r>
              <a:r>
                <a:rPr lang="ru-RU" sz="1200" i="1" dirty="0">
                  <a:latin typeface="Courier New" panose="02070309020205020404" pitchFamily="49" charset="0"/>
                  <a:cs typeface="Courier New" panose="02070309020205020404" pitchFamily="49" charset="0"/>
                </a:rPr>
                <a:t>", </a:t>
              </a:r>
              <a:r>
                <a:rPr lang="ru-RU" sz="1200" i="1" dirty="0" err="1">
                  <a:latin typeface="Courier New" panose="02070309020205020404" pitchFamily="49" charset="0"/>
                  <a:cs typeface="Courier New" panose="02070309020205020404" pitchFamily="49" charset="0"/>
                </a:rPr>
                <a:t>Font.PLAIN</a:t>
              </a:r>
              <a:r>
                <a:rPr lang="ru-RU" sz="1200" i="1" dirty="0">
                  <a:latin typeface="Courier New" panose="02070309020205020404" pitchFamily="49" charset="0"/>
                  <a:cs typeface="Courier New" panose="02070309020205020404" pitchFamily="49" charset="0"/>
                </a:rPr>
                <a:t>, 12);</a:t>
              </a:r>
            </a:p>
          </p:txBody>
        </p:sp>
        <p:cxnSp>
          <p:nvCxnSpPr>
            <p:cNvPr id="10" name="Connector: Elbow 9">
              <a:extLst>
                <a:ext uri="{FF2B5EF4-FFF2-40B4-BE49-F238E27FC236}">
                  <a16:creationId xmlns:a16="http://schemas.microsoft.com/office/drawing/2014/main" id="{B35622BB-6C3C-4BF1-A940-51E6C71B6C31}"/>
                </a:ext>
              </a:extLst>
            </p:cNvPr>
            <p:cNvCxnSpPr>
              <a:cxnSpLocks/>
              <a:stCxn id="7" idx="2"/>
              <a:endCxn id="9" idx="0"/>
            </p:cNvCxnSpPr>
            <p:nvPr/>
          </p:nvCxnSpPr>
          <p:spPr>
            <a:xfrm rot="5400000">
              <a:off x="7242909" y="1115192"/>
              <a:ext cx="528943" cy="2975923"/>
            </a:xfrm>
            <a:prstGeom prst="bentConnector3">
              <a:avLst/>
            </a:prstGeom>
            <a:ln w="1905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Connector: Elbow 10">
              <a:extLst>
                <a:ext uri="{FF2B5EF4-FFF2-40B4-BE49-F238E27FC236}">
                  <a16:creationId xmlns:a16="http://schemas.microsoft.com/office/drawing/2014/main" id="{35A0F8F0-046F-4620-99BD-E9A23DD786CF}"/>
                </a:ext>
              </a:extLst>
            </p:cNvPr>
            <p:cNvCxnSpPr>
              <a:cxnSpLocks/>
              <a:stCxn id="7" idx="2"/>
              <a:endCxn id="8" idx="0"/>
            </p:cNvCxnSpPr>
            <p:nvPr/>
          </p:nvCxnSpPr>
          <p:spPr>
            <a:xfrm rot="16200000" flipH="1">
              <a:off x="10212454" y="1121568"/>
              <a:ext cx="528943" cy="2963169"/>
            </a:xfrm>
            <a:prstGeom prst="bentConnector3">
              <a:avLst/>
            </a:prstGeom>
            <a:ln w="1905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9" name="TextBox 18">
            <a:extLst>
              <a:ext uri="{FF2B5EF4-FFF2-40B4-BE49-F238E27FC236}">
                <a16:creationId xmlns:a16="http://schemas.microsoft.com/office/drawing/2014/main" id="{B29EECCC-B0B8-418E-95C9-AE3C73A9068C}"/>
              </a:ext>
            </a:extLst>
          </p:cNvPr>
          <p:cNvSpPr txBox="1"/>
          <p:nvPr/>
        </p:nvSpPr>
        <p:spPr>
          <a:xfrm>
            <a:off x="2004843" y="5094275"/>
            <a:ext cx="4008578" cy="954107"/>
          </a:xfrm>
          <a:prstGeom prst="rect">
            <a:avLst/>
          </a:prstGeom>
          <a:noFill/>
        </p:spPr>
        <p:txBody>
          <a:bodyPr wrap="square" rtlCol="0">
            <a:spAutoFit/>
          </a:bodyPr>
          <a:lstStyle/>
          <a:p>
            <a:r>
              <a:rPr lang="ru-RU" sz="1400" dirty="0"/>
              <a:t>Кроме логических и физических имен, </a:t>
            </a:r>
            <a:r>
              <a:rPr lang="ru-RU" sz="1400" dirty="0" err="1"/>
              <a:t>Java</a:t>
            </a:r>
            <a:r>
              <a:rPr lang="ru-RU" sz="1400" dirty="0"/>
              <a:t> также поддерживает стили шрифтов: обычный (PLAIN), полужирный (BOLD), курсив (ITALIC) и полужирный курсив (BOLD | ITALIC). </a:t>
            </a:r>
          </a:p>
        </p:txBody>
      </p:sp>
      <p:pic>
        <p:nvPicPr>
          <p:cNvPr id="20" name="Picture 19">
            <a:extLst>
              <a:ext uri="{FF2B5EF4-FFF2-40B4-BE49-F238E27FC236}">
                <a16:creationId xmlns:a16="http://schemas.microsoft.com/office/drawing/2014/main" id="{C982B20F-4A99-4080-B009-88A9D3074E76}"/>
              </a:ext>
            </a:extLst>
          </p:cNvPr>
          <p:cNvPicPr>
            <a:picLocks noChangeAspect="1"/>
          </p:cNvPicPr>
          <p:nvPr/>
        </p:nvPicPr>
        <p:blipFill>
          <a:blip r:embed="rId3"/>
          <a:stretch>
            <a:fillRect/>
          </a:stretch>
        </p:blipFill>
        <p:spPr>
          <a:xfrm>
            <a:off x="239487" y="4448183"/>
            <a:ext cx="1600199" cy="1600199"/>
          </a:xfrm>
          <a:prstGeom prst="rect">
            <a:avLst/>
          </a:prstGeom>
        </p:spPr>
      </p:pic>
    </p:spTree>
    <p:extLst>
      <p:ext uri="{BB962C8B-B14F-4D97-AF65-F5344CB8AC3E}">
        <p14:creationId xmlns:p14="http://schemas.microsoft.com/office/powerpoint/2010/main" val="2244608184"/>
      </p:ext>
    </p:extLst>
  </p:cSld>
  <p:clrMapOvr>
    <a:masterClrMapping/>
  </p:clrMapOvr>
</p:sld>
</file>

<file path=ppt/theme/theme1.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4ABA2DA3-FC12-4F6D-A63F-F49808B2745D}" vid="{ED545FA1-F0DD-4A91-AB56-FB9C25E1D6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GIS_theme</Template>
  <TotalTime>18784</TotalTime>
  <Words>6113</Words>
  <Application>Microsoft Office PowerPoint</Application>
  <PresentationFormat>Widescreen</PresentationFormat>
  <Paragraphs>402</Paragraphs>
  <Slides>37</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Courier New</vt:lpstr>
      <vt:lpstr>Times New Roman</vt:lpstr>
      <vt:lpstr>GIS_theme</vt:lpstr>
      <vt:lpstr>Программирование на Java</vt:lpstr>
      <vt:lpstr>Графические библиотеки Java</vt:lpstr>
      <vt:lpstr>Развитие графических библиотек</vt:lpstr>
      <vt:lpstr>Abstract Window Toolkit (AWT)</vt:lpstr>
      <vt:lpstr>Swing</vt:lpstr>
      <vt:lpstr>Standard Widget Toolkit (SWT)</vt:lpstr>
      <vt:lpstr>JavaFX</vt:lpstr>
      <vt:lpstr>Принципы построения графического интерфейса</vt:lpstr>
      <vt:lpstr>Контейнеры</vt:lpstr>
      <vt:lpstr>Компоненты</vt:lpstr>
      <vt:lpstr>Компонент JButton</vt:lpstr>
      <vt:lpstr>Компонент JTextField, JTextArea</vt:lpstr>
      <vt:lpstr>Компонент JLabel</vt:lpstr>
      <vt:lpstr>Компонент JList</vt:lpstr>
      <vt:lpstr>Компонент JTable</vt:lpstr>
      <vt:lpstr>Компонент JDialog</vt:lpstr>
      <vt:lpstr>Диалоговые окна JOptionPane</vt:lpstr>
      <vt:lpstr>Компонент JScrollPane</vt:lpstr>
      <vt:lpstr>Компонент JMenuBar, JMenu, JMenuItem</vt:lpstr>
      <vt:lpstr>Компоновка</vt:lpstr>
      <vt:lpstr>Компоновка</vt:lpstr>
      <vt:lpstr>BorderLayout</vt:lpstr>
      <vt:lpstr>BorderLayout</vt:lpstr>
      <vt:lpstr>FlowLayout</vt:lpstr>
      <vt:lpstr>GridLayout</vt:lpstr>
      <vt:lpstr>Grid+FlowLayout</vt:lpstr>
      <vt:lpstr>GridBagLayout</vt:lpstr>
      <vt:lpstr>CardLayout</vt:lpstr>
      <vt:lpstr>BoxLayout</vt:lpstr>
      <vt:lpstr>GroupLayout</vt:lpstr>
      <vt:lpstr>SpringLayout</vt:lpstr>
      <vt:lpstr>Обработка событий</vt:lpstr>
      <vt:lpstr>Модель —представление — контроллер» (MVC)</vt:lpstr>
      <vt:lpstr>Класс Image</vt:lpstr>
      <vt:lpstr>Класс Color</vt:lpstr>
      <vt:lpstr>Класс Color</vt:lpstr>
      <vt:lpstr>Класс Font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Java</dc:title>
  <dc:creator>Yulia Filinskikh</dc:creator>
  <cp:lastModifiedBy>Yulia Filinskikh</cp:lastModifiedBy>
  <cp:revision>60</cp:revision>
  <dcterms:created xsi:type="dcterms:W3CDTF">2025-06-30T14:05:33Z</dcterms:created>
  <dcterms:modified xsi:type="dcterms:W3CDTF">2025-07-17T11:11:39Z</dcterms:modified>
</cp:coreProperties>
</file>