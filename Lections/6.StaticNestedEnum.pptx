
<file path=[Content_Types].xml><?xml version="1.0" encoding="utf-8"?>
<Types xmlns="http://schemas.openxmlformats.org/package/2006/content-types">
  <Default Extension="png" ContentType="image/png"/>
  <Default Extension="emf" ContentType="image/x-emf"/>
  <Default Extension="jpeg" ContentType="image/jpeg"/>
  <Default Extension="rels" ContentType="application/vnd.openxmlformats-package.relationships+xml"/>
  <Default Extension="xml" ContentType="application/xml"/>
  <Default Extension="gif" ContentType="image/gif"/>
  <Default Extension="jpg" ContentType="image/jpe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p:sldMasterIdLst>
    <p:sldMasterId id="2147483648" r:id="rId1"/>
  </p:sldMasterIdLst>
  <p:notesMasterIdLst>
    <p:notesMasterId r:id="rId26"/>
  </p:notesMasterIdLst>
  <p:sldIdLst>
    <p:sldId id="256" r:id="rId2"/>
    <p:sldId id="258" r:id="rId3"/>
    <p:sldId id="282" r:id="rId4"/>
    <p:sldId id="260" r:id="rId5"/>
    <p:sldId id="285" r:id="rId6"/>
    <p:sldId id="284" r:id="rId7"/>
    <p:sldId id="291" r:id="rId8"/>
    <p:sldId id="261" r:id="rId9"/>
    <p:sldId id="262" r:id="rId10"/>
    <p:sldId id="283" r:id="rId11"/>
    <p:sldId id="263" r:id="rId12"/>
    <p:sldId id="286" r:id="rId13"/>
    <p:sldId id="264" r:id="rId14"/>
    <p:sldId id="265" r:id="rId15"/>
    <p:sldId id="287" r:id="rId16"/>
    <p:sldId id="292" r:id="rId17"/>
    <p:sldId id="293" r:id="rId18"/>
    <p:sldId id="294" r:id="rId19"/>
    <p:sldId id="288" r:id="rId20"/>
    <p:sldId id="289" r:id="rId21"/>
    <p:sldId id="295" r:id="rId22"/>
    <p:sldId id="297" r:id="rId23"/>
    <p:sldId id="298" r:id="rId24"/>
    <p:sldId id="296" r:id="rId25"/>
  </p:sldIdLst>
  <p:sldSz cx="9144000" cy="5143500" type="screen16x9"/>
  <p:notesSz cx="6858000" cy="9144000"/>
  <p:defaultTextStyle>
    <a:defPPr>
      <a:defRPr lang="ru-RU"/>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162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FFFFF"/>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21055" autoAdjust="0"/>
    <p:restoredTop sz="64259" autoAdjust="0"/>
  </p:normalViewPr>
  <p:slideViewPr>
    <p:cSldViewPr>
      <p:cViewPr varScale="1">
        <p:scale>
          <a:sx n="69" d="100"/>
          <a:sy n="69" d="100"/>
        </p:scale>
        <p:origin x="1536" y="48"/>
      </p:cViewPr>
      <p:guideLst>
        <p:guide orient="horz" pos="1620"/>
        <p:guide pos="2880"/>
      </p:guideLst>
    </p:cSldViewPr>
  </p:slideViewPr>
  <p:notesTextViewPr>
    <p:cViewPr>
      <p:scale>
        <a:sx n="100" d="100"/>
        <a:sy n="100" d="100"/>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notesMaster" Target="notesMasters/notesMaster1.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presProps" Target="presProps.xml"/><Relationship Id="rId30"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Верхний колонтитул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ru-RU"/>
          </a:p>
        </p:txBody>
      </p:sp>
      <p:sp>
        <p:nvSpPr>
          <p:cNvPr id="3" name="Дата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187FED33-D328-45C2-B91A-83B438B4C415}" type="datetimeFigureOut">
              <a:rPr lang="ru-RU" smtClean="0"/>
              <a:t>16.07.2025</a:t>
            </a:fld>
            <a:endParaRPr lang="ru-RU"/>
          </a:p>
        </p:txBody>
      </p:sp>
      <p:sp>
        <p:nvSpPr>
          <p:cNvPr id="4" name="Образ слайда 3"/>
          <p:cNvSpPr>
            <a:spLocks noGrp="1" noRot="1" noChangeAspect="1"/>
          </p:cNvSpPr>
          <p:nvPr>
            <p:ph type="sldImg" idx="2"/>
          </p:nvPr>
        </p:nvSpPr>
        <p:spPr>
          <a:xfrm>
            <a:off x="381000" y="685800"/>
            <a:ext cx="6096000" cy="3429000"/>
          </a:xfrm>
          <a:prstGeom prst="rect">
            <a:avLst/>
          </a:prstGeom>
          <a:noFill/>
          <a:ln w="12700">
            <a:solidFill>
              <a:prstClr val="black"/>
            </a:solidFill>
          </a:ln>
        </p:spPr>
        <p:txBody>
          <a:bodyPr vert="horz" lIns="91440" tIns="45720" rIns="91440" bIns="45720" rtlCol="0" anchor="ctr"/>
          <a:lstStyle/>
          <a:p>
            <a:endParaRPr lang="ru-RU"/>
          </a:p>
        </p:txBody>
      </p:sp>
      <p:sp>
        <p:nvSpPr>
          <p:cNvPr id="5" name="Заметки 4"/>
          <p:cNvSpPr>
            <a:spLocks noGrp="1"/>
          </p:cNvSpPr>
          <p:nvPr>
            <p:ph type="body" sz="quarter" idx="3"/>
          </p:nvPr>
        </p:nvSpPr>
        <p:spPr>
          <a:xfrm>
            <a:off x="685800" y="4343400"/>
            <a:ext cx="5486400" cy="4114800"/>
          </a:xfrm>
          <a:prstGeom prst="rect">
            <a:avLst/>
          </a:prstGeom>
        </p:spPr>
        <p:txBody>
          <a:bodyPr vert="horz" lIns="91440" tIns="45720" rIns="91440" bIns="45720" rtlCol="0">
            <a:normAutofit/>
          </a:bodyPr>
          <a:lstStyle/>
          <a:p>
            <a:pPr lvl="0"/>
            <a:r>
              <a:rPr lang="ru-RU"/>
              <a:t>Образец текста</a:t>
            </a:r>
          </a:p>
          <a:p>
            <a:pPr lvl="1"/>
            <a:r>
              <a:rPr lang="ru-RU"/>
              <a:t>Второй уровень</a:t>
            </a:r>
          </a:p>
          <a:p>
            <a:pPr lvl="2"/>
            <a:r>
              <a:rPr lang="ru-RU"/>
              <a:t>Третий уровень</a:t>
            </a:r>
          </a:p>
          <a:p>
            <a:pPr lvl="3"/>
            <a:r>
              <a:rPr lang="ru-RU"/>
              <a:t>Четвертый уровень</a:t>
            </a:r>
          </a:p>
          <a:p>
            <a:pPr lvl="4"/>
            <a:r>
              <a:rPr lang="ru-RU"/>
              <a:t>Пятый уровень</a:t>
            </a:r>
          </a:p>
        </p:txBody>
      </p:sp>
      <p:sp>
        <p:nvSpPr>
          <p:cNvPr id="6" name="Нижний колонтитул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ru-RU"/>
          </a:p>
        </p:txBody>
      </p:sp>
      <p:sp>
        <p:nvSpPr>
          <p:cNvPr id="7" name="Номер слайда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97550DF4-E479-4FC1-BAC7-78E3D466646B}" type="slidenum">
              <a:rPr lang="ru-RU" smtClean="0"/>
              <a:t>‹#›</a:t>
            </a:fld>
            <a:endParaRPr lang="ru-RU"/>
          </a:p>
        </p:txBody>
      </p:sp>
    </p:spTree>
    <p:extLst>
      <p:ext uri="{BB962C8B-B14F-4D97-AF65-F5344CB8AC3E}">
        <p14:creationId xmlns:p14="http://schemas.microsoft.com/office/powerpoint/2010/main" val="88493631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3" Type="http://schemas.openxmlformats.org/officeDocument/2006/relationships/hyperlink" Target="https://topjava.ru/blog/permgen-and-metaspace" TargetMode="External"/><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ru-RU" dirty="0"/>
          </a:p>
        </p:txBody>
      </p:sp>
      <p:sp>
        <p:nvSpPr>
          <p:cNvPr id="4" name="Slide Number Placeholder 3"/>
          <p:cNvSpPr>
            <a:spLocks noGrp="1"/>
          </p:cNvSpPr>
          <p:nvPr>
            <p:ph type="sldNum" sz="quarter" idx="5"/>
          </p:nvPr>
        </p:nvSpPr>
        <p:spPr/>
        <p:txBody>
          <a:bodyPr/>
          <a:lstStyle/>
          <a:p>
            <a:fld id="{97550DF4-E479-4FC1-BAC7-78E3D466646B}" type="slidenum">
              <a:rPr lang="ru-RU" smtClean="0"/>
              <a:t>1</a:t>
            </a:fld>
            <a:endParaRPr lang="ru-RU"/>
          </a:p>
        </p:txBody>
      </p:sp>
    </p:spTree>
    <p:extLst>
      <p:ext uri="{BB962C8B-B14F-4D97-AF65-F5344CB8AC3E}">
        <p14:creationId xmlns:p14="http://schemas.microsoft.com/office/powerpoint/2010/main" val="2335598426"/>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indent="0" algn="just">
              <a:buNone/>
            </a:pPr>
            <a:r>
              <a:rPr lang="ru-RU" sz="1200" kern="1200" dirty="0">
                <a:solidFill>
                  <a:schemeClr val="tx1"/>
                </a:solidFill>
                <a:latin typeface="+mn-lt"/>
                <a:ea typeface="+mn-ea"/>
                <a:cs typeface="Times New Roman" panose="02020603050405020304" pitchFamily="18" charset="0"/>
              </a:rPr>
              <a:t>Разные экземпляры одного класса имеют совершенно независимые друг от друга поля, принимающие различные значения. Изменение поля в одном экземпляре никак не влияет на то же поле в другом экземпляре. В каждом экземпляре для таких полей выделяется свою ячейка памяти. Поэтому такое поля называются переменными экземпляра класса или переменными объекта.</a:t>
            </a:r>
          </a:p>
          <a:p>
            <a:pPr marL="0" indent="0" algn="just">
              <a:buNone/>
            </a:pPr>
            <a:r>
              <a:rPr lang="ru-RU" sz="1200" kern="1200" dirty="0">
                <a:solidFill>
                  <a:schemeClr val="tx1"/>
                </a:solidFill>
                <a:latin typeface="+mn-lt"/>
                <a:ea typeface="+mn-ea"/>
                <a:cs typeface="Times New Roman" panose="02020603050405020304" pitchFamily="18" charset="0"/>
              </a:rPr>
              <a:t>Иногда надо определить поле, общее для всего класса, изменение которого в одном экземпляре повлечет изменение того же поля во всех экземплярах.</a:t>
            </a:r>
          </a:p>
          <a:p>
            <a:pPr marL="0" indent="0" algn="just">
              <a:buNone/>
            </a:pPr>
            <a:endParaRPr lang="ru-RU" sz="1200" dirty="0">
              <a:solidFill>
                <a:srgbClr val="244061"/>
              </a:solidFill>
              <a:latin typeface="Calibri" panose="020F0502020204030204" pitchFamily="34" charset="0"/>
              <a:cs typeface="Calibri" panose="020F0502020204030204" pitchFamily="34" charset="0"/>
            </a:endParaRPr>
          </a:p>
          <a:p>
            <a:endParaRPr lang="ru-RU" dirty="0"/>
          </a:p>
        </p:txBody>
      </p:sp>
      <p:sp>
        <p:nvSpPr>
          <p:cNvPr id="4" name="Slide Number Placeholder 3"/>
          <p:cNvSpPr>
            <a:spLocks noGrp="1"/>
          </p:cNvSpPr>
          <p:nvPr>
            <p:ph type="sldNum" sz="quarter" idx="5"/>
          </p:nvPr>
        </p:nvSpPr>
        <p:spPr/>
        <p:txBody>
          <a:bodyPr/>
          <a:lstStyle/>
          <a:p>
            <a:fld id="{97550DF4-E479-4FC1-BAC7-78E3D466646B}" type="slidenum">
              <a:rPr lang="ru-RU" smtClean="0"/>
              <a:t>2</a:t>
            </a:fld>
            <a:endParaRPr lang="ru-RU"/>
          </a:p>
        </p:txBody>
      </p:sp>
    </p:spTree>
    <p:extLst>
      <p:ext uri="{BB962C8B-B14F-4D97-AF65-F5344CB8AC3E}">
        <p14:creationId xmlns:p14="http://schemas.microsoft.com/office/powerpoint/2010/main" val="138965072"/>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ru-RU" dirty="0"/>
              <a:t>В языке </a:t>
            </a:r>
            <a:r>
              <a:rPr lang="ru-RU" dirty="0" err="1"/>
              <a:t>Java</a:t>
            </a:r>
            <a:r>
              <a:rPr lang="ru-RU" dirty="0"/>
              <a:t>, если поле объявляется статическим (путем добавления модификатора </a:t>
            </a:r>
            <a:r>
              <a:rPr lang="ru-RU" dirty="0" err="1"/>
              <a:t>static</a:t>
            </a:r>
            <a:r>
              <a:rPr lang="ru-RU" dirty="0"/>
              <a:t>), то в независимости от количества созданных объектов класса — всегда будет существовать только один экземпляр статического поля. Значение такого поля будет единым и общим для всех объектов класса, содержащих это поле.</a:t>
            </a:r>
          </a:p>
          <a:p>
            <a:r>
              <a:rPr lang="ru-RU" sz="1200" b="0" i="0" kern="1200" dirty="0">
                <a:solidFill>
                  <a:schemeClr val="tx1"/>
                </a:solidFill>
                <a:effectLst/>
                <a:latin typeface="+mn-lt"/>
                <a:ea typeface="+mn-ea"/>
                <a:cs typeface="+mn-cs"/>
              </a:rPr>
              <a:t>С точки зрения используемой памяти, статические переменные размещаются в специальном пуле в памяти JVM, называемом </a:t>
            </a:r>
            <a:r>
              <a:rPr lang="ru-RU" sz="1200" b="0" i="0" u="none" strike="noStrike" kern="1200" dirty="0" err="1">
                <a:solidFill>
                  <a:schemeClr val="tx1"/>
                </a:solidFill>
                <a:effectLst/>
                <a:latin typeface="+mn-lt"/>
                <a:ea typeface="+mn-ea"/>
                <a:cs typeface="+mn-cs"/>
                <a:hlinkClick r:id="rId3"/>
              </a:rPr>
              <a:t>Metaspace</a:t>
            </a:r>
            <a:r>
              <a:rPr lang="ru-RU" sz="1200" b="0" i="0" kern="1200" dirty="0">
                <a:solidFill>
                  <a:schemeClr val="tx1"/>
                </a:solidFill>
                <a:effectLst/>
                <a:latin typeface="+mn-lt"/>
                <a:ea typeface="+mn-ea"/>
                <a:cs typeface="+mn-cs"/>
              </a:rPr>
              <a:t> (до </a:t>
            </a:r>
            <a:r>
              <a:rPr lang="ru-RU" sz="1200" b="0" i="0" kern="1200" dirty="0" err="1">
                <a:solidFill>
                  <a:schemeClr val="tx1"/>
                </a:solidFill>
                <a:effectLst/>
                <a:latin typeface="+mn-lt"/>
                <a:ea typeface="+mn-ea"/>
                <a:cs typeface="+mn-cs"/>
              </a:rPr>
              <a:t>Java</a:t>
            </a:r>
            <a:r>
              <a:rPr lang="ru-RU" sz="1200" b="0" i="0" kern="1200" dirty="0">
                <a:solidFill>
                  <a:schemeClr val="tx1"/>
                </a:solidFill>
                <a:effectLst/>
                <a:latin typeface="+mn-lt"/>
                <a:ea typeface="+mn-ea"/>
                <a:cs typeface="+mn-cs"/>
              </a:rPr>
              <a:t> 8 он назывался </a:t>
            </a:r>
            <a:r>
              <a:rPr lang="ru-RU" sz="1200" b="0" i="0" kern="1200" dirty="0" err="1">
                <a:solidFill>
                  <a:schemeClr val="tx1"/>
                </a:solidFill>
                <a:effectLst/>
                <a:latin typeface="+mn-lt"/>
                <a:ea typeface="+mn-ea"/>
                <a:cs typeface="+mn-cs"/>
              </a:rPr>
              <a:t>Permanent</a:t>
            </a:r>
            <a:r>
              <a:rPr lang="ru-RU" sz="1200" b="0" i="0" kern="1200" dirty="0">
                <a:solidFill>
                  <a:schemeClr val="tx1"/>
                </a:solidFill>
                <a:effectLst/>
                <a:latin typeface="+mn-lt"/>
                <a:ea typeface="+mn-ea"/>
                <a:cs typeface="+mn-cs"/>
              </a:rPr>
              <a:t> </a:t>
            </a:r>
            <a:r>
              <a:rPr lang="ru-RU" sz="1200" b="0" i="0" kern="1200" dirty="0" err="1">
                <a:solidFill>
                  <a:schemeClr val="tx1"/>
                </a:solidFill>
                <a:effectLst/>
                <a:latin typeface="+mn-lt"/>
                <a:ea typeface="+mn-ea"/>
                <a:cs typeface="+mn-cs"/>
              </a:rPr>
              <a:t>Generation</a:t>
            </a:r>
            <a:r>
              <a:rPr lang="ru-RU" sz="1200" b="0" i="0" kern="1200" dirty="0">
                <a:solidFill>
                  <a:schemeClr val="tx1"/>
                </a:solidFill>
                <a:effectLst/>
                <a:latin typeface="+mn-lt"/>
                <a:ea typeface="+mn-ea"/>
                <a:cs typeface="+mn-cs"/>
              </a:rPr>
              <a:t> или </a:t>
            </a:r>
            <a:r>
              <a:rPr lang="ru-RU" sz="1200" b="0" i="0" kern="1200" dirty="0" err="1">
                <a:solidFill>
                  <a:schemeClr val="tx1"/>
                </a:solidFill>
                <a:effectLst/>
                <a:latin typeface="+mn-lt"/>
                <a:ea typeface="+mn-ea"/>
                <a:cs typeface="+mn-cs"/>
              </a:rPr>
              <a:t>PermGen</a:t>
            </a:r>
            <a:r>
              <a:rPr lang="ru-RU" sz="1200" b="0" i="0" kern="1200" dirty="0">
                <a:solidFill>
                  <a:schemeClr val="tx1"/>
                </a:solidFill>
                <a:effectLst/>
                <a:latin typeface="+mn-lt"/>
                <a:ea typeface="+mn-ea"/>
                <a:cs typeface="+mn-cs"/>
              </a:rPr>
              <a:t>, который был полностью удален и заменен на </a:t>
            </a:r>
            <a:r>
              <a:rPr lang="ru-RU" sz="1200" b="0" i="0" kern="1200" dirty="0" err="1">
                <a:solidFill>
                  <a:schemeClr val="tx1"/>
                </a:solidFill>
                <a:effectLst/>
                <a:latin typeface="+mn-lt"/>
                <a:ea typeface="+mn-ea"/>
                <a:cs typeface="+mn-cs"/>
              </a:rPr>
              <a:t>Metaspace</a:t>
            </a:r>
            <a:r>
              <a:rPr lang="ru-RU" sz="1200" b="0" i="0" kern="1200" dirty="0">
                <a:solidFill>
                  <a:schemeClr val="tx1"/>
                </a:solidFill>
                <a:effectLst/>
                <a:latin typeface="+mn-lt"/>
                <a:ea typeface="+mn-ea"/>
                <a:cs typeface="+mn-cs"/>
              </a:rPr>
              <a:t>).</a:t>
            </a:r>
            <a:endParaRPr lang="en-US" sz="1200" b="0" i="0" kern="1200" dirty="0">
              <a:solidFill>
                <a:schemeClr val="tx1"/>
              </a:solidFill>
              <a:effectLst/>
              <a:latin typeface="+mn-lt"/>
              <a:ea typeface="+mn-ea"/>
              <a:cs typeface="+mn-cs"/>
            </a:endParaRPr>
          </a:p>
          <a:p>
            <a:pPr marL="0" indent="0" algn="just">
              <a:buNone/>
            </a:pPr>
            <a:r>
              <a:rPr lang="ru-RU" sz="1200" dirty="0">
                <a:solidFill>
                  <a:srgbClr val="244061"/>
                </a:solidFill>
                <a:latin typeface="Calibri" panose="020F0502020204030204" pitchFamily="34" charset="0"/>
                <a:cs typeface="Calibri" panose="020F0502020204030204" pitchFamily="34" charset="0"/>
              </a:rPr>
              <a:t>Сущности, помеченные модификатором </a:t>
            </a:r>
            <a:r>
              <a:rPr lang="en-US" sz="1200" dirty="0">
                <a:solidFill>
                  <a:srgbClr val="244061"/>
                </a:solidFill>
                <a:latin typeface="Calibri" panose="020F0502020204030204" pitchFamily="34" charset="0"/>
                <a:cs typeface="Calibri" panose="020F0502020204030204" pitchFamily="34" charset="0"/>
              </a:rPr>
              <a:t>static</a:t>
            </a:r>
            <a:r>
              <a:rPr lang="ru-RU" sz="1200" dirty="0">
                <a:solidFill>
                  <a:srgbClr val="244061"/>
                </a:solidFill>
                <a:latin typeface="Calibri" panose="020F0502020204030204" pitchFamily="34" charset="0"/>
                <a:cs typeface="Calibri" panose="020F0502020204030204" pitchFamily="34" charset="0"/>
              </a:rPr>
              <a:t> должны быть определены на этапе предкомпиляции программы.</a:t>
            </a:r>
          </a:p>
          <a:p>
            <a:pPr marL="0" indent="0" algn="just">
              <a:buNone/>
            </a:pPr>
            <a:endParaRPr lang="ru-RU" sz="1200" dirty="0">
              <a:solidFill>
                <a:srgbClr val="244061"/>
              </a:solidFill>
              <a:latin typeface="Calibri" panose="020F0502020204030204" pitchFamily="34" charset="0"/>
              <a:cs typeface="Calibri" panose="020F0502020204030204" pitchFamily="34" charset="0"/>
            </a:endParaRPr>
          </a:p>
          <a:p>
            <a:pPr marL="0" indent="0" algn="just">
              <a:buNone/>
            </a:pPr>
            <a:r>
              <a:rPr lang="ru-RU" sz="1200" dirty="0">
                <a:solidFill>
                  <a:srgbClr val="244061"/>
                </a:solidFill>
                <a:latin typeface="Calibri" panose="020F0502020204030204" pitchFamily="34" charset="0"/>
                <a:cs typeface="Calibri" panose="020F0502020204030204" pitchFamily="34" charset="0"/>
              </a:rPr>
              <a:t>Виртуальная машина </a:t>
            </a:r>
            <a:r>
              <a:rPr lang="en-US" sz="1200" dirty="0">
                <a:solidFill>
                  <a:srgbClr val="244061"/>
                </a:solidFill>
                <a:latin typeface="Calibri" panose="020F0502020204030204" pitchFamily="34" charset="0"/>
                <a:cs typeface="Calibri" panose="020F0502020204030204" pitchFamily="34" charset="0"/>
              </a:rPr>
              <a:t>Java</a:t>
            </a:r>
            <a:r>
              <a:rPr lang="ru-RU" sz="1200" dirty="0">
                <a:solidFill>
                  <a:srgbClr val="244061"/>
                </a:solidFill>
                <a:latin typeface="Calibri" panose="020F0502020204030204" pitchFamily="34" charset="0"/>
                <a:cs typeface="Calibri" panose="020F0502020204030204" pitchFamily="34" charset="0"/>
              </a:rPr>
              <a:t> получает информацию о всех сущностях, которые помечены модификатором </a:t>
            </a:r>
            <a:r>
              <a:rPr lang="en-US" sz="1200" dirty="0">
                <a:solidFill>
                  <a:srgbClr val="244061"/>
                </a:solidFill>
                <a:latin typeface="Calibri" panose="020F0502020204030204" pitchFamily="34" charset="0"/>
                <a:cs typeface="Calibri" panose="020F0502020204030204" pitchFamily="34" charset="0"/>
              </a:rPr>
              <a:t>static</a:t>
            </a:r>
            <a:r>
              <a:rPr lang="ru-RU" sz="1200">
                <a:solidFill>
                  <a:srgbClr val="244061"/>
                </a:solidFill>
                <a:latin typeface="Calibri" panose="020F0502020204030204" pitchFamily="34" charset="0"/>
                <a:cs typeface="Calibri" panose="020F0502020204030204" pitchFamily="34" charset="0"/>
              </a:rPr>
              <a:t> в момент запуска программы.</a:t>
            </a:r>
            <a:endParaRPr lang="ru-RU" sz="1200" kern="1200">
              <a:solidFill>
                <a:schemeClr val="tx1"/>
              </a:solidFill>
              <a:latin typeface="+mn-lt"/>
              <a:ea typeface="+mn-ea"/>
              <a:cs typeface="Times New Roman" panose="02020603050405020304" pitchFamily="18" charset="0"/>
            </a:endParaRPr>
          </a:p>
          <a:p>
            <a:endParaRPr lang="en-US" sz="1200" b="0" i="0" kern="1200" dirty="0">
              <a:solidFill>
                <a:schemeClr val="tx1"/>
              </a:solidFill>
              <a:effectLst/>
              <a:latin typeface="+mn-lt"/>
              <a:ea typeface="+mn-ea"/>
              <a:cs typeface="+mn-cs"/>
            </a:endParaRPr>
          </a:p>
          <a:p>
            <a:r>
              <a:rPr lang="ru-RU" sz="1200" b="0" i="0" kern="1200" dirty="0">
                <a:solidFill>
                  <a:schemeClr val="tx1"/>
                </a:solidFill>
                <a:effectLst/>
                <a:latin typeface="+mn-lt"/>
                <a:ea typeface="+mn-ea"/>
                <a:cs typeface="+mn-cs"/>
              </a:rPr>
              <a:t>Теперь для каждого объекта этого класса будет увеличиваться один и тот же экземпляр переменной </a:t>
            </a:r>
            <a:r>
              <a:rPr lang="ru-RU" sz="1200" b="0" i="1" kern="1200" dirty="0" err="1">
                <a:solidFill>
                  <a:schemeClr val="tx1"/>
                </a:solidFill>
                <a:effectLst/>
                <a:latin typeface="+mn-lt"/>
                <a:ea typeface="+mn-ea"/>
                <a:cs typeface="+mn-cs"/>
              </a:rPr>
              <a:t>numberOfCars</a:t>
            </a:r>
            <a:r>
              <a:rPr lang="ru-RU" sz="1200" b="0" i="0" kern="1200" dirty="0">
                <a:solidFill>
                  <a:schemeClr val="tx1"/>
                </a:solidFill>
                <a:effectLst/>
                <a:latin typeface="+mn-lt"/>
                <a:ea typeface="+mn-ea"/>
                <a:cs typeface="+mn-cs"/>
              </a:rPr>
              <a:t>.</a:t>
            </a:r>
            <a:endParaRPr lang="ru-RU" dirty="0"/>
          </a:p>
        </p:txBody>
      </p:sp>
      <p:sp>
        <p:nvSpPr>
          <p:cNvPr id="4" name="Slide Number Placeholder 3"/>
          <p:cNvSpPr>
            <a:spLocks noGrp="1"/>
          </p:cNvSpPr>
          <p:nvPr>
            <p:ph type="sldNum" sz="quarter" idx="5"/>
          </p:nvPr>
        </p:nvSpPr>
        <p:spPr/>
        <p:txBody>
          <a:bodyPr/>
          <a:lstStyle/>
          <a:p>
            <a:fld id="{97550DF4-E479-4FC1-BAC7-78E3D466646B}" type="slidenum">
              <a:rPr lang="ru-RU" smtClean="0"/>
              <a:t>3</a:t>
            </a:fld>
            <a:endParaRPr lang="ru-RU"/>
          </a:p>
        </p:txBody>
      </p:sp>
    </p:spTree>
    <p:extLst>
      <p:ext uri="{BB962C8B-B14F-4D97-AF65-F5344CB8AC3E}">
        <p14:creationId xmlns:p14="http://schemas.microsoft.com/office/powerpoint/2010/main" val="2942254485"/>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ru-RU" sz="1200" dirty="0">
                <a:latin typeface="+mj-lt"/>
                <a:cs typeface="Times New Roman" panose="02020603050405020304" pitchFamily="18" charset="0"/>
              </a:rPr>
              <a:t>Дело в том, что поля класса определяются при загрузке файла с классом в оперативную память, еще до создания экземпляров класса.</a:t>
            </a:r>
            <a:endParaRPr lang="en-US" sz="1200" dirty="0">
              <a:latin typeface="+mj-lt"/>
              <a:cs typeface="Times New Roman" panose="02020603050405020304" pitchFamily="18" charset="0"/>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lang="en-US" sz="1200" dirty="0">
              <a:latin typeface="+mj-lt"/>
              <a:cs typeface="Times New Roman" panose="02020603050405020304" pitchFamily="18" charset="0"/>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ru-RU" sz="1200" b="0" i="0" kern="1200" dirty="0">
                <a:solidFill>
                  <a:schemeClr val="tx1"/>
                </a:solidFill>
                <a:effectLst/>
                <a:latin typeface="+mn-lt"/>
                <a:ea typeface="+mn-ea"/>
                <a:cs typeface="+mn-cs"/>
              </a:rPr>
              <a:t>Несмотря на то, что получить доступ к статическим полям можно с помощью ссылки на объект (например, </a:t>
            </a:r>
            <a:r>
              <a:rPr lang="ru-RU" sz="1200" b="0" i="1" kern="1200" dirty="0">
                <a:solidFill>
                  <a:schemeClr val="tx1"/>
                </a:solidFill>
                <a:effectLst/>
                <a:latin typeface="+mn-lt"/>
                <a:ea typeface="+mn-ea"/>
                <a:cs typeface="+mn-cs"/>
              </a:rPr>
              <a:t>car1.numberOfCars</a:t>
            </a:r>
            <a:r>
              <a:rPr lang="ru-RU" sz="1200" b="0" i="0" kern="1200" dirty="0">
                <a:solidFill>
                  <a:schemeClr val="tx1"/>
                </a:solidFill>
                <a:effectLst/>
                <a:latin typeface="+mn-lt"/>
                <a:ea typeface="+mn-ea"/>
                <a:cs typeface="+mn-cs"/>
              </a:rPr>
              <a:t>), мы должны воздерживаться от её применения, поскольку в этом случае становится не совсем понятно, является ли эта переменная переменной экземпляра или же переменной класса. Вместо этого всегда необходимо ссылаться на статические переменные, используя имя класса</a:t>
            </a:r>
            <a:endParaRPr lang="ru-RU" sz="1200" dirty="0">
              <a:latin typeface="+mj-lt"/>
              <a:cs typeface="Times New Roman" panose="02020603050405020304" pitchFamily="18" charset="0"/>
            </a:endParaRPr>
          </a:p>
          <a:p>
            <a:endParaRPr lang="ru-RU" dirty="0"/>
          </a:p>
        </p:txBody>
      </p:sp>
      <p:sp>
        <p:nvSpPr>
          <p:cNvPr id="4" name="Slide Number Placeholder 3"/>
          <p:cNvSpPr>
            <a:spLocks noGrp="1"/>
          </p:cNvSpPr>
          <p:nvPr>
            <p:ph type="sldNum" sz="quarter" idx="5"/>
          </p:nvPr>
        </p:nvSpPr>
        <p:spPr/>
        <p:txBody>
          <a:bodyPr/>
          <a:lstStyle/>
          <a:p>
            <a:fld id="{97550DF4-E479-4FC1-BAC7-78E3D466646B}" type="slidenum">
              <a:rPr lang="ru-RU" smtClean="0"/>
              <a:t>4</a:t>
            </a:fld>
            <a:endParaRPr lang="ru-RU"/>
          </a:p>
        </p:txBody>
      </p:sp>
    </p:spTree>
    <p:extLst>
      <p:ext uri="{BB962C8B-B14F-4D97-AF65-F5344CB8AC3E}">
        <p14:creationId xmlns:p14="http://schemas.microsoft.com/office/powerpoint/2010/main" val="3329105233"/>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ru-RU" dirty="0"/>
          </a:p>
        </p:txBody>
      </p:sp>
      <p:sp>
        <p:nvSpPr>
          <p:cNvPr id="4" name="Slide Number Placeholder 3"/>
          <p:cNvSpPr>
            <a:spLocks noGrp="1"/>
          </p:cNvSpPr>
          <p:nvPr>
            <p:ph type="sldNum" sz="quarter" idx="5"/>
          </p:nvPr>
        </p:nvSpPr>
        <p:spPr/>
        <p:txBody>
          <a:bodyPr/>
          <a:lstStyle/>
          <a:p>
            <a:fld id="{97550DF4-E479-4FC1-BAC7-78E3D466646B}" type="slidenum">
              <a:rPr lang="ru-RU" smtClean="0"/>
              <a:t>5</a:t>
            </a:fld>
            <a:endParaRPr lang="ru-RU"/>
          </a:p>
        </p:txBody>
      </p:sp>
    </p:spTree>
    <p:extLst>
      <p:ext uri="{BB962C8B-B14F-4D97-AF65-F5344CB8AC3E}">
        <p14:creationId xmlns:p14="http://schemas.microsoft.com/office/powerpoint/2010/main" val="3061807689"/>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ru-RU" sz="1200" b="0" i="0" kern="1200" dirty="0">
                <a:solidFill>
                  <a:schemeClr val="tx1"/>
                </a:solidFill>
                <a:effectLst/>
                <a:latin typeface="+mn-lt"/>
                <a:ea typeface="+mn-ea"/>
                <a:cs typeface="+mn-cs"/>
              </a:rPr>
              <a:t>Говоря о ключевом слове </a:t>
            </a:r>
            <a:r>
              <a:rPr lang="ru-RU" sz="1200" b="0" i="1" kern="1200" dirty="0" err="1">
                <a:solidFill>
                  <a:schemeClr val="tx1"/>
                </a:solidFill>
                <a:effectLst/>
                <a:latin typeface="+mn-lt"/>
                <a:ea typeface="+mn-ea"/>
                <a:cs typeface="+mn-cs"/>
              </a:rPr>
              <a:t>static</a:t>
            </a:r>
            <a:r>
              <a:rPr lang="ru-RU" sz="1200" b="0" i="1" kern="1200" dirty="0">
                <a:solidFill>
                  <a:schemeClr val="tx1"/>
                </a:solidFill>
                <a:effectLst/>
                <a:latin typeface="+mn-lt"/>
                <a:ea typeface="+mn-ea"/>
                <a:cs typeface="+mn-cs"/>
              </a:rPr>
              <a:t>,</a:t>
            </a:r>
            <a:r>
              <a:rPr lang="ru-RU" sz="1200" b="0" i="0" kern="1200" dirty="0">
                <a:solidFill>
                  <a:schemeClr val="tx1"/>
                </a:solidFill>
                <a:effectLst/>
                <a:latin typeface="+mn-lt"/>
                <a:ea typeface="+mn-ea"/>
                <a:cs typeface="+mn-cs"/>
              </a:rPr>
              <a:t> нельзя не упомянуть о его применении в определении констант — переменных, которые никогда не изменяются.</a:t>
            </a:r>
          </a:p>
          <a:p>
            <a:r>
              <a:rPr lang="ru-RU" sz="1200" b="0" i="0" kern="1200" dirty="0">
                <a:solidFill>
                  <a:schemeClr val="tx1"/>
                </a:solidFill>
                <a:effectLst/>
                <a:latin typeface="+mn-lt"/>
                <a:ea typeface="+mn-ea"/>
                <a:cs typeface="+mn-cs"/>
              </a:rPr>
              <a:t>В языке </a:t>
            </a:r>
            <a:r>
              <a:rPr lang="ru-RU" sz="1200" b="0" i="0" kern="1200" dirty="0" err="1">
                <a:solidFill>
                  <a:schemeClr val="tx1"/>
                </a:solidFill>
                <a:effectLst/>
                <a:latin typeface="+mn-lt"/>
                <a:ea typeface="+mn-ea"/>
                <a:cs typeface="+mn-cs"/>
              </a:rPr>
              <a:t>Java</a:t>
            </a:r>
            <a:r>
              <a:rPr lang="ru-RU" sz="1200" b="0" i="0" kern="1200" dirty="0">
                <a:solidFill>
                  <a:schemeClr val="tx1"/>
                </a:solidFill>
                <a:effectLst/>
                <a:latin typeface="+mn-lt"/>
                <a:ea typeface="+mn-ea"/>
                <a:cs typeface="+mn-cs"/>
              </a:rPr>
              <a:t> существует зарезервированное слово </a:t>
            </a:r>
            <a:r>
              <a:rPr lang="ru-RU" sz="1200" b="0" i="1" kern="1200" dirty="0">
                <a:solidFill>
                  <a:schemeClr val="tx1"/>
                </a:solidFill>
                <a:effectLst/>
                <a:latin typeface="+mn-lt"/>
                <a:ea typeface="+mn-ea"/>
                <a:cs typeface="+mn-cs"/>
              </a:rPr>
              <a:t>«</a:t>
            </a:r>
            <a:r>
              <a:rPr lang="ru-RU" sz="1200" b="0" i="1" kern="1200" dirty="0" err="1">
                <a:solidFill>
                  <a:schemeClr val="tx1"/>
                </a:solidFill>
                <a:effectLst/>
                <a:latin typeface="+mn-lt"/>
                <a:ea typeface="+mn-ea"/>
                <a:cs typeface="+mn-cs"/>
              </a:rPr>
              <a:t>const</a:t>
            </a:r>
            <a:r>
              <a:rPr lang="ru-RU" sz="1200" b="0" i="1" kern="1200" dirty="0">
                <a:solidFill>
                  <a:schemeClr val="tx1"/>
                </a:solidFill>
                <a:effectLst/>
                <a:latin typeface="+mn-lt"/>
                <a:ea typeface="+mn-ea"/>
                <a:cs typeface="+mn-cs"/>
              </a:rPr>
              <a:t>»</a:t>
            </a:r>
            <a:r>
              <a:rPr lang="ru-RU" sz="1200" b="0" i="0" kern="1200" dirty="0">
                <a:solidFill>
                  <a:schemeClr val="tx1"/>
                </a:solidFill>
                <a:effectLst/>
                <a:latin typeface="+mn-lt"/>
                <a:ea typeface="+mn-ea"/>
                <a:cs typeface="+mn-cs"/>
              </a:rPr>
              <a:t>, но оно не используется, и </a:t>
            </a:r>
            <a:r>
              <a:rPr lang="ru-RU" sz="1200" b="0" i="0" kern="1200" dirty="0" err="1">
                <a:solidFill>
                  <a:schemeClr val="tx1"/>
                </a:solidFill>
                <a:effectLst/>
                <a:latin typeface="+mn-lt"/>
                <a:ea typeface="+mn-ea"/>
                <a:cs typeface="+mn-cs"/>
              </a:rPr>
              <a:t>Java</a:t>
            </a:r>
            <a:r>
              <a:rPr lang="ru-RU" sz="1200" b="0" i="0" kern="1200" dirty="0">
                <a:solidFill>
                  <a:schemeClr val="tx1"/>
                </a:solidFill>
                <a:effectLst/>
                <a:latin typeface="+mn-lt"/>
                <a:ea typeface="+mn-ea"/>
                <a:cs typeface="+mn-cs"/>
              </a:rPr>
              <a:t> не поддерживает константы на уровне языка. Выход из ситуации имеется: для определения константы необходимо добавить модификаторы «</a:t>
            </a:r>
            <a:r>
              <a:rPr lang="ru-RU" sz="1200" b="0" i="1" kern="1200" dirty="0" err="1">
                <a:solidFill>
                  <a:schemeClr val="tx1"/>
                </a:solidFill>
                <a:effectLst/>
                <a:latin typeface="+mn-lt"/>
                <a:ea typeface="+mn-ea"/>
                <a:cs typeface="+mn-cs"/>
              </a:rPr>
              <a:t>static</a:t>
            </a:r>
            <a:r>
              <a:rPr lang="ru-RU" sz="1200" b="0" i="1" kern="1200" dirty="0">
                <a:solidFill>
                  <a:schemeClr val="tx1"/>
                </a:solidFill>
                <a:effectLst/>
                <a:latin typeface="+mn-lt"/>
                <a:ea typeface="+mn-ea"/>
                <a:cs typeface="+mn-cs"/>
              </a:rPr>
              <a:t> </a:t>
            </a:r>
            <a:r>
              <a:rPr lang="ru-RU" sz="1200" b="0" i="1" kern="1200" dirty="0" err="1">
                <a:solidFill>
                  <a:schemeClr val="tx1"/>
                </a:solidFill>
                <a:effectLst/>
                <a:latin typeface="+mn-lt"/>
                <a:ea typeface="+mn-ea"/>
                <a:cs typeface="+mn-cs"/>
              </a:rPr>
              <a:t>final</a:t>
            </a:r>
            <a:r>
              <a:rPr lang="ru-RU" sz="1200" b="0" i="0" kern="1200" dirty="0">
                <a:solidFill>
                  <a:schemeClr val="tx1"/>
                </a:solidFill>
                <a:effectLst/>
                <a:latin typeface="+mn-lt"/>
                <a:ea typeface="+mn-ea"/>
                <a:cs typeface="+mn-cs"/>
              </a:rPr>
              <a:t>» к полю класса.</a:t>
            </a:r>
          </a:p>
          <a:p>
            <a:r>
              <a:rPr lang="ru-RU" sz="1200" b="0" i="0" kern="1200" dirty="0">
                <a:solidFill>
                  <a:schemeClr val="tx1"/>
                </a:solidFill>
                <a:effectLst/>
                <a:latin typeface="+mn-lt"/>
                <a:ea typeface="+mn-ea"/>
                <a:cs typeface="+mn-cs"/>
              </a:rPr>
              <a:t>Модификатор </a:t>
            </a:r>
            <a:r>
              <a:rPr lang="ru-RU" sz="1200" b="0" i="1" kern="1200" dirty="0" err="1">
                <a:solidFill>
                  <a:schemeClr val="tx1"/>
                </a:solidFill>
                <a:effectLst/>
                <a:latin typeface="+mn-lt"/>
                <a:ea typeface="+mn-ea"/>
                <a:cs typeface="+mn-cs"/>
              </a:rPr>
              <a:t>static</a:t>
            </a:r>
            <a:r>
              <a:rPr lang="ru-RU" sz="1200" b="0" i="0" kern="1200" dirty="0">
                <a:solidFill>
                  <a:schemeClr val="tx1"/>
                </a:solidFill>
                <a:effectLst/>
                <a:latin typeface="+mn-lt"/>
                <a:ea typeface="+mn-ea"/>
                <a:cs typeface="+mn-cs"/>
              </a:rPr>
              <a:t> делает переменную доступной без создания экземпляра класса, а </a:t>
            </a:r>
            <a:r>
              <a:rPr lang="ru-RU" sz="1200" b="0" i="1" kern="1200" dirty="0" err="1">
                <a:solidFill>
                  <a:schemeClr val="tx1"/>
                </a:solidFill>
                <a:effectLst/>
                <a:latin typeface="+mn-lt"/>
                <a:ea typeface="+mn-ea"/>
                <a:cs typeface="+mn-cs"/>
              </a:rPr>
              <a:t>final</a:t>
            </a:r>
            <a:r>
              <a:rPr lang="ru-RU" sz="1200" b="0" i="0" kern="1200" dirty="0">
                <a:solidFill>
                  <a:schemeClr val="tx1"/>
                </a:solidFill>
                <a:effectLst/>
                <a:latin typeface="+mn-lt"/>
                <a:ea typeface="+mn-ea"/>
                <a:cs typeface="+mn-cs"/>
              </a:rPr>
              <a:t> делает ее неизменяемой. При этом нужно помнить, что если мы сделаем переменную только </a:t>
            </a:r>
            <a:r>
              <a:rPr lang="ru-RU" sz="1200" b="0" i="1" kern="1200" dirty="0" err="1">
                <a:solidFill>
                  <a:schemeClr val="tx1"/>
                </a:solidFill>
                <a:effectLst/>
                <a:latin typeface="+mn-lt"/>
                <a:ea typeface="+mn-ea"/>
                <a:cs typeface="+mn-cs"/>
              </a:rPr>
              <a:t>static</a:t>
            </a:r>
            <a:r>
              <a:rPr lang="ru-RU" sz="1200" b="0" i="0" kern="1200" dirty="0">
                <a:solidFill>
                  <a:schemeClr val="tx1"/>
                </a:solidFill>
                <a:effectLst/>
                <a:latin typeface="+mn-lt"/>
                <a:ea typeface="+mn-ea"/>
                <a:cs typeface="+mn-cs"/>
              </a:rPr>
              <a:t>, то ее легко можно будет изменить, обратившись к ней через имя класса. Если переменная будет иметь только модификатор </a:t>
            </a:r>
            <a:r>
              <a:rPr lang="ru-RU" sz="1200" b="0" i="0" kern="1200" dirty="0" err="1">
                <a:solidFill>
                  <a:schemeClr val="tx1"/>
                </a:solidFill>
                <a:effectLst/>
                <a:latin typeface="+mn-lt"/>
                <a:ea typeface="+mn-ea"/>
                <a:cs typeface="+mn-cs"/>
              </a:rPr>
              <a:t>final</a:t>
            </a:r>
            <a:r>
              <a:rPr lang="ru-RU" sz="1200" b="0" i="0" kern="1200" dirty="0">
                <a:solidFill>
                  <a:schemeClr val="tx1"/>
                </a:solidFill>
                <a:effectLst/>
                <a:latin typeface="+mn-lt"/>
                <a:ea typeface="+mn-ea"/>
                <a:cs typeface="+mn-cs"/>
              </a:rPr>
              <a:t>, то при создании каждого экземпляра класса она может быть проинициализирована своим значением. Соответственно, используя совместно модификаторы </a:t>
            </a:r>
            <a:r>
              <a:rPr lang="ru-RU" sz="1200" b="0" i="1" kern="1200" dirty="0" err="1">
                <a:solidFill>
                  <a:schemeClr val="tx1"/>
                </a:solidFill>
                <a:effectLst/>
                <a:latin typeface="+mn-lt"/>
                <a:ea typeface="+mn-ea"/>
                <a:cs typeface="+mn-cs"/>
              </a:rPr>
              <a:t>static</a:t>
            </a:r>
            <a:r>
              <a:rPr lang="ru-RU" sz="1200" b="0" i="0" kern="1200" dirty="0">
                <a:solidFill>
                  <a:schemeClr val="tx1"/>
                </a:solidFill>
                <a:effectLst/>
                <a:latin typeface="+mn-lt"/>
                <a:ea typeface="+mn-ea"/>
                <a:cs typeface="+mn-cs"/>
              </a:rPr>
              <a:t> и </a:t>
            </a:r>
            <a:r>
              <a:rPr lang="ru-RU" sz="1200" b="0" i="1" kern="1200" dirty="0" err="1">
                <a:solidFill>
                  <a:schemeClr val="tx1"/>
                </a:solidFill>
                <a:effectLst/>
                <a:latin typeface="+mn-lt"/>
                <a:ea typeface="+mn-ea"/>
                <a:cs typeface="+mn-cs"/>
              </a:rPr>
              <a:t>final</a:t>
            </a:r>
            <a:r>
              <a:rPr lang="ru-RU" sz="1200" b="0" i="0" kern="1200" dirty="0">
                <a:solidFill>
                  <a:schemeClr val="tx1"/>
                </a:solidFill>
                <a:effectLst/>
                <a:latin typeface="+mn-lt"/>
                <a:ea typeface="+mn-ea"/>
                <a:cs typeface="+mn-cs"/>
              </a:rPr>
              <a:t>, переменная остается статической и может быть проинициализирована только один раз. В </a:t>
            </a:r>
            <a:r>
              <a:rPr lang="ru-RU" sz="1200" b="0" i="0" kern="1200" dirty="0" err="1">
                <a:solidFill>
                  <a:schemeClr val="tx1"/>
                </a:solidFill>
                <a:effectLst/>
                <a:latin typeface="+mn-lt"/>
                <a:ea typeface="+mn-ea"/>
                <a:cs typeface="+mn-cs"/>
              </a:rPr>
              <a:t>Java</a:t>
            </a:r>
            <a:r>
              <a:rPr lang="ru-RU" sz="1200" b="0" i="0" kern="1200" dirty="0">
                <a:solidFill>
                  <a:schemeClr val="tx1"/>
                </a:solidFill>
                <a:effectLst/>
                <a:latin typeface="+mn-lt"/>
                <a:ea typeface="+mn-ea"/>
                <a:cs typeface="+mn-cs"/>
              </a:rPr>
              <a:t> константой считается не та переменная, которую нельзя изменить в рамках одного объекта, а та, которую не могут изменить ни один экземпляр класса в котором она находится (такая переменная создается и инициализируется один раз для всех экземпляров, сколько бы их не было).</a:t>
            </a:r>
            <a:endParaRPr lang="ru-RU" dirty="0"/>
          </a:p>
        </p:txBody>
      </p:sp>
      <p:sp>
        <p:nvSpPr>
          <p:cNvPr id="4" name="Slide Number Placeholder 3"/>
          <p:cNvSpPr>
            <a:spLocks noGrp="1"/>
          </p:cNvSpPr>
          <p:nvPr>
            <p:ph type="sldNum" sz="quarter" idx="5"/>
          </p:nvPr>
        </p:nvSpPr>
        <p:spPr/>
        <p:txBody>
          <a:bodyPr/>
          <a:lstStyle/>
          <a:p>
            <a:fld id="{97550DF4-E479-4FC1-BAC7-78E3D466646B}" type="slidenum">
              <a:rPr lang="ru-RU" smtClean="0"/>
              <a:t>7</a:t>
            </a:fld>
            <a:endParaRPr lang="ru-RU"/>
          </a:p>
        </p:txBody>
      </p:sp>
    </p:spTree>
    <p:extLst>
      <p:ext uri="{BB962C8B-B14F-4D97-AF65-F5344CB8AC3E}">
        <p14:creationId xmlns:p14="http://schemas.microsoft.com/office/powerpoint/2010/main" val="1005877052"/>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ru-RU" sz="1200" dirty="0">
                <a:latin typeface="+mj-lt"/>
                <a:cs typeface="Times New Roman" panose="02020603050405020304" pitchFamily="18" charset="0"/>
              </a:rPr>
              <a:t>При попытке обращения статического метода к нестатическим полям и методам класса на консоль посылается сообщение об ошибке. Это позволяет повысить безопасность программы и предотвратить случайное изменение полей и методов отдельных экземпляров класса.</a:t>
            </a:r>
          </a:p>
          <a:p>
            <a:pPr marL="0" marR="0" lvl="0" indent="0" algn="l" defTabSz="914400" rtl="0" eaLnBrk="1" fontAlgn="auto" latinLnBrk="0" hangingPunct="1">
              <a:lnSpc>
                <a:spcPct val="100000"/>
              </a:lnSpc>
              <a:spcBef>
                <a:spcPts val="0"/>
              </a:spcBef>
              <a:spcAft>
                <a:spcPts val="0"/>
              </a:spcAft>
              <a:buClrTx/>
              <a:buSzTx/>
              <a:buFontTx/>
              <a:buNone/>
              <a:tabLst/>
              <a:defRPr/>
            </a:pPr>
            <a:r>
              <a:rPr lang="ru-RU" sz="1200" kern="1200" dirty="0">
                <a:solidFill>
                  <a:schemeClr val="tx1"/>
                </a:solidFill>
                <a:latin typeface="+mn-lt"/>
                <a:ea typeface="+mn-ea"/>
                <a:cs typeface="Times New Roman" panose="02020603050405020304" pitchFamily="18" charset="0"/>
              </a:rPr>
              <a:t>Поэтому статические методы называются методами класса, в отличие от нестатических методов, называемых методами экземпляра.</a:t>
            </a:r>
          </a:p>
          <a:p>
            <a:pPr marL="0" marR="0" lvl="0" indent="0" algn="l" defTabSz="914400" rtl="0" eaLnBrk="1" fontAlgn="auto" latinLnBrk="0" hangingPunct="1">
              <a:lnSpc>
                <a:spcPct val="100000"/>
              </a:lnSpc>
              <a:spcBef>
                <a:spcPts val="0"/>
              </a:spcBef>
              <a:spcAft>
                <a:spcPts val="0"/>
              </a:spcAft>
              <a:buClrTx/>
              <a:buSzTx/>
              <a:buFontTx/>
              <a:buNone/>
              <a:tabLst/>
              <a:defRPr/>
            </a:pPr>
            <a:endParaRPr lang="ru-RU" sz="1200" dirty="0">
              <a:latin typeface="+mj-lt"/>
              <a:cs typeface="Times New Roman" panose="02020603050405020304" pitchFamily="18" charset="0"/>
            </a:endParaRPr>
          </a:p>
          <a:p>
            <a:endParaRPr lang="ru-RU" dirty="0"/>
          </a:p>
        </p:txBody>
      </p:sp>
      <p:sp>
        <p:nvSpPr>
          <p:cNvPr id="4" name="Slide Number Placeholder 3"/>
          <p:cNvSpPr>
            <a:spLocks noGrp="1"/>
          </p:cNvSpPr>
          <p:nvPr>
            <p:ph type="sldNum" sz="quarter" idx="5"/>
          </p:nvPr>
        </p:nvSpPr>
        <p:spPr/>
        <p:txBody>
          <a:bodyPr/>
          <a:lstStyle/>
          <a:p>
            <a:fld id="{97550DF4-E479-4FC1-BAC7-78E3D466646B}" type="slidenum">
              <a:rPr lang="ru-RU" smtClean="0"/>
              <a:t>8</a:t>
            </a:fld>
            <a:endParaRPr lang="ru-RU"/>
          </a:p>
        </p:txBody>
      </p:sp>
    </p:spTree>
    <p:extLst>
      <p:ext uri="{BB962C8B-B14F-4D97-AF65-F5344CB8AC3E}">
        <p14:creationId xmlns:p14="http://schemas.microsoft.com/office/powerpoint/2010/main" val="1056934490"/>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ru-RU" dirty="0"/>
              <a:t>При обращении к статическому методу, который объявлен как в родительском, так и в дочернем классе, во время компиляции всегда будет вызываться метод исходя из типа переменной. В этом есть смысл, только тогда, когда нет возможности или необходимости переопределения такого метода классами-наследниками.</a:t>
            </a:r>
          </a:p>
        </p:txBody>
      </p:sp>
      <p:sp>
        <p:nvSpPr>
          <p:cNvPr id="4" name="Slide Number Placeholder 3"/>
          <p:cNvSpPr>
            <a:spLocks noGrp="1"/>
          </p:cNvSpPr>
          <p:nvPr>
            <p:ph type="sldNum" sz="quarter" idx="5"/>
          </p:nvPr>
        </p:nvSpPr>
        <p:spPr/>
        <p:txBody>
          <a:bodyPr/>
          <a:lstStyle/>
          <a:p>
            <a:fld id="{97550DF4-E479-4FC1-BAC7-78E3D466646B}" type="slidenum">
              <a:rPr lang="ru-RU" smtClean="0"/>
              <a:t>9</a:t>
            </a:fld>
            <a:endParaRPr lang="ru-RU"/>
          </a:p>
        </p:txBody>
      </p:sp>
    </p:spTree>
    <p:extLst>
      <p:ext uri="{BB962C8B-B14F-4D97-AF65-F5344CB8AC3E}">
        <p14:creationId xmlns:p14="http://schemas.microsoft.com/office/powerpoint/2010/main" val="586716554"/>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ru-RU" dirty="0"/>
              <a:t>Вообще методы определяются как статические, когда методы не затрагивают состояние объекта, то есть его нестатические поля и константы, и для вызова метода нет смысла создавать экземпляр класса</a:t>
            </a:r>
          </a:p>
          <a:p>
            <a:endParaRPr lang="ru-RU" dirty="0"/>
          </a:p>
        </p:txBody>
      </p:sp>
      <p:sp>
        <p:nvSpPr>
          <p:cNvPr id="4" name="Slide Number Placeholder 3"/>
          <p:cNvSpPr>
            <a:spLocks noGrp="1"/>
          </p:cNvSpPr>
          <p:nvPr>
            <p:ph type="sldNum" sz="quarter" idx="5"/>
          </p:nvPr>
        </p:nvSpPr>
        <p:spPr/>
        <p:txBody>
          <a:bodyPr/>
          <a:lstStyle/>
          <a:p>
            <a:fld id="{97550DF4-E479-4FC1-BAC7-78E3D466646B}" type="slidenum">
              <a:rPr lang="ru-RU" smtClean="0"/>
              <a:t>10</a:t>
            </a:fld>
            <a:endParaRPr lang="ru-RU"/>
          </a:p>
        </p:txBody>
      </p:sp>
    </p:spTree>
    <p:extLst>
      <p:ext uri="{BB962C8B-B14F-4D97-AF65-F5344CB8AC3E}">
        <p14:creationId xmlns:p14="http://schemas.microsoft.com/office/powerpoint/2010/main" val="314915878"/>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ru-RU" dirty="0"/>
              <a:t>Статические переменные инициализируются еще до начала работы конструктора, но при инициализации можно использовать только константные выражения. Если же инициализация требует сложных вычислений, например циклов для задания значений элементам статических массово или обращений к методам, то эти вычисления заключаются в блок, помеченный словом </a:t>
            </a:r>
            <a:r>
              <a:rPr lang="ru-RU" dirty="0" err="1"/>
              <a:t>static</a:t>
            </a:r>
            <a:r>
              <a:rPr lang="ru-RU" dirty="0"/>
              <a:t>, который тоже будет выполнен при загрузке класса до конструктора.</a:t>
            </a:r>
            <a:endParaRPr lang="en-US" dirty="0"/>
          </a:p>
          <a:p>
            <a:endParaRPr lang="en-US" dirty="0"/>
          </a:p>
          <a:p>
            <a:r>
              <a:rPr lang="ru-RU" sz="1200" b="1" i="0" kern="1200" dirty="0">
                <a:solidFill>
                  <a:schemeClr val="tx1"/>
                </a:solidFill>
                <a:effectLst/>
                <a:latin typeface="+mn-lt"/>
                <a:ea typeface="+mn-ea"/>
                <a:cs typeface="+mn-cs"/>
              </a:rPr>
              <a:t>Причины использовать статические блоки</a:t>
            </a:r>
            <a:endParaRPr lang="en-US" dirty="0"/>
          </a:p>
          <a:p>
            <a:r>
              <a:rPr lang="ru-RU" sz="1200" b="0" i="0" kern="1200" dirty="0">
                <a:solidFill>
                  <a:schemeClr val="tx1"/>
                </a:solidFill>
                <a:effectLst/>
                <a:latin typeface="+mn-lt"/>
                <a:ea typeface="+mn-ea"/>
                <a:cs typeface="+mn-cs"/>
              </a:rPr>
              <a:t>Если для инициализации статических переменных требуется дополнительная логика, за исключением операции присваивания</a:t>
            </a:r>
            <a:br>
              <a:rPr lang="ru-RU" sz="1200" b="0" i="0" kern="1200" dirty="0">
                <a:solidFill>
                  <a:schemeClr val="tx1"/>
                </a:solidFill>
                <a:effectLst/>
                <a:latin typeface="+mn-lt"/>
                <a:ea typeface="+mn-ea"/>
                <a:cs typeface="+mn-cs"/>
              </a:rPr>
            </a:br>
            <a:r>
              <a:rPr lang="ru-RU" sz="1200" b="0" i="0" kern="1200" dirty="0">
                <a:solidFill>
                  <a:schemeClr val="tx1"/>
                </a:solidFill>
                <a:effectLst/>
                <a:latin typeface="+mn-lt"/>
                <a:ea typeface="+mn-ea"/>
                <a:cs typeface="+mn-cs"/>
              </a:rPr>
              <a:t>Если инициализация статических переменных подвержена ошибкам и требует обработки исключений</a:t>
            </a:r>
          </a:p>
          <a:p>
            <a:endParaRPr lang="ru-RU" dirty="0"/>
          </a:p>
          <a:p>
            <a:endParaRPr lang="ru-RU" dirty="0"/>
          </a:p>
        </p:txBody>
      </p:sp>
      <p:sp>
        <p:nvSpPr>
          <p:cNvPr id="4" name="Slide Number Placeholder 3"/>
          <p:cNvSpPr>
            <a:spLocks noGrp="1"/>
          </p:cNvSpPr>
          <p:nvPr>
            <p:ph type="sldNum" sz="quarter" idx="5"/>
          </p:nvPr>
        </p:nvSpPr>
        <p:spPr/>
        <p:txBody>
          <a:bodyPr/>
          <a:lstStyle/>
          <a:p>
            <a:fld id="{97550DF4-E479-4FC1-BAC7-78E3D466646B}" type="slidenum">
              <a:rPr lang="ru-RU" smtClean="0"/>
              <a:t>11</a:t>
            </a:fld>
            <a:endParaRPr lang="ru-RU"/>
          </a:p>
        </p:txBody>
      </p:sp>
    </p:spTree>
    <p:extLst>
      <p:ext uri="{BB962C8B-B14F-4D97-AF65-F5344CB8AC3E}">
        <p14:creationId xmlns:p14="http://schemas.microsoft.com/office/powerpoint/2010/main" val="3481494684"/>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ru-RU" dirty="0"/>
          </a:p>
        </p:txBody>
      </p:sp>
      <p:sp>
        <p:nvSpPr>
          <p:cNvPr id="4" name="Slide Number Placeholder 3"/>
          <p:cNvSpPr>
            <a:spLocks noGrp="1"/>
          </p:cNvSpPr>
          <p:nvPr>
            <p:ph type="sldNum" sz="quarter" idx="5"/>
          </p:nvPr>
        </p:nvSpPr>
        <p:spPr/>
        <p:txBody>
          <a:bodyPr/>
          <a:lstStyle/>
          <a:p>
            <a:fld id="{97550DF4-E479-4FC1-BAC7-78E3D466646B}" type="slidenum">
              <a:rPr lang="ru-RU" smtClean="0"/>
              <a:t>13</a:t>
            </a:fld>
            <a:endParaRPr lang="ru-RU"/>
          </a:p>
        </p:txBody>
      </p:sp>
    </p:spTree>
    <p:extLst>
      <p:ext uri="{BB962C8B-B14F-4D97-AF65-F5344CB8AC3E}">
        <p14:creationId xmlns:p14="http://schemas.microsoft.com/office/powerpoint/2010/main" val="3367309794"/>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ru-RU" dirty="0"/>
          </a:p>
        </p:txBody>
      </p:sp>
      <p:sp>
        <p:nvSpPr>
          <p:cNvPr id="4" name="Slide Number Placeholder 3"/>
          <p:cNvSpPr>
            <a:spLocks noGrp="1"/>
          </p:cNvSpPr>
          <p:nvPr>
            <p:ph type="sldNum" sz="quarter" idx="5"/>
          </p:nvPr>
        </p:nvSpPr>
        <p:spPr/>
        <p:txBody>
          <a:bodyPr/>
          <a:lstStyle/>
          <a:p>
            <a:fld id="{97550DF4-E479-4FC1-BAC7-78E3D466646B}" type="slidenum">
              <a:rPr lang="ru-RU" smtClean="0"/>
              <a:t>14</a:t>
            </a:fld>
            <a:endParaRPr lang="ru-RU"/>
          </a:p>
        </p:txBody>
      </p:sp>
    </p:spTree>
    <p:extLst>
      <p:ext uri="{BB962C8B-B14F-4D97-AF65-F5344CB8AC3E}">
        <p14:creationId xmlns:p14="http://schemas.microsoft.com/office/powerpoint/2010/main" val="3848200229"/>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ru-RU" dirty="0"/>
              <a:t>Вложенный класс группирует элементы, которые будут использоваться в одном месте, сделав тем сам код более организованным и читабельным.</a:t>
            </a:r>
          </a:p>
        </p:txBody>
      </p:sp>
      <p:sp>
        <p:nvSpPr>
          <p:cNvPr id="4" name="Slide Number Placeholder 3"/>
          <p:cNvSpPr>
            <a:spLocks noGrp="1"/>
          </p:cNvSpPr>
          <p:nvPr>
            <p:ph type="sldNum" sz="quarter" idx="5"/>
          </p:nvPr>
        </p:nvSpPr>
        <p:spPr/>
        <p:txBody>
          <a:bodyPr/>
          <a:lstStyle/>
          <a:p>
            <a:fld id="{97550DF4-E479-4FC1-BAC7-78E3D466646B}" type="slidenum">
              <a:rPr lang="ru-RU" smtClean="0"/>
              <a:t>15</a:t>
            </a:fld>
            <a:endParaRPr lang="ru-RU"/>
          </a:p>
        </p:txBody>
      </p:sp>
    </p:spTree>
    <p:extLst>
      <p:ext uri="{BB962C8B-B14F-4D97-AF65-F5344CB8AC3E}">
        <p14:creationId xmlns:p14="http://schemas.microsoft.com/office/powerpoint/2010/main" val="2996018136"/>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ru-RU" dirty="0"/>
              <a:t>Вложенные классы бывают двух видов:</a:t>
            </a:r>
          </a:p>
          <a:p>
            <a:pPr marL="171450" indent="-171450">
              <a:buFont typeface="Arial" panose="020B0604020202020204" pitchFamily="34" charset="0"/>
              <a:buChar char="•"/>
            </a:pPr>
            <a:r>
              <a:rPr lang="ru-RU" dirty="0"/>
              <a:t>вложенные классы, объявленные статическими, называются статическими вложенными классами (</a:t>
            </a:r>
            <a:r>
              <a:rPr lang="ru-RU" dirty="0" err="1"/>
              <a:t>static</a:t>
            </a:r>
            <a:r>
              <a:rPr lang="ru-RU" dirty="0"/>
              <a:t> </a:t>
            </a:r>
            <a:r>
              <a:rPr lang="ru-RU" dirty="0" err="1"/>
              <a:t>nested</a:t>
            </a:r>
            <a:r>
              <a:rPr lang="ru-RU" dirty="0"/>
              <a:t> </a:t>
            </a:r>
            <a:r>
              <a:rPr lang="ru-RU" dirty="0" err="1"/>
              <a:t>classes</a:t>
            </a:r>
            <a:r>
              <a:rPr lang="ru-RU" dirty="0"/>
              <a:t>)</a:t>
            </a:r>
          </a:p>
          <a:p>
            <a:pPr marL="171450" indent="-171450">
              <a:buFont typeface="Arial" panose="020B0604020202020204" pitchFamily="34" charset="0"/>
              <a:buChar char="•"/>
            </a:pPr>
            <a:r>
              <a:rPr lang="ru-RU" dirty="0"/>
              <a:t>вложенные классы, объявленные без </a:t>
            </a:r>
            <a:r>
              <a:rPr lang="ru-RU" dirty="0" err="1"/>
              <a:t>static</a:t>
            </a:r>
            <a:r>
              <a:rPr lang="ru-RU" dirty="0"/>
              <a:t>, называются внутренними классами (</a:t>
            </a:r>
            <a:r>
              <a:rPr lang="ru-RU" dirty="0" err="1"/>
              <a:t>inner</a:t>
            </a:r>
            <a:r>
              <a:rPr lang="ru-RU" dirty="0"/>
              <a:t> </a:t>
            </a:r>
            <a:r>
              <a:rPr lang="ru-RU" dirty="0" err="1"/>
              <a:t>classes</a:t>
            </a:r>
            <a:r>
              <a:rPr lang="ru-RU" dirty="0"/>
              <a:t>)</a:t>
            </a:r>
          </a:p>
          <a:p>
            <a:endParaRPr lang="ru-RU" dirty="0"/>
          </a:p>
          <a:p>
            <a:r>
              <a:rPr lang="ru-RU" dirty="0"/>
              <a:t>Основное различие между этими понятиями состоит в том, что внутренние классы имеют доступ ко всем членам включающего их класса (включая приватные) верхнего уровня, тогда как статические вложенные классы имеют доступ только к статическим членам внешнего класса.</a:t>
            </a:r>
          </a:p>
          <a:p>
            <a:endParaRPr lang="ru-RU" dirty="0"/>
          </a:p>
        </p:txBody>
      </p:sp>
      <p:sp>
        <p:nvSpPr>
          <p:cNvPr id="4" name="Slide Number Placeholder 3"/>
          <p:cNvSpPr>
            <a:spLocks noGrp="1"/>
          </p:cNvSpPr>
          <p:nvPr>
            <p:ph type="sldNum" sz="quarter" idx="5"/>
          </p:nvPr>
        </p:nvSpPr>
        <p:spPr/>
        <p:txBody>
          <a:bodyPr/>
          <a:lstStyle/>
          <a:p>
            <a:fld id="{97550DF4-E479-4FC1-BAC7-78E3D466646B}" type="slidenum">
              <a:rPr lang="ru-RU" smtClean="0"/>
              <a:t>16</a:t>
            </a:fld>
            <a:endParaRPr lang="ru-RU"/>
          </a:p>
        </p:txBody>
      </p:sp>
    </p:spTree>
    <p:extLst>
      <p:ext uri="{BB962C8B-B14F-4D97-AF65-F5344CB8AC3E}">
        <p14:creationId xmlns:p14="http://schemas.microsoft.com/office/powerpoint/2010/main" val="3744801933"/>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ru-RU" dirty="0"/>
              <a:t>Внутренние классы — это классы для выделения в программе некой сущности, которая неразрывно связана с другой сущностью.</a:t>
            </a:r>
          </a:p>
        </p:txBody>
      </p:sp>
      <p:sp>
        <p:nvSpPr>
          <p:cNvPr id="4" name="Slide Number Placeholder 3"/>
          <p:cNvSpPr>
            <a:spLocks noGrp="1"/>
          </p:cNvSpPr>
          <p:nvPr>
            <p:ph type="sldNum" sz="quarter" idx="5"/>
          </p:nvPr>
        </p:nvSpPr>
        <p:spPr/>
        <p:txBody>
          <a:bodyPr/>
          <a:lstStyle/>
          <a:p>
            <a:fld id="{97550DF4-E479-4FC1-BAC7-78E3D466646B}" type="slidenum">
              <a:rPr lang="ru-RU" smtClean="0"/>
              <a:t>19</a:t>
            </a:fld>
            <a:endParaRPr lang="ru-RU"/>
          </a:p>
        </p:txBody>
      </p:sp>
    </p:spTree>
    <p:extLst>
      <p:ext uri="{BB962C8B-B14F-4D97-AF65-F5344CB8AC3E}">
        <p14:creationId xmlns:p14="http://schemas.microsoft.com/office/powerpoint/2010/main" val="1304999393"/>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ru-RU" dirty="0"/>
              <a:t>. Одно такое закрытое поле есть в каждой константе любого перечисления. Оно хранит порядковый номер константы, возвращаемый методом </a:t>
            </a:r>
            <a:r>
              <a:rPr lang="ru-RU" dirty="0" err="1"/>
              <a:t>ordinar</a:t>
            </a:r>
            <a:r>
              <a:rPr lang="ru-RU" dirty="0"/>
              <a:t>().</a:t>
            </a:r>
          </a:p>
          <a:p>
            <a:r>
              <a:rPr lang="ru-RU" dirty="0"/>
              <a:t>Можно добавлять в каждую константу свои поля и методы.</a:t>
            </a:r>
          </a:p>
          <a:p>
            <a:endParaRPr lang="ru-RU" dirty="0"/>
          </a:p>
        </p:txBody>
      </p:sp>
      <p:sp>
        <p:nvSpPr>
          <p:cNvPr id="4" name="Slide Number Placeholder 3"/>
          <p:cNvSpPr>
            <a:spLocks noGrp="1"/>
          </p:cNvSpPr>
          <p:nvPr>
            <p:ph type="sldNum" sz="quarter" idx="5"/>
          </p:nvPr>
        </p:nvSpPr>
        <p:spPr/>
        <p:txBody>
          <a:bodyPr/>
          <a:lstStyle/>
          <a:p>
            <a:fld id="{97550DF4-E479-4FC1-BAC7-78E3D466646B}" type="slidenum">
              <a:rPr lang="ru-RU" smtClean="0"/>
              <a:t>23</a:t>
            </a:fld>
            <a:endParaRPr lang="ru-RU"/>
          </a:p>
        </p:txBody>
      </p:sp>
    </p:spTree>
    <p:extLst>
      <p:ext uri="{BB962C8B-B14F-4D97-AF65-F5344CB8AC3E}">
        <p14:creationId xmlns:p14="http://schemas.microsoft.com/office/powerpoint/2010/main" val="3488880095"/>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3.jp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4.jp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4.jp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Титульный слайд">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4" name="Дата 3"/>
          <p:cNvSpPr>
            <a:spLocks noGrp="1"/>
          </p:cNvSpPr>
          <p:nvPr>
            <p:ph type="dt" sz="half" idx="10"/>
          </p:nvPr>
        </p:nvSpPr>
        <p:spPr/>
        <p:txBody>
          <a:bodyPr/>
          <a:lstStyle/>
          <a:p>
            <a:fld id="{ABBC938B-0DA2-4448-9396-E3D6B6592B57}" type="datetime1">
              <a:rPr lang="ru-RU" smtClean="0"/>
              <a:t>16.07.2025</a:t>
            </a:fld>
            <a:endParaRPr lang="ru-RU"/>
          </a:p>
        </p:txBody>
      </p:sp>
      <p:sp>
        <p:nvSpPr>
          <p:cNvPr id="5" name="Нижний колонтитул 4"/>
          <p:cNvSpPr>
            <a:spLocks noGrp="1"/>
          </p:cNvSpPr>
          <p:nvPr>
            <p:ph type="ftr" sz="quarter" idx="11"/>
          </p:nvPr>
        </p:nvSpPr>
        <p:spPr/>
        <p:txBody>
          <a:bodyPr/>
          <a:lstStyle/>
          <a:p>
            <a:endParaRPr lang="ru-RU"/>
          </a:p>
        </p:txBody>
      </p:sp>
      <p:sp>
        <p:nvSpPr>
          <p:cNvPr id="6" name="Номер слайда 5"/>
          <p:cNvSpPr>
            <a:spLocks noGrp="1"/>
          </p:cNvSpPr>
          <p:nvPr>
            <p:ph type="sldNum" sz="quarter" idx="12"/>
          </p:nvPr>
        </p:nvSpPr>
        <p:spPr/>
        <p:txBody>
          <a:bodyPr/>
          <a:lstStyle/>
          <a:p>
            <a:fld id="{2A69F336-2DD4-44CE-8205-AE3F61CEB7C8}" type="slidenum">
              <a:rPr lang="ru-RU" smtClean="0"/>
              <a:t>‹#›</a:t>
            </a:fld>
            <a:endParaRPr lang="ru-RU"/>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title" preserve="1">
  <p:cSld name="1_Титульный слайд">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Заголовок 1"/>
          <p:cNvSpPr>
            <a:spLocks noGrp="1"/>
          </p:cNvSpPr>
          <p:nvPr>
            <p:ph type="ctrTitle"/>
          </p:nvPr>
        </p:nvSpPr>
        <p:spPr>
          <a:xfrm>
            <a:off x="685800" y="1597819"/>
            <a:ext cx="7772400" cy="1102519"/>
          </a:xfrm>
        </p:spPr>
        <p:txBody>
          <a:bodyPr/>
          <a:lstStyle>
            <a:lvl1pPr>
              <a:defRPr b="1">
                <a:solidFill>
                  <a:schemeClr val="accent6"/>
                </a:solidFill>
              </a:defRPr>
            </a:lvl1pPr>
          </a:lstStyle>
          <a:p>
            <a:r>
              <a:rPr lang="ru-RU" dirty="0"/>
              <a:t>Образец заголовка</a:t>
            </a:r>
          </a:p>
        </p:txBody>
      </p:sp>
      <p:sp>
        <p:nvSpPr>
          <p:cNvPr id="3" name="Подзаголовок 2"/>
          <p:cNvSpPr>
            <a:spLocks noGrp="1"/>
          </p:cNvSpPr>
          <p:nvPr>
            <p:ph type="subTitle" idx="1"/>
          </p:nvPr>
        </p:nvSpPr>
        <p:spPr>
          <a:xfrm>
            <a:off x="1371600" y="2914650"/>
            <a:ext cx="6400800" cy="1314450"/>
          </a:xfrm>
        </p:spPr>
        <p:txBody>
          <a:bodyPr/>
          <a:lstStyle>
            <a:lvl1pPr marL="0" indent="0" algn="ctr">
              <a:buNone/>
              <a:defRPr>
                <a:solidFill>
                  <a:schemeClr val="accent1">
                    <a:lumMod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ru-RU" dirty="0"/>
              <a:t>Образец подзаголовка</a:t>
            </a:r>
          </a:p>
        </p:txBody>
      </p:sp>
      <p:sp>
        <p:nvSpPr>
          <p:cNvPr id="4" name="Дата 3"/>
          <p:cNvSpPr>
            <a:spLocks noGrp="1"/>
          </p:cNvSpPr>
          <p:nvPr>
            <p:ph type="dt" sz="half" idx="10"/>
          </p:nvPr>
        </p:nvSpPr>
        <p:spPr/>
        <p:txBody>
          <a:bodyPr/>
          <a:lstStyle/>
          <a:p>
            <a:fld id="{ABBC938B-0DA2-4448-9396-E3D6B6592B57}" type="datetime1">
              <a:rPr lang="ru-RU" smtClean="0"/>
              <a:t>16.07.2025</a:t>
            </a:fld>
            <a:endParaRPr lang="ru-RU"/>
          </a:p>
        </p:txBody>
      </p:sp>
      <p:sp>
        <p:nvSpPr>
          <p:cNvPr id="5" name="Нижний колонтитул 4"/>
          <p:cNvSpPr>
            <a:spLocks noGrp="1"/>
          </p:cNvSpPr>
          <p:nvPr>
            <p:ph type="ftr" sz="quarter" idx="11"/>
          </p:nvPr>
        </p:nvSpPr>
        <p:spPr/>
        <p:txBody>
          <a:bodyPr/>
          <a:lstStyle/>
          <a:p>
            <a:endParaRPr lang="ru-RU"/>
          </a:p>
        </p:txBody>
      </p:sp>
      <p:sp>
        <p:nvSpPr>
          <p:cNvPr id="6" name="Номер слайда 5"/>
          <p:cNvSpPr>
            <a:spLocks noGrp="1"/>
          </p:cNvSpPr>
          <p:nvPr>
            <p:ph type="sldNum" sz="quarter" idx="12"/>
          </p:nvPr>
        </p:nvSpPr>
        <p:spPr/>
        <p:txBody>
          <a:bodyPr/>
          <a:lstStyle/>
          <a:p>
            <a:fld id="{2A69F336-2DD4-44CE-8205-AE3F61CEB7C8}" type="slidenum">
              <a:rPr lang="ru-RU" smtClean="0"/>
              <a:t>‹#›</a:t>
            </a:fld>
            <a:endParaRPr lang="ru-RU"/>
          </a:p>
        </p:txBody>
      </p:sp>
    </p:spTree>
    <p:extLst>
      <p:ext uri="{BB962C8B-B14F-4D97-AF65-F5344CB8AC3E}">
        <p14:creationId xmlns:p14="http://schemas.microsoft.com/office/powerpoint/2010/main" val="3501087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Заголовок раздела">
    <p:spTree>
      <p:nvGrpSpPr>
        <p:cNvPr id="1" name=""/>
        <p:cNvGrpSpPr/>
        <p:nvPr/>
      </p:nvGrpSpPr>
      <p:grpSpPr>
        <a:xfrm>
          <a:off x="0" y="0"/>
          <a:ext cx="0" cy="0"/>
          <a:chOff x="0" y="0"/>
          <a:chExt cx="0" cy="0"/>
        </a:xfrm>
      </p:grpSpPr>
      <p:sp>
        <p:nvSpPr>
          <p:cNvPr id="2" name="Заголовок 1"/>
          <p:cNvSpPr>
            <a:spLocks noGrp="1"/>
          </p:cNvSpPr>
          <p:nvPr>
            <p:ph type="title"/>
          </p:nvPr>
        </p:nvSpPr>
        <p:spPr>
          <a:xfrm>
            <a:off x="722313" y="3305176"/>
            <a:ext cx="7772400" cy="1021556"/>
          </a:xfrm>
        </p:spPr>
        <p:txBody>
          <a:bodyPr anchor="t"/>
          <a:lstStyle>
            <a:lvl1pPr algn="l">
              <a:defRPr sz="4000" b="1" cap="all"/>
            </a:lvl1pPr>
          </a:lstStyle>
          <a:p>
            <a:r>
              <a:rPr lang="ru-RU"/>
              <a:t>Образец заголовка</a:t>
            </a:r>
          </a:p>
        </p:txBody>
      </p:sp>
      <p:sp>
        <p:nvSpPr>
          <p:cNvPr id="3" name="Текст 2"/>
          <p:cNvSpPr>
            <a:spLocks noGrp="1"/>
          </p:cNvSpPr>
          <p:nvPr>
            <p:ph type="body" idx="1"/>
          </p:nvPr>
        </p:nvSpPr>
        <p:spPr>
          <a:xfrm>
            <a:off x="722313" y="2180035"/>
            <a:ext cx="7772400" cy="1125140"/>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ru-RU"/>
              <a:t>Образец текста</a:t>
            </a:r>
          </a:p>
        </p:txBody>
      </p:sp>
      <p:sp>
        <p:nvSpPr>
          <p:cNvPr id="4" name="Дата 3"/>
          <p:cNvSpPr>
            <a:spLocks noGrp="1"/>
          </p:cNvSpPr>
          <p:nvPr>
            <p:ph type="dt" sz="half" idx="10"/>
          </p:nvPr>
        </p:nvSpPr>
        <p:spPr/>
        <p:txBody>
          <a:bodyPr/>
          <a:lstStyle/>
          <a:p>
            <a:fld id="{7D878473-29C1-4E38-9693-78112B8E8A00}" type="datetime1">
              <a:rPr lang="ru-RU" smtClean="0"/>
              <a:t>16.07.2025</a:t>
            </a:fld>
            <a:endParaRPr lang="ru-RU"/>
          </a:p>
        </p:txBody>
      </p:sp>
      <p:sp>
        <p:nvSpPr>
          <p:cNvPr id="5" name="Нижний колонтитул 4"/>
          <p:cNvSpPr>
            <a:spLocks noGrp="1"/>
          </p:cNvSpPr>
          <p:nvPr>
            <p:ph type="ftr" sz="quarter" idx="11"/>
          </p:nvPr>
        </p:nvSpPr>
        <p:spPr/>
        <p:txBody>
          <a:bodyPr/>
          <a:lstStyle/>
          <a:p>
            <a:endParaRPr lang="ru-RU"/>
          </a:p>
        </p:txBody>
      </p:sp>
      <p:sp>
        <p:nvSpPr>
          <p:cNvPr id="6" name="Номер слайда 5"/>
          <p:cNvSpPr>
            <a:spLocks noGrp="1"/>
          </p:cNvSpPr>
          <p:nvPr>
            <p:ph type="sldNum" sz="quarter" idx="12"/>
          </p:nvPr>
        </p:nvSpPr>
        <p:spPr/>
        <p:txBody>
          <a:bodyPr/>
          <a:lstStyle/>
          <a:p>
            <a:fld id="{2A69F336-2DD4-44CE-8205-AE3F61CEB7C8}" type="slidenum">
              <a:rPr lang="ru-RU" smtClean="0"/>
              <a:t>‹#›</a:t>
            </a:fld>
            <a:endParaRPr lang="ru-RU"/>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obj" preserve="1">
  <p:cSld name="Заголовок и объект">
    <p:spTree>
      <p:nvGrpSpPr>
        <p:cNvPr id="1" name=""/>
        <p:cNvGrpSpPr/>
        <p:nvPr/>
      </p:nvGrpSpPr>
      <p:grpSpPr>
        <a:xfrm>
          <a:off x="0" y="0"/>
          <a:ext cx="0" cy="0"/>
          <a:chOff x="0" y="0"/>
          <a:chExt cx="0" cy="0"/>
        </a:xfrm>
      </p:grpSpPr>
      <p:sp>
        <p:nvSpPr>
          <p:cNvPr id="2" name="Заголовок 1"/>
          <p:cNvSpPr>
            <a:spLocks noGrp="1"/>
          </p:cNvSpPr>
          <p:nvPr>
            <p:ph type="title"/>
          </p:nvPr>
        </p:nvSpPr>
        <p:spPr/>
        <p:txBody>
          <a:bodyPr/>
          <a:lstStyle/>
          <a:p>
            <a:r>
              <a:rPr lang="ru-RU" dirty="0"/>
              <a:t>Образец заголовка</a:t>
            </a:r>
          </a:p>
        </p:txBody>
      </p:sp>
      <p:sp>
        <p:nvSpPr>
          <p:cNvPr id="3" name="Содержимое 2"/>
          <p:cNvSpPr>
            <a:spLocks noGrp="1"/>
          </p:cNvSpPr>
          <p:nvPr>
            <p:ph idx="1"/>
          </p:nvPr>
        </p:nvSpPr>
        <p:spPr/>
        <p:txBody>
          <a:bodyPr/>
          <a:lstStyle/>
          <a:p>
            <a:pPr lvl="0"/>
            <a:r>
              <a:rPr lang="ru-RU"/>
              <a:t>Образец текста</a:t>
            </a:r>
          </a:p>
          <a:p>
            <a:pPr lvl="1"/>
            <a:r>
              <a:rPr lang="ru-RU"/>
              <a:t>Второй уровень</a:t>
            </a:r>
          </a:p>
          <a:p>
            <a:pPr lvl="2"/>
            <a:r>
              <a:rPr lang="ru-RU"/>
              <a:t>Третий уровень</a:t>
            </a:r>
          </a:p>
          <a:p>
            <a:pPr lvl="3"/>
            <a:r>
              <a:rPr lang="ru-RU"/>
              <a:t>Четвертый уровень</a:t>
            </a:r>
          </a:p>
          <a:p>
            <a:pPr lvl="4"/>
            <a:r>
              <a:rPr lang="ru-RU"/>
              <a:t>Пятый уровень</a:t>
            </a:r>
          </a:p>
        </p:txBody>
      </p:sp>
      <p:sp>
        <p:nvSpPr>
          <p:cNvPr id="4" name="Дата 3"/>
          <p:cNvSpPr>
            <a:spLocks noGrp="1"/>
          </p:cNvSpPr>
          <p:nvPr>
            <p:ph type="dt" sz="half" idx="10"/>
          </p:nvPr>
        </p:nvSpPr>
        <p:spPr/>
        <p:txBody>
          <a:bodyPr/>
          <a:lstStyle>
            <a:lvl1pPr>
              <a:defRPr>
                <a:solidFill>
                  <a:schemeClr val="bg1"/>
                </a:solidFill>
              </a:defRPr>
            </a:lvl1pPr>
          </a:lstStyle>
          <a:p>
            <a:fld id="{9043326F-15DF-455F-B9E6-C0CE4A481B5D}" type="datetime1">
              <a:rPr lang="ru-RU" smtClean="0"/>
              <a:pPr/>
              <a:t>16.07.2025</a:t>
            </a:fld>
            <a:endParaRPr lang="ru-RU"/>
          </a:p>
        </p:txBody>
      </p:sp>
      <p:sp>
        <p:nvSpPr>
          <p:cNvPr id="5" name="Нижний колонтитул 4"/>
          <p:cNvSpPr>
            <a:spLocks noGrp="1"/>
          </p:cNvSpPr>
          <p:nvPr>
            <p:ph type="ftr" sz="quarter" idx="11"/>
          </p:nvPr>
        </p:nvSpPr>
        <p:spPr/>
        <p:txBody>
          <a:bodyPr/>
          <a:lstStyle>
            <a:lvl1pPr>
              <a:defRPr>
                <a:solidFill>
                  <a:schemeClr val="bg1"/>
                </a:solidFill>
              </a:defRPr>
            </a:lvl1pPr>
          </a:lstStyle>
          <a:p>
            <a:endParaRPr lang="ru-RU"/>
          </a:p>
        </p:txBody>
      </p:sp>
      <p:sp>
        <p:nvSpPr>
          <p:cNvPr id="6" name="Номер слайда 5"/>
          <p:cNvSpPr>
            <a:spLocks noGrp="1"/>
          </p:cNvSpPr>
          <p:nvPr>
            <p:ph type="sldNum" sz="quarter" idx="12"/>
          </p:nvPr>
        </p:nvSpPr>
        <p:spPr/>
        <p:txBody>
          <a:bodyPr/>
          <a:lstStyle>
            <a:lvl1pPr>
              <a:defRPr>
                <a:solidFill>
                  <a:schemeClr val="bg1"/>
                </a:solidFill>
              </a:defRPr>
            </a:lvl1pPr>
          </a:lstStyle>
          <a:p>
            <a:fld id="{2A69F336-2DD4-44CE-8205-AE3F61CEB7C8}" type="slidenum">
              <a:rPr lang="ru-RU" smtClean="0"/>
              <a:pPr/>
              <a:t>‹#›</a:t>
            </a:fld>
            <a:endParaRPr lang="ru-RU"/>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Obj" preserve="1">
  <p:cSld name="Два объекта">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Заголовок 1"/>
          <p:cNvSpPr>
            <a:spLocks noGrp="1"/>
          </p:cNvSpPr>
          <p:nvPr>
            <p:ph type="title"/>
          </p:nvPr>
        </p:nvSpPr>
        <p:spPr/>
        <p:txBody>
          <a:bodyPr/>
          <a:lstStyle/>
          <a:p>
            <a:r>
              <a:rPr lang="ru-RU"/>
              <a:t>Образец заголовка</a:t>
            </a:r>
          </a:p>
        </p:txBody>
      </p:sp>
      <p:sp>
        <p:nvSpPr>
          <p:cNvPr id="3" name="Содержимое 2"/>
          <p:cNvSpPr>
            <a:spLocks noGrp="1"/>
          </p:cNvSpPr>
          <p:nvPr>
            <p:ph sz="half" idx="1"/>
          </p:nvPr>
        </p:nvSpPr>
        <p:spPr>
          <a:xfrm>
            <a:off x="457200" y="1200151"/>
            <a:ext cx="4038600" cy="3394472"/>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ru-RU"/>
              <a:t>Образец текста</a:t>
            </a:r>
          </a:p>
          <a:p>
            <a:pPr lvl="1"/>
            <a:r>
              <a:rPr lang="ru-RU"/>
              <a:t>Второй уровень</a:t>
            </a:r>
          </a:p>
          <a:p>
            <a:pPr lvl="2"/>
            <a:r>
              <a:rPr lang="ru-RU"/>
              <a:t>Третий уровень</a:t>
            </a:r>
          </a:p>
          <a:p>
            <a:pPr lvl="3"/>
            <a:r>
              <a:rPr lang="ru-RU"/>
              <a:t>Четвертый уровень</a:t>
            </a:r>
          </a:p>
          <a:p>
            <a:pPr lvl="4"/>
            <a:r>
              <a:rPr lang="ru-RU"/>
              <a:t>Пятый уровень</a:t>
            </a:r>
          </a:p>
        </p:txBody>
      </p:sp>
      <p:sp>
        <p:nvSpPr>
          <p:cNvPr id="4" name="Содержимое 3"/>
          <p:cNvSpPr>
            <a:spLocks noGrp="1"/>
          </p:cNvSpPr>
          <p:nvPr>
            <p:ph sz="half" idx="2"/>
          </p:nvPr>
        </p:nvSpPr>
        <p:spPr>
          <a:xfrm>
            <a:off x="4648200" y="1200151"/>
            <a:ext cx="4038600" cy="3394472"/>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ru-RU"/>
              <a:t>Образец текста</a:t>
            </a:r>
          </a:p>
          <a:p>
            <a:pPr lvl="1"/>
            <a:r>
              <a:rPr lang="ru-RU"/>
              <a:t>Второй уровень</a:t>
            </a:r>
          </a:p>
          <a:p>
            <a:pPr lvl="2"/>
            <a:r>
              <a:rPr lang="ru-RU"/>
              <a:t>Третий уровень</a:t>
            </a:r>
          </a:p>
          <a:p>
            <a:pPr lvl="3"/>
            <a:r>
              <a:rPr lang="ru-RU"/>
              <a:t>Четвертый уровень</a:t>
            </a:r>
          </a:p>
          <a:p>
            <a:pPr lvl="4"/>
            <a:r>
              <a:rPr lang="ru-RU"/>
              <a:t>Пятый уровень</a:t>
            </a:r>
          </a:p>
        </p:txBody>
      </p:sp>
      <p:sp>
        <p:nvSpPr>
          <p:cNvPr id="5" name="Дата 4"/>
          <p:cNvSpPr>
            <a:spLocks noGrp="1"/>
          </p:cNvSpPr>
          <p:nvPr>
            <p:ph type="dt" sz="half" idx="10"/>
          </p:nvPr>
        </p:nvSpPr>
        <p:spPr/>
        <p:txBody>
          <a:bodyPr/>
          <a:lstStyle/>
          <a:p>
            <a:fld id="{13B04C6E-9B24-454D-9475-909125905394}" type="datetime1">
              <a:rPr lang="ru-RU" smtClean="0"/>
              <a:t>16.07.2025</a:t>
            </a:fld>
            <a:endParaRPr lang="ru-RU"/>
          </a:p>
        </p:txBody>
      </p:sp>
      <p:sp>
        <p:nvSpPr>
          <p:cNvPr id="6" name="Нижний колонтитул 5"/>
          <p:cNvSpPr>
            <a:spLocks noGrp="1"/>
          </p:cNvSpPr>
          <p:nvPr>
            <p:ph type="ftr" sz="quarter" idx="11"/>
          </p:nvPr>
        </p:nvSpPr>
        <p:spPr/>
        <p:txBody>
          <a:bodyPr/>
          <a:lstStyle/>
          <a:p>
            <a:endParaRPr lang="ru-RU"/>
          </a:p>
        </p:txBody>
      </p:sp>
      <p:sp>
        <p:nvSpPr>
          <p:cNvPr id="7" name="Номер слайда 6"/>
          <p:cNvSpPr>
            <a:spLocks noGrp="1"/>
          </p:cNvSpPr>
          <p:nvPr>
            <p:ph type="sldNum" sz="quarter" idx="12"/>
          </p:nvPr>
        </p:nvSpPr>
        <p:spPr/>
        <p:txBody>
          <a:bodyPr/>
          <a:lstStyle/>
          <a:p>
            <a:fld id="{2A69F336-2DD4-44CE-8205-AE3F61CEB7C8}" type="slidenum">
              <a:rPr lang="ru-RU" smtClean="0"/>
              <a:t>‹#›</a:t>
            </a:fld>
            <a:endParaRPr lang="ru-RU"/>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Только заголовок">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Заголовок 1"/>
          <p:cNvSpPr>
            <a:spLocks noGrp="1"/>
          </p:cNvSpPr>
          <p:nvPr>
            <p:ph type="title"/>
          </p:nvPr>
        </p:nvSpPr>
        <p:spPr/>
        <p:txBody>
          <a:bodyPr/>
          <a:lstStyle/>
          <a:p>
            <a:r>
              <a:rPr lang="ru-RU" dirty="0"/>
              <a:t>Образец заголовка</a:t>
            </a:r>
          </a:p>
        </p:txBody>
      </p:sp>
      <p:sp>
        <p:nvSpPr>
          <p:cNvPr id="3" name="Дата 2"/>
          <p:cNvSpPr>
            <a:spLocks noGrp="1"/>
          </p:cNvSpPr>
          <p:nvPr>
            <p:ph type="dt" sz="half" idx="10"/>
          </p:nvPr>
        </p:nvSpPr>
        <p:spPr/>
        <p:txBody>
          <a:bodyPr/>
          <a:lstStyle/>
          <a:p>
            <a:fld id="{7ACE23A4-FFB4-4197-8E90-81B496FF21F2}" type="datetime1">
              <a:rPr lang="ru-RU" smtClean="0"/>
              <a:t>16.07.2025</a:t>
            </a:fld>
            <a:endParaRPr lang="ru-RU"/>
          </a:p>
        </p:txBody>
      </p:sp>
      <p:sp>
        <p:nvSpPr>
          <p:cNvPr id="4" name="Нижний колонтитул 3"/>
          <p:cNvSpPr>
            <a:spLocks noGrp="1"/>
          </p:cNvSpPr>
          <p:nvPr>
            <p:ph type="ftr" sz="quarter" idx="11"/>
          </p:nvPr>
        </p:nvSpPr>
        <p:spPr/>
        <p:txBody>
          <a:bodyPr/>
          <a:lstStyle/>
          <a:p>
            <a:endParaRPr lang="ru-RU"/>
          </a:p>
        </p:txBody>
      </p:sp>
      <p:sp>
        <p:nvSpPr>
          <p:cNvPr id="5" name="Номер слайда 4"/>
          <p:cNvSpPr>
            <a:spLocks noGrp="1"/>
          </p:cNvSpPr>
          <p:nvPr>
            <p:ph type="sldNum" sz="quarter" idx="12"/>
          </p:nvPr>
        </p:nvSpPr>
        <p:spPr/>
        <p:txBody>
          <a:bodyPr/>
          <a:lstStyle/>
          <a:p>
            <a:fld id="{2A69F336-2DD4-44CE-8205-AE3F61CEB7C8}" type="slidenum">
              <a:rPr lang="ru-RU" smtClean="0"/>
              <a:t>‹#›</a:t>
            </a:fld>
            <a:endParaRPr lang="ru-RU"/>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Пустой слайд">
    <p:spTree>
      <p:nvGrpSpPr>
        <p:cNvPr id="1" name=""/>
        <p:cNvGrpSpPr/>
        <p:nvPr/>
      </p:nvGrpSpPr>
      <p:grpSpPr>
        <a:xfrm>
          <a:off x="0" y="0"/>
          <a:ext cx="0" cy="0"/>
          <a:chOff x="0" y="0"/>
          <a:chExt cx="0" cy="0"/>
        </a:xfrm>
      </p:grpSpPr>
      <p:sp>
        <p:nvSpPr>
          <p:cNvPr id="2" name="Дата 1"/>
          <p:cNvSpPr>
            <a:spLocks noGrp="1"/>
          </p:cNvSpPr>
          <p:nvPr>
            <p:ph type="dt" sz="half" idx="10"/>
          </p:nvPr>
        </p:nvSpPr>
        <p:spPr/>
        <p:txBody>
          <a:bodyPr/>
          <a:lstStyle/>
          <a:p>
            <a:fld id="{42306EA0-727C-425F-9DC7-DF28038F580D}" type="datetime1">
              <a:rPr lang="ru-RU" smtClean="0"/>
              <a:t>16.07.2025</a:t>
            </a:fld>
            <a:endParaRPr lang="ru-RU"/>
          </a:p>
        </p:txBody>
      </p:sp>
      <p:sp>
        <p:nvSpPr>
          <p:cNvPr id="3" name="Нижний колонтитул 2"/>
          <p:cNvSpPr>
            <a:spLocks noGrp="1"/>
          </p:cNvSpPr>
          <p:nvPr>
            <p:ph type="ftr" sz="quarter" idx="11"/>
          </p:nvPr>
        </p:nvSpPr>
        <p:spPr/>
        <p:txBody>
          <a:bodyPr/>
          <a:lstStyle/>
          <a:p>
            <a:endParaRPr lang="ru-RU"/>
          </a:p>
        </p:txBody>
      </p:sp>
      <p:sp>
        <p:nvSpPr>
          <p:cNvPr id="4" name="Номер слайда 3"/>
          <p:cNvSpPr>
            <a:spLocks noGrp="1"/>
          </p:cNvSpPr>
          <p:nvPr>
            <p:ph type="sldNum" sz="quarter" idx="12"/>
          </p:nvPr>
        </p:nvSpPr>
        <p:spPr/>
        <p:txBody>
          <a:bodyPr/>
          <a:lstStyle/>
          <a:p>
            <a:fld id="{2A69F336-2DD4-44CE-8205-AE3F61CEB7C8}" type="slidenum">
              <a:rPr lang="ru-RU" smtClean="0"/>
              <a:t>‹#›</a:t>
            </a:fld>
            <a:endParaRPr lang="ru-RU"/>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Объект с подписью">
    <p:spTree>
      <p:nvGrpSpPr>
        <p:cNvPr id="1" name=""/>
        <p:cNvGrpSpPr/>
        <p:nvPr/>
      </p:nvGrpSpPr>
      <p:grpSpPr>
        <a:xfrm>
          <a:off x="0" y="0"/>
          <a:ext cx="0" cy="0"/>
          <a:chOff x="0" y="0"/>
          <a:chExt cx="0" cy="0"/>
        </a:xfrm>
      </p:grpSpPr>
      <p:sp>
        <p:nvSpPr>
          <p:cNvPr id="2" name="Заголовок 1"/>
          <p:cNvSpPr>
            <a:spLocks noGrp="1"/>
          </p:cNvSpPr>
          <p:nvPr>
            <p:ph type="title"/>
          </p:nvPr>
        </p:nvSpPr>
        <p:spPr>
          <a:xfrm>
            <a:off x="457201" y="204787"/>
            <a:ext cx="3008313" cy="871538"/>
          </a:xfrm>
        </p:spPr>
        <p:txBody>
          <a:bodyPr anchor="b"/>
          <a:lstStyle>
            <a:lvl1pPr algn="l">
              <a:defRPr sz="2000" b="1"/>
            </a:lvl1pPr>
          </a:lstStyle>
          <a:p>
            <a:r>
              <a:rPr lang="ru-RU"/>
              <a:t>Образец заголовка</a:t>
            </a:r>
          </a:p>
        </p:txBody>
      </p:sp>
      <p:sp>
        <p:nvSpPr>
          <p:cNvPr id="3" name="Содержимое 2"/>
          <p:cNvSpPr>
            <a:spLocks noGrp="1"/>
          </p:cNvSpPr>
          <p:nvPr>
            <p:ph idx="1"/>
          </p:nvPr>
        </p:nvSpPr>
        <p:spPr>
          <a:xfrm>
            <a:off x="3575050" y="204788"/>
            <a:ext cx="5111750" cy="438983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ru-RU"/>
              <a:t>Образец текста</a:t>
            </a:r>
          </a:p>
          <a:p>
            <a:pPr lvl="1"/>
            <a:r>
              <a:rPr lang="ru-RU"/>
              <a:t>Второй уровень</a:t>
            </a:r>
          </a:p>
          <a:p>
            <a:pPr lvl="2"/>
            <a:r>
              <a:rPr lang="ru-RU"/>
              <a:t>Третий уровень</a:t>
            </a:r>
          </a:p>
          <a:p>
            <a:pPr lvl="3"/>
            <a:r>
              <a:rPr lang="ru-RU"/>
              <a:t>Четвертый уровень</a:t>
            </a:r>
          </a:p>
          <a:p>
            <a:pPr lvl="4"/>
            <a:r>
              <a:rPr lang="ru-RU"/>
              <a:t>Пятый уровень</a:t>
            </a:r>
          </a:p>
        </p:txBody>
      </p:sp>
      <p:sp>
        <p:nvSpPr>
          <p:cNvPr id="4" name="Текст 3"/>
          <p:cNvSpPr>
            <a:spLocks noGrp="1"/>
          </p:cNvSpPr>
          <p:nvPr>
            <p:ph type="body" sz="half" idx="2"/>
          </p:nvPr>
        </p:nvSpPr>
        <p:spPr>
          <a:xfrm>
            <a:off x="457201" y="1076326"/>
            <a:ext cx="3008313" cy="3518297"/>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ru-RU"/>
              <a:t>Образец текста</a:t>
            </a:r>
          </a:p>
        </p:txBody>
      </p:sp>
      <p:sp>
        <p:nvSpPr>
          <p:cNvPr id="5" name="Дата 4"/>
          <p:cNvSpPr>
            <a:spLocks noGrp="1"/>
          </p:cNvSpPr>
          <p:nvPr>
            <p:ph type="dt" sz="half" idx="10"/>
          </p:nvPr>
        </p:nvSpPr>
        <p:spPr/>
        <p:txBody>
          <a:bodyPr/>
          <a:lstStyle/>
          <a:p>
            <a:fld id="{6265BD2C-6379-4ADB-895E-EA14E58B08BD}" type="datetime1">
              <a:rPr lang="ru-RU" smtClean="0"/>
              <a:t>16.07.2025</a:t>
            </a:fld>
            <a:endParaRPr lang="ru-RU"/>
          </a:p>
        </p:txBody>
      </p:sp>
      <p:sp>
        <p:nvSpPr>
          <p:cNvPr id="6" name="Нижний колонтитул 5"/>
          <p:cNvSpPr>
            <a:spLocks noGrp="1"/>
          </p:cNvSpPr>
          <p:nvPr>
            <p:ph type="ftr" sz="quarter" idx="11"/>
          </p:nvPr>
        </p:nvSpPr>
        <p:spPr/>
        <p:txBody>
          <a:bodyPr/>
          <a:lstStyle/>
          <a:p>
            <a:endParaRPr lang="ru-RU"/>
          </a:p>
        </p:txBody>
      </p:sp>
      <p:sp>
        <p:nvSpPr>
          <p:cNvPr id="7" name="Номер слайда 6"/>
          <p:cNvSpPr>
            <a:spLocks noGrp="1"/>
          </p:cNvSpPr>
          <p:nvPr>
            <p:ph type="sldNum" sz="quarter" idx="12"/>
          </p:nvPr>
        </p:nvSpPr>
        <p:spPr/>
        <p:txBody>
          <a:bodyPr/>
          <a:lstStyle/>
          <a:p>
            <a:fld id="{2A69F336-2DD4-44CE-8205-AE3F61CEB7C8}" type="slidenum">
              <a:rPr lang="ru-RU" smtClean="0"/>
              <a:t>‹#›</a:t>
            </a:fld>
            <a:endParaRPr lang="ru-RU"/>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Рисунок с подписью">
    <p:spTree>
      <p:nvGrpSpPr>
        <p:cNvPr id="1" name=""/>
        <p:cNvGrpSpPr/>
        <p:nvPr/>
      </p:nvGrpSpPr>
      <p:grpSpPr>
        <a:xfrm>
          <a:off x="0" y="0"/>
          <a:ext cx="0" cy="0"/>
          <a:chOff x="0" y="0"/>
          <a:chExt cx="0" cy="0"/>
        </a:xfrm>
      </p:grpSpPr>
      <p:sp>
        <p:nvSpPr>
          <p:cNvPr id="2" name="Заголовок 1"/>
          <p:cNvSpPr>
            <a:spLocks noGrp="1"/>
          </p:cNvSpPr>
          <p:nvPr>
            <p:ph type="title"/>
          </p:nvPr>
        </p:nvSpPr>
        <p:spPr>
          <a:xfrm>
            <a:off x="1792288" y="3600450"/>
            <a:ext cx="5486400" cy="425054"/>
          </a:xfrm>
        </p:spPr>
        <p:txBody>
          <a:bodyPr anchor="b"/>
          <a:lstStyle>
            <a:lvl1pPr algn="l">
              <a:defRPr sz="2000" b="1"/>
            </a:lvl1pPr>
          </a:lstStyle>
          <a:p>
            <a:r>
              <a:rPr lang="ru-RU"/>
              <a:t>Образец заголовка</a:t>
            </a:r>
          </a:p>
        </p:txBody>
      </p:sp>
      <p:sp>
        <p:nvSpPr>
          <p:cNvPr id="3" name="Рисунок 2"/>
          <p:cNvSpPr>
            <a:spLocks noGrp="1"/>
          </p:cNvSpPr>
          <p:nvPr>
            <p:ph type="pic" idx="1"/>
          </p:nvPr>
        </p:nvSpPr>
        <p:spPr>
          <a:xfrm>
            <a:off x="1792288" y="459581"/>
            <a:ext cx="5486400" cy="30861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ru-RU"/>
          </a:p>
        </p:txBody>
      </p:sp>
      <p:sp>
        <p:nvSpPr>
          <p:cNvPr id="4" name="Текст 3"/>
          <p:cNvSpPr>
            <a:spLocks noGrp="1"/>
          </p:cNvSpPr>
          <p:nvPr>
            <p:ph type="body" sz="half" idx="2"/>
          </p:nvPr>
        </p:nvSpPr>
        <p:spPr>
          <a:xfrm>
            <a:off x="1792288" y="4025503"/>
            <a:ext cx="5486400" cy="603647"/>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ru-RU"/>
              <a:t>Образец текста</a:t>
            </a:r>
          </a:p>
        </p:txBody>
      </p:sp>
      <p:sp>
        <p:nvSpPr>
          <p:cNvPr id="5" name="Дата 4"/>
          <p:cNvSpPr>
            <a:spLocks noGrp="1"/>
          </p:cNvSpPr>
          <p:nvPr>
            <p:ph type="dt" sz="half" idx="10"/>
          </p:nvPr>
        </p:nvSpPr>
        <p:spPr/>
        <p:txBody>
          <a:bodyPr/>
          <a:lstStyle/>
          <a:p>
            <a:fld id="{36302FBE-660B-4788-93E5-23F80C221E14}" type="datetime1">
              <a:rPr lang="ru-RU" smtClean="0"/>
              <a:t>16.07.2025</a:t>
            </a:fld>
            <a:endParaRPr lang="ru-RU"/>
          </a:p>
        </p:txBody>
      </p:sp>
      <p:sp>
        <p:nvSpPr>
          <p:cNvPr id="6" name="Нижний колонтитул 5"/>
          <p:cNvSpPr>
            <a:spLocks noGrp="1"/>
          </p:cNvSpPr>
          <p:nvPr>
            <p:ph type="ftr" sz="quarter" idx="11"/>
          </p:nvPr>
        </p:nvSpPr>
        <p:spPr/>
        <p:txBody>
          <a:bodyPr/>
          <a:lstStyle/>
          <a:p>
            <a:endParaRPr lang="ru-RU"/>
          </a:p>
        </p:txBody>
      </p:sp>
      <p:sp>
        <p:nvSpPr>
          <p:cNvPr id="7" name="Номер слайда 6"/>
          <p:cNvSpPr>
            <a:spLocks noGrp="1"/>
          </p:cNvSpPr>
          <p:nvPr>
            <p:ph type="sldNum" sz="quarter" idx="12"/>
          </p:nvPr>
        </p:nvSpPr>
        <p:spPr/>
        <p:txBody>
          <a:bodyPr/>
          <a:lstStyle/>
          <a:p>
            <a:fld id="{2A69F336-2DD4-44CE-8205-AE3F61CEB7C8}" type="slidenum">
              <a:rPr lang="ru-RU" smtClean="0"/>
              <a:t>‹#›</a:t>
            </a:fld>
            <a:endParaRPr lang="ru-RU"/>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image" Target="../media/image1.jpg"/><Relationship Id="rId5" Type="http://schemas.openxmlformats.org/officeDocument/2006/relationships/slideLayout" Target="../slideLayouts/slideLayout5.xml"/><Relationship Id="rId10" Type="http://schemas.openxmlformats.org/officeDocument/2006/relationships/theme" Target="../theme/theme1.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blipFill dpi="0" rotWithShape="1">
          <a:blip r:embed="rId11">
            <a:lum/>
          </a:blip>
          <a:srcRect/>
          <a:stretch>
            <a:fillRect/>
          </a:stretch>
        </a:blipFill>
        <a:effectLst/>
      </p:bgPr>
    </p:bg>
    <p:spTree>
      <p:nvGrpSpPr>
        <p:cNvPr id="1" name=""/>
        <p:cNvGrpSpPr/>
        <p:nvPr/>
      </p:nvGrpSpPr>
      <p:grpSpPr>
        <a:xfrm>
          <a:off x="0" y="0"/>
          <a:ext cx="0" cy="0"/>
          <a:chOff x="0" y="0"/>
          <a:chExt cx="0" cy="0"/>
        </a:xfrm>
      </p:grpSpPr>
      <p:sp>
        <p:nvSpPr>
          <p:cNvPr id="2" name="Заголовок 1"/>
          <p:cNvSpPr>
            <a:spLocks noGrp="1"/>
          </p:cNvSpPr>
          <p:nvPr>
            <p:ph type="title"/>
          </p:nvPr>
        </p:nvSpPr>
        <p:spPr>
          <a:xfrm>
            <a:off x="457200" y="500054"/>
            <a:ext cx="8229600" cy="857250"/>
          </a:xfrm>
          <a:prstGeom prst="rect">
            <a:avLst/>
          </a:prstGeom>
        </p:spPr>
        <p:txBody>
          <a:bodyPr vert="horz" lIns="91440" tIns="45720" rIns="91440" bIns="45720" rtlCol="0" anchor="ctr">
            <a:normAutofit/>
          </a:bodyPr>
          <a:lstStyle/>
          <a:p>
            <a:r>
              <a:rPr lang="ru-RU" dirty="0"/>
              <a:t>Образец заголовка</a:t>
            </a:r>
          </a:p>
        </p:txBody>
      </p:sp>
      <p:sp>
        <p:nvSpPr>
          <p:cNvPr id="3" name="Текст 2"/>
          <p:cNvSpPr>
            <a:spLocks noGrp="1"/>
          </p:cNvSpPr>
          <p:nvPr>
            <p:ph type="body" idx="1"/>
          </p:nvPr>
        </p:nvSpPr>
        <p:spPr>
          <a:xfrm>
            <a:off x="457200" y="1428741"/>
            <a:ext cx="8229600" cy="3165881"/>
          </a:xfrm>
          <a:prstGeom prst="rect">
            <a:avLst/>
          </a:prstGeom>
        </p:spPr>
        <p:txBody>
          <a:bodyPr vert="horz" lIns="91440" tIns="45720" rIns="91440" bIns="45720" rtlCol="0">
            <a:normAutofit/>
          </a:bodyPr>
          <a:lstStyle/>
          <a:p>
            <a:pPr lvl="0"/>
            <a:r>
              <a:rPr lang="ru-RU" dirty="0"/>
              <a:t>Образец текста</a:t>
            </a:r>
          </a:p>
          <a:p>
            <a:pPr lvl="1"/>
            <a:r>
              <a:rPr lang="ru-RU" dirty="0"/>
              <a:t>Второй уровень</a:t>
            </a:r>
          </a:p>
          <a:p>
            <a:pPr lvl="2"/>
            <a:r>
              <a:rPr lang="ru-RU" dirty="0"/>
              <a:t>Третий уровень</a:t>
            </a:r>
          </a:p>
          <a:p>
            <a:pPr lvl="3"/>
            <a:r>
              <a:rPr lang="ru-RU" dirty="0"/>
              <a:t>Четвертый уровень</a:t>
            </a:r>
          </a:p>
          <a:p>
            <a:pPr lvl="4"/>
            <a:r>
              <a:rPr lang="ru-RU" dirty="0"/>
              <a:t>Пятый уровень</a:t>
            </a:r>
          </a:p>
        </p:txBody>
      </p:sp>
      <p:sp>
        <p:nvSpPr>
          <p:cNvPr id="4" name="Дата 3"/>
          <p:cNvSpPr>
            <a:spLocks noGrp="1"/>
          </p:cNvSpPr>
          <p:nvPr>
            <p:ph type="dt" sz="half" idx="2"/>
          </p:nvPr>
        </p:nvSpPr>
        <p:spPr>
          <a:xfrm>
            <a:off x="457200" y="4767263"/>
            <a:ext cx="2133600" cy="273844"/>
          </a:xfrm>
          <a:prstGeom prst="rect">
            <a:avLst/>
          </a:prstGeom>
        </p:spPr>
        <p:txBody>
          <a:bodyPr vert="horz" lIns="91440" tIns="45720" rIns="91440" bIns="45720" rtlCol="0" anchor="ctr"/>
          <a:lstStyle>
            <a:lvl1pPr algn="l">
              <a:defRPr sz="1200">
                <a:solidFill>
                  <a:schemeClr val="bg1"/>
                </a:solidFill>
              </a:defRPr>
            </a:lvl1pPr>
          </a:lstStyle>
          <a:p>
            <a:fld id="{088AE213-E076-4E30-856F-02825387B9E6}" type="datetime1">
              <a:rPr lang="ru-RU" smtClean="0"/>
              <a:pPr/>
              <a:t>16.07.2025</a:t>
            </a:fld>
            <a:endParaRPr lang="ru-RU"/>
          </a:p>
        </p:txBody>
      </p:sp>
      <p:sp>
        <p:nvSpPr>
          <p:cNvPr id="5" name="Нижний колонтитул 4"/>
          <p:cNvSpPr>
            <a:spLocks noGrp="1"/>
          </p:cNvSpPr>
          <p:nvPr>
            <p:ph type="ftr" sz="quarter" idx="3"/>
          </p:nvPr>
        </p:nvSpPr>
        <p:spPr>
          <a:xfrm>
            <a:off x="3124200" y="4767263"/>
            <a:ext cx="2895600" cy="273844"/>
          </a:xfrm>
          <a:prstGeom prst="rect">
            <a:avLst/>
          </a:prstGeom>
        </p:spPr>
        <p:txBody>
          <a:bodyPr vert="horz" lIns="91440" tIns="45720" rIns="91440" bIns="45720" rtlCol="0" anchor="ctr"/>
          <a:lstStyle>
            <a:lvl1pPr algn="ctr">
              <a:defRPr sz="1200">
                <a:solidFill>
                  <a:schemeClr val="bg1"/>
                </a:solidFill>
              </a:defRPr>
            </a:lvl1pPr>
          </a:lstStyle>
          <a:p>
            <a:endParaRPr lang="ru-RU"/>
          </a:p>
        </p:txBody>
      </p:sp>
      <p:sp>
        <p:nvSpPr>
          <p:cNvPr id="6" name="Номер слайда 5"/>
          <p:cNvSpPr>
            <a:spLocks noGrp="1"/>
          </p:cNvSpPr>
          <p:nvPr>
            <p:ph type="sldNum" sz="quarter" idx="4"/>
          </p:nvPr>
        </p:nvSpPr>
        <p:spPr>
          <a:xfrm>
            <a:off x="6553200" y="4767263"/>
            <a:ext cx="2133600" cy="273844"/>
          </a:xfrm>
          <a:prstGeom prst="rect">
            <a:avLst/>
          </a:prstGeom>
        </p:spPr>
        <p:txBody>
          <a:bodyPr vert="horz" lIns="91440" tIns="45720" rIns="91440" bIns="45720" rtlCol="0" anchor="ctr"/>
          <a:lstStyle>
            <a:lvl1pPr algn="r">
              <a:defRPr sz="1200">
                <a:solidFill>
                  <a:schemeClr val="bg1"/>
                </a:solidFill>
              </a:defRPr>
            </a:lvl1pPr>
          </a:lstStyle>
          <a:p>
            <a:fld id="{2A69F336-2DD4-44CE-8205-AE3F61CEB7C8}" type="slidenum">
              <a:rPr lang="ru-RU" smtClean="0"/>
              <a:pPr/>
              <a:t>‹#›</a:t>
            </a:fld>
            <a:endParaRPr lang="ru-RU"/>
          </a:p>
        </p:txBody>
      </p:sp>
    </p:spTree>
  </p:cSld>
  <p:clrMap bg1="lt1" tx1="dk1" bg2="lt2" tx2="dk2" accent1="accent1" accent2="accent2" accent3="accent3" accent4="accent4" accent5="accent5" accent6="accent6" hlink="hlink" folHlink="folHlink"/>
  <p:sldLayoutIdLst>
    <p:sldLayoutId id="2147483649" r:id="rId1"/>
    <p:sldLayoutId id="2147483658" r:id="rId2"/>
    <p:sldLayoutId id="2147483651" r:id="rId3"/>
    <p:sldLayoutId id="2147483650" r:id="rId4"/>
    <p:sldLayoutId id="2147483652" r:id="rId5"/>
    <p:sldLayoutId id="2147483654" r:id="rId6"/>
    <p:sldLayoutId id="2147483655" r:id="rId7"/>
    <p:sldLayoutId id="2147483656" r:id="rId8"/>
    <p:sldLayoutId id="2147483657" r:id="rId9"/>
  </p:sldLayoutIdLst>
  <p:hf hdr="0" ftr="0" dt="0"/>
  <p:txStyles>
    <p:titleStyle>
      <a:lvl1pPr algn="ctr" defTabSz="914400" rtl="0" eaLnBrk="1" latinLnBrk="0" hangingPunct="1">
        <a:spcBef>
          <a:spcPct val="0"/>
        </a:spcBef>
        <a:buNone/>
        <a:defRPr sz="4400" kern="1200">
          <a:solidFill>
            <a:schemeClr val="accent6"/>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ru-RU"/>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2.xml"/><Relationship Id="rId1" Type="http://schemas.openxmlformats.org/officeDocument/2006/relationships/slideLayout" Target="../slideLayouts/slideLayout4.xml"/></Relationships>
</file>

<file path=ppt/slides/_rels/slide3.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3.xml"/><Relationship Id="rId1" Type="http://schemas.openxmlformats.org/officeDocument/2006/relationships/slideLayout" Target="../slideLayouts/slideLayout4.xml"/><Relationship Id="rId5" Type="http://schemas.openxmlformats.org/officeDocument/2006/relationships/image" Target="../media/image8.png"/><Relationship Id="rId4" Type="http://schemas.openxmlformats.org/officeDocument/2006/relationships/image" Target="../media/image7.png"/></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4.xml"/></Relationships>
</file>

<file path=ppt/slides/_rels/slide5.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5.xml"/><Relationship Id="rId1" Type="http://schemas.openxmlformats.org/officeDocument/2006/relationships/slideLayout" Target="../slideLayouts/slideLayout4.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7.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6.xml"/><Relationship Id="rId1" Type="http://schemas.openxmlformats.org/officeDocument/2006/relationships/slideLayout" Target="../slideLayouts/slideLayout4.xml"/></Relationships>
</file>

<file path=ppt/slides/_rels/slide8.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7.xml"/><Relationship Id="rId1" Type="http://schemas.openxmlformats.org/officeDocument/2006/relationships/slideLayout" Target="../slideLayouts/slideLayout4.xml"/><Relationship Id="rId4" Type="http://schemas.openxmlformats.org/officeDocument/2006/relationships/image" Target="../media/image12.png"/></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4.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4.xml"/></Relationships>
</file>

<file path=ppt/slides/_rels/slide11.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10.xml"/><Relationship Id="rId1" Type="http://schemas.openxmlformats.org/officeDocument/2006/relationships/slideLayout" Target="../slideLayouts/slideLayout4.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3.xml.rels><?xml version="1.0" encoding="UTF-8" standalone="yes"?>
<Relationships xmlns="http://schemas.openxmlformats.org/package/2006/relationships"><Relationship Id="rId3" Type="http://schemas.openxmlformats.org/officeDocument/2006/relationships/image" Target="../media/image14.emf"/><Relationship Id="rId2" Type="http://schemas.openxmlformats.org/officeDocument/2006/relationships/notesSlide" Target="../notesSlides/notesSlide11.xml"/><Relationship Id="rId1" Type="http://schemas.openxmlformats.org/officeDocument/2006/relationships/slideLayout" Target="../slideLayouts/slideLayout4.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4.xml"/></Relationships>
</file>

<file path=ppt/slides/_rels/slide15.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13.xml"/><Relationship Id="rId1" Type="http://schemas.openxmlformats.org/officeDocument/2006/relationships/slideLayout" Target="../slideLayouts/slideLayout4.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4.xml"/></Relationships>
</file>

<file path=ppt/slides/_rels/slide17.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image" Target="../media/image16.png"/><Relationship Id="rId1" Type="http://schemas.openxmlformats.org/officeDocument/2006/relationships/slideLayout" Target="../slideLayouts/slideLayout4.xml"/></Relationships>
</file>

<file path=ppt/slides/_rels/slide18.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image" Target="../media/image18.png"/><Relationship Id="rId1" Type="http://schemas.openxmlformats.org/officeDocument/2006/relationships/slideLayout" Target="../slideLayouts/slideLayout4.xml"/></Relationships>
</file>

<file path=ppt/slides/_rels/slide19.xml.rels><?xml version="1.0" encoding="UTF-8" standalone="yes"?>
<Relationships xmlns="http://schemas.openxmlformats.org/package/2006/relationships"><Relationship Id="rId3" Type="http://schemas.openxmlformats.org/officeDocument/2006/relationships/image" Target="../media/image20.gif"/><Relationship Id="rId2" Type="http://schemas.openxmlformats.org/officeDocument/2006/relationships/notesSlide" Target="../notesSlides/notesSlide15.xml"/><Relationship Id="rId1" Type="http://schemas.openxmlformats.org/officeDocument/2006/relationships/slideLayout" Target="../slideLayouts/slideLayout4.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21.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Layout" Target="../slideLayouts/slideLayout4.xml"/></Relationships>
</file>

<file path=ppt/slides/_rels/slide22.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Layout" Target="../slideLayouts/slideLayout4.xml"/></Relationships>
</file>

<file path=ppt/slides/_rels/slide23.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notesSlide" Target="../notesSlides/notesSlide16.xml"/><Relationship Id="rId1" Type="http://schemas.openxmlformats.org/officeDocument/2006/relationships/slideLayout" Target="../slideLayouts/slideLayout4.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Заголовок 5"/>
          <p:cNvSpPr>
            <a:spLocks noGrp="1"/>
          </p:cNvSpPr>
          <p:nvPr>
            <p:ph type="ctrTitle"/>
          </p:nvPr>
        </p:nvSpPr>
        <p:spPr/>
        <p:txBody>
          <a:bodyPr/>
          <a:lstStyle/>
          <a:p>
            <a:r>
              <a:rPr lang="ru-RU" dirty="0"/>
              <a:t>Программирование на </a:t>
            </a:r>
            <a:r>
              <a:rPr lang="en-US" dirty="0"/>
              <a:t>Java</a:t>
            </a:r>
            <a:endParaRPr lang="ru-RU" dirty="0"/>
          </a:p>
        </p:txBody>
      </p:sp>
      <p:sp>
        <p:nvSpPr>
          <p:cNvPr id="7" name="Подзаголовок 6"/>
          <p:cNvSpPr>
            <a:spLocks noGrp="1"/>
          </p:cNvSpPr>
          <p:nvPr>
            <p:ph type="subTitle" idx="1"/>
          </p:nvPr>
        </p:nvSpPr>
        <p:spPr>
          <a:xfrm>
            <a:off x="685800" y="2499742"/>
            <a:ext cx="7772400" cy="1314450"/>
          </a:xfrm>
        </p:spPr>
        <p:txBody>
          <a:bodyPr>
            <a:normAutofit/>
          </a:bodyPr>
          <a:lstStyle/>
          <a:p>
            <a:r>
              <a:rPr lang="ru-RU" dirty="0"/>
              <a:t>Модификатор </a:t>
            </a:r>
            <a:r>
              <a:rPr lang="en-US" dirty="0"/>
              <a:t>static</a:t>
            </a:r>
            <a:r>
              <a:rPr lang="ru-RU" dirty="0"/>
              <a:t>. Статические члены класса, вложенные и внутренние классы</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a:xfrm>
            <a:off x="457200" y="500054"/>
            <a:ext cx="8229600" cy="857250"/>
          </a:xfrm>
        </p:spPr>
        <p:txBody>
          <a:bodyPr/>
          <a:lstStyle/>
          <a:p>
            <a:r>
              <a:rPr lang="ru-RU" dirty="0"/>
              <a:t>Модификатор </a:t>
            </a:r>
            <a:r>
              <a:rPr lang="en-US" dirty="0"/>
              <a:t>static</a:t>
            </a:r>
            <a:endParaRPr lang="ru-RU" dirty="0"/>
          </a:p>
        </p:txBody>
      </p:sp>
      <p:sp>
        <p:nvSpPr>
          <p:cNvPr id="3" name="Content Placeholder 2">
            <a:extLst>
              <a:ext uri="{FF2B5EF4-FFF2-40B4-BE49-F238E27FC236}">
                <a16:creationId xmlns:a16="http://schemas.microsoft.com/office/drawing/2014/main" id="{37DC6DAB-B893-4E9D-9D86-3FC264C9704B}"/>
              </a:ext>
            </a:extLst>
          </p:cNvPr>
          <p:cNvSpPr>
            <a:spLocks noGrp="1"/>
          </p:cNvSpPr>
          <p:nvPr>
            <p:ph idx="1"/>
          </p:nvPr>
        </p:nvSpPr>
        <p:spPr>
          <a:xfrm>
            <a:off x="457200" y="1465952"/>
            <a:ext cx="5915000" cy="3165881"/>
          </a:xfrm>
        </p:spPr>
        <p:txBody>
          <a:bodyPr>
            <a:normAutofit fontScale="62500" lnSpcReduction="20000"/>
          </a:bodyPr>
          <a:lstStyle/>
          <a:p>
            <a:r>
              <a:rPr lang="ru-RU" dirty="0"/>
              <a:t>Ключевым словом </a:t>
            </a:r>
            <a:r>
              <a:rPr lang="ru-RU" i="1" dirty="0" err="1">
                <a:solidFill>
                  <a:schemeClr val="accent4">
                    <a:lumMod val="10000"/>
                  </a:schemeClr>
                </a:solidFill>
                <a:latin typeface="Courier New" panose="02070309020205020404" pitchFamily="49" charset="0"/>
                <a:cs typeface="Courier New" panose="02070309020205020404" pitchFamily="49" charset="0"/>
              </a:rPr>
              <a:t>static</a:t>
            </a:r>
            <a:r>
              <a:rPr lang="ru-RU" dirty="0"/>
              <a:t> помечают принадлежащие классу, а не его экземпляру элементы (члены) класса</a:t>
            </a:r>
          </a:p>
          <a:p>
            <a:r>
              <a:rPr lang="ru-RU" dirty="0"/>
              <a:t>Это означает, что какое бы количество объектов вы не создали, всегда будет создан только один член, доступный для использования всеми экземплярами класса.</a:t>
            </a:r>
          </a:p>
          <a:p>
            <a:r>
              <a:rPr lang="ru-RU" dirty="0"/>
              <a:t>Ключевое слово </a:t>
            </a:r>
            <a:r>
              <a:rPr lang="ru-RU" i="1" dirty="0" err="1">
                <a:solidFill>
                  <a:schemeClr val="accent4">
                    <a:lumMod val="10000"/>
                  </a:schemeClr>
                </a:solidFill>
                <a:latin typeface="Courier New" panose="02070309020205020404" pitchFamily="49" charset="0"/>
                <a:cs typeface="Courier New" panose="02070309020205020404" pitchFamily="49" charset="0"/>
              </a:rPr>
              <a:t>static</a:t>
            </a:r>
            <a:r>
              <a:rPr lang="ru-RU" dirty="0"/>
              <a:t> применимо к переменным, методам, блокам инициализации, импорту и вложенным классам (</a:t>
            </a:r>
            <a:r>
              <a:rPr lang="ru-RU" dirty="0" err="1"/>
              <a:t>nested</a:t>
            </a:r>
            <a:r>
              <a:rPr lang="ru-RU" dirty="0"/>
              <a:t> </a:t>
            </a:r>
            <a:r>
              <a:rPr lang="ru-RU" dirty="0" err="1"/>
              <a:t>classes</a:t>
            </a:r>
            <a:r>
              <a:rPr lang="ru-RU" dirty="0"/>
              <a:t>).</a:t>
            </a:r>
          </a:p>
        </p:txBody>
      </p:sp>
      <p:sp>
        <p:nvSpPr>
          <p:cNvPr id="4" name="Номер слайда 3"/>
          <p:cNvSpPr>
            <a:spLocks noGrp="1"/>
          </p:cNvSpPr>
          <p:nvPr>
            <p:ph type="sldNum" sz="quarter" idx="12"/>
          </p:nvPr>
        </p:nvSpPr>
        <p:spPr/>
        <p:txBody>
          <a:bodyPr/>
          <a:lstStyle/>
          <a:p>
            <a:fld id="{2A69F336-2DD4-44CE-8205-AE3F61CEB7C8}" type="slidenum">
              <a:rPr lang="ru-RU" smtClean="0"/>
              <a:t>2</a:t>
            </a:fld>
            <a:endParaRPr lang="ru-RU"/>
          </a:p>
        </p:txBody>
      </p:sp>
      <p:sp>
        <p:nvSpPr>
          <p:cNvPr id="16" name="Подзаголовок 6">
            <a:extLst>
              <a:ext uri="{FF2B5EF4-FFF2-40B4-BE49-F238E27FC236}">
                <a16:creationId xmlns:a16="http://schemas.microsoft.com/office/drawing/2014/main" id="{F8E89ABA-374F-4401-8445-7A09744BF987}"/>
              </a:ext>
            </a:extLst>
          </p:cNvPr>
          <p:cNvSpPr txBox="1">
            <a:spLocks/>
          </p:cNvSpPr>
          <p:nvPr/>
        </p:nvSpPr>
        <p:spPr>
          <a:xfrm>
            <a:off x="328630" y="2747307"/>
            <a:ext cx="8784976" cy="2294567"/>
          </a:xfrm>
          <a:prstGeom prst="rect">
            <a:avLst/>
          </a:prstGeom>
        </p:spPr>
        <p:txBody>
          <a:bodyPr vert="horz" lIns="91440" tIns="45720" rIns="91440" bIns="45720" rtlCol="0">
            <a:noAutofit/>
          </a:bodyPr>
          <a:lst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indent="0" algn="just">
              <a:buNone/>
            </a:pPr>
            <a:endParaRPr lang="ru-RU" sz="2000" dirty="0">
              <a:latin typeface="+mj-lt"/>
              <a:cs typeface="Times New Roman" panose="02020603050405020304" pitchFamily="18" charset="0"/>
            </a:endParaRPr>
          </a:p>
        </p:txBody>
      </p:sp>
      <p:pic>
        <p:nvPicPr>
          <p:cNvPr id="1026" name="Picture 2" descr="Java static关键字语法及代码示例-立地货">
            <a:extLst>
              <a:ext uri="{FF2B5EF4-FFF2-40B4-BE49-F238E27FC236}">
                <a16:creationId xmlns:a16="http://schemas.microsoft.com/office/drawing/2014/main" id="{4535D084-2378-4122-9CED-4DD83CBE1EC0}"/>
              </a:ext>
            </a:extLst>
          </p:cNvPr>
          <p:cNvPicPr>
            <a:picLocks noChangeAspect="1" noChangeArrowheads="1"/>
          </p:cNvPicPr>
          <p:nvPr/>
        </p:nvPicPr>
        <p:blipFill>
          <a:blip r:embed="rId3">
            <a:duotone>
              <a:schemeClr val="accent6">
                <a:shade val="45000"/>
                <a:satMod val="135000"/>
              </a:schemeClr>
              <a:prstClr val="white"/>
            </a:duotone>
            <a:extLst>
              <a:ext uri="{28A0092B-C50C-407E-A947-70E740481C1C}">
                <a14:useLocalDpi xmlns:a14="http://schemas.microsoft.com/office/drawing/2010/main" val="0"/>
              </a:ext>
            </a:extLst>
          </a:blip>
          <a:srcRect/>
          <a:stretch>
            <a:fillRect/>
          </a:stretch>
        </p:blipFill>
        <p:spPr bwMode="auto">
          <a:xfrm>
            <a:off x="6112036" y="1542208"/>
            <a:ext cx="2716357" cy="2410197"/>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549F35F-F5F5-4FB7-9763-5A4BEBB855BB}"/>
              </a:ext>
            </a:extLst>
          </p:cNvPr>
          <p:cNvSpPr>
            <a:spLocks noGrp="1"/>
          </p:cNvSpPr>
          <p:nvPr>
            <p:ph type="title"/>
          </p:nvPr>
        </p:nvSpPr>
        <p:spPr/>
        <p:txBody>
          <a:bodyPr/>
          <a:lstStyle/>
          <a:p>
            <a:r>
              <a:rPr lang="ru-RU" dirty="0"/>
              <a:t>Статические поля</a:t>
            </a:r>
          </a:p>
        </p:txBody>
      </p:sp>
      <p:sp>
        <p:nvSpPr>
          <p:cNvPr id="4" name="Slide Number Placeholder 3">
            <a:extLst>
              <a:ext uri="{FF2B5EF4-FFF2-40B4-BE49-F238E27FC236}">
                <a16:creationId xmlns:a16="http://schemas.microsoft.com/office/drawing/2014/main" id="{F364675E-10C0-48AF-8F3E-A94A7737363E}"/>
              </a:ext>
            </a:extLst>
          </p:cNvPr>
          <p:cNvSpPr>
            <a:spLocks noGrp="1"/>
          </p:cNvSpPr>
          <p:nvPr>
            <p:ph type="sldNum" sz="quarter" idx="12"/>
          </p:nvPr>
        </p:nvSpPr>
        <p:spPr/>
        <p:txBody>
          <a:bodyPr/>
          <a:lstStyle/>
          <a:p>
            <a:fld id="{2A69F336-2DD4-44CE-8205-AE3F61CEB7C8}" type="slidenum">
              <a:rPr lang="ru-RU" smtClean="0"/>
              <a:pPr/>
              <a:t>3</a:t>
            </a:fld>
            <a:endParaRPr lang="ru-RU"/>
          </a:p>
        </p:txBody>
      </p:sp>
      <p:pic>
        <p:nvPicPr>
          <p:cNvPr id="8" name="Picture 7">
            <a:extLst>
              <a:ext uri="{FF2B5EF4-FFF2-40B4-BE49-F238E27FC236}">
                <a16:creationId xmlns:a16="http://schemas.microsoft.com/office/drawing/2014/main" id="{C9439AFF-E508-459C-B80B-A8EF89E94415}"/>
              </a:ext>
            </a:extLst>
          </p:cNvPr>
          <p:cNvPicPr>
            <a:picLocks noChangeAspect="1"/>
          </p:cNvPicPr>
          <p:nvPr/>
        </p:nvPicPr>
        <p:blipFill>
          <a:blip r:embed="rId3"/>
          <a:stretch>
            <a:fillRect/>
          </a:stretch>
        </p:blipFill>
        <p:spPr>
          <a:xfrm>
            <a:off x="179512" y="1229240"/>
            <a:ext cx="4237321" cy="2428893"/>
          </a:xfrm>
          <a:prstGeom prst="rect">
            <a:avLst/>
          </a:prstGeom>
        </p:spPr>
      </p:pic>
      <p:pic>
        <p:nvPicPr>
          <p:cNvPr id="9" name="Picture 8">
            <a:extLst>
              <a:ext uri="{FF2B5EF4-FFF2-40B4-BE49-F238E27FC236}">
                <a16:creationId xmlns:a16="http://schemas.microsoft.com/office/drawing/2014/main" id="{F5FE6CAE-8A98-4A0B-A6FC-04550DCA10CA}"/>
              </a:ext>
            </a:extLst>
          </p:cNvPr>
          <p:cNvPicPr>
            <a:picLocks noChangeAspect="1"/>
          </p:cNvPicPr>
          <p:nvPr/>
        </p:nvPicPr>
        <p:blipFill>
          <a:blip r:embed="rId4"/>
          <a:stretch>
            <a:fillRect/>
          </a:stretch>
        </p:blipFill>
        <p:spPr>
          <a:xfrm>
            <a:off x="4488841" y="1333344"/>
            <a:ext cx="3535518" cy="2247485"/>
          </a:xfrm>
          <a:prstGeom prst="rect">
            <a:avLst/>
          </a:prstGeom>
          <a:ln>
            <a:noFill/>
          </a:ln>
          <a:effectLst>
            <a:outerShdw blurRad="292100" dist="139700" dir="2700000" algn="tl" rotWithShape="0">
              <a:srgbClr val="333333">
                <a:alpha val="65000"/>
              </a:srgbClr>
            </a:outerShdw>
          </a:effectLst>
        </p:spPr>
      </p:pic>
      <p:pic>
        <p:nvPicPr>
          <p:cNvPr id="11" name="Picture 10">
            <a:extLst>
              <a:ext uri="{FF2B5EF4-FFF2-40B4-BE49-F238E27FC236}">
                <a16:creationId xmlns:a16="http://schemas.microsoft.com/office/drawing/2014/main" id="{966A79B3-F771-4A62-B8F1-8735DDB6E54E}"/>
              </a:ext>
            </a:extLst>
          </p:cNvPr>
          <p:cNvPicPr>
            <a:picLocks noChangeAspect="1"/>
          </p:cNvPicPr>
          <p:nvPr/>
        </p:nvPicPr>
        <p:blipFill>
          <a:blip r:embed="rId5"/>
          <a:stretch>
            <a:fillRect/>
          </a:stretch>
        </p:blipFill>
        <p:spPr>
          <a:xfrm>
            <a:off x="4488841" y="3658133"/>
            <a:ext cx="4475647" cy="1149302"/>
          </a:xfrm>
          <a:prstGeom prst="rect">
            <a:avLst/>
          </a:prstGeom>
          <a:ln>
            <a:noFill/>
          </a:ln>
          <a:effectLst>
            <a:outerShdw blurRad="292100" dist="139700" dir="2700000" algn="tl" rotWithShape="0">
              <a:srgbClr val="333333">
                <a:alpha val="65000"/>
              </a:srgbClr>
            </a:outerShdw>
          </a:effectLst>
        </p:spPr>
      </p:pic>
    </p:spTree>
    <p:extLst>
      <p:ext uri="{BB962C8B-B14F-4D97-AF65-F5344CB8AC3E}">
        <p14:creationId xmlns:p14="http://schemas.microsoft.com/office/powerpoint/2010/main" val="271769123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a:xfrm>
            <a:off x="457200" y="500054"/>
            <a:ext cx="8229600" cy="857250"/>
          </a:xfrm>
        </p:spPr>
        <p:txBody>
          <a:bodyPr/>
          <a:lstStyle/>
          <a:p>
            <a:r>
              <a:rPr lang="ru-RU" dirty="0"/>
              <a:t>Статические члены класса</a:t>
            </a:r>
          </a:p>
        </p:txBody>
      </p:sp>
      <p:sp>
        <p:nvSpPr>
          <p:cNvPr id="4" name="Номер слайда 3"/>
          <p:cNvSpPr>
            <a:spLocks noGrp="1"/>
          </p:cNvSpPr>
          <p:nvPr>
            <p:ph type="sldNum" sz="quarter" idx="12"/>
          </p:nvPr>
        </p:nvSpPr>
        <p:spPr/>
        <p:txBody>
          <a:bodyPr/>
          <a:lstStyle/>
          <a:p>
            <a:fld id="{2A69F336-2DD4-44CE-8205-AE3F61CEB7C8}" type="slidenum">
              <a:rPr lang="ru-RU" smtClean="0"/>
              <a:t>4</a:t>
            </a:fld>
            <a:endParaRPr lang="ru-RU"/>
          </a:p>
        </p:txBody>
      </p:sp>
      <p:sp>
        <p:nvSpPr>
          <p:cNvPr id="16" name="Подзаголовок 6">
            <a:extLst>
              <a:ext uri="{FF2B5EF4-FFF2-40B4-BE49-F238E27FC236}">
                <a16:creationId xmlns:a16="http://schemas.microsoft.com/office/drawing/2014/main" id="{F8E89ABA-374F-4401-8445-7A09744BF987}"/>
              </a:ext>
            </a:extLst>
          </p:cNvPr>
          <p:cNvSpPr txBox="1">
            <a:spLocks/>
          </p:cNvSpPr>
          <p:nvPr/>
        </p:nvSpPr>
        <p:spPr>
          <a:xfrm>
            <a:off x="251520" y="1203598"/>
            <a:ext cx="8784976" cy="3439848"/>
          </a:xfrm>
          <a:prstGeom prst="rect">
            <a:avLst/>
          </a:prstGeom>
        </p:spPr>
        <p:txBody>
          <a:bodyPr vert="horz" lIns="91440" tIns="45720" rIns="91440" bIns="45720" rtlCol="0">
            <a:noAutofit/>
          </a:bodyPr>
          <a:lst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algn="just"/>
            <a:r>
              <a:rPr lang="ru-RU" sz="2000" dirty="0">
                <a:latin typeface="+mj-lt"/>
                <a:cs typeface="Times New Roman" panose="02020603050405020304" pitchFamily="18" charset="0"/>
              </a:rPr>
              <a:t>К статическим полям можно обращаться с именем класса, а не только с именем экземпляра, причем это можно делать, даже если не создан ни одни экземпляр класса. </a:t>
            </a:r>
            <a:endParaRPr lang="en-US" sz="2000" dirty="0">
              <a:latin typeface="+mj-lt"/>
              <a:cs typeface="Times New Roman" panose="02020603050405020304" pitchFamily="18" charset="0"/>
            </a:endParaRPr>
          </a:p>
          <a:p>
            <a:pPr marL="0" indent="0" algn="just">
              <a:buNone/>
            </a:pPr>
            <a:r>
              <a:rPr lang="en-US" sz="2000" i="1" dirty="0" err="1">
                <a:solidFill>
                  <a:schemeClr val="accent4">
                    <a:lumMod val="10000"/>
                  </a:schemeClr>
                </a:solidFill>
                <a:latin typeface="Courier New" panose="02070309020205020404" pitchFamily="49" charset="0"/>
                <a:cs typeface="Courier New" panose="02070309020205020404" pitchFamily="49" charset="0"/>
              </a:rPr>
              <a:t>Car.numberOfCars</a:t>
            </a:r>
            <a:r>
              <a:rPr lang="ru-RU" sz="2000" i="1" dirty="0">
                <a:solidFill>
                  <a:schemeClr val="accent4">
                    <a:lumMod val="10000"/>
                  </a:schemeClr>
                </a:solidFill>
                <a:latin typeface="Courier New" panose="02070309020205020404" pitchFamily="49" charset="0"/>
                <a:cs typeface="Courier New" panose="02070309020205020404" pitchFamily="49" charset="0"/>
              </a:rPr>
              <a:t>, </a:t>
            </a:r>
            <a:r>
              <a:rPr lang="en-US" sz="2000" i="1" strike="sngStrike" dirty="0">
                <a:solidFill>
                  <a:schemeClr val="accent4">
                    <a:lumMod val="10000"/>
                  </a:schemeClr>
                </a:solidFill>
                <a:latin typeface="Courier New" panose="02070309020205020404" pitchFamily="49" charset="0"/>
                <a:cs typeface="Courier New" panose="02070309020205020404" pitchFamily="49" charset="0"/>
              </a:rPr>
              <a:t>car1.numberOfCars</a:t>
            </a:r>
            <a:r>
              <a:rPr lang="ru-RU" sz="2000" i="1" dirty="0">
                <a:solidFill>
                  <a:schemeClr val="accent4">
                    <a:lumMod val="10000"/>
                  </a:schemeClr>
                </a:solidFill>
                <a:latin typeface="Courier New" panose="02070309020205020404" pitchFamily="49" charset="0"/>
                <a:cs typeface="Courier New" panose="02070309020205020404" pitchFamily="49" charset="0"/>
              </a:rPr>
              <a:t>,</a:t>
            </a:r>
            <a:r>
              <a:rPr lang="en-US" sz="2000" i="1" dirty="0">
                <a:solidFill>
                  <a:schemeClr val="accent4">
                    <a:lumMod val="10000"/>
                  </a:schemeClr>
                </a:solidFill>
                <a:latin typeface="Courier New" panose="02070309020205020404" pitchFamily="49" charset="0"/>
                <a:cs typeface="Courier New" panose="02070309020205020404" pitchFamily="49" charset="0"/>
              </a:rPr>
              <a:t> </a:t>
            </a:r>
            <a:r>
              <a:rPr lang="en-US" sz="2000" i="1" strike="sngStrike" dirty="0">
                <a:solidFill>
                  <a:schemeClr val="accent4">
                    <a:lumMod val="10000"/>
                  </a:schemeClr>
                </a:solidFill>
                <a:latin typeface="Courier New" panose="02070309020205020404" pitchFamily="49" charset="0"/>
                <a:cs typeface="Courier New" panose="02070309020205020404" pitchFamily="49" charset="0"/>
              </a:rPr>
              <a:t>car</a:t>
            </a:r>
            <a:r>
              <a:rPr lang="ru-RU" sz="2000" i="1" strike="sngStrike" dirty="0">
                <a:solidFill>
                  <a:schemeClr val="accent4">
                    <a:lumMod val="10000"/>
                  </a:schemeClr>
                </a:solidFill>
                <a:latin typeface="Courier New" panose="02070309020205020404" pitchFamily="49" charset="0"/>
                <a:cs typeface="Courier New" panose="02070309020205020404" pitchFamily="49" charset="0"/>
              </a:rPr>
              <a:t>2</a:t>
            </a:r>
            <a:r>
              <a:rPr lang="en-US" sz="2000" i="1" strike="sngStrike" dirty="0">
                <a:solidFill>
                  <a:schemeClr val="accent4">
                    <a:lumMod val="10000"/>
                  </a:schemeClr>
                </a:solidFill>
                <a:latin typeface="Courier New" panose="02070309020205020404" pitchFamily="49" charset="0"/>
                <a:cs typeface="Courier New" panose="02070309020205020404" pitchFamily="49" charset="0"/>
              </a:rPr>
              <a:t>.</a:t>
            </a:r>
            <a:r>
              <a:rPr lang="en-US" sz="2000" i="1" strike="sngStrike" dirty="0" err="1">
                <a:solidFill>
                  <a:schemeClr val="accent4">
                    <a:lumMod val="10000"/>
                  </a:schemeClr>
                </a:solidFill>
                <a:latin typeface="Courier New" panose="02070309020205020404" pitchFamily="49" charset="0"/>
                <a:cs typeface="Courier New" panose="02070309020205020404" pitchFamily="49" charset="0"/>
              </a:rPr>
              <a:t>numberOfCars</a:t>
            </a:r>
            <a:r>
              <a:rPr lang="en-US" sz="2000" i="1" strike="sngStrike" dirty="0">
                <a:solidFill>
                  <a:schemeClr val="accent4">
                    <a:lumMod val="10000"/>
                  </a:schemeClr>
                </a:solidFill>
                <a:latin typeface="Courier New" panose="02070309020205020404" pitchFamily="49" charset="0"/>
                <a:cs typeface="Courier New" panose="02070309020205020404" pitchFamily="49" charset="0"/>
              </a:rPr>
              <a:t> </a:t>
            </a:r>
          </a:p>
          <a:p>
            <a:pPr algn="just"/>
            <a:r>
              <a:rPr lang="ru-RU" sz="2000" dirty="0">
                <a:latin typeface="+mj-lt"/>
                <a:cs typeface="Times New Roman" panose="02020603050405020304" pitchFamily="18" charset="0"/>
              </a:rPr>
              <a:t>Для работы с такими статическими полями обычно создаются статические методы, помеченные модификатором </a:t>
            </a:r>
            <a:r>
              <a:rPr lang="ru-RU" sz="2000" i="1" dirty="0" err="1">
                <a:solidFill>
                  <a:schemeClr val="accent4">
                    <a:lumMod val="10000"/>
                  </a:schemeClr>
                </a:solidFill>
                <a:latin typeface="Courier New" panose="02070309020205020404" pitchFamily="49" charset="0"/>
                <a:cs typeface="Courier New" panose="02070309020205020404" pitchFamily="49" charset="0"/>
              </a:rPr>
              <a:t>static</a:t>
            </a:r>
            <a:r>
              <a:rPr lang="ru-RU" sz="2000" dirty="0">
                <a:latin typeface="+mj-lt"/>
                <a:cs typeface="Times New Roman" panose="02020603050405020304" pitchFamily="18" charset="0"/>
              </a:rPr>
              <a:t>. Для методов слово </a:t>
            </a:r>
            <a:r>
              <a:rPr lang="ru-RU" sz="2000" i="1" dirty="0" err="1">
                <a:solidFill>
                  <a:schemeClr val="accent4">
                    <a:lumMod val="10000"/>
                  </a:schemeClr>
                </a:solidFill>
                <a:latin typeface="Courier New" panose="02070309020205020404" pitchFamily="49" charset="0"/>
                <a:cs typeface="Courier New" panose="02070309020205020404" pitchFamily="49" charset="0"/>
              </a:rPr>
              <a:t>static</a:t>
            </a:r>
            <a:r>
              <a:rPr lang="ru-RU" sz="2000" dirty="0">
                <a:latin typeface="+mj-lt"/>
                <a:cs typeface="Times New Roman" panose="02020603050405020304" pitchFamily="18" charset="0"/>
              </a:rPr>
              <a:t> имеет совсем другой смысл, чем для полей, потому что исполняющая система </a:t>
            </a:r>
            <a:r>
              <a:rPr lang="ru-RU" sz="2000" dirty="0" err="1">
                <a:latin typeface="+mj-lt"/>
                <a:cs typeface="Times New Roman" panose="02020603050405020304" pitchFamily="18" charset="0"/>
              </a:rPr>
              <a:t>Java</a:t>
            </a:r>
            <a:r>
              <a:rPr lang="ru-RU" sz="2000" dirty="0">
                <a:latin typeface="+mj-lt"/>
                <a:cs typeface="Times New Roman" panose="02020603050405020304" pitchFamily="18" charset="0"/>
              </a:rPr>
              <a:t> всегда создает в памяти только одну копию машинного кода метода, разделяемую всеми экземплярами, независимо от того, статический это метод или нет.</a:t>
            </a:r>
          </a:p>
        </p:txBody>
      </p:sp>
    </p:spTree>
    <p:extLst>
      <p:ext uri="{BB962C8B-B14F-4D97-AF65-F5344CB8AC3E}">
        <p14:creationId xmlns:p14="http://schemas.microsoft.com/office/powerpoint/2010/main" val="3012030774"/>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6991EA5-6E8D-4181-9C70-195DACC33E2D}"/>
              </a:ext>
            </a:extLst>
          </p:cNvPr>
          <p:cNvSpPr>
            <a:spLocks noGrp="1"/>
          </p:cNvSpPr>
          <p:nvPr>
            <p:ph type="title"/>
          </p:nvPr>
        </p:nvSpPr>
        <p:spPr/>
        <p:txBody>
          <a:bodyPr/>
          <a:lstStyle/>
          <a:p>
            <a:r>
              <a:rPr lang="ru-RU" dirty="0"/>
              <a:t>Особенности статических полей</a:t>
            </a:r>
          </a:p>
        </p:txBody>
      </p:sp>
      <p:sp>
        <p:nvSpPr>
          <p:cNvPr id="3" name="Content Placeholder 2">
            <a:extLst>
              <a:ext uri="{FF2B5EF4-FFF2-40B4-BE49-F238E27FC236}">
                <a16:creationId xmlns:a16="http://schemas.microsoft.com/office/drawing/2014/main" id="{5408AB9F-E012-4BE3-8999-0B6CD33714CD}"/>
              </a:ext>
            </a:extLst>
          </p:cNvPr>
          <p:cNvSpPr>
            <a:spLocks noGrp="1"/>
          </p:cNvSpPr>
          <p:nvPr>
            <p:ph idx="1"/>
          </p:nvPr>
        </p:nvSpPr>
        <p:spPr>
          <a:xfrm>
            <a:off x="457200" y="1428741"/>
            <a:ext cx="5987008" cy="3165881"/>
          </a:xfrm>
        </p:spPr>
        <p:txBody>
          <a:bodyPr>
            <a:normAutofit fontScale="85000" lnSpcReduction="10000"/>
          </a:bodyPr>
          <a:lstStyle/>
          <a:p>
            <a:r>
              <a:rPr lang="ru-RU" dirty="0"/>
              <a:t>Статические переменные могут быть созданы только, как переменные класса. Они не могут быть локальными переменными</a:t>
            </a:r>
          </a:p>
          <a:p>
            <a:r>
              <a:rPr lang="ru-RU" dirty="0"/>
              <a:t>К статическим полям класса можно получить доступ без создания объекта, используя имя класса.</a:t>
            </a:r>
          </a:p>
        </p:txBody>
      </p:sp>
      <p:sp>
        <p:nvSpPr>
          <p:cNvPr id="4" name="Slide Number Placeholder 3">
            <a:extLst>
              <a:ext uri="{FF2B5EF4-FFF2-40B4-BE49-F238E27FC236}">
                <a16:creationId xmlns:a16="http://schemas.microsoft.com/office/drawing/2014/main" id="{31216B74-EE7E-496B-B7B4-27BE231D6A18}"/>
              </a:ext>
            </a:extLst>
          </p:cNvPr>
          <p:cNvSpPr>
            <a:spLocks noGrp="1"/>
          </p:cNvSpPr>
          <p:nvPr>
            <p:ph type="sldNum" sz="quarter" idx="12"/>
          </p:nvPr>
        </p:nvSpPr>
        <p:spPr/>
        <p:txBody>
          <a:bodyPr/>
          <a:lstStyle/>
          <a:p>
            <a:fld id="{2A69F336-2DD4-44CE-8205-AE3F61CEB7C8}" type="slidenum">
              <a:rPr lang="ru-RU" smtClean="0"/>
              <a:pPr/>
              <a:t>5</a:t>
            </a:fld>
            <a:endParaRPr lang="ru-RU"/>
          </a:p>
        </p:txBody>
      </p:sp>
      <p:pic>
        <p:nvPicPr>
          <p:cNvPr id="5" name="Picture 4">
            <a:extLst>
              <a:ext uri="{FF2B5EF4-FFF2-40B4-BE49-F238E27FC236}">
                <a16:creationId xmlns:a16="http://schemas.microsoft.com/office/drawing/2014/main" id="{56FF48E8-AE6C-4D73-8B01-38A47A1B52AD}"/>
              </a:ext>
            </a:extLst>
          </p:cNvPr>
          <p:cNvPicPr>
            <a:picLocks noChangeAspect="1"/>
          </p:cNvPicPr>
          <p:nvPr/>
        </p:nvPicPr>
        <p:blipFill>
          <a:blip r:embed="rId3"/>
          <a:stretch>
            <a:fillRect/>
          </a:stretch>
        </p:blipFill>
        <p:spPr>
          <a:xfrm>
            <a:off x="6567644" y="1851670"/>
            <a:ext cx="2348307" cy="2151121"/>
          </a:xfrm>
          <a:prstGeom prst="rect">
            <a:avLst/>
          </a:prstGeom>
        </p:spPr>
      </p:pic>
    </p:spTree>
    <p:extLst>
      <p:ext uri="{BB962C8B-B14F-4D97-AF65-F5344CB8AC3E}">
        <p14:creationId xmlns:p14="http://schemas.microsoft.com/office/powerpoint/2010/main" val="3858992276"/>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0B302E1-4355-4896-9834-A04B983E18A7}"/>
              </a:ext>
            </a:extLst>
          </p:cNvPr>
          <p:cNvSpPr>
            <a:spLocks noGrp="1"/>
          </p:cNvSpPr>
          <p:nvPr>
            <p:ph type="title"/>
          </p:nvPr>
        </p:nvSpPr>
        <p:spPr/>
        <p:txBody>
          <a:bodyPr>
            <a:normAutofit fontScale="90000"/>
          </a:bodyPr>
          <a:lstStyle/>
          <a:p>
            <a:r>
              <a:rPr lang="ru-RU" dirty="0"/>
              <a:t>Использование статических полей</a:t>
            </a:r>
          </a:p>
        </p:txBody>
      </p:sp>
      <p:sp>
        <p:nvSpPr>
          <p:cNvPr id="3" name="Content Placeholder 2">
            <a:extLst>
              <a:ext uri="{FF2B5EF4-FFF2-40B4-BE49-F238E27FC236}">
                <a16:creationId xmlns:a16="http://schemas.microsoft.com/office/drawing/2014/main" id="{BB91FFB7-C81A-4533-B4B0-81B509C8803A}"/>
              </a:ext>
            </a:extLst>
          </p:cNvPr>
          <p:cNvSpPr>
            <a:spLocks noGrp="1"/>
          </p:cNvSpPr>
          <p:nvPr>
            <p:ph idx="1"/>
          </p:nvPr>
        </p:nvSpPr>
        <p:spPr/>
        <p:txBody>
          <a:bodyPr>
            <a:normAutofit fontScale="85000" lnSpcReduction="10000"/>
          </a:bodyPr>
          <a:lstStyle/>
          <a:p>
            <a:r>
              <a:rPr lang="ru-RU" dirty="0"/>
              <a:t>Когда значение поля должно быть общим для всех объектов класса, в котором оно определено</a:t>
            </a:r>
          </a:p>
          <a:p>
            <a:r>
              <a:rPr lang="ru-RU" dirty="0"/>
              <a:t>Когда значение поля не зависит от наличия объектов класса, в котором оно определено</a:t>
            </a:r>
          </a:p>
          <a:p>
            <a:r>
              <a:rPr lang="ru-RU" dirty="0"/>
              <a:t>Когда значение поля может быть изменено из любого объекта класса, в котором оно определено</a:t>
            </a:r>
          </a:p>
        </p:txBody>
      </p:sp>
      <p:sp>
        <p:nvSpPr>
          <p:cNvPr id="4" name="Slide Number Placeholder 3">
            <a:extLst>
              <a:ext uri="{FF2B5EF4-FFF2-40B4-BE49-F238E27FC236}">
                <a16:creationId xmlns:a16="http://schemas.microsoft.com/office/drawing/2014/main" id="{5B7BB2CE-441A-48B0-AAFC-5265173FFC5B}"/>
              </a:ext>
            </a:extLst>
          </p:cNvPr>
          <p:cNvSpPr>
            <a:spLocks noGrp="1"/>
          </p:cNvSpPr>
          <p:nvPr>
            <p:ph type="sldNum" sz="quarter" idx="12"/>
          </p:nvPr>
        </p:nvSpPr>
        <p:spPr/>
        <p:txBody>
          <a:bodyPr/>
          <a:lstStyle/>
          <a:p>
            <a:fld id="{2A69F336-2DD4-44CE-8205-AE3F61CEB7C8}" type="slidenum">
              <a:rPr lang="ru-RU" smtClean="0"/>
              <a:pPr/>
              <a:t>6</a:t>
            </a:fld>
            <a:endParaRPr lang="ru-RU"/>
          </a:p>
        </p:txBody>
      </p:sp>
    </p:spTree>
    <p:extLst>
      <p:ext uri="{BB962C8B-B14F-4D97-AF65-F5344CB8AC3E}">
        <p14:creationId xmlns:p14="http://schemas.microsoft.com/office/powerpoint/2010/main" val="2527601701"/>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6FFADA9-6B80-4A4A-B877-FAC615F38C4E}"/>
              </a:ext>
            </a:extLst>
          </p:cNvPr>
          <p:cNvSpPr>
            <a:spLocks noGrp="1"/>
          </p:cNvSpPr>
          <p:nvPr>
            <p:ph type="title"/>
          </p:nvPr>
        </p:nvSpPr>
        <p:spPr/>
        <p:txBody>
          <a:bodyPr/>
          <a:lstStyle/>
          <a:p>
            <a:r>
              <a:rPr lang="ru-RU" dirty="0"/>
              <a:t>Константы</a:t>
            </a:r>
          </a:p>
        </p:txBody>
      </p:sp>
      <p:sp>
        <p:nvSpPr>
          <p:cNvPr id="3" name="Content Placeholder 2">
            <a:extLst>
              <a:ext uri="{FF2B5EF4-FFF2-40B4-BE49-F238E27FC236}">
                <a16:creationId xmlns:a16="http://schemas.microsoft.com/office/drawing/2014/main" id="{C3457F99-2A92-42EA-B980-5818BE1A2AB4}"/>
              </a:ext>
            </a:extLst>
          </p:cNvPr>
          <p:cNvSpPr>
            <a:spLocks noGrp="1"/>
          </p:cNvSpPr>
          <p:nvPr>
            <p:ph idx="1"/>
          </p:nvPr>
        </p:nvSpPr>
        <p:spPr>
          <a:xfrm>
            <a:off x="457200" y="1428741"/>
            <a:ext cx="8398768" cy="1754326"/>
          </a:xfrm>
        </p:spPr>
        <p:txBody>
          <a:bodyPr>
            <a:noAutofit/>
          </a:bodyPr>
          <a:lstStyle/>
          <a:p>
            <a:r>
              <a:rPr lang="ru-RU" sz="1600" dirty="0"/>
              <a:t>Константы — это статические финальные поля, содержимое которых неизменно. Это относится к примитивам, </a:t>
            </a:r>
            <a:r>
              <a:rPr lang="ru-RU" sz="1600" dirty="0" err="1"/>
              <a:t>String</a:t>
            </a:r>
            <a:r>
              <a:rPr lang="ru-RU" sz="1600" dirty="0"/>
              <a:t>, неизменяемым типам и неизменяемым коллекциям неизменяемых типов.</a:t>
            </a:r>
          </a:p>
          <a:p>
            <a:r>
              <a:rPr lang="ru-RU" sz="1600" dirty="0"/>
              <a:t>Для определения константы необходимо добавить модификаторы «</a:t>
            </a:r>
            <a:r>
              <a:rPr lang="ru-RU" sz="1600" i="1" dirty="0" err="1"/>
              <a:t>static</a:t>
            </a:r>
            <a:r>
              <a:rPr lang="ru-RU" sz="1600" i="1" dirty="0"/>
              <a:t> </a:t>
            </a:r>
            <a:r>
              <a:rPr lang="ru-RU" sz="1600" i="1" dirty="0" err="1"/>
              <a:t>final</a:t>
            </a:r>
            <a:r>
              <a:rPr lang="ru-RU" sz="1600" dirty="0"/>
              <a:t>» к полю класса.</a:t>
            </a:r>
          </a:p>
          <a:p>
            <a:r>
              <a:rPr lang="ru-RU" sz="1600" dirty="0"/>
              <a:t>Константы улучшают читабельность программного кода, улучшают производительность приложения, поскольку они </a:t>
            </a:r>
            <a:r>
              <a:rPr lang="ru-RU" sz="1600" dirty="0" err="1"/>
              <a:t>кешируются</a:t>
            </a:r>
            <a:r>
              <a:rPr lang="ru-RU" sz="1600" dirty="0"/>
              <a:t> как JVM, так и самим приложением.</a:t>
            </a:r>
          </a:p>
        </p:txBody>
      </p:sp>
      <p:sp>
        <p:nvSpPr>
          <p:cNvPr id="4" name="Slide Number Placeholder 3">
            <a:extLst>
              <a:ext uri="{FF2B5EF4-FFF2-40B4-BE49-F238E27FC236}">
                <a16:creationId xmlns:a16="http://schemas.microsoft.com/office/drawing/2014/main" id="{656C50DF-0348-453F-B1A5-3756563BC897}"/>
              </a:ext>
            </a:extLst>
          </p:cNvPr>
          <p:cNvSpPr>
            <a:spLocks noGrp="1"/>
          </p:cNvSpPr>
          <p:nvPr>
            <p:ph type="sldNum" sz="quarter" idx="12"/>
          </p:nvPr>
        </p:nvSpPr>
        <p:spPr/>
        <p:txBody>
          <a:bodyPr/>
          <a:lstStyle/>
          <a:p>
            <a:fld id="{2A69F336-2DD4-44CE-8205-AE3F61CEB7C8}" type="slidenum">
              <a:rPr lang="ru-RU" smtClean="0"/>
              <a:pPr/>
              <a:t>7</a:t>
            </a:fld>
            <a:endParaRPr lang="ru-RU"/>
          </a:p>
        </p:txBody>
      </p:sp>
      <p:pic>
        <p:nvPicPr>
          <p:cNvPr id="5" name="Picture 4">
            <a:extLst>
              <a:ext uri="{FF2B5EF4-FFF2-40B4-BE49-F238E27FC236}">
                <a16:creationId xmlns:a16="http://schemas.microsoft.com/office/drawing/2014/main" id="{9B1D9A86-DAEF-4E74-9219-F46E7136F9EC}"/>
              </a:ext>
            </a:extLst>
          </p:cNvPr>
          <p:cNvPicPr>
            <a:picLocks noChangeAspect="1"/>
          </p:cNvPicPr>
          <p:nvPr/>
        </p:nvPicPr>
        <p:blipFill>
          <a:blip r:embed="rId3"/>
          <a:stretch>
            <a:fillRect/>
          </a:stretch>
        </p:blipFill>
        <p:spPr>
          <a:xfrm>
            <a:off x="6041406" y="3416253"/>
            <a:ext cx="2843808" cy="1074591"/>
          </a:xfrm>
          <a:prstGeom prst="rect">
            <a:avLst/>
          </a:prstGeom>
          <a:ln>
            <a:noFill/>
          </a:ln>
          <a:effectLst>
            <a:outerShdw blurRad="292100" dist="139700" dir="2700000" algn="tl" rotWithShape="0">
              <a:srgbClr val="333333">
                <a:alpha val="65000"/>
              </a:srgbClr>
            </a:outerShdw>
          </a:effectLst>
        </p:spPr>
      </p:pic>
      <p:sp>
        <p:nvSpPr>
          <p:cNvPr id="6" name="TextBox 5">
            <a:extLst>
              <a:ext uri="{FF2B5EF4-FFF2-40B4-BE49-F238E27FC236}">
                <a16:creationId xmlns:a16="http://schemas.microsoft.com/office/drawing/2014/main" id="{0D9A0B6B-19DC-49EF-B9AC-E45B4A33B5AC}"/>
              </a:ext>
            </a:extLst>
          </p:cNvPr>
          <p:cNvSpPr txBox="1"/>
          <p:nvPr/>
        </p:nvSpPr>
        <p:spPr>
          <a:xfrm>
            <a:off x="513942" y="3291830"/>
            <a:ext cx="5498218" cy="1323439"/>
          </a:xfrm>
          <a:prstGeom prst="rect">
            <a:avLst/>
          </a:prstGeom>
          <a:noFill/>
        </p:spPr>
        <p:txBody>
          <a:bodyPr wrap="square" rtlCol="0">
            <a:spAutoFit/>
          </a:bodyPr>
          <a:lstStyle/>
          <a:p>
            <a:pPr marL="285750" indent="-285750">
              <a:buFont typeface="Arial" panose="020B0604020202020204" pitchFamily="34" charset="0"/>
              <a:buChar char="•"/>
            </a:pPr>
            <a:r>
              <a:rPr lang="ru-RU" sz="1600" dirty="0"/>
              <a:t>Константы именуются в стиле CONSTANT_CASE.</a:t>
            </a:r>
          </a:p>
          <a:p>
            <a:pPr marL="285750" indent="-285750">
              <a:buFont typeface="Arial" panose="020B0604020202020204" pitchFamily="34" charset="0"/>
              <a:buChar char="•"/>
            </a:pPr>
            <a:r>
              <a:rPr lang="ru-RU" sz="1600" dirty="0"/>
              <a:t>Разместить константы можно в классе, который их будет использовать, в отдельных нескольких классах в соответствии с логикой использования констант, в одном большом отдельном глобальном классе и в интерфейсе.</a:t>
            </a:r>
          </a:p>
        </p:txBody>
      </p:sp>
    </p:spTree>
    <p:extLst>
      <p:ext uri="{BB962C8B-B14F-4D97-AF65-F5344CB8AC3E}">
        <p14:creationId xmlns:p14="http://schemas.microsoft.com/office/powerpoint/2010/main" val="124061661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a:xfrm>
            <a:off x="457200" y="500054"/>
            <a:ext cx="8229600" cy="857250"/>
          </a:xfrm>
        </p:spPr>
        <p:txBody>
          <a:bodyPr/>
          <a:lstStyle/>
          <a:p>
            <a:r>
              <a:rPr lang="ru-RU" dirty="0"/>
              <a:t>Статические методы</a:t>
            </a:r>
          </a:p>
        </p:txBody>
      </p:sp>
      <p:sp>
        <p:nvSpPr>
          <p:cNvPr id="4" name="Номер слайда 3"/>
          <p:cNvSpPr>
            <a:spLocks noGrp="1"/>
          </p:cNvSpPr>
          <p:nvPr>
            <p:ph type="sldNum" sz="quarter" idx="12"/>
          </p:nvPr>
        </p:nvSpPr>
        <p:spPr/>
        <p:txBody>
          <a:bodyPr/>
          <a:lstStyle/>
          <a:p>
            <a:fld id="{2A69F336-2DD4-44CE-8205-AE3F61CEB7C8}" type="slidenum">
              <a:rPr lang="ru-RU" smtClean="0"/>
              <a:t>8</a:t>
            </a:fld>
            <a:endParaRPr lang="ru-RU"/>
          </a:p>
        </p:txBody>
      </p:sp>
      <p:sp>
        <p:nvSpPr>
          <p:cNvPr id="16" name="Подзаголовок 6">
            <a:extLst>
              <a:ext uri="{FF2B5EF4-FFF2-40B4-BE49-F238E27FC236}">
                <a16:creationId xmlns:a16="http://schemas.microsoft.com/office/drawing/2014/main" id="{F8E89ABA-374F-4401-8445-7A09744BF987}"/>
              </a:ext>
            </a:extLst>
          </p:cNvPr>
          <p:cNvSpPr txBox="1">
            <a:spLocks/>
          </p:cNvSpPr>
          <p:nvPr/>
        </p:nvSpPr>
        <p:spPr>
          <a:xfrm>
            <a:off x="325226" y="1357304"/>
            <a:ext cx="8784976" cy="2294567"/>
          </a:xfrm>
          <a:prstGeom prst="rect">
            <a:avLst/>
          </a:prstGeom>
        </p:spPr>
        <p:txBody>
          <a:bodyPr vert="horz" lIns="91440" tIns="45720" rIns="91440" bIns="45720" rtlCol="0">
            <a:noAutofit/>
          </a:bodyPr>
          <a:lst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algn="just"/>
            <a:r>
              <a:rPr lang="ru-RU" sz="2000" dirty="0">
                <a:latin typeface="+mj-lt"/>
                <a:cs typeface="Times New Roman" panose="02020603050405020304" pitchFamily="18" charset="0"/>
              </a:rPr>
              <a:t>Статические методы – они работают напрямую только со статическими полями и другими статическими методами класса. </a:t>
            </a:r>
            <a:endParaRPr lang="en-US" sz="2000" dirty="0">
              <a:latin typeface="+mj-lt"/>
              <a:cs typeface="Times New Roman" panose="02020603050405020304" pitchFamily="18" charset="0"/>
            </a:endParaRPr>
          </a:p>
          <a:p>
            <a:pPr algn="just"/>
            <a:r>
              <a:rPr lang="ru-RU" sz="2000" dirty="0">
                <a:cs typeface="Times New Roman" panose="02020603050405020304" pitchFamily="18" charset="0"/>
              </a:rPr>
              <a:t>Статические методы</a:t>
            </a:r>
            <a:r>
              <a:rPr lang="ru-RU" sz="2000" dirty="0">
                <a:latin typeface="+mj-lt"/>
                <a:cs typeface="Times New Roman" panose="02020603050405020304" pitchFamily="18" charset="0"/>
              </a:rPr>
              <a:t> могут выполняться, даже если не создан ни один экземпляр класса. Достаточно уточнить имя метода именем класса (а не именем объекта), чтобы метода мог работать.</a:t>
            </a:r>
          </a:p>
        </p:txBody>
      </p:sp>
      <p:pic>
        <p:nvPicPr>
          <p:cNvPr id="3" name="Picture 2">
            <a:extLst>
              <a:ext uri="{FF2B5EF4-FFF2-40B4-BE49-F238E27FC236}">
                <a16:creationId xmlns:a16="http://schemas.microsoft.com/office/drawing/2014/main" id="{BD54A735-B83C-4CC1-8F6C-E328949CE790}"/>
              </a:ext>
            </a:extLst>
          </p:cNvPr>
          <p:cNvPicPr>
            <a:picLocks noChangeAspect="1"/>
          </p:cNvPicPr>
          <p:nvPr/>
        </p:nvPicPr>
        <p:blipFill>
          <a:blip r:embed="rId3"/>
          <a:stretch>
            <a:fillRect/>
          </a:stretch>
        </p:blipFill>
        <p:spPr>
          <a:xfrm>
            <a:off x="768250" y="3072578"/>
            <a:ext cx="3963168" cy="1436543"/>
          </a:xfrm>
          <a:prstGeom prst="rect">
            <a:avLst/>
          </a:prstGeom>
          <a:ln>
            <a:noFill/>
          </a:ln>
          <a:effectLst>
            <a:outerShdw blurRad="292100" dist="139700" dir="2700000" algn="tl" rotWithShape="0">
              <a:srgbClr val="333333">
                <a:alpha val="65000"/>
              </a:srgbClr>
            </a:outerShdw>
          </a:effectLst>
        </p:spPr>
      </p:pic>
      <p:pic>
        <p:nvPicPr>
          <p:cNvPr id="5" name="Picture 4">
            <a:extLst>
              <a:ext uri="{FF2B5EF4-FFF2-40B4-BE49-F238E27FC236}">
                <a16:creationId xmlns:a16="http://schemas.microsoft.com/office/drawing/2014/main" id="{D71B8765-C6D9-4959-AE51-755588B11A48}"/>
              </a:ext>
            </a:extLst>
          </p:cNvPr>
          <p:cNvPicPr>
            <a:picLocks noChangeAspect="1"/>
          </p:cNvPicPr>
          <p:nvPr/>
        </p:nvPicPr>
        <p:blipFill>
          <a:blip r:embed="rId4"/>
          <a:stretch>
            <a:fillRect/>
          </a:stretch>
        </p:blipFill>
        <p:spPr>
          <a:xfrm>
            <a:off x="3347864" y="3943892"/>
            <a:ext cx="5463181" cy="699554"/>
          </a:xfrm>
          <a:prstGeom prst="rect">
            <a:avLst/>
          </a:prstGeom>
          <a:ln>
            <a:noFill/>
          </a:ln>
          <a:effectLst>
            <a:outerShdw blurRad="292100" dist="139700" dir="2700000" algn="tl" rotWithShape="0">
              <a:srgbClr val="333333">
                <a:alpha val="65000"/>
              </a:srgbClr>
            </a:outerShdw>
          </a:effectLst>
        </p:spPr>
      </p:pic>
    </p:spTree>
    <p:extLst>
      <p:ext uri="{BB962C8B-B14F-4D97-AF65-F5344CB8AC3E}">
        <p14:creationId xmlns:p14="http://schemas.microsoft.com/office/powerpoint/2010/main" val="424485751"/>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p:txBody>
          <a:bodyPr>
            <a:normAutofit fontScale="90000"/>
          </a:bodyPr>
          <a:lstStyle/>
          <a:p>
            <a:r>
              <a:rPr lang="ru-RU" dirty="0">
                <a:cs typeface="Times New Roman" panose="02020603050405020304" pitchFamily="18" charset="0"/>
              </a:rPr>
              <a:t>Особенности статических методов</a:t>
            </a:r>
            <a:endParaRPr lang="ru-RU" dirty="0"/>
          </a:p>
        </p:txBody>
      </p:sp>
      <p:sp>
        <p:nvSpPr>
          <p:cNvPr id="3" name="Content Placeholder 2">
            <a:extLst>
              <a:ext uri="{FF2B5EF4-FFF2-40B4-BE49-F238E27FC236}">
                <a16:creationId xmlns:a16="http://schemas.microsoft.com/office/drawing/2014/main" id="{58904426-B6D6-40E7-AABC-D6663879A1A6}"/>
              </a:ext>
            </a:extLst>
          </p:cNvPr>
          <p:cNvSpPr>
            <a:spLocks noGrp="1"/>
          </p:cNvSpPr>
          <p:nvPr>
            <p:ph idx="1"/>
          </p:nvPr>
        </p:nvSpPr>
        <p:spPr/>
        <p:txBody>
          <a:bodyPr>
            <a:normAutofit fontScale="62500" lnSpcReduction="20000"/>
          </a:bodyPr>
          <a:lstStyle/>
          <a:p>
            <a:pPr marL="514350" indent="-514350">
              <a:buFont typeface="+mj-lt"/>
              <a:buAutoNum type="arabicPeriod"/>
            </a:pPr>
            <a:r>
              <a:rPr lang="ru-RU" dirty="0"/>
              <a:t>В статическом методе нельзя использовать ссылки </a:t>
            </a:r>
            <a:r>
              <a:rPr lang="ru-RU" dirty="0" err="1"/>
              <a:t>this</a:t>
            </a:r>
            <a:r>
              <a:rPr lang="ru-RU" dirty="0"/>
              <a:t> и </a:t>
            </a:r>
            <a:r>
              <a:rPr lang="ru-RU" dirty="0" err="1"/>
              <a:t>super</a:t>
            </a:r>
            <a:r>
              <a:rPr lang="ru-RU" dirty="0"/>
              <a:t>.</a:t>
            </a:r>
          </a:p>
          <a:p>
            <a:pPr marL="514350" indent="-514350">
              <a:buFont typeface="+mj-lt"/>
              <a:buAutoNum type="arabicPeriod"/>
            </a:pPr>
            <a:r>
              <a:rPr lang="ru-RU" dirty="0"/>
              <a:t>Статические методы не могут быть абстрактными.</a:t>
            </a:r>
          </a:p>
          <a:p>
            <a:pPr marL="514350" indent="-514350">
              <a:buFont typeface="+mj-lt"/>
              <a:buAutoNum type="arabicPeriod"/>
            </a:pPr>
            <a:r>
              <a:rPr lang="ru-RU" dirty="0"/>
              <a:t>Статические методы переопределяются в подклассах только как статические, при этом он лишь перекроет (</a:t>
            </a:r>
            <a:r>
              <a:rPr lang="ru-RU" dirty="0" err="1"/>
              <a:t>hiding</a:t>
            </a:r>
            <a:r>
              <a:rPr lang="ru-RU" dirty="0"/>
              <a:t> </a:t>
            </a:r>
            <a:r>
              <a:rPr lang="ru-RU" dirty="0" err="1"/>
              <a:t>methods</a:t>
            </a:r>
            <a:r>
              <a:rPr lang="ru-RU" dirty="0"/>
              <a:t>) метод из суперкласса вместо его переопределения</a:t>
            </a:r>
          </a:p>
          <a:p>
            <a:pPr marL="514350" indent="-514350">
              <a:buAutoNum type="arabicPeriod" startAt="4"/>
            </a:pPr>
            <a:r>
              <a:rPr lang="ru-RU" dirty="0"/>
              <a:t>При переопределении статических методов полиморфизм не действует, ссылки всегда направляются на методы класса, а не объекта.</a:t>
            </a:r>
          </a:p>
          <a:p>
            <a:pPr marL="514350" indent="-514350">
              <a:buAutoNum type="arabicPeriod" startAt="4"/>
            </a:pPr>
            <a:r>
              <a:rPr lang="ru-RU" dirty="0"/>
              <a:t>Статические методы могут быть определены в интерфейсах, но они не могут быть переопределены методами в реализующих интерфейс классах.</a:t>
            </a:r>
          </a:p>
        </p:txBody>
      </p:sp>
      <p:sp>
        <p:nvSpPr>
          <p:cNvPr id="4" name="Номер слайда 3"/>
          <p:cNvSpPr>
            <a:spLocks noGrp="1"/>
          </p:cNvSpPr>
          <p:nvPr>
            <p:ph type="sldNum" sz="quarter" idx="12"/>
          </p:nvPr>
        </p:nvSpPr>
        <p:spPr/>
        <p:txBody>
          <a:bodyPr/>
          <a:lstStyle/>
          <a:p>
            <a:fld id="{2A69F336-2DD4-44CE-8205-AE3F61CEB7C8}" type="slidenum">
              <a:rPr lang="ru-RU" smtClean="0"/>
              <a:t>9</a:t>
            </a:fld>
            <a:endParaRPr lang="ru-RU"/>
          </a:p>
        </p:txBody>
      </p:sp>
    </p:spTree>
    <p:extLst>
      <p:ext uri="{BB962C8B-B14F-4D97-AF65-F5344CB8AC3E}">
        <p14:creationId xmlns:p14="http://schemas.microsoft.com/office/powerpoint/2010/main" val="1840491586"/>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C75BC1B-515C-4F34-A4E8-0928DBA4971F}"/>
              </a:ext>
            </a:extLst>
          </p:cNvPr>
          <p:cNvSpPr>
            <a:spLocks noGrp="1"/>
          </p:cNvSpPr>
          <p:nvPr>
            <p:ph type="title"/>
          </p:nvPr>
        </p:nvSpPr>
        <p:spPr/>
        <p:txBody>
          <a:bodyPr>
            <a:normAutofit fontScale="90000"/>
          </a:bodyPr>
          <a:lstStyle/>
          <a:p>
            <a:r>
              <a:rPr lang="ru-RU" dirty="0"/>
              <a:t>Использование статических методов</a:t>
            </a:r>
          </a:p>
        </p:txBody>
      </p:sp>
      <p:sp>
        <p:nvSpPr>
          <p:cNvPr id="3" name="Content Placeholder 2">
            <a:extLst>
              <a:ext uri="{FF2B5EF4-FFF2-40B4-BE49-F238E27FC236}">
                <a16:creationId xmlns:a16="http://schemas.microsoft.com/office/drawing/2014/main" id="{2C931910-2331-4B01-9604-7331E4E13D31}"/>
              </a:ext>
            </a:extLst>
          </p:cNvPr>
          <p:cNvSpPr>
            <a:spLocks noGrp="1"/>
          </p:cNvSpPr>
          <p:nvPr>
            <p:ph idx="1"/>
          </p:nvPr>
        </p:nvSpPr>
        <p:spPr/>
        <p:txBody>
          <a:bodyPr>
            <a:normAutofit fontScale="77500" lnSpcReduction="20000"/>
          </a:bodyPr>
          <a:lstStyle/>
          <a:p>
            <a:r>
              <a:rPr lang="ru-RU" dirty="0"/>
              <a:t>Для доступа / управления статическими переменными и другими статическими методами, которые не зависят от объектов</a:t>
            </a:r>
          </a:p>
          <a:p>
            <a:r>
              <a:rPr lang="ru-RU" dirty="0"/>
              <a:t>Для служебных, вспомогательных классов и интерфейсов, поскольку не требуют создания объектов и соответственно, обеспечивают большую производительность</a:t>
            </a:r>
          </a:p>
          <a:p>
            <a:r>
              <a:rPr lang="ru-RU" dirty="0"/>
              <a:t>Когда методу требуется доступ лишь к статическим полям класса</a:t>
            </a:r>
          </a:p>
        </p:txBody>
      </p:sp>
      <p:sp>
        <p:nvSpPr>
          <p:cNvPr id="4" name="Slide Number Placeholder 3">
            <a:extLst>
              <a:ext uri="{FF2B5EF4-FFF2-40B4-BE49-F238E27FC236}">
                <a16:creationId xmlns:a16="http://schemas.microsoft.com/office/drawing/2014/main" id="{FABEAF26-235E-44FA-B4CB-92BE334CF09A}"/>
              </a:ext>
            </a:extLst>
          </p:cNvPr>
          <p:cNvSpPr>
            <a:spLocks noGrp="1"/>
          </p:cNvSpPr>
          <p:nvPr>
            <p:ph type="sldNum" sz="quarter" idx="12"/>
          </p:nvPr>
        </p:nvSpPr>
        <p:spPr/>
        <p:txBody>
          <a:bodyPr/>
          <a:lstStyle/>
          <a:p>
            <a:fld id="{2A69F336-2DD4-44CE-8205-AE3F61CEB7C8}" type="slidenum">
              <a:rPr lang="ru-RU" smtClean="0"/>
              <a:pPr/>
              <a:t>10</a:t>
            </a:fld>
            <a:endParaRPr lang="ru-RU"/>
          </a:p>
        </p:txBody>
      </p:sp>
    </p:spTree>
    <p:extLst>
      <p:ext uri="{BB962C8B-B14F-4D97-AF65-F5344CB8AC3E}">
        <p14:creationId xmlns:p14="http://schemas.microsoft.com/office/powerpoint/2010/main" val="4237399292"/>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p:txBody>
          <a:bodyPr>
            <a:normAutofit fontScale="90000"/>
          </a:bodyPr>
          <a:lstStyle/>
          <a:p>
            <a:r>
              <a:rPr lang="ru-RU" dirty="0"/>
              <a:t>Статический блок инициализации</a:t>
            </a:r>
          </a:p>
        </p:txBody>
      </p:sp>
      <p:sp>
        <p:nvSpPr>
          <p:cNvPr id="3" name="Content Placeholder 2">
            <a:extLst>
              <a:ext uri="{FF2B5EF4-FFF2-40B4-BE49-F238E27FC236}">
                <a16:creationId xmlns:a16="http://schemas.microsoft.com/office/drawing/2014/main" id="{6E39FC65-A7B6-4870-850E-D5BCC139B4B4}"/>
              </a:ext>
            </a:extLst>
          </p:cNvPr>
          <p:cNvSpPr>
            <a:spLocks noGrp="1"/>
          </p:cNvSpPr>
          <p:nvPr>
            <p:ph idx="1"/>
          </p:nvPr>
        </p:nvSpPr>
        <p:spPr>
          <a:xfrm>
            <a:off x="457200" y="1428742"/>
            <a:ext cx="8229600" cy="1791080"/>
          </a:xfrm>
        </p:spPr>
        <p:txBody>
          <a:bodyPr>
            <a:normAutofit fontScale="77500" lnSpcReduction="20000"/>
          </a:bodyPr>
          <a:lstStyle/>
          <a:p>
            <a:r>
              <a:rPr lang="ru-RU" dirty="0"/>
              <a:t>Используется для инициализации статических переменных.</a:t>
            </a:r>
          </a:p>
          <a:p>
            <a:r>
              <a:rPr lang="ru-RU" dirty="0"/>
              <a:t>Блоки статической инициализации записываются вне всяких методов и выполняются до начала выполнения конструктора.</a:t>
            </a:r>
          </a:p>
          <a:p>
            <a:endParaRPr lang="ru-RU" dirty="0"/>
          </a:p>
        </p:txBody>
      </p:sp>
      <p:sp>
        <p:nvSpPr>
          <p:cNvPr id="4" name="Номер слайда 3"/>
          <p:cNvSpPr>
            <a:spLocks noGrp="1"/>
          </p:cNvSpPr>
          <p:nvPr>
            <p:ph type="sldNum" sz="quarter" idx="12"/>
          </p:nvPr>
        </p:nvSpPr>
        <p:spPr/>
        <p:txBody>
          <a:bodyPr/>
          <a:lstStyle/>
          <a:p>
            <a:fld id="{2A69F336-2DD4-44CE-8205-AE3F61CEB7C8}" type="slidenum">
              <a:rPr lang="ru-RU" smtClean="0"/>
              <a:t>11</a:t>
            </a:fld>
            <a:endParaRPr lang="ru-RU"/>
          </a:p>
        </p:txBody>
      </p:sp>
      <p:pic>
        <p:nvPicPr>
          <p:cNvPr id="6" name="Picture 5">
            <a:extLst>
              <a:ext uri="{FF2B5EF4-FFF2-40B4-BE49-F238E27FC236}">
                <a16:creationId xmlns:a16="http://schemas.microsoft.com/office/drawing/2014/main" id="{F719F8F1-4D75-482D-80EE-BA6BFC7DADD1}"/>
              </a:ext>
            </a:extLst>
          </p:cNvPr>
          <p:cNvPicPr>
            <a:picLocks noChangeAspect="1"/>
          </p:cNvPicPr>
          <p:nvPr/>
        </p:nvPicPr>
        <p:blipFill>
          <a:blip r:embed="rId3"/>
          <a:stretch>
            <a:fillRect/>
          </a:stretch>
        </p:blipFill>
        <p:spPr>
          <a:xfrm>
            <a:off x="2298576" y="3196243"/>
            <a:ext cx="4546848" cy="1447203"/>
          </a:xfrm>
          <a:prstGeom prst="rect">
            <a:avLst/>
          </a:prstGeom>
          <a:ln>
            <a:noFill/>
          </a:ln>
          <a:effectLst>
            <a:outerShdw blurRad="292100" dist="139700" dir="2700000" algn="tl" rotWithShape="0">
              <a:srgbClr val="333333">
                <a:alpha val="65000"/>
              </a:srgbClr>
            </a:outerShdw>
          </a:effectLst>
        </p:spPr>
      </p:pic>
    </p:spTree>
    <p:extLst>
      <p:ext uri="{BB962C8B-B14F-4D97-AF65-F5344CB8AC3E}">
        <p14:creationId xmlns:p14="http://schemas.microsoft.com/office/powerpoint/2010/main" val="3915284919"/>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F6751D2-8FE7-4B3B-9119-8AD46DCDDE1E}"/>
              </a:ext>
            </a:extLst>
          </p:cNvPr>
          <p:cNvSpPr>
            <a:spLocks noGrp="1"/>
          </p:cNvSpPr>
          <p:nvPr>
            <p:ph type="title"/>
          </p:nvPr>
        </p:nvSpPr>
        <p:spPr>
          <a:xfrm>
            <a:off x="466028" y="699542"/>
            <a:ext cx="8229600" cy="857250"/>
          </a:xfrm>
        </p:spPr>
        <p:txBody>
          <a:bodyPr>
            <a:normAutofit fontScale="90000"/>
          </a:bodyPr>
          <a:lstStyle/>
          <a:p>
            <a:r>
              <a:rPr lang="ru-RU" dirty="0"/>
              <a:t>Особенности статических блоков инициализации </a:t>
            </a:r>
          </a:p>
        </p:txBody>
      </p:sp>
      <p:sp>
        <p:nvSpPr>
          <p:cNvPr id="3" name="Content Placeholder 2">
            <a:extLst>
              <a:ext uri="{FF2B5EF4-FFF2-40B4-BE49-F238E27FC236}">
                <a16:creationId xmlns:a16="http://schemas.microsoft.com/office/drawing/2014/main" id="{24032870-FCD2-458C-8D3A-09DD39B3EE58}"/>
              </a:ext>
            </a:extLst>
          </p:cNvPr>
          <p:cNvSpPr>
            <a:spLocks noGrp="1"/>
          </p:cNvSpPr>
          <p:nvPr>
            <p:ph idx="1"/>
          </p:nvPr>
        </p:nvSpPr>
        <p:spPr>
          <a:xfrm>
            <a:off x="466028" y="1779663"/>
            <a:ext cx="8229600" cy="2736304"/>
          </a:xfrm>
        </p:spPr>
        <p:txBody>
          <a:bodyPr>
            <a:normAutofit fontScale="85000" lnSpcReduction="10000"/>
          </a:bodyPr>
          <a:lstStyle/>
          <a:p>
            <a:r>
              <a:rPr lang="ru-RU" dirty="0"/>
              <a:t>У класса может быть несколько статических блоков</a:t>
            </a:r>
          </a:p>
          <a:p>
            <a:r>
              <a:rPr lang="ru-RU" dirty="0"/>
              <a:t>Статические поля и статические блоки выполняются в том же порядке, в котором они присутствуют в классе</a:t>
            </a:r>
          </a:p>
          <a:p>
            <a:r>
              <a:rPr lang="ru-RU" dirty="0"/>
              <a:t>Из статического блока нельзя получить доступ к не статическим членам класса</a:t>
            </a:r>
          </a:p>
        </p:txBody>
      </p:sp>
      <p:sp>
        <p:nvSpPr>
          <p:cNvPr id="4" name="Slide Number Placeholder 3">
            <a:extLst>
              <a:ext uri="{FF2B5EF4-FFF2-40B4-BE49-F238E27FC236}">
                <a16:creationId xmlns:a16="http://schemas.microsoft.com/office/drawing/2014/main" id="{00B95288-211A-485D-8B3C-524BD27CAD52}"/>
              </a:ext>
            </a:extLst>
          </p:cNvPr>
          <p:cNvSpPr>
            <a:spLocks noGrp="1"/>
          </p:cNvSpPr>
          <p:nvPr>
            <p:ph type="sldNum" sz="quarter" idx="12"/>
          </p:nvPr>
        </p:nvSpPr>
        <p:spPr/>
        <p:txBody>
          <a:bodyPr/>
          <a:lstStyle/>
          <a:p>
            <a:fld id="{2A69F336-2DD4-44CE-8205-AE3F61CEB7C8}" type="slidenum">
              <a:rPr lang="ru-RU" smtClean="0"/>
              <a:pPr/>
              <a:t>12</a:t>
            </a:fld>
            <a:endParaRPr lang="ru-RU"/>
          </a:p>
        </p:txBody>
      </p:sp>
    </p:spTree>
    <p:extLst>
      <p:ext uri="{BB962C8B-B14F-4D97-AF65-F5344CB8AC3E}">
        <p14:creationId xmlns:p14="http://schemas.microsoft.com/office/powerpoint/2010/main" val="3553505464"/>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p:txBody>
          <a:bodyPr/>
          <a:lstStyle/>
          <a:p>
            <a:r>
              <a:rPr lang="ru-RU" dirty="0"/>
              <a:t>Метод </a:t>
            </a:r>
            <a:r>
              <a:rPr lang="en-US" dirty="0"/>
              <a:t>main()</a:t>
            </a:r>
            <a:endParaRPr lang="ru-RU" dirty="0"/>
          </a:p>
        </p:txBody>
      </p:sp>
      <p:sp>
        <p:nvSpPr>
          <p:cNvPr id="3" name="Content Placeholder 2">
            <a:extLst>
              <a:ext uri="{FF2B5EF4-FFF2-40B4-BE49-F238E27FC236}">
                <a16:creationId xmlns:a16="http://schemas.microsoft.com/office/drawing/2014/main" id="{C04713FF-B4AF-4ECA-B8C8-A3BBE8CE52FA}"/>
              </a:ext>
            </a:extLst>
          </p:cNvPr>
          <p:cNvSpPr>
            <a:spLocks noGrp="1"/>
          </p:cNvSpPr>
          <p:nvPr>
            <p:ph idx="1"/>
          </p:nvPr>
        </p:nvSpPr>
        <p:spPr>
          <a:xfrm>
            <a:off x="457200" y="1428741"/>
            <a:ext cx="8229600" cy="2583169"/>
          </a:xfrm>
        </p:spPr>
        <p:txBody>
          <a:bodyPr>
            <a:normAutofit fontScale="62500" lnSpcReduction="20000"/>
          </a:bodyPr>
          <a:lstStyle/>
          <a:p>
            <a:r>
              <a:rPr lang="ru-RU" dirty="0"/>
              <a:t>Всякая программа, оформленная как приложение, должна содержать метод с именем </a:t>
            </a:r>
            <a:r>
              <a:rPr lang="ru-RU" dirty="0" err="1"/>
              <a:t>main</a:t>
            </a:r>
            <a:r>
              <a:rPr lang="ru-RU" dirty="0"/>
              <a:t>. </a:t>
            </a:r>
          </a:p>
          <a:p>
            <a:r>
              <a:rPr lang="ru-RU" dirty="0"/>
              <a:t>Метод </a:t>
            </a:r>
            <a:r>
              <a:rPr lang="ru-RU" dirty="0" err="1"/>
              <a:t>main</a:t>
            </a:r>
            <a:r>
              <a:rPr lang="ru-RU" dirty="0"/>
              <a:t>()может быть один на всё приложение или несколько.</a:t>
            </a:r>
          </a:p>
          <a:p>
            <a:r>
              <a:rPr lang="ru-RU" dirty="0"/>
              <a:t>Метод </a:t>
            </a:r>
            <a:r>
              <a:rPr lang="ru-RU" dirty="0" err="1"/>
              <a:t>main</a:t>
            </a:r>
            <a:r>
              <a:rPr lang="ru-RU" dirty="0"/>
              <a:t>() записывается как обычный метод, может содержать любые описания и действия, но он обязательно должен быть открытым – </a:t>
            </a:r>
            <a:r>
              <a:rPr lang="ru-RU" dirty="0" err="1"/>
              <a:t>public</a:t>
            </a:r>
            <a:r>
              <a:rPr lang="ru-RU" dirty="0"/>
              <a:t>, статическим, не иметь возвращаемого значения. У него один параметр, которым обязательно должен быть массив строк. По традиции этот массив называют </a:t>
            </a:r>
            <a:r>
              <a:rPr lang="ru-RU" dirty="0" err="1"/>
              <a:t>args</a:t>
            </a:r>
            <a:r>
              <a:rPr lang="ru-RU" dirty="0"/>
              <a:t>, хотя имя может быть любым.</a:t>
            </a:r>
          </a:p>
        </p:txBody>
      </p:sp>
      <p:sp>
        <p:nvSpPr>
          <p:cNvPr id="4" name="Номер слайда 3"/>
          <p:cNvSpPr>
            <a:spLocks noGrp="1"/>
          </p:cNvSpPr>
          <p:nvPr>
            <p:ph type="sldNum" sz="quarter" idx="12"/>
          </p:nvPr>
        </p:nvSpPr>
        <p:spPr/>
        <p:txBody>
          <a:bodyPr/>
          <a:lstStyle/>
          <a:p>
            <a:fld id="{2A69F336-2DD4-44CE-8205-AE3F61CEB7C8}" type="slidenum">
              <a:rPr lang="ru-RU" smtClean="0"/>
              <a:t>13</a:t>
            </a:fld>
            <a:endParaRPr lang="ru-RU"/>
          </a:p>
        </p:txBody>
      </p:sp>
      <p:pic>
        <p:nvPicPr>
          <p:cNvPr id="5" name="Picture 4">
            <a:extLst>
              <a:ext uri="{FF2B5EF4-FFF2-40B4-BE49-F238E27FC236}">
                <a16:creationId xmlns:a16="http://schemas.microsoft.com/office/drawing/2014/main" id="{E56701F8-E1CD-4011-A56B-810CF78BD63E}"/>
              </a:ext>
            </a:extLst>
          </p:cNvPr>
          <p:cNvPicPr>
            <a:picLocks noChangeAspect="1"/>
          </p:cNvPicPr>
          <p:nvPr/>
        </p:nvPicPr>
        <p:blipFill>
          <a:blip r:embed="rId3"/>
          <a:stretch>
            <a:fillRect/>
          </a:stretch>
        </p:blipFill>
        <p:spPr>
          <a:xfrm>
            <a:off x="1777284" y="3694240"/>
            <a:ext cx="5589431" cy="778213"/>
          </a:xfrm>
          <a:prstGeom prst="rect">
            <a:avLst/>
          </a:prstGeom>
          <a:ln>
            <a:noFill/>
          </a:ln>
          <a:effectLst>
            <a:outerShdw blurRad="292100" dist="139700" dir="2700000" algn="tl" rotWithShape="0">
              <a:srgbClr val="333333">
                <a:alpha val="65000"/>
              </a:srgbClr>
            </a:outerShdw>
          </a:effectLst>
        </p:spPr>
      </p:pic>
    </p:spTree>
    <p:extLst>
      <p:ext uri="{BB962C8B-B14F-4D97-AF65-F5344CB8AC3E}">
        <p14:creationId xmlns:p14="http://schemas.microsoft.com/office/powerpoint/2010/main" val="1947533934"/>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Заголовок 1"/>
          <p:cNvSpPr>
            <a:spLocks noGrp="1"/>
          </p:cNvSpPr>
          <p:nvPr>
            <p:ph type="title"/>
          </p:nvPr>
        </p:nvSpPr>
        <p:spPr>
          <a:xfrm>
            <a:off x="457200" y="500054"/>
            <a:ext cx="8229600" cy="857250"/>
          </a:xfrm>
        </p:spPr>
        <p:txBody>
          <a:bodyPr/>
          <a:lstStyle/>
          <a:p>
            <a:r>
              <a:rPr lang="ru-RU" dirty="0"/>
              <a:t>Видимость переменных</a:t>
            </a:r>
          </a:p>
        </p:txBody>
      </p:sp>
      <p:sp>
        <p:nvSpPr>
          <p:cNvPr id="4" name="Номер слайда 3"/>
          <p:cNvSpPr>
            <a:spLocks noGrp="1"/>
          </p:cNvSpPr>
          <p:nvPr>
            <p:ph type="sldNum" sz="quarter" idx="12"/>
          </p:nvPr>
        </p:nvSpPr>
        <p:spPr/>
        <p:txBody>
          <a:bodyPr/>
          <a:lstStyle/>
          <a:p>
            <a:fld id="{2A69F336-2DD4-44CE-8205-AE3F61CEB7C8}" type="slidenum">
              <a:rPr lang="ru-RU" smtClean="0"/>
              <a:t>14</a:t>
            </a:fld>
            <a:endParaRPr lang="ru-RU"/>
          </a:p>
        </p:txBody>
      </p:sp>
      <p:sp>
        <p:nvSpPr>
          <p:cNvPr id="16" name="Подзаголовок 6">
            <a:extLst>
              <a:ext uri="{FF2B5EF4-FFF2-40B4-BE49-F238E27FC236}">
                <a16:creationId xmlns:a16="http://schemas.microsoft.com/office/drawing/2014/main" id="{F8E89ABA-374F-4401-8445-7A09744BF987}"/>
              </a:ext>
            </a:extLst>
          </p:cNvPr>
          <p:cNvSpPr txBox="1">
            <a:spLocks/>
          </p:cNvSpPr>
          <p:nvPr/>
        </p:nvSpPr>
        <p:spPr>
          <a:xfrm>
            <a:off x="251520" y="1203598"/>
            <a:ext cx="8784976" cy="2294567"/>
          </a:xfrm>
          <a:prstGeom prst="rect">
            <a:avLst/>
          </a:prstGeom>
        </p:spPr>
        <p:txBody>
          <a:bodyPr vert="horz" lIns="91440" tIns="45720" rIns="91440" bIns="45720" rtlCol="0">
            <a:noAutofit/>
          </a:bodyPr>
          <a:lst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indent="0" algn="just">
              <a:buNone/>
            </a:pPr>
            <a:r>
              <a:rPr lang="ru-RU" sz="2000" dirty="0">
                <a:latin typeface="+mj-lt"/>
                <a:cs typeface="Times New Roman" panose="02020603050405020304" pitchFamily="18" charset="0"/>
              </a:rPr>
              <a:t>В языке </a:t>
            </a:r>
            <a:r>
              <a:rPr lang="ru-RU" sz="2000" dirty="0" err="1">
                <a:latin typeface="+mj-lt"/>
                <a:cs typeface="Times New Roman" panose="02020603050405020304" pitchFamily="18" charset="0"/>
              </a:rPr>
              <a:t>Java</a:t>
            </a:r>
            <a:r>
              <a:rPr lang="ru-RU" sz="2000" dirty="0">
                <a:latin typeface="+mj-lt"/>
                <a:cs typeface="Times New Roman" panose="02020603050405020304" pitchFamily="18" charset="0"/>
              </a:rPr>
              <a:t> нестатические переменные разрешено объявлять в любом месте кода между операторами. Статические переменные могут быть только полями класса, а значит, не должны объявляться внутри методов и блоков. </a:t>
            </a:r>
          </a:p>
          <a:p>
            <a:pPr marL="0" indent="0" algn="just">
              <a:buNone/>
            </a:pPr>
            <a:r>
              <a:rPr lang="ru-RU" sz="2000" dirty="0">
                <a:latin typeface="+mj-lt"/>
                <a:cs typeface="Times New Roman" panose="02020603050405020304" pitchFamily="18" charset="0"/>
              </a:rPr>
              <a:t>Существует так называемый блок инициализации экземпляра – просто блок операторов в фигурных скобках, но записывается он вне всякого метода, прямо в теле класса. Этот блок выполняется при создании каждого экземпляра, после </a:t>
            </a:r>
            <a:r>
              <a:rPr lang="ru-RU" sz="2000" dirty="0" err="1">
                <a:latin typeface="+mj-lt"/>
                <a:cs typeface="Times New Roman" panose="02020603050405020304" pitchFamily="18" charset="0"/>
              </a:rPr>
              <a:t>static</a:t>
            </a:r>
            <a:r>
              <a:rPr lang="ru-RU" sz="2000" dirty="0">
                <a:latin typeface="+mj-lt"/>
                <a:cs typeface="Times New Roman" panose="02020603050405020304" pitchFamily="18" charset="0"/>
              </a:rPr>
              <a:t>-блоков и инициализации при объявлении переменных, но до выполнения конструктора. Он играет такую же роль, как и </a:t>
            </a:r>
            <a:r>
              <a:rPr lang="ru-RU" sz="2000" dirty="0" err="1">
                <a:latin typeface="+mj-lt"/>
                <a:cs typeface="Times New Roman" panose="02020603050405020304" pitchFamily="18" charset="0"/>
              </a:rPr>
              <a:t>static</a:t>
            </a:r>
            <a:r>
              <a:rPr lang="ru-RU" sz="2000" dirty="0">
                <a:latin typeface="+mj-lt"/>
                <a:cs typeface="Times New Roman" panose="02020603050405020304" pitchFamily="18" charset="0"/>
              </a:rPr>
              <a:t>-блок для статичных переменных. Он применяется в тех случаях, когда конструктор написать нельзя, а именно в безымянных внутренних классах.</a:t>
            </a:r>
          </a:p>
        </p:txBody>
      </p:sp>
    </p:spTree>
    <p:extLst>
      <p:ext uri="{BB962C8B-B14F-4D97-AF65-F5344CB8AC3E}">
        <p14:creationId xmlns:p14="http://schemas.microsoft.com/office/powerpoint/2010/main" val="636665007"/>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2C6B507-0BF2-431D-BFCF-A5DBB434F3F0}"/>
              </a:ext>
            </a:extLst>
          </p:cNvPr>
          <p:cNvSpPr>
            <a:spLocks noGrp="1"/>
          </p:cNvSpPr>
          <p:nvPr>
            <p:ph type="title"/>
          </p:nvPr>
        </p:nvSpPr>
        <p:spPr/>
        <p:txBody>
          <a:bodyPr/>
          <a:lstStyle/>
          <a:p>
            <a:r>
              <a:rPr lang="ru-RU" dirty="0"/>
              <a:t>Вложенные и внутренние классы</a:t>
            </a:r>
          </a:p>
        </p:txBody>
      </p:sp>
      <p:sp>
        <p:nvSpPr>
          <p:cNvPr id="3" name="Content Placeholder 2">
            <a:extLst>
              <a:ext uri="{FF2B5EF4-FFF2-40B4-BE49-F238E27FC236}">
                <a16:creationId xmlns:a16="http://schemas.microsoft.com/office/drawing/2014/main" id="{A6BC2857-28A3-43A6-8FDF-0A35D63ABF95}"/>
              </a:ext>
            </a:extLst>
          </p:cNvPr>
          <p:cNvSpPr>
            <a:spLocks noGrp="1"/>
          </p:cNvSpPr>
          <p:nvPr>
            <p:ph idx="1"/>
          </p:nvPr>
        </p:nvSpPr>
        <p:spPr>
          <a:xfrm>
            <a:off x="457200" y="1428741"/>
            <a:ext cx="8229600" cy="1719073"/>
          </a:xfrm>
        </p:spPr>
        <p:txBody>
          <a:bodyPr>
            <a:noAutofit/>
          </a:bodyPr>
          <a:lstStyle/>
          <a:p>
            <a:r>
              <a:rPr lang="ru-RU" sz="1600" dirty="0"/>
              <a:t>Определение класса может размещаться внутри определения другого класса. Такие классы называются вложенными или внутренними.</a:t>
            </a:r>
          </a:p>
          <a:p>
            <a:r>
              <a:rPr lang="ru-RU" sz="1600" dirty="0"/>
              <a:t>Область видимости вложенного класса ограничена областью видимости внешнего класса. Поэтому, если вы создадите класс B внутри класса A, то класс B не сможет существовать независимо от класса A.</a:t>
            </a:r>
          </a:p>
          <a:p>
            <a:r>
              <a:rPr lang="ru-RU" sz="1600" dirty="0"/>
              <a:t>Вложенные классы позволяют группировать классы, логически принадлежащие друг другу, и управлять доступом к ним.</a:t>
            </a:r>
          </a:p>
        </p:txBody>
      </p:sp>
      <p:sp>
        <p:nvSpPr>
          <p:cNvPr id="4" name="Slide Number Placeholder 3">
            <a:extLst>
              <a:ext uri="{FF2B5EF4-FFF2-40B4-BE49-F238E27FC236}">
                <a16:creationId xmlns:a16="http://schemas.microsoft.com/office/drawing/2014/main" id="{865F4223-F572-4D2C-9566-51D8B73BA7A9}"/>
              </a:ext>
            </a:extLst>
          </p:cNvPr>
          <p:cNvSpPr>
            <a:spLocks noGrp="1"/>
          </p:cNvSpPr>
          <p:nvPr>
            <p:ph type="sldNum" sz="quarter" idx="12"/>
          </p:nvPr>
        </p:nvSpPr>
        <p:spPr/>
        <p:txBody>
          <a:bodyPr/>
          <a:lstStyle/>
          <a:p>
            <a:fld id="{2A69F336-2DD4-44CE-8205-AE3F61CEB7C8}" type="slidenum">
              <a:rPr lang="ru-RU" smtClean="0"/>
              <a:pPr/>
              <a:t>15</a:t>
            </a:fld>
            <a:endParaRPr lang="ru-RU"/>
          </a:p>
        </p:txBody>
      </p:sp>
      <p:pic>
        <p:nvPicPr>
          <p:cNvPr id="5" name="Picture 4">
            <a:extLst>
              <a:ext uri="{FF2B5EF4-FFF2-40B4-BE49-F238E27FC236}">
                <a16:creationId xmlns:a16="http://schemas.microsoft.com/office/drawing/2014/main" id="{49000A8D-4A74-413F-903A-2EFEF6E18812}"/>
              </a:ext>
            </a:extLst>
          </p:cNvPr>
          <p:cNvPicPr>
            <a:picLocks noChangeAspect="1"/>
          </p:cNvPicPr>
          <p:nvPr/>
        </p:nvPicPr>
        <p:blipFill>
          <a:blip r:embed="rId3"/>
          <a:stretch>
            <a:fillRect/>
          </a:stretch>
        </p:blipFill>
        <p:spPr>
          <a:xfrm>
            <a:off x="3174401" y="3377714"/>
            <a:ext cx="2795198" cy="1296144"/>
          </a:xfrm>
          <a:prstGeom prst="rect">
            <a:avLst/>
          </a:prstGeom>
          <a:ln>
            <a:noFill/>
          </a:ln>
          <a:effectLst>
            <a:outerShdw blurRad="292100" dist="139700" dir="2700000" algn="tl" rotWithShape="0">
              <a:srgbClr val="333333">
                <a:alpha val="65000"/>
              </a:srgbClr>
            </a:outerShdw>
          </a:effectLst>
        </p:spPr>
      </p:pic>
    </p:spTree>
    <p:extLst>
      <p:ext uri="{BB962C8B-B14F-4D97-AF65-F5344CB8AC3E}">
        <p14:creationId xmlns:p14="http://schemas.microsoft.com/office/powerpoint/2010/main" val="3912751918"/>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E5238F9-53BE-4E83-8084-392DCBCA8ABD}"/>
              </a:ext>
            </a:extLst>
          </p:cNvPr>
          <p:cNvSpPr>
            <a:spLocks noGrp="1"/>
          </p:cNvSpPr>
          <p:nvPr>
            <p:ph type="title"/>
          </p:nvPr>
        </p:nvSpPr>
        <p:spPr/>
        <p:txBody>
          <a:bodyPr/>
          <a:lstStyle/>
          <a:p>
            <a:r>
              <a:rPr lang="ru-RU" dirty="0"/>
              <a:t>Виды вложенных классов</a:t>
            </a:r>
          </a:p>
        </p:txBody>
      </p:sp>
      <p:sp>
        <p:nvSpPr>
          <p:cNvPr id="4" name="Slide Number Placeholder 3">
            <a:extLst>
              <a:ext uri="{FF2B5EF4-FFF2-40B4-BE49-F238E27FC236}">
                <a16:creationId xmlns:a16="http://schemas.microsoft.com/office/drawing/2014/main" id="{723F4CCC-9204-4CA4-8981-F0C344DE6552}"/>
              </a:ext>
            </a:extLst>
          </p:cNvPr>
          <p:cNvSpPr>
            <a:spLocks noGrp="1"/>
          </p:cNvSpPr>
          <p:nvPr>
            <p:ph type="sldNum" sz="quarter" idx="12"/>
          </p:nvPr>
        </p:nvSpPr>
        <p:spPr>
          <a:xfrm>
            <a:off x="6553200" y="4767263"/>
            <a:ext cx="2133600" cy="273844"/>
          </a:xfrm>
        </p:spPr>
        <p:txBody>
          <a:bodyPr/>
          <a:lstStyle/>
          <a:p>
            <a:fld id="{2A69F336-2DD4-44CE-8205-AE3F61CEB7C8}" type="slidenum">
              <a:rPr lang="ru-RU" smtClean="0"/>
              <a:pPr/>
              <a:t>16</a:t>
            </a:fld>
            <a:endParaRPr lang="ru-RU"/>
          </a:p>
        </p:txBody>
      </p:sp>
      <p:sp>
        <p:nvSpPr>
          <p:cNvPr id="5" name="TextBox 4">
            <a:extLst>
              <a:ext uri="{FF2B5EF4-FFF2-40B4-BE49-F238E27FC236}">
                <a16:creationId xmlns:a16="http://schemas.microsoft.com/office/drawing/2014/main" id="{3C04A8A0-D222-43A1-A60C-80FC220A3A95}"/>
              </a:ext>
            </a:extLst>
          </p:cNvPr>
          <p:cNvSpPr txBox="1"/>
          <p:nvPr/>
        </p:nvSpPr>
        <p:spPr>
          <a:xfrm>
            <a:off x="3734545" y="1707654"/>
            <a:ext cx="2016224" cy="553998"/>
          </a:xfrm>
          <a:prstGeom prst="rect">
            <a:avLst/>
          </a:prstGeom>
          <a:noFill/>
          <a:ln w="9525" cap="flat" cmpd="sng" algn="ctr">
            <a:solidFill>
              <a:schemeClr val="accent3"/>
            </a:solidFill>
            <a:prstDash val="solid"/>
            <a:round/>
            <a:headEnd type="none" w="med" len="med"/>
            <a:tailEnd type="none" w="med" len="med"/>
          </a:ln>
        </p:spPr>
        <p:style>
          <a:lnRef idx="0">
            <a:scrgbClr r="0" g="0" b="0"/>
          </a:lnRef>
          <a:fillRef idx="0">
            <a:scrgbClr r="0" g="0" b="0"/>
          </a:fillRef>
          <a:effectRef idx="0">
            <a:scrgbClr r="0" g="0" b="0"/>
          </a:effectRef>
          <a:fontRef idx="minor">
            <a:schemeClr val="accent3"/>
          </a:fontRef>
        </p:style>
        <p:txBody>
          <a:bodyPr wrap="square" rtlCol="0">
            <a:spAutoFit/>
          </a:bodyPr>
          <a:lstStyle/>
          <a:p>
            <a:pPr algn="ctr"/>
            <a:r>
              <a:rPr lang="ru-RU" sz="1600" dirty="0"/>
              <a:t>Вложенные классы</a:t>
            </a:r>
          </a:p>
          <a:p>
            <a:pPr algn="ctr"/>
            <a:r>
              <a:rPr lang="en-US" sz="1400" i="1" dirty="0"/>
              <a:t>nested classes</a:t>
            </a:r>
            <a:endParaRPr lang="ru-RU" sz="1400" i="1" dirty="0"/>
          </a:p>
        </p:txBody>
      </p:sp>
      <p:sp>
        <p:nvSpPr>
          <p:cNvPr id="6" name="TextBox 5">
            <a:extLst>
              <a:ext uri="{FF2B5EF4-FFF2-40B4-BE49-F238E27FC236}">
                <a16:creationId xmlns:a16="http://schemas.microsoft.com/office/drawing/2014/main" id="{8E6A0A74-B080-42EB-91BC-395E15138400}"/>
              </a:ext>
            </a:extLst>
          </p:cNvPr>
          <p:cNvSpPr txBox="1"/>
          <p:nvPr/>
        </p:nvSpPr>
        <p:spPr>
          <a:xfrm>
            <a:off x="2726433" y="2643874"/>
            <a:ext cx="2016224" cy="553998"/>
          </a:xfrm>
          <a:prstGeom prst="rect">
            <a:avLst/>
          </a:prstGeom>
          <a:noFill/>
          <a:ln w="9525" cap="flat" cmpd="sng" algn="ctr">
            <a:solidFill>
              <a:schemeClr val="accent3"/>
            </a:solidFill>
            <a:prstDash val="solid"/>
            <a:round/>
            <a:headEnd type="none" w="med" len="med"/>
            <a:tailEnd type="none" w="med" len="med"/>
          </a:ln>
        </p:spPr>
        <p:style>
          <a:lnRef idx="0">
            <a:scrgbClr r="0" g="0" b="0"/>
          </a:lnRef>
          <a:fillRef idx="0">
            <a:scrgbClr r="0" g="0" b="0"/>
          </a:fillRef>
          <a:effectRef idx="0">
            <a:scrgbClr r="0" g="0" b="0"/>
          </a:effectRef>
          <a:fontRef idx="minor">
            <a:schemeClr val="accent3"/>
          </a:fontRef>
        </p:style>
        <p:txBody>
          <a:bodyPr wrap="square" rtlCol="0">
            <a:spAutoFit/>
          </a:bodyPr>
          <a:lstStyle/>
          <a:p>
            <a:pPr algn="ctr"/>
            <a:r>
              <a:rPr lang="ru-RU" sz="1600" dirty="0"/>
              <a:t>Внутренние классы</a:t>
            </a:r>
          </a:p>
          <a:p>
            <a:pPr algn="ctr"/>
            <a:r>
              <a:rPr lang="en-US" sz="1400" i="1" dirty="0"/>
              <a:t>inner classes</a:t>
            </a:r>
            <a:endParaRPr lang="ru-RU" sz="1400" i="1" dirty="0"/>
          </a:p>
        </p:txBody>
      </p:sp>
      <p:sp>
        <p:nvSpPr>
          <p:cNvPr id="7" name="TextBox 6">
            <a:extLst>
              <a:ext uri="{FF2B5EF4-FFF2-40B4-BE49-F238E27FC236}">
                <a16:creationId xmlns:a16="http://schemas.microsoft.com/office/drawing/2014/main" id="{4FB57370-0DB7-44F9-B0EC-A8FA931245DF}"/>
              </a:ext>
            </a:extLst>
          </p:cNvPr>
          <p:cNvSpPr txBox="1"/>
          <p:nvPr/>
        </p:nvSpPr>
        <p:spPr>
          <a:xfrm>
            <a:off x="6038802" y="2633469"/>
            <a:ext cx="2016224" cy="800219"/>
          </a:xfrm>
          <a:prstGeom prst="rect">
            <a:avLst/>
          </a:prstGeom>
          <a:noFill/>
          <a:ln w="9525" cap="flat" cmpd="sng" algn="ctr">
            <a:solidFill>
              <a:schemeClr val="accent3"/>
            </a:solidFill>
            <a:prstDash val="solid"/>
            <a:round/>
            <a:headEnd type="none" w="med" len="med"/>
            <a:tailEnd type="none" w="med" len="med"/>
          </a:ln>
        </p:spPr>
        <p:style>
          <a:lnRef idx="0">
            <a:scrgbClr r="0" g="0" b="0"/>
          </a:lnRef>
          <a:fillRef idx="0">
            <a:scrgbClr r="0" g="0" b="0"/>
          </a:fillRef>
          <a:effectRef idx="0">
            <a:scrgbClr r="0" g="0" b="0"/>
          </a:effectRef>
          <a:fontRef idx="minor">
            <a:schemeClr val="accent3"/>
          </a:fontRef>
        </p:style>
        <p:txBody>
          <a:bodyPr wrap="square" rtlCol="0">
            <a:spAutoFit/>
          </a:bodyPr>
          <a:lstStyle/>
          <a:p>
            <a:pPr algn="ctr"/>
            <a:r>
              <a:rPr lang="ru-RU" sz="1600" dirty="0"/>
              <a:t>Статические вложенные классы</a:t>
            </a:r>
          </a:p>
          <a:p>
            <a:pPr algn="ctr"/>
            <a:r>
              <a:rPr lang="en-US" sz="1400" i="1" dirty="0"/>
              <a:t>static nested classes</a:t>
            </a:r>
            <a:endParaRPr lang="ru-RU" sz="1400" i="1" dirty="0"/>
          </a:p>
        </p:txBody>
      </p:sp>
      <p:sp>
        <p:nvSpPr>
          <p:cNvPr id="8" name="TextBox 7">
            <a:extLst>
              <a:ext uri="{FF2B5EF4-FFF2-40B4-BE49-F238E27FC236}">
                <a16:creationId xmlns:a16="http://schemas.microsoft.com/office/drawing/2014/main" id="{746FB068-0F34-407E-8646-BFC3852075C5}"/>
              </a:ext>
            </a:extLst>
          </p:cNvPr>
          <p:cNvSpPr txBox="1"/>
          <p:nvPr/>
        </p:nvSpPr>
        <p:spPr>
          <a:xfrm>
            <a:off x="4886673" y="3817596"/>
            <a:ext cx="2016224" cy="800219"/>
          </a:xfrm>
          <a:prstGeom prst="rect">
            <a:avLst/>
          </a:prstGeom>
          <a:noFill/>
          <a:ln w="9525" cap="flat" cmpd="sng" algn="ctr">
            <a:solidFill>
              <a:schemeClr val="accent3"/>
            </a:solidFill>
            <a:prstDash val="solid"/>
            <a:round/>
            <a:headEnd type="none" w="med" len="med"/>
            <a:tailEnd type="none" w="med" len="med"/>
          </a:ln>
        </p:spPr>
        <p:style>
          <a:lnRef idx="0">
            <a:scrgbClr r="0" g="0" b="0"/>
          </a:lnRef>
          <a:fillRef idx="0">
            <a:scrgbClr r="0" g="0" b="0"/>
          </a:fillRef>
          <a:effectRef idx="0">
            <a:scrgbClr r="0" g="0" b="0"/>
          </a:effectRef>
          <a:fontRef idx="minor">
            <a:schemeClr val="accent3"/>
          </a:fontRef>
        </p:style>
        <p:txBody>
          <a:bodyPr wrap="square" rtlCol="0">
            <a:spAutoFit/>
          </a:bodyPr>
          <a:lstStyle/>
          <a:p>
            <a:pPr algn="ctr"/>
            <a:r>
              <a:rPr lang="ru-RU" sz="1600" dirty="0"/>
              <a:t>Анонимные внутренние классы</a:t>
            </a:r>
          </a:p>
          <a:p>
            <a:pPr algn="ctr"/>
            <a:r>
              <a:rPr lang="en-US" sz="1400" i="1" dirty="0"/>
              <a:t>anonymous inner classes</a:t>
            </a:r>
            <a:endParaRPr lang="ru-RU" sz="1400" i="1" dirty="0"/>
          </a:p>
        </p:txBody>
      </p:sp>
      <p:sp>
        <p:nvSpPr>
          <p:cNvPr id="9" name="TextBox 8">
            <a:extLst>
              <a:ext uri="{FF2B5EF4-FFF2-40B4-BE49-F238E27FC236}">
                <a16:creationId xmlns:a16="http://schemas.microsoft.com/office/drawing/2014/main" id="{0F18B58A-AC6F-4691-AA92-28FF2E5E902B}"/>
              </a:ext>
            </a:extLst>
          </p:cNvPr>
          <p:cNvSpPr txBox="1"/>
          <p:nvPr/>
        </p:nvSpPr>
        <p:spPr>
          <a:xfrm>
            <a:off x="2726433" y="3823986"/>
            <a:ext cx="2098576" cy="800219"/>
          </a:xfrm>
          <a:prstGeom prst="rect">
            <a:avLst/>
          </a:prstGeom>
          <a:noFill/>
          <a:ln w="9525" cap="flat" cmpd="sng" algn="ctr">
            <a:solidFill>
              <a:schemeClr val="accent3"/>
            </a:solidFill>
            <a:prstDash val="solid"/>
            <a:round/>
            <a:headEnd type="none" w="med" len="med"/>
            <a:tailEnd type="none" w="med" len="med"/>
          </a:ln>
        </p:spPr>
        <p:style>
          <a:lnRef idx="0">
            <a:scrgbClr r="0" g="0" b="0"/>
          </a:lnRef>
          <a:fillRef idx="0">
            <a:scrgbClr r="0" g="0" b="0"/>
          </a:fillRef>
          <a:effectRef idx="0">
            <a:scrgbClr r="0" g="0" b="0"/>
          </a:effectRef>
          <a:fontRef idx="minor">
            <a:schemeClr val="accent3"/>
          </a:fontRef>
        </p:style>
        <p:txBody>
          <a:bodyPr wrap="square" rtlCol="0">
            <a:spAutoFit/>
          </a:bodyPr>
          <a:lstStyle/>
          <a:p>
            <a:pPr algn="ctr"/>
            <a:r>
              <a:rPr lang="ru-RU" sz="1600" dirty="0"/>
              <a:t>Локальные внутренние классы</a:t>
            </a:r>
          </a:p>
          <a:p>
            <a:pPr algn="ctr"/>
            <a:r>
              <a:rPr lang="en-US" sz="1400" i="1" dirty="0"/>
              <a:t>method-local inner classes</a:t>
            </a:r>
            <a:endParaRPr lang="ru-RU" sz="1400" i="1" dirty="0"/>
          </a:p>
        </p:txBody>
      </p:sp>
      <p:sp>
        <p:nvSpPr>
          <p:cNvPr id="10" name="TextBox 9">
            <a:extLst>
              <a:ext uri="{FF2B5EF4-FFF2-40B4-BE49-F238E27FC236}">
                <a16:creationId xmlns:a16="http://schemas.microsoft.com/office/drawing/2014/main" id="{2BF55B2B-8603-4C55-958E-336E1DA1E83F}"/>
              </a:ext>
            </a:extLst>
          </p:cNvPr>
          <p:cNvSpPr txBox="1"/>
          <p:nvPr/>
        </p:nvSpPr>
        <p:spPr>
          <a:xfrm>
            <a:off x="636639" y="3823986"/>
            <a:ext cx="2016224" cy="553998"/>
          </a:xfrm>
          <a:prstGeom prst="rect">
            <a:avLst/>
          </a:prstGeom>
          <a:noFill/>
          <a:ln w="9525" cap="flat" cmpd="sng" algn="ctr">
            <a:solidFill>
              <a:schemeClr val="accent3"/>
            </a:solidFill>
            <a:prstDash val="solid"/>
            <a:round/>
            <a:headEnd type="none" w="med" len="med"/>
            <a:tailEnd type="none" w="med" len="med"/>
          </a:ln>
        </p:spPr>
        <p:style>
          <a:lnRef idx="0">
            <a:scrgbClr r="0" g="0" b="0"/>
          </a:lnRef>
          <a:fillRef idx="0">
            <a:scrgbClr r="0" g="0" b="0"/>
          </a:fillRef>
          <a:effectRef idx="0">
            <a:scrgbClr r="0" g="0" b="0"/>
          </a:effectRef>
          <a:fontRef idx="minor">
            <a:schemeClr val="accent3"/>
          </a:fontRef>
        </p:style>
        <p:txBody>
          <a:bodyPr wrap="square" rtlCol="0">
            <a:spAutoFit/>
          </a:bodyPr>
          <a:lstStyle/>
          <a:p>
            <a:pPr algn="ctr"/>
            <a:r>
              <a:rPr lang="ru-RU" sz="1600" dirty="0"/>
              <a:t>Внутренние классы</a:t>
            </a:r>
          </a:p>
          <a:p>
            <a:pPr algn="ctr"/>
            <a:r>
              <a:rPr lang="en-US" sz="1400" i="1" dirty="0"/>
              <a:t>inner classes</a:t>
            </a:r>
            <a:endParaRPr lang="ru-RU" sz="1400" i="1" dirty="0"/>
          </a:p>
        </p:txBody>
      </p:sp>
      <p:cxnSp>
        <p:nvCxnSpPr>
          <p:cNvPr id="12" name="Connector: Elbow 11">
            <a:extLst>
              <a:ext uri="{FF2B5EF4-FFF2-40B4-BE49-F238E27FC236}">
                <a16:creationId xmlns:a16="http://schemas.microsoft.com/office/drawing/2014/main" id="{DA5507EA-E575-4405-9161-5A12F76420F6}"/>
              </a:ext>
            </a:extLst>
          </p:cNvPr>
          <p:cNvCxnSpPr>
            <a:stCxn id="5" idx="2"/>
            <a:endCxn id="6" idx="0"/>
          </p:cNvCxnSpPr>
          <p:nvPr/>
        </p:nvCxnSpPr>
        <p:spPr>
          <a:xfrm rot="5400000">
            <a:off x="4047490" y="1948707"/>
            <a:ext cx="382222" cy="1008112"/>
          </a:xfrm>
          <a:prstGeom prst="bentConnector3">
            <a:avLst/>
          </a:prstGeom>
          <a:ln w="9525" cap="flat" cmpd="sng" algn="ctr">
            <a:solidFill>
              <a:schemeClr val="accent3"/>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cxnSp>
      <p:cxnSp>
        <p:nvCxnSpPr>
          <p:cNvPr id="14" name="Connector: Elbow 13">
            <a:extLst>
              <a:ext uri="{FF2B5EF4-FFF2-40B4-BE49-F238E27FC236}">
                <a16:creationId xmlns:a16="http://schemas.microsoft.com/office/drawing/2014/main" id="{E163AD39-AFA2-4268-8263-F0AEC268FCB6}"/>
              </a:ext>
            </a:extLst>
          </p:cNvPr>
          <p:cNvCxnSpPr>
            <a:stCxn id="5" idx="2"/>
            <a:endCxn id="7" idx="0"/>
          </p:cNvCxnSpPr>
          <p:nvPr/>
        </p:nvCxnSpPr>
        <p:spPr>
          <a:xfrm rot="16200000" flipH="1">
            <a:off x="5708877" y="1295431"/>
            <a:ext cx="371817" cy="2304257"/>
          </a:xfrm>
          <a:prstGeom prst="bentConnector3">
            <a:avLst/>
          </a:prstGeom>
          <a:ln w="9525" cap="flat" cmpd="sng" algn="ctr">
            <a:solidFill>
              <a:schemeClr val="accent3"/>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cxnSp>
      <p:cxnSp>
        <p:nvCxnSpPr>
          <p:cNvPr id="18" name="Connector: Elbow 17">
            <a:extLst>
              <a:ext uri="{FF2B5EF4-FFF2-40B4-BE49-F238E27FC236}">
                <a16:creationId xmlns:a16="http://schemas.microsoft.com/office/drawing/2014/main" id="{6A9A2D4B-DD40-4654-AE6D-C7C7644F4A27}"/>
              </a:ext>
            </a:extLst>
          </p:cNvPr>
          <p:cNvCxnSpPr>
            <a:cxnSpLocks/>
            <a:stCxn id="6" idx="2"/>
            <a:endCxn id="10" idx="0"/>
          </p:cNvCxnSpPr>
          <p:nvPr/>
        </p:nvCxnSpPr>
        <p:spPr>
          <a:xfrm rot="5400000">
            <a:off x="2376591" y="2466032"/>
            <a:ext cx="626114" cy="2089794"/>
          </a:xfrm>
          <a:prstGeom prst="bentConnector3">
            <a:avLst/>
          </a:prstGeom>
          <a:ln w="9525" cap="flat" cmpd="sng" algn="ctr">
            <a:solidFill>
              <a:schemeClr val="accent3"/>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cxnSp>
      <p:cxnSp>
        <p:nvCxnSpPr>
          <p:cNvPr id="20" name="Connector: Elbow 19">
            <a:extLst>
              <a:ext uri="{FF2B5EF4-FFF2-40B4-BE49-F238E27FC236}">
                <a16:creationId xmlns:a16="http://schemas.microsoft.com/office/drawing/2014/main" id="{6E97E49F-5B33-4DEF-9E99-69FCB2B38F6B}"/>
              </a:ext>
            </a:extLst>
          </p:cNvPr>
          <p:cNvCxnSpPr>
            <a:cxnSpLocks/>
            <a:stCxn id="6" idx="2"/>
            <a:endCxn id="9" idx="0"/>
          </p:cNvCxnSpPr>
          <p:nvPr/>
        </p:nvCxnSpPr>
        <p:spPr>
          <a:xfrm rot="16200000" flipH="1">
            <a:off x="3442076" y="3490341"/>
            <a:ext cx="626114" cy="41176"/>
          </a:xfrm>
          <a:prstGeom prst="bentConnector3">
            <a:avLst/>
          </a:prstGeom>
          <a:ln w="9525" cap="flat" cmpd="sng" algn="ctr">
            <a:solidFill>
              <a:schemeClr val="accent3"/>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cxnSp>
      <p:cxnSp>
        <p:nvCxnSpPr>
          <p:cNvPr id="22" name="Connector: Elbow 21">
            <a:extLst>
              <a:ext uri="{FF2B5EF4-FFF2-40B4-BE49-F238E27FC236}">
                <a16:creationId xmlns:a16="http://schemas.microsoft.com/office/drawing/2014/main" id="{994548E3-639F-4446-9B4D-0A8DDD26CBDC}"/>
              </a:ext>
            </a:extLst>
          </p:cNvPr>
          <p:cNvCxnSpPr>
            <a:stCxn id="6" idx="2"/>
            <a:endCxn id="8" idx="0"/>
          </p:cNvCxnSpPr>
          <p:nvPr/>
        </p:nvCxnSpPr>
        <p:spPr>
          <a:xfrm rot="16200000" flipH="1">
            <a:off x="4504803" y="2427614"/>
            <a:ext cx="619724" cy="2160240"/>
          </a:xfrm>
          <a:prstGeom prst="bentConnector3">
            <a:avLst/>
          </a:prstGeom>
          <a:ln w="9525" cap="flat" cmpd="sng" algn="ctr">
            <a:solidFill>
              <a:schemeClr val="accent3"/>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cxnSp>
    </p:spTree>
    <p:extLst>
      <p:ext uri="{BB962C8B-B14F-4D97-AF65-F5344CB8AC3E}">
        <p14:creationId xmlns:p14="http://schemas.microsoft.com/office/powerpoint/2010/main" val="3891209871"/>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F14CCCF-7463-409A-AA7B-71E667BD9FC8}"/>
              </a:ext>
            </a:extLst>
          </p:cNvPr>
          <p:cNvSpPr>
            <a:spLocks noGrp="1"/>
          </p:cNvSpPr>
          <p:nvPr>
            <p:ph type="title"/>
          </p:nvPr>
        </p:nvSpPr>
        <p:spPr/>
        <p:txBody>
          <a:bodyPr/>
          <a:lstStyle/>
          <a:p>
            <a:r>
              <a:rPr lang="ru-RU" dirty="0"/>
              <a:t>Вложенные классы</a:t>
            </a:r>
          </a:p>
        </p:txBody>
      </p:sp>
      <p:sp>
        <p:nvSpPr>
          <p:cNvPr id="4" name="Slide Number Placeholder 3">
            <a:extLst>
              <a:ext uri="{FF2B5EF4-FFF2-40B4-BE49-F238E27FC236}">
                <a16:creationId xmlns:a16="http://schemas.microsoft.com/office/drawing/2014/main" id="{09C06807-6F02-40A5-87A3-E09A064633F6}"/>
              </a:ext>
            </a:extLst>
          </p:cNvPr>
          <p:cNvSpPr>
            <a:spLocks noGrp="1"/>
          </p:cNvSpPr>
          <p:nvPr>
            <p:ph type="sldNum" sz="quarter" idx="12"/>
          </p:nvPr>
        </p:nvSpPr>
        <p:spPr/>
        <p:txBody>
          <a:bodyPr/>
          <a:lstStyle/>
          <a:p>
            <a:fld id="{2A69F336-2DD4-44CE-8205-AE3F61CEB7C8}" type="slidenum">
              <a:rPr lang="ru-RU" smtClean="0"/>
              <a:pPr/>
              <a:t>17</a:t>
            </a:fld>
            <a:endParaRPr lang="ru-RU"/>
          </a:p>
        </p:txBody>
      </p:sp>
      <p:pic>
        <p:nvPicPr>
          <p:cNvPr id="6" name="Picture 5">
            <a:extLst>
              <a:ext uri="{FF2B5EF4-FFF2-40B4-BE49-F238E27FC236}">
                <a16:creationId xmlns:a16="http://schemas.microsoft.com/office/drawing/2014/main" id="{2F2A05E9-7F3A-4D0B-BE51-0A810B24206F}"/>
              </a:ext>
            </a:extLst>
          </p:cNvPr>
          <p:cNvPicPr>
            <a:picLocks noChangeAspect="1"/>
          </p:cNvPicPr>
          <p:nvPr/>
        </p:nvPicPr>
        <p:blipFill>
          <a:blip r:embed="rId2"/>
          <a:stretch>
            <a:fillRect/>
          </a:stretch>
        </p:blipFill>
        <p:spPr>
          <a:xfrm>
            <a:off x="323528" y="1357304"/>
            <a:ext cx="4390120" cy="2198623"/>
          </a:xfrm>
          <a:prstGeom prst="rect">
            <a:avLst/>
          </a:prstGeom>
          <a:ln>
            <a:noFill/>
          </a:ln>
          <a:effectLst>
            <a:outerShdw blurRad="292100" dist="139700" dir="2700000" algn="tl" rotWithShape="0">
              <a:srgbClr val="333333">
                <a:alpha val="65000"/>
              </a:srgbClr>
            </a:outerShdw>
          </a:effectLst>
        </p:spPr>
      </p:pic>
      <p:pic>
        <p:nvPicPr>
          <p:cNvPr id="5" name="Picture 4">
            <a:extLst>
              <a:ext uri="{FF2B5EF4-FFF2-40B4-BE49-F238E27FC236}">
                <a16:creationId xmlns:a16="http://schemas.microsoft.com/office/drawing/2014/main" id="{D1447F00-76A3-472E-9EC6-AC07BEB34C47}"/>
              </a:ext>
            </a:extLst>
          </p:cNvPr>
          <p:cNvPicPr>
            <a:picLocks noChangeAspect="1"/>
          </p:cNvPicPr>
          <p:nvPr/>
        </p:nvPicPr>
        <p:blipFill>
          <a:blip r:embed="rId3"/>
          <a:stretch>
            <a:fillRect/>
          </a:stretch>
        </p:blipFill>
        <p:spPr>
          <a:xfrm>
            <a:off x="4585805" y="2770622"/>
            <a:ext cx="4390120" cy="1992654"/>
          </a:xfrm>
          <a:prstGeom prst="rect">
            <a:avLst/>
          </a:prstGeom>
          <a:ln>
            <a:noFill/>
          </a:ln>
          <a:effectLst>
            <a:outerShdw blurRad="292100" dist="139700" dir="2700000" algn="tl" rotWithShape="0">
              <a:srgbClr val="333333">
                <a:alpha val="65000"/>
              </a:srgbClr>
            </a:outerShdw>
          </a:effectLst>
        </p:spPr>
      </p:pic>
    </p:spTree>
    <p:extLst>
      <p:ext uri="{BB962C8B-B14F-4D97-AF65-F5344CB8AC3E}">
        <p14:creationId xmlns:p14="http://schemas.microsoft.com/office/powerpoint/2010/main" val="2554274025"/>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93D2A9D-E45A-4D8B-BB25-C0391947EB16}"/>
              </a:ext>
            </a:extLst>
          </p:cNvPr>
          <p:cNvSpPr>
            <a:spLocks noGrp="1"/>
          </p:cNvSpPr>
          <p:nvPr>
            <p:ph type="title"/>
          </p:nvPr>
        </p:nvSpPr>
        <p:spPr>
          <a:xfrm>
            <a:off x="457200" y="699542"/>
            <a:ext cx="8229600" cy="857250"/>
          </a:xfrm>
        </p:spPr>
        <p:txBody>
          <a:bodyPr>
            <a:normAutofit fontScale="90000"/>
          </a:bodyPr>
          <a:lstStyle/>
          <a:p>
            <a:r>
              <a:rPr lang="ru-RU" dirty="0"/>
              <a:t>Локальные и анонимные внутренние классы</a:t>
            </a:r>
          </a:p>
        </p:txBody>
      </p:sp>
      <p:sp>
        <p:nvSpPr>
          <p:cNvPr id="4" name="Slide Number Placeholder 3">
            <a:extLst>
              <a:ext uri="{FF2B5EF4-FFF2-40B4-BE49-F238E27FC236}">
                <a16:creationId xmlns:a16="http://schemas.microsoft.com/office/drawing/2014/main" id="{95FF477C-1ADA-425F-BF13-C7F237B8A95B}"/>
              </a:ext>
            </a:extLst>
          </p:cNvPr>
          <p:cNvSpPr>
            <a:spLocks noGrp="1"/>
          </p:cNvSpPr>
          <p:nvPr>
            <p:ph type="sldNum" sz="quarter" idx="12"/>
          </p:nvPr>
        </p:nvSpPr>
        <p:spPr/>
        <p:txBody>
          <a:bodyPr/>
          <a:lstStyle/>
          <a:p>
            <a:fld id="{2A69F336-2DD4-44CE-8205-AE3F61CEB7C8}" type="slidenum">
              <a:rPr lang="ru-RU" smtClean="0"/>
              <a:pPr/>
              <a:t>18</a:t>
            </a:fld>
            <a:endParaRPr lang="ru-RU"/>
          </a:p>
        </p:txBody>
      </p:sp>
      <p:pic>
        <p:nvPicPr>
          <p:cNvPr id="7" name="Picture 6">
            <a:extLst>
              <a:ext uri="{FF2B5EF4-FFF2-40B4-BE49-F238E27FC236}">
                <a16:creationId xmlns:a16="http://schemas.microsoft.com/office/drawing/2014/main" id="{D46B1933-526E-404B-B26D-BF31319A62B9}"/>
              </a:ext>
            </a:extLst>
          </p:cNvPr>
          <p:cNvPicPr>
            <a:picLocks noChangeAspect="1"/>
          </p:cNvPicPr>
          <p:nvPr/>
        </p:nvPicPr>
        <p:blipFill>
          <a:blip r:embed="rId2"/>
          <a:stretch>
            <a:fillRect/>
          </a:stretch>
        </p:blipFill>
        <p:spPr>
          <a:xfrm>
            <a:off x="194007" y="1779662"/>
            <a:ext cx="3744416" cy="3108346"/>
          </a:xfrm>
          <a:prstGeom prst="rect">
            <a:avLst/>
          </a:prstGeom>
          <a:ln>
            <a:noFill/>
          </a:ln>
          <a:effectLst>
            <a:outerShdw blurRad="292100" dist="139700" dir="2700000" algn="tl" rotWithShape="0">
              <a:srgbClr val="333333">
                <a:alpha val="65000"/>
              </a:srgbClr>
            </a:outerShdw>
          </a:effectLst>
        </p:spPr>
      </p:pic>
      <p:pic>
        <p:nvPicPr>
          <p:cNvPr id="8" name="Picture 7">
            <a:extLst>
              <a:ext uri="{FF2B5EF4-FFF2-40B4-BE49-F238E27FC236}">
                <a16:creationId xmlns:a16="http://schemas.microsoft.com/office/drawing/2014/main" id="{6232F476-0B66-4A12-9D5A-07A7AE3CE2F7}"/>
              </a:ext>
            </a:extLst>
          </p:cNvPr>
          <p:cNvPicPr>
            <a:picLocks noChangeAspect="1"/>
          </p:cNvPicPr>
          <p:nvPr/>
        </p:nvPicPr>
        <p:blipFill>
          <a:blip r:embed="rId3"/>
          <a:stretch>
            <a:fillRect/>
          </a:stretch>
        </p:blipFill>
        <p:spPr>
          <a:xfrm>
            <a:off x="4128898" y="1758538"/>
            <a:ext cx="4848604" cy="3129470"/>
          </a:xfrm>
          <a:prstGeom prst="rect">
            <a:avLst/>
          </a:prstGeom>
          <a:ln>
            <a:noFill/>
          </a:ln>
          <a:effectLst>
            <a:outerShdw blurRad="292100" dist="139700" dir="2700000" algn="tl" rotWithShape="0">
              <a:srgbClr val="333333">
                <a:alpha val="65000"/>
              </a:srgbClr>
            </a:outerShdw>
          </a:effectLst>
        </p:spPr>
      </p:pic>
    </p:spTree>
    <p:extLst>
      <p:ext uri="{BB962C8B-B14F-4D97-AF65-F5344CB8AC3E}">
        <p14:creationId xmlns:p14="http://schemas.microsoft.com/office/powerpoint/2010/main" val="3807122853"/>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EEA55FC-3C9D-444C-812E-3DE31F8913E0}"/>
              </a:ext>
            </a:extLst>
          </p:cNvPr>
          <p:cNvSpPr>
            <a:spLocks noGrp="1"/>
          </p:cNvSpPr>
          <p:nvPr>
            <p:ph type="title"/>
          </p:nvPr>
        </p:nvSpPr>
        <p:spPr>
          <a:xfrm>
            <a:off x="490352" y="627534"/>
            <a:ext cx="8229600" cy="857250"/>
          </a:xfrm>
        </p:spPr>
        <p:txBody>
          <a:bodyPr>
            <a:normAutofit fontScale="90000"/>
          </a:bodyPr>
          <a:lstStyle/>
          <a:p>
            <a:r>
              <a:rPr lang="ru-RU" dirty="0"/>
              <a:t>Использование вложенных классов</a:t>
            </a:r>
          </a:p>
        </p:txBody>
      </p:sp>
      <p:sp>
        <p:nvSpPr>
          <p:cNvPr id="3" name="Content Placeholder 2">
            <a:extLst>
              <a:ext uri="{FF2B5EF4-FFF2-40B4-BE49-F238E27FC236}">
                <a16:creationId xmlns:a16="http://schemas.microsoft.com/office/drawing/2014/main" id="{0DBAB4E0-0A37-4F22-B4F2-BF9184E77ECB}"/>
              </a:ext>
            </a:extLst>
          </p:cNvPr>
          <p:cNvSpPr>
            <a:spLocks noGrp="1"/>
          </p:cNvSpPr>
          <p:nvPr>
            <p:ph idx="1"/>
          </p:nvPr>
        </p:nvSpPr>
        <p:spPr>
          <a:xfrm>
            <a:off x="487086" y="1738305"/>
            <a:ext cx="6605194" cy="2849669"/>
          </a:xfrm>
        </p:spPr>
        <p:txBody>
          <a:bodyPr>
            <a:normAutofit fontScale="55000" lnSpcReduction="20000"/>
          </a:bodyPr>
          <a:lstStyle/>
          <a:p>
            <a:r>
              <a:rPr lang="ru-RU" dirty="0">
                <a:cs typeface="Times New Roman" panose="02020603050405020304" pitchFamily="18" charset="0"/>
              </a:rPr>
              <a:t>Используются они обычно для того, чтобы сгруппировать вспомогательные классы вместе с основным классом. </a:t>
            </a:r>
          </a:p>
          <a:p>
            <a:r>
              <a:rPr lang="ru-RU" dirty="0"/>
              <a:t>Если какой-то класс используются только в одном другом классе, то их можно сгруппировать, поместив в один общий класс. Это усиливает инкапсуляцию</a:t>
            </a:r>
          </a:p>
          <a:p>
            <a:r>
              <a:rPr lang="ru-RU" dirty="0"/>
              <a:t>Если вложенный класс не требует какого-либо доступа к членам экземпляра его класса, то лучше объявить его как статический, потому, что таким образом он не будет связан с внешним классом и, следовательно, будет более оптимальным, поскольку ему не потребуется память в куче или в стеке</a:t>
            </a:r>
          </a:p>
        </p:txBody>
      </p:sp>
      <p:sp>
        <p:nvSpPr>
          <p:cNvPr id="4" name="Slide Number Placeholder 3">
            <a:extLst>
              <a:ext uri="{FF2B5EF4-FFF2-40B4-BE49-F238E27FC236}">
                <a16:creationId xmlns:a16="http://schemas.microsoft.com/office/drawing/2014/main" id="{178E80F4-0FA2-409F-906C-F5D8DD7649B7}"/>
              </a:ext>
            </a:extLst>
          </p:cNvPr>
          <p:cNvSpPr>
            <a:spLocks noGrp="1"/>
          </p:cNvSpPr>
          <p:nvPr>
            <p:ph type="sldNum" sz="quarter" idx="12"/>
          </p:nvPr>
        </p:nvSpPr>
        <p:spPr/>
        <p:txBody>
          <a:bodyPr/>
          <a:lstStyle/>
          <a:p>
            <a:fld id="{2A69F336-2DD4-44CE-8205-AE3F61CEB7C8}" type="slidenum">
              <a:rPr lang="ru-RU" smtClean="0"/>
              <a:pPr/>
              <a:t>19</a:t>
            </a:fld>
            <a:endParaRPr lang="ru-RU"/>
          </a:p>
        </p:txBody>
      </p:sp>
      <p:pic>
        <p:nvPicPr>
          <p:cNvPr id="6" name="Picture 5">
            <a:extLst>
              <a:ext uri="{FF2B5EF4-FFF2-40B4-BE49-F238E27FC236}">
                <a16:creationId xmlns:a16="http://schemas.microsoft.com/office/drawing/2014/main" id="{D2C57CCE-DFC6-4FCE-A45F-08E4E5944BE3}"/>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7081384" y="2139702"/>
            <a:ext cx="1800200" cy="1800200"/>
          </a:xfrm>
          <a:prstGeom prst="rect">
            <a:avLst/>
          </a:prstGeom>
          <a:ln>
            <a:noFill/>
          </a:ln>
          <a:effectLst>
            <a:softEdge rad="112500"/>
          </a:effectLst>
        </p:spPr>
      </p:pic>
    </p:spTree>
    <p:extLst>
      <p:ext uri="{BB962C8B-B14F-4D97-AF65-F5344CB8AC3E}">
        <p14:creationId xmlns:p14="http://schemas.microsoft.com/office/powerpoint/2010/main" val="4079099900"/>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E56F9F1-ECA1-4F5B-89F1-78FF3DA7C1D6}"/>
              </a:ext>
            </a:extLst>
          </p:cNvPr>
          <p:cNvSpPr>
            <a:spLocks noGrp="1"/>
          </p:cNvSpPr>
          <p:nvPr>
            <p:ph type="title"/>
          </p:nvPr>
        </p:nvSpPr>
        <p:spPr/>
        <p:txBody>
          <a:bodyPr/>
          <a:lstStyle/>
          <a:p>
            <a:r>
              <a:rPr lang="ru-RU" dirty="0"/>
              <a:t>Особенности вложенных классов</a:t>
            </a:r>
          </a:p>
        </p:txBody>
      </p:sp>
      <p:sp>
        <p:nvSpPr>
          <p:cNvPr id="3" name="Content Placeholder 2">
            <a:extLst>
              <a:ext uri="{FF2B5EF4-FFF2-40B4-BE49-F238E27FC236}">
                <a16:creationId xmlns:a16="http://schemas.microsoft.com/office/drawing/2014/main" id="{2490C0A9-934E-4E8C-9953-E7BFEE72ABAE}"/>
              </a:ext>
            </a:extLst>
          </p:cNvPr>
          <p:cNvSpPr>
            <a:spLocks noGrp="1"/>
          </p:cNvSpPr>
          <p:nvPr>
            <p:ph idx="1"/>
          </p:nvPr>
        </p:nvSpPr>
        <p:spPr/>
        <p:txBody>
          <a:bodyPr>
            <a:normAutofit fontScale="47500" lnSpcReduction="20000"/>
          </a:bodyPr>
          <a:lstStyle/>
          <a:p>
            <a:r>
              <a:rPr lang="ru-RU" dirty="0"/>
              <a:t>Статические вложенные классы не имеют доступа к какому-либо члену экземпляра внешнего класса — он может получить к ним доступ только через ссылку на объект</a:t>
            </a:r>
          </a:p>
          <a:p>
            <a:r>
              <a:rPr lang="ru-RU" dirty="0"/>
              <a:t>Статические вложенные классы могут получить доступ ко всем статическим членам внешнего класса, включая приватные</a:t>
            </a:r>
          </a:p>
          <a:p>
            <a:r>
              <a:rPr lang="ru-RU" dirty="0"/>
              <a:t>Спецификация </a:t>
            </a:r>
            <a:r>
              <a:rPr lang="ru-RU" dirty="0" err="1"/>
              <a:t>Java</a:t>
            </a:r>
            <a:r>
              <a:rPr lang="ru-RU" dirty="0"/>
              <a:t> не позволяет объявлять класс верхнего уровня статическим. Только классы внутри других классов могут быть статическими</a:t>
            </a:r>
          </a:p>
          <a:p>
            <a:r>
              <a:rPr lang="ru-RU" dirty="0"/>
              <a:t>Опять же, этот класс привязан к внешнему классу и если внешний наследуется другим классом, то этот не будет унаследован. При этом данный класс можно наследовать, как и он может наследоваться от любого другого класса и имплементировать интерфейс</a:t>
            </a:r>
          </a:p>
          <a:p>
            <a:r>
              <a:rPr lang="ru-RU" dirty="0"/>
              <a:t>По сути статический вложенный класс ничем не отличается от любого другого внутреннего класса за исключением того, что его объект не содержит ссылку на создавший его объект внешнего класса</a:t>
            </a:r>
          </a:p>
          <a:p>
            <a:r>
              <a:rPr lang="ru-RU" dirty="0"/>
              <a:t>Для использования статических методов/переменных/классов нам не нужно создавать объект данного класса</a:t>
            </a:r>
          </a:p>
        </p:txBody>
      </p:sp>
      <p:sp>
        <p:nvSpPr>
          <p:cNvPr id="4" name="Slide Number Placeholder 3">
            <a:extLst>
              <a:ext uri="{FF2B5EF4-FFF2-40B4-BE49-F238E27FC236}">
                <a16:creationId xmlns:a16="http://schemas.microsoft.com/office/drawing/2014/main" id="{C172BA03-65AD-4BDF-9E3B-20CD1C866220}"/>
              </a:ext>
            </a:extLst>
          </p:cNvPr>
          <p:cNvSpPr>
            <a:spLocks noGrp="1"/>
          </p:cNvSpPr>
          <p:nvPr>
            <p:ph type="sldNum" sz="quarter" idx="12"/>
          </p:nvPr>
        </p:nvSpPr>
        <p:spPr/>
        <p:txBody>
          <a:bodyPr/>
          <a:lstStyle/>
          <a:p>
            <a:fld id="{2A69F336-2DD4-44CE-8205-AE3F61CEB7C8}" type="slidenum">
              <a:rPr lang="ru-RU" smtClean="0"/>
              <a:pPr/>
              <a:t>20</a:t>
            </a:fld>
            <a:endParaRPr lang="ru-RU"/>
          </a:p>
        </p:txBody>
      </p:sp>
    </p:spTree>
    <p:extLst>
      <p:ext uri="{BB962C8B-B14F-4D97-AF65-F5344CB8AC3E}">
        <p14:creationId xmlns:p14="http://schemas.microsoft.com/office/powerpoint/2010/main" val="2838116411"/>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8C30F09-A9B7-40F3-805E-CF045D6AE238}"/>
              </a:ext>
            </a:extLst>
          </p:cNvPr>
          <p:cNvSpPr>
            <a:spLocks noGrp="1"/>
          </p:cNvSpPr>
          <p:nvPr>
            <p:ph type="title"/>
          </p:nvPr>
        </p:nvSpPr>
        <p:spPr/>
        <p:txBody>
          <a:bodyPr/>
          <a:lstStyle/>
          <a:p>
            <a:r>
              <a:rPr lang="ru-RU" dirty="0"/>
              <a:t>Перечисления</a:t>
            </a:r>
          </a:p>
        </p:txBody>
      </p:sp>
      <p:sp>
        <p:nvSpPr>
          <p:cNvPr id="3" name="Content Placeholder 2">
            <a:extLst>
              <a:ext uri="{FF2B5EF4-FFF2-40B4-BE49-F238E27FC236}">
                <a16:creationId xmlns:a16="http://schemas.microsoft.com/office/drawing/2014/main" id="{D5FD8C0B-BA96-4C4F-B438-74F69CC6DA30}"/>
              </a:ext>
            </a:extLst>
          </p:cNvPr>
          <p:cNvSpPr>
            <a:spLocks noGrp="1"/>
          </p:cNvSpPr>
          <p:nvPr>
            <p:ph idx="1"/>
          </p:nvPr>
        </p:nvSpPr>
        <p:spPr>
          <a:xfrm>
            <a:off x="457200" y="1428741"/>
            <a:ext cx="6275040" cy="3165881"/>
          </a:xfrm>
        </p:spPr>
        <p:txBody>
          <a:bodyPr>
            <a:normAutofit fontScale="47500" lnSpcReduction="20000"/>
          </a:bodyPr>
          <a:lstStyle/>
          <a:p>
            <a:r>
              <a:rPr lang="ru-RU" dirty="0"/>
              <a:t>Перечисления представляют набор логически связанных констант.</a:t>
            </a:r>
          </a:p>
          <a:p>
            <a:r>
              <a:rPr lang="ru-RU" dirty="0"/>
              <a:t>Объявление перечисления происходит с помощью оператора </a:t>
            </a:r>
            <a:r>
              <a:rPr lang="ru-RU" i="1" dirty="0" err="1">
                <a:solidFill>
                  <a:schemeClr val="accent4">
                    <a:lumMod val="10000"/>
                  </a:schemeClr>
                </a:solidFill>
                <a:latin typeface="Courier New" panose="02070309020205020404" pitchFamily="49" charset="0"/>
                <a:cs typeface="Courier New" panose="02070309020205020404" pitchFamily="49" charset="0"/>
              </a:rPr>
              <a:t>enum</a:t>
            </a:r>
            <a:r>
              <a:rPr lang="ru-RU" dirty="0"/>
              <a:t>, после которого идет название перечисления. Затем идет список элементов перечисления через запятую.</a:t>
            </a:r>
          </a:p>
          <a:p>
            <a:r>
              <a:rPr lang="ru-RU" spc="-1" dirty="0">
                <a:solidFill>
                  <a:srgbClr val="244061"/>
                </a:solidFill>
              </a:rPr>
              <a:t>В перечислении указываются только константы, не указывая их тип и характеристики. У констант, указанных в перечислении, тип перечисления – в языке </a:t>
            </a:r>
            <a:r>
              <a:rPr lang="ru-RU" spc="-1" dirty="0" err="1">
                <a:solidFill>
                  <a:srgbClr val="244061"/>
                </a:solidFill>
              </a:rPr>
              <a:t>Java</a:t>
            </a:r>
            <a:r>
              <a:rPr lang="ru-RU" spc="-1" dirty="0">
                <a:solidFill>
                  <a:srgbClr val="244061"/>
                </a:solidFill>
              </a:rPr>
              <a:t> перечисления образуют самостоятельный тип.</a:t>
            </a:r>
            <a:endParaRPr lang="ru-RU" dirty="0"/>
          </a:p>
          <a:p>
            <a:r>
              <a:rPr lang="ru-RU" dirty="0"/>
              <a:t>Каждое перечисление имеет статический метод </a:t>
            </a:r>
            <a:r>
              <a:rPr lang="ru-RU" i="1" dirty="0" err="1">
                <a:solidFill>
                  <a:schemeClr val="accent4">
                    <a:lumMod val="10000"/>
                  </a:schemeClr>
                </a:solidFill>
                <a:latin typeface="Courier New" panose="02070309020205020404" pitchFamily="49" charset="0"/>
                <a:cs typeface="Courier New" panose="02070309020205020404" pitchFamily="49" charset="0"/>
              </a:rPr>
              <a:t>values</a:t>
            </a:r>
            <a:r>
              <a:rPr lang="ru-RU" i="1" dirty="0">
                <a:solidFill>
                  <a:schemeClr val="accent4">
                    <a:lumMod val="10000"/>
                  </a:schemeClr>
                </a:solidFill>
                <a:latin typeface="Courier New" panose="02070309020205020404" pitchFamily="49" charset="0"/>
                <a:cs typeface="Courier New" panose="02070309020205020404" pitchFamily="49" charset="0"/>
              </a:rPr>
              <a:t>()</a:t>
            </a:r>
            <a:r>
              <a:rPr lang="ru-RU" dirty="0"/>
              <a:t>. Он возвращает массив всех констант перечисления.</a:t>
            </a:r>
          </a:p>
          <a:p>
            <a:r>
              <a:rPr lang="ru-RU" dirty="0"/>
              <a:t>Метод </a:t>
            </a:r>
            <a:r>
              <a:rPr lang="ru-RU" i="1" dirty="0" err="1">
                <a:solidFill>
                  <a:schemeClr val="accent4">
                    <a:lumMod val="10000"/>
                  </a:schemeClr>
                </a:solidFill>
                <a:latin typeface="Courier New" panose="02070309020205020404" pitchFamily="49" charset="0"/>
                <a:cs typeface="Courier New" panose="02070309020205020404" pitchFamily="49" charset="0"/>
              </a:rPr>
              <a:t>ordinal</a:t>
            </a:r>
            <a:r>
              <a:rPr lang="ru-RU" i="1" dirty="0">
                <a:solidFill>
                  <a:schemeClr val="accent4">
                    <a:lumMod val="10000"/>
                  </a:schemeClr>
                </a:solidFill>
                <a:latin typeface="Courier New" panose="02070309020205020404" pitchFamily="49" charset="0"/>
                <a:cs typeface="Courier New" panose="02070309020205020404" pitchFamily="49" charset="0"/>
              </a:rPr>
              <a:t>()</a:t>
            </a:r>
            <a:r>
              <a:rPr lang="ru-RU" dirty="0"/>
              <a:t> возвращает порядковый номер определенной константы (нумерация начинается с 0).</a:t>
            </a:r>
          </a:p>
          <a:p>
            <a:r>
              <a:rPr lang="ru-RU" dirty="0"/>
              <a:t>Перечисления, как и обычные классы, могут определять конструкторы, поля и методы, но от них нельзя наследоваться.</a:t>
            </a:r>
          </a:p>
        </p:txBody>
      </p:sp>
      <p:sp>
        <p:nvSpPr>
          <p:cNvPr id="4" name="Slide Number Placeholder 3">
            <a:extLst>
              <a:ext uri="{FF2B5EF4-FFF2-40B4-BE49-F238E27FC236}">
                <a16:creationId xmlns:a16="http://schemas.microsoft.com/office/drawing/2014/main" id="{8BF2E0CC-D7C2-4D95-8859-2416C9F4FA8A}"/>
              </a:ext>
            </a:extLst>
          </p:cNvPr>
          <p:cNvSpPr>
            <a:spLocks noGrp="1"/>
          </p:cNvSpPr>
          <p:nvPr>
            <p:ph type="sldNum" sz="quarter" idx="12"/>
          </p:nvPr>
        </p:nvSpPr>
        <p:spPr/>
        <p:txBody>
          <a:bodyPr/>
          <a:lstStyle/>
          <a:p>
            <a:fld id="{2A69F336-2DD4-44CE-8205-AE3F61CEB7C8}" type="slidenum">
              <a:rPr lang="ru-RU" smtClean="0"/>
              <a:pPr/>
              <a:t>21</a:t>
            </a:fld>
            <a:endParaRPr lang="ru-RU"/>
          </a:p>
        </p:txBody>
      </p:sp>
      <p:pic>
        <p:nvPicPr>
          <p:cNvPr id="5" name="Picture 4">
            <a:extLst>
              <a:ext uri="{FF2B5EF4-FFF2-40B4-BE49-F238E27FC236}">
                <a16:creationId xmlns:a16="http://schemas.microsoft.com/office/drawing/2014/main" id="{86C8B008-7931-4D1A-8DB7-8CD69D58C29E}"/>
              </a:ext>
            </a:extLst>
          </p:cNvPr>
          <p:cNvPicPr>
            <a:picLocks noChangeAspect="1"/>
          </p:cNvPicPr>
          <p:nvPr/>
        </p:nvPicPr>
        <p:blipFill>
          <a:blip r:embed="rId2"/>
          <a:stretch>
            <a:fillRect/>
          </a:stretch>
        </p:blipFill>
        <p:spPr>
          <a:xfrm>
            <a:off x="6804248" y="1737402"/>
            <a:ext cx="2079113" cy="2079113"/>
          </a:xfrm>
          <a:prstGeom prst="rect">
            <a:avLst/>
          </a:prstGeom>
        </p:spPr>
      </p:pic>
    </p:spTree>
    <p:extLst>
      <p:ext uri="{BB962C8B-B14F-4D97-AF65-F5344CB8AC3E}">
        <p14:creationId xmlns:p14="http://schemas.microsoft.com/office/powerpoint/2010/main" val="3820089306"/>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DCEDFC3-7CE5-4E6E-8FC2-3418F51E8CC3}"/>
              </a:ext>
            </a:extLst>
          </p:cNvPr>
          <p:cNvSpPr>
            <a:spLocks noGrp="1"/>
          </p:cNvSpPr>
          <p:nvPr>
            <p:ph type="title"/>
          </p:nvPr>
        </p:nvSpPr>
        <p:spPr/>
        <p:txBody>
          <a:bodyPr/>
          <a:lstStyle/>
          <a:p>
            <a:r>
              <a:rPr lang="ru-RU" dirty="0"/>
              <a:t>Перечисления</a:t>
            </a:r>
          </a:p>
        </p:txBody>
      </p:sp>
      <p:sp>
        <p:nvSpPr>
          <p:cNvPr id="4" name="Slide Number Placeholder 3">
            <a:extLst>
              <a:ext uri="{FF2B5EF4-FFF2-40B4-BE49-F238E27FC236}">
                <a16:creationId xmlns:a16="http://schemas.microsoft.com/office/drawing/2014/main" id="{43E3C608-9D53-4F1B-B0BA-A720B211B9DC}"/>
              </a:ext>
            </a:extLst>
          </p:cNvPr>
          <p:cNvSpPr>
            <a:spLocks noGrp="1"/>
          </p:cNvSpPr>
          <p:nvPr>
            <p:ph type="sldNum" sz="quarter" idx="12"/>
          </p:nvPr>
        </p:nvSpPr>
        <p:spPr/>
        <p:txBody>
          <a:bodyPr/>
          <a:lstStyle/>
          <a:p>
            <a:fld id="{2A69F336-2DD4-44CE-8205-AE3F61CEB7C8}" type="slidenum">
              <a:rPr lang="ru-RU" smtClean="0"/>
              <a:pPr/>
              <a:t>22</a:t>
            </a:fld>
            <a:endParaRPr lang="ru-RU"/>
          </a:p>
        </p:txBody>
      </p:sp>
      <p:pic>
        <p:nvPicPr>
          <p:cNvPr id="5" name="Picture 4">
            <a:extLst>
              <a:ext uri="{FF2B5EF4-FFF2-40B4-BE49-F238E27FC236}">
                <a16:creationId xmlns:a16="http://schemas.microsoft.com/office/drawing/2014/main" id="{E9841C36-BADE-44AD-8A1C-49C1D3689E41}"/>
              </a:ext>
            </a:extLst>
          </p:cNvPr>
          <p:cNvPicPr>
            <a:picLocks noChangeAspect="1"/>
          </p:cNvPicPr>
          <p:nvPr/>
        </p:nvPicPr>
        <p:blipFill>
          <a:blip r:embed="rId2"/>
          <a:stretch>
            <a:fillRect/>
          </a:stretch>
        </p:blipFill>
        <p:spPr>
          <a:xfrm>
            <a:off x="1678426" y="1491630"/>
            <a:ext cx="5787147" cy="2968407"/>
          </a:xfrm>
          <a:prstGeom prst="rect">
            <a:avLst/>
          </a:prstGeom>
          <a:ln>
            <a:noFill/>
          </a:ln>
          <a:effectLst>
            <a:outerShdw blurRad="292100" dist="139700" dir="2700000" algn="tl" rotWithShape="0">
              <a:srgbClr val="333333">
                <a:alpha val="65000"/>
              </a:srgbClr>
            </a:outerShdw>
          </a:effectLst>
        </p:spPr>
      </p:pic>
    </p:spTree>
    <p:extLst>
      <p:ext uri="{BB962C8B-B14F-4D97-AF65-F5344CB8AC3E}">
        <p14:creationId xmlns:p14="http://schemas.microsoft.com/office/powerpoint/2010/main" val="3956039124"/>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A8ED6FA-42A1-462C-933C-720B4B32D069}"/>
              </a:ext>
            </a:extLst>
          </p:cNvPr>
          <p:cNvSpPr>
            <a:spLocks noGrp="1"/>
          </p:cNvSpPr>
          <p:nvPr>
            <p:ph type="title"/>
          </p:nvPr>
        </p:nvSpPr>
        <p:spPr/>
        <p:txBody>
          <a:bodyPr/>
          <a:lstStyle/>
          <a:p>
            <a:r>
              <a:rPr lang="ru-RU" dirty="0"/>
              <a:t>Методы отдельных констант</a:t>
            </a:r>
          </a:p>
        </p:txBody>
      </p:sp>
      <p:sp>
        <p:nvSpPr>
          <p:cNvPr id="3" name="Content Placeholder 2">
            <a:extLst>
              <a:ext uri="{FF2B5EF4-FFF2-40B4-BE49-F238E27FC236}">
                <a16:creationId xmlns:a16="http://schemas.microsoft.com/office/drawing/2014/main" id="{85796229-1DD4-431A-B454-266E38D60447}"/>
              </a:ext>
            </a:extLst>
          </p:cNvPr>
          <p:cNvSpPr>
            <a:spLocks noGrp="1"/>
          </p:cNvSpPr>
          <p:nvPr>
            <p:ph idx="1"/>
          </p:nvPr>
        </p:nvSpPr>
        <p:spPr>
          <a:xfrm>
            <a:off x="457200" y="1428741"/>
            <a:ext cx="8229600" cy="1287025"/>
          </a:xfrm>
        </p:spPr>
        <p:txBody>
          <a:bodyPr>
            <a:normAutofit fontScale="70000" lnSpcReduction="20000"/>
          </a:bodyPr>
          <a:lstStyle/>
          <a:p>
            <a:r>
              <a:rPr lang="ru-RU" dirty="0"/>
              <a:t>Константы, входящие в перечисление, рассматриваются как константные вложенные классы. Поэтому в них можно определять константно-зависимые поля и методы.</a:t>
            </a:r>
          </a:p>
        </p:txBody>
      </p:sp>
      <p:sp>
        <p:nvSpPr>
          <p:cNvPr id="4" name="Slide Number Placeholder 3">
            <a:extLst>
              <a:ext uri="{FF2B5EF4-FFF2-40B4-BE49-F238E27FC236}">
                <a16:creationId xmlns:a16="http://schemas.microsoft.com/office/drawing/2014/main" id="{00DD1263-C95F-40F0-B691-716E3D4F121D}"/>
              </a:ext>
            </a:extLst>
          </p:cNvPr>
          <p:cNvSpPr>
            <a:spLocks noGrp="1"/>
          </p:cNvSpPr>
          <p:nvPr>
            <p:ph type="sldNum" sz="quarter" idx="12"/>
          </p:nvPr>
        </p:nvSpPr>
        <p:spPr/>
        <p:txBody>
          <a:bodyPr/>
          <a:lstStyle/>
          <a:p>
            <a:fld id="{2A69F336-2DD4-44CE-8205-AE3F61CEB7C8}" type="slidenum">
              <a:rPr lang="ru-RU" smtClean="0"/>
              <a:pPr/>
              <a:t>23</a:t>
            </a:fld>
            <a:endParaRPr lang="ru-RU"/>
          </a:p>
        </p:txBody>
      </p:sp>
      <p:pic>
        <p:nvPicPr>
          <p:cNvPr id="5" name="Picture 4">
            <a:extLst>
              <a:ext uri="{FF2B5EF4-FFF2-40B4-BE49-F238E27FC236}">
                <a16:creationId xmlns:a16="http://schemas.microsoft.com/office/drawing/2014/main" id="{909615B6-A20A-4FC4-A3B5-C49B5E444230}"/>
              </a:ext>
            </a:extLst>
          </p:cNvPr>
          <p:cNvPicPr>
            <a:picLocks noChangeAspect="1"/>
          </p:cNvPicPr>
          <p:nvPr/>
        </p:nvPicPr>
        <p:blipFill>
          <a:blip r:embed="rId3"/>
          <a:stretch>
            <a:fillRect/>
          </a:stretch>
        </p:blipFill>
        <p:spPr>
          <a:xfrm>
            <a:off x="1160748" y="2570279"/>
            <a:ext cx="6822504" cy="2073167"/>
          </a:xfrm>
          <a:prstGeom prst="rect">
            <a:avLst/>
          </a:prstGeom>
          <a:ln>
            <a:noFill/>
          </a:ln>
          <a:effectLst>
            <a:outerShdw blurRad="292100" dist="139700" dir="2700000" algn="tl" rotWithShape="0">
              <a:srgbClr val="333333">
                <a:alpha val="65000"/>
              </a:srgbClr>
            </a:outerShdw>
          </a:effectLst>
        </p:spPr>
      </p:pic>
    </p:spTree>
    <p:extLst>
      <p:ext uri="{BB962C8B-B14F-4D97-AF65-F5344CB8AC3E}">
        <p14:creationId xmlns:p14="http://schemas.microsoft.com/office/powerpoint/2010/main" val="1774968574"/>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DFE473F-E7B7-4023-928E-E61934F1BE88}"/>
              </a:ext>
            </a:extLst>
          </p:cNvPr>
          <p:cNvSpPr>
            <a:spLocks noGrp="1"/>
          </p:cNvSpPr>
          <p:nvPr>
            <p:ph type="title"/>
          </p:nvPr>
        </p:nvSpPr>
        <p:spPr/>
        <p:txBody>
          <a:bodyPr/>
          <a:lstStyle/>
          <a:p>
            <a:r>
              <a:rPr lang="ru-RU" dirty="0"/>
              <a:t>Задача</a:t>
            </a:r>
          </a:p>
        </p:txBody>
      </p:sp>
      <p:sp>
        <p:nvSpPr>
          <p:cNvPr id="3" name="Content Placeholder 2">
            <a:extLst>
              <a:ext uri="{FF2B5EF4-FFF2-40B4-BE49-F238E27FC236}">
                <a16:creationId xmlns:a16="http://schemas.microsoft.com/office/drawing/2014/main" id="{F03A436F-9771-4321-A2BE-5E62EE3158D7}"/>
              </a:ext>
            </a:extLst>
          </p:cNvPr>
          <p:cNvSpPr>
            <a:spLocks noGrp="1"/>
          </p:cNvSpPr>
          <p:nvPr>
            <p:ph idx="1"/>
          </p:nvPr>
        </p:nvSpPr>
        <p:spPr/>
        <p:txBody>
          <a:bodyPr>
            <a:normAutofit fontScale="85000" lnSpcReduction="10000"/>
          </a:bodyPr>
          <a:lstStyle/>
          <a:p>
            <a:r>
              <a:rPr lang="ru-RU" dirty="0"/>
              <a:t>Создать статическую переменную </a:t>
            </a:r>
            <a:r>
              <a:rPr lang="ru-RU" dirty="0" err="1"/>
              <a:t>counter</a:t>
            </a:r>
            <a:r>
              <a:rPr lang="ru-RU" dirty="0"/>
              <a:t> в классе </a:t>
            </a:r>
            <a:r>
              <a:rPr lang="en-US" dirty="0"/>
              <a:t>Person</a:t>
            </a:r>
            <a:r>
              <a:rPr lang="ru-RU" dirty="0"/>
              <a:t>, которая содержит число созданных объектов типа </a:t>
            </a:r>
            <a:r>
              <a:rPr lang="en-US" dirty="0"/>
              <a:t>Person</a:t>
            </a:r>
            <a:r>
              <a:rPr lang="ru-RU" dirty="0"/>
              <a:t>. Счетчик должен быть доступен извне так, чтобы мы могли изменить ее значение вне класса </a:t>
            </a:r>
            <a:r>
              <a:rPr lang="ru-RU" dirty="0" err="1"/>
              <a:t>Рerson</a:t>
            </a:r>
            <a:r>
              <a:rPr lang="ru-RU" dirty="0"/>
              <a:t>. </a:t>
            </a:r>
          </a:p>
          <a:p>
            <a:r>
              <a:rPr lang="ru-RU" dirty="0"/>
              <a:t>Сделать счетчик недоступным для изменения извне, но доступным для чтения. Для этого использовать статический метод. </a:t>
            </a:r>
          </a:p>
        </p:txBody>
      </p:sp>
      <p:sp>
        <p:nvSpPr>
          <p:cNvPr id="4" name="Slide Number Placeholder 3">
            <a:extLst>
              <a:ext uri="{FF2B5EF4-FFF2-40B4-BE49-F238E27FC236}">
                <a16:creationId xmlns:a16="http://schemas.microsoft.com/office/drawing/2014/main" id="{B3A3DE85-0BD3-470C-A3AE-D4A21CBC6FB5}"/>
              </a:ext>
            </a:extLst>
          </p:cNvPr>
          <p:cNvSpPr>
            <a:spLocks noGrp="1"/>
          </p:cNvSpPr>
          <p:nvPr>
            <p:ph type="sldNum" sz="quarter" idx="12"/>
          </p:nvPr>
        </p:nvSpPr>
        <p:spPr/>
        <p:txBody>
          <a:bodyPr/>
          <a:lstStyle/>
          <a:p>
            <a:fld id="{2A69F336-2DD4-44CE-8205-AE3F61CEB7C8}" type="slidenum">
              <a:rPr lang="ru-RU" smtClean="0"/>
              <a:pPr/>
              <a:t>24</a:t>
            </a:fld>
            <a:endParaRPr lang="ru-RU"/>
          </a:p>
        </p:txBody>
      </p:sp>
    </p:spTree>
    <p:extLst>
      <p:ext uri="{BB962C8B-B14F-4D97-AF65-F5344CB8AC3E}">
        <p14:creationId xmlns:p14="http://schemas.microsoft.com/office/powerpoint/2010/main" val="150655524"/>
      </p:ext>
    </p:extLst>
  </p:cSld>
  <p:clrMapOvr>
    <a:masterClrMapping/>
  </p:clrMapOvr>
</p:sld>
</file>

<file path=ppt/theme/theme1.xml><?xml version="1.0" encoding="utf-8"?>
<a:theme xmlns:a="http://schemas.openxmlformats.org/drawingml/2006/main" name="Тема Office">
  <a:themeElements>
    <a:clrScheme name="Другая 1">
      <a:dk1>
        <a:srgbClr val="244061"/>
      </a:dk1>
      <a:lt1>
        <a:srgbClr val="DBE5F1"/>
      </a:lt1>
      <a:dk2>
        <a:srgbClr val="953734"/>
      </a:dk2>
      <a:lt2>
        <a:srgbClr val="F2DCDB"/>
      </a:lt2>
      <a:accent1>
        <a:srgbClr val="95B3D7"/>
      </a:accent1>
      <a:accent2>
        <a:srgbClr val="366092"/>
      </a:accent2>
      <a:accent3>
        <a:srgbClr val="17365D"/>
      </a:accent3>
      <a:accent4>
        <a:srgbClr val="E5B9B7"/>
      </a:accent4>
      <a:accent5>
        <a:srgbClr val="D99694"/>
      </a:accent5>
      <a:accent6>
        <a:srgbClr val="953734"/>
      </a:accent6>
      <a:hlink>
        <a:srgbClr val="C00000"/>
      </a:hlink>
      <a:folHlink>
        <a:srgbClr val="002060"/>
      </a:folHlink>
    </a:clrScheme>
    <a:fontScheme name="Стандартная">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Стандартная">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Тема Office">
  <a:themeElements>
    <a:clrScheme name="Стандартная">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Стандартная">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Стандартная">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3847</TotalTime>
  <Words>2321</Words>
  <Application>Microsoft Office PowerPoint</Application>
  <PresentationFormat>On-screen Show (16:9)</PresentationFormat>
  <Paragraphs>165</Paragraphs>
  <Slides>24</Slides>
  <Notes>16</Notes>
  <HiddenSlides>1</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24</vt:i4>
      </vt:variant>
    </vt:vector>
  </HeadingPairs>
  <TitlesOfParts>
    <vt:vector size="29" baseType="lpstr">
      <vt:lpstr>Arial</vt:lpstr>
      <vt:lpstr>Calibri</vt:lpstr>
      <vt:lpstr>Courier New</vt:lpstr>
      <vt:lpstr>Times New Roman</vt:lpstr>
      <vt:lpstr>Тема Office</vt:lpstr>
      <vt:lpstr>Программирование на Java</vt:lpstr>
      <vt:lpstr>Модификатор static</vt:lpstr>
      <vt:lpstr>Статические поля</vt:lpstr>
      <vt:lpstr>Статические члены класса</vt:lpstr>
      <vt:lpstr>Особенности статических полей</vt:lpstr>
      <vt:lpstr>Использование статических полей</vt:lpstr>
      <vt:lpstr>Константы</vt:lpstr>
      <vt:lpstr>Статические методы</vt:lpstr>
      <vt:lpstr>Особенности статических методов</vt:lpstr>
      <vt:lpstr>Использование статических методов</vt:lpstr>
      <vt:lpstr>Статический блок инициализации</vt:lpstr>
      <vt:lpstr>Особенности статических блоков инициализации </vt:lpstr>
      <vt:lpstr>Метод main()</vt:lpstr>
      <vt:lpstr>Видимость переменных</vt:lpstr>
      <vt:lpstr>Вложенные и внутренние классы</vt:lpstr>
      <vt:lpstr>Виды вложенных классов</vt:lpstr>
      <vt:lpstr>Вложенные классы</vt:lpstr>
      <vt:lpstr>Локальные и анонимные внутренние классы</vt:lpstr>
      <vt:lpstr>Использование вложенных классов</vt:lpstr>
      <vt:lpstr>Особенности вложенных классов</vt:lpstr>
      <vt:lpstr>Перечисления</vt:lpstr>
      <vt:lpstr>Перечисления</vt:lpstr>
      <vt:lpstr>Методы отдельных констант</vt:lpstr>
      <vt:lpstr>Задача</vt:lpstr>
    </vt:vector>
  </TitlesOfParts>
  <Company>HP</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Слайд 1</dc:title>
  <dc:creator>HP</dc:creator>
  <cp:lastModifiedBy>Yulia Filinskikh</cp:lastModifiedBy>
  <cp:revision>109</cp:revision>
  <dcterms:created xsi:type="dcterms:W3CDTF">2020-04-22T07:05:13Z</dcterms:created>
  <dcterms:modified xsi:type="dcterms:W3CDTF">2025-07-15T23:32:01Z</dcterms:modified>
</cp:coreProperties>
</file>