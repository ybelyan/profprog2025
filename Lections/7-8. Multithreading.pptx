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2"/>
  </p:sldMasterIdLst>
  <p:notesMasterIdLst>
    <p:notesMasterId r:id="rId43"/>
  </p:notesMasterIdLst>
  <p:handoutMasterIdLst>
    <p:handoutMasterId r:id="rId44"/>
  </p:handoutMasterIdLst>
  <p:sldIdLst>
    <p:sldId id="257" r:id="rId3"/>
    <p:sldId id="266" r:id="rId4"/>
    <p:sldId id="267" r:id="rId5"/>
    <p:sldId id="272" r:id="rId6"/>
    <p:sldId id="258" r:id="rId7"/>
    <p:sldId id="276" r:id="rId8"/>
    <p:sldId id="281" r:id="rId9"/>
    <p:sldId id="269" r:id="rId10"/>
    <p:sldId id="273" r:id="rId11"/>
    <p:sldId id="274" r:id="rId12"/>
    <p:sldId id="270" r:id="rId13"/>
    <p:sldId id="264" r:id="rId14"/>
    <p:sldId id="282" r:id="rId15"/>
    <p:sldId id="271" r:id="rId16"/>
    <p:sldId id="277" r:id="rId17"/>
    <p:sldId id="275" r:id="rId18"/>
    <p:sldId id="284" r:id="rId19"/>
    <p:sldId id="293" r:id="rId20"/>
    <p:sldId id="295" r:id="rId21"/>
    <p:sldId id="294" r:id="rId22"/>
    <p:sldId id="304" r:id="rId23"/>
    <p:sldId id="259" r:id="rId24"/>
    <p:sldId id="265" r:id="rId25"/>
    <p:sldId id="285" r:id="rId26"/>
    <p:sldId id="286" r:id="rId27"/>
    <p:sldId id="288" r:id="rId28"/>
    <p:sldId id="289" r:id="rId29"/>
    <p:sldId id="305" r:id="rId30"/>
    <p:sldId id="296" r:id="rId31"/>
    <p:sldId id="297" r:id="rId32"/>
    <p:sldId id="287" r:id="rId33"/>
    <p:sldId id="290" r:id="rId34"/>
    <p:sldId id="298" r:id="rId35"/>
    <p:sldId id="299" r:id="rId36"/>
    <p:sldId id="307" r:id="rId37"/>
    <p:sldId id="300" r:id="rId38"/>
    <p:sldId id="292" r:id="rId39"/>
    <p:sldId id="306" r:id="rId40"/>
    <p:sldId id="301" r:id="rId41"/>
    <p:sldId id="302" r:id="rId4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linskikh, Yulia" initials="FY"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14FBD"/>
    <a:srgbClr val="FF6600"/>
    <a:srgbClr val="006CB7"/>
    <a:srgbClr val="80C342"/>
    <a:srgbClr val="EE31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autoAdjust="0"/>
    <p:restoredTop sz="66376" autoAdjust="0"/>
  </p:normalViewPr>
  <p:slideViewPr>
    <p:cSldViewPr snapToGrid="0">
      <p:cViewPr varScale="1">
        <p:scale>
          <a:sx n="72" d="100"/>
          <a:sy n="72" d="100"/>
        </p:scale>
        <p:origin x="1302" y="5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57" d="100"/>
          <a:sy n="57" d="100"/>
        </p:scale>
        <p:origin x="190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69A499-AB0E-41E7-8F43-0B644843E13C}" type="datetimeFigureOut">
              <a:rPr lang="ru-RU" smtClean="0"/>
              <a:t>17.02.2025</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C7ACF0-1C88-4F3C-8A42-B66D78E86B2D}" type="slidenum">
              <a:rPr lang="ru-RU" smtClean="0"/>
              <a:t>‹#›</a:t>
            </a:fld>
            <a:endParaRPr lang="ru-RU"/>
          </a:p>
        </p:txBody>
      </p:sp>
    </p:spTree>
    <p:extLst>
      <p:ext uri="{BB962C8B-B14F-4D97-AF65-F5344CB8AC3E}">
        <p14:creationId xmlns:p14="http://schemas.microsoft.com/office/powerpoint/2010/main" val="32131952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DF805E-4D42-4930-AF02-3208323ECEC0}" type="datetimeFigureOut">
              <a:rPr lang="ru-RU" smtClean="0"/>
              <a:t>17.02.2025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03A2D-F27E-469C-ADB1-04668A9E28C3}" type="slidenum">
              <a:rPr lang="ru-RU" smtClean="0"/>
              <a:t>‹#›</a:t>
            </a:fld>
            <a:endParaRPr lang="ru-RU"/>
          </a:p>
        </p:txBody>
      </p:sp>
    </p:spTree>
    <p:extLst>
      <p:ext uri="{BB962C8B-B14F-4D97-AF65-F5344CB8AC3E}">
        <p14:creationId xmlns:p14="http://schemas.microsoft.com/office/powerpoint/2010/main" val="1900985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ru.wikipedia.org/wiki/%D0%94%D0%B5%D0%BC%D0%BE%D0%BD_%D0%9C%D0%B0%D0%BA%D1%81%D0%B2%D0%B5%D0%BB%D0%BB%D0%B0" TargetMode="External"/><Relationship Id="rId3" Type="http://schemas.openxmlformats.org/officeDocument/2006/relationships/hyperlink" Target="https://ru.wikipedia.org/wiki/%D0%94%D0%B5%D0%BC%D0%BE%D0%BD" TargetMode="External"/><Relationship Id="rId7" Type="http://schemas.openxmlformats.org/officeDocument/2006/relationships/hyperlink" Target="https://ru.wikipedia.org/wiki/%D0%9C%D0%B0%D1%81%D1%81%D0%B0%D1%87%D1%83%D1%81%D0%B5%D1%82%D1%81%D0%BA%D0%B8%D0%B9_%D1%82%D0%B5%D1%85%D0%BD%D0%BE%D0%BB%D0%BE%D0%B3%D0%B8%D1%87%D0%B5%D1%81%D0%BA%D0%B8%D0%B9_%D0%B8%D0%BD%D1%81%D1%82%D0%B8%D1%82%D1%83%D1%82"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en.wikipedia.org/wiki/Project_MAC" TargetMode="External"/><Relationship Id="rId5" Type="http://schemas.openxmlformats.org/officeDocument/2006/relationships/hyperlink" Target="https://ru.wikipedia.org/w/index.php?title=%D0%9F%D1%80%D0%BE%D0%B5%D0%BA%D1%82_MAC&amp;action=edit&amp;redlink=1" TargetMode="External"/><Relationship Id="rId4" Type="http://schemas.openxmlformats.org/officeDocument/2006/relationships/hyperlink" Target="https://ru.wikipedia.org/wiki/%D0%94%D1%80%D0%B5%D0%B2%D0%BD%D0%B5%D0%B3%D1%80%D0%B5%D1%87%D0%B5%D1%81%D0%BA%D0%B0%D1%8F_%D0%BC%D0%B8%D1%84%D0%BE%D0%BB%D0%BE%D0%B3%D0%B8%D1%8F" TargetMode="External"/><Relationship Id="rId9" Type="http://schemas.openxmlformats.org/officeDocument/2006/relationships/hyperlink" Target="https://ru.wikipedia.org/wiki/%D0%A4%D0%BE%D0%BD%D0%BE%D0%B2%D1%8B%D0%B9_%D1%80%D0%B5%D0%B6%D0%B8%D0%BC"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Большинство языков программирования поддерживают такую важную функциональность как многопоточность, и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в этом плане не исключение. При помощи многопоточности мы можем выделить в приложении несколько потоков, которые будут выполнять различные задачи одновременно. Если у нас, допустим, графическое приложение, которое посылает запрос к какому-нибудь серверу или считывает и обрабатывает огромный файл, то без многопоточности у нас бы блокировался графический интерфейс на время выполнения задачи. Пользователи будут недовольны.</a:t>
            </a:r>
          </a:p>
          <a:p>
            <a:r>
              <a:rPr lang="ru-RU" sz="1200" b="0" i="0" kern="1200" dirty="0">
                <a:solidFill>
                  <a:schemeClr val="tx1"/>
                </a:solidFill>
                <a:effectLst/>
                <a:latin typeface="+mn-lt"/>
                <a:ea typeface="+mn-ea"/>
                <a:cs typeface="+mn-cs"/>
              </a:rPr>
              <a:t>А благодаря потокам мы можем выделить задачу чтения из файла, которая может долго обрабатываться, в отдельный поток, а приложение при этом будет продолжать реагировать на запросы от графического интерфейса. </a:t>
            </a:r>
          </a:p>
          <a:p>
            <a:r>
              <a:rPr lang="ru-RU" sz="1200" b="0" i="0" kern="1200" dirty="0">
                <a:solidFill>
                  <a:schemeClr val="tx1"/>
                </a:solidFill>
                <a:effectLst/>
                <a:latin typeface="+mn-lt"/>
                <a:ea typeface="+mn-ea"/>
                <a:cs typeface="+mn-cs"/>
              </a:rPr>
              <a:t>Поэтому большинство реальных приложений, которые многим из нас приходится использовать, практически не мыслимы без многопоточности.</a:t>
            </a:r>
            <a:endParaRPr lang="en-US"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Лучшее использование одного центрального процессора:</a:t>
            </a:r>
            <a:r>
              <a:rPr lang="ru-RU" sz="1200" b="0" i="0" kern="1200" dirty="0">
                <a:solidFill>
                  <a:schemeClr val="tx1"/>
                </a:solidFill>
                <a:effectLst/>
                <a:latin typeface="+mn-lt"/>
                <a:ea typeface="+mn-ea"/>
                <a:cs typeface="+mn-cs"/>
              </a:rPr>
              <a:t> если поток ожидает ответ на запрос, отправленный по сети, другой поток в это время может использовать CPU для выполнения других задач. Кроме того, если у компьютера несколько CPU или у CPU несколько исполнительных ядер, многопоточность позволяет приложению использовать эти дополнительные ядра.</a:t>
            </a:r>
          </a:p>
          <a:p>
            <a:r>
              <a:rPr lang="ru-RU" sz="1200" b="1" i="0" kern="1200" dirty="0">
                <a:solidFill>
                  <a:schemeClr val="tx1"/>
                </a:solidFill>
                <a:effectLst/>
                <a:latin typeface="+mn-lt"/>
                <a:ea typeface="+mn-ea"/>
                <a:cs typeface="+mn-cs"/>
              </a:rPr>
              <a:t>Оптимальное использование нескольких центральных процессоров или их ядер:</a:t>
            </a:r>
            <a:r>
              <a:rPr lang="ru-RU" sz="1200" b="0" i="0" kern="1200" dirty="0">
                <a:solidFill>
                  <a:schemeClr val="tx1"/>
                </a:solidFill>
                <a:effectLst/>
                <a:latin typeface="+mn-lt"/>
                <a:ea typeface="+mn-ea"/>
                <a:cs typeface="+mn-cs"/>
              </a:rPr>
              <a:t> необходимо использовать несколько потоков в приложении, чтобы задействовать все CPU или ядра CPU. Один поток может использовать максимум один CPU, иногда даже не полностью.</a:t>
            </a:r>
          </a:p>
          <a:p>
            <a:r>
              <a:rPr lang="ru-RU" sz="1200" b="1" i="0" kern="1200" dirty="0">
                <a:solidFill>
                  <a:schemeClr val="tx1"/>
                </a:solidFill>
                <a:effectLst/>
                <a:latin typeface="+mn-lt"/>
                <a:ea typeface="+mn-ea"/>
                <a:cs typeface="+mn-cs"/>
              </a:rPr>
              <a:t>Улучшенный </a:t>
            </a:r>
            <a:r>
              <a:rPr lang="ru-RU" sz="1200" b="1" i="0" kern="1200" dirty="0" err="1">
                <a:solidFill>
                  <a:schemeClr val="tx1"/>
                </a:solidFill>
                <a:effectLst/>
                <a:latin typeface="+mn-lt"/>
                <a:ea typeface="+mn-ea"/>
                <a:cs typeface="+mn-cs"/>
              </a:rPr>
              <a:t>user</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experience</a:t>
            </a:r>
            <a:r>
              <a:rPr lang="ru-RU" sz="1200" b="1" i="0" kern="1200" dirty="0">
                <a:solidFill>
                  <a:schemeClr val="tx1"/>
                </a:solidFill>
                <a:effectLst/>
                <a:latin typeface="+mn-lt"/>
                <a:ea typeface="+mn-ea"/>
                <a:cs typeface="+mn-cs"/>
              </a:rPr>
              <a:t> в плане скорости ответа на запрос:</a:t>
            </a:r>
            <a:r>
              <a:rPr lang="ru-RU" sz="1200" b="0" i="0" kern="1200" dirty="0">
                <a:solidFill>
                  <a:schemeClr val="tx1"/>
                </a:solidFill>
                <a:effectLst/>
                <a:latin typeface="+mn-lt"/>
                <a:ea typeface="+mn-ea"/>
                <a:cs typeface="+mn-cs"/>
              </a:rPr>
              <a:t> например, если нажать на кнопку в графическом интерфейсе, то это действие отправит запрос по сети: здесь важно, какой поток выполняет этот запрос. Если используется тот же поток, который обновляет/уведомляет графический интерфейс, тогда пользователь может столкнуться с зависанием интерфейса, ожидающего ответа на запрос. Но этот запрос может выполнить фоновый поток, чтобы поток в графическом интерфейсе мог в это время реагировать на другие запросы пользователя.</a:t>
            </a:r>
          </a:p>
          <a:p>
            <a:r>
              <a:rPr lang="ru-RU" sz="1200" b="1" i="0" kern="1200" dirty="0">
                <a:solidFill>
                  <a:schemeClr val="tx1"/>
                </a:solidFill>
                <a:effectLst/>
                <a:latin typeface="+mn-lt"/>
                <a:ea typeface="+mn-ea"/>
                <a:cs typeface="+mn-cs"/>
              </a:rPr>
              <a:t>Улучшенный </a:t>
            </a:r>
            <a:r>
              <a:rPr lang="ru-RU" sz="1200" b="1" i="0" kern="1200" dirty="0" err="1">
                <a:solidFill>
                  <a:schemeClr val="tx1"/>
                </a:solidFill>
                <a:effectLst/>
                <a:latin typeface="+mn-lt"/>
                <a:ea typeface="+mn-ea"/>
                <a:cs typeface="+mn-cs"/>
              </a:rPr>
              <a:t>user</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experience</a:t>
            </a:r>
            <a:r>
              <a:rPr lang="ru-RU" sz="1200" b="1" i="0" kern="1200" dirty="0">
                <a:solidFill>
                  <a:schemeClr val="tx1"/>
                </a:solidFill>
                <a:effectLst/>
                <a:latin typeface="+mn-lt"/>
                <a:ea typeface="+mn-ea"/>
                <a:cs typeface="+mn-cs"/>
              </a:rPr>
              <a:t> в плане справедливости распределения ресурсов:</a:t>
            </a:r>
            <a:r>
              <a:rPr lang="ru-RU" sz="1200" b="0" i="0" kern="1200" dirty="0">
                <a:solidFill>
                  <a:schemeClr val="tx1"/>
                </a:solidFill>
                <a:effectLst/>
                <a:latin typeface="+mn-lt"/>
                <a:ea typeface="+mn-ea"/>
                <a:cs typeface="+mn-cs"/>
              </a:rPr>
              <a:t> многопоточность позволяет справедливо распределять ресурсы компьютера между пользователями. Представьте сервер, который принимает запросы от клиентов и у него есть только один поток для выполнения этих запросов. Если клиент отправляет запрос, для обработки которого нужно много времени, все остальные запросы вынуждены ждать до тех пор, пока он завершится. Когда каждый клиентский запрос выполняется собственным потоком, ни одна задача не сможет полностью захватить CPU.</a:t>
            </a: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a:t>
            </a:fld>
            <a:endParaRPr lang="ru-RU"/>
          </a:p>
        </p:txBody>
      </p:sp>
    </p:spTree>
    <p:extLst>
      <p:ext uri="{BB962C8B-B14F-4D97-AF65-F5344CB8AC3E}">
        <p14:creationId xmlns:p14="http://schemas.microsoft.com/office/powerpoint/2010/main" val="339287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u="none" strike="noStrike" dirty="0">
                <a:solidFill>
                  <a:schemeClr val="dk1"/>
                </a:solidFill>
                <a:uFillTx/>
                <a:latin typeface="+mn-lt"/>
              </a:rPr>
              <a:t>Процесс — это совокупность кода и данных, разделяющих общее виртуальное адресное пространство. Чаще всего одна программа состоит из одного процесса. </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u="none" strike="noStrike" dirty="0">
                <a:solidFill>
                  <a:schemeClr val="dk1"/>
                </a:solidFill>
                <a:uFillTx/>
                <a:latin typeface="+mn-lt"/>
              </a:rPr>
              <a:t>Процессы изолированы друг от друга, поэтому прямой доступ к памяти чужого процесса невозможен.</a:t>
            </a:r>
            <a:endParaRPr lang="ru-RU" sz="1200" b="0" u="none" strike="noStrike" dirty="0">
              <a:solidFill>
                <a:srgbClr val="000000"/>
              </a:solidFill>
              <a:uFillTx/>
              <a:latin typeface="Arial"/>
            </a:endParaRPr>
          </a:p>
          <a:p>
            <a:pPr algn="just" defTabSz="914400">
              <a:lnSpc>
                <a:spcPct val="100000"/>
              </a:lnSpc>
              <a:spcBef>
                <a:spcPts val="360"/>
              </a:spcBef>
              <a:tabLst>
                <a:tab pos="0" algn="l"/>
              </a:tabLst>
            </a:pPr>
            <a:r>
              <a:rPr lang="ru-RU" sz="1200" b="0" u="none" strike="noStrike" dirty="0">
                <a:solidFill>
                  <a:schemeClr val="dk1"/>
                </a:solidFill>
                <a:uFillTx/>
                <a:latin typeface="+mn-lt"/>
              </a:rPr>
              <a:t>Каждый поток последовательно выполняет инструкции процесса, которому он принадлежит, параллельно с другими потоками этого процесса.</a:t>
            </a:r>
          </a:p>
          <a:p>
            <a:pPr marL="0" marR="0" lvl="0" indent="0" algn="just" defTabSz="914400" rtl="0" eaLnBrk="1" fontAlgn="auto" latinLnBrk="0" hangingPunct="1">
              <a:lnSpc>
                <a:spcPct val="100000"/>
              </a:lnSpc>
              <a:spcBef>
                <a:spcPts val="360"/>
              </a:spcBef>
              <a:spcAft>
                <a:spcPts val="0"/>
              </a:spcAft>
              <a:buClrTx/>
              <a:buSzTx/>
              <a:buFontTx/>
              <a:buNone/>
              <a:tabLst>
                <a:tab pos="0" algn="l"/>
              </a:tabLst>
              <a:defRPr/>
            </a:pPr>
            <a:r>
              <a:rPr lang="ru-RU" sz="1200" dirty="0"/>
              <a:t>Приложение </a:t>
            </a:r>
            <a:r>
              <a:rPr lang="en-US" sz="1200" dirty="0"/>
              <a:t>Java</a:t>
            </a:r>
            <a:r>
              <a:rPr lang="ru-RU" sz="1200" dirty="0"/>
              <a:t> по умолчанию запускается как один процесс и в рамках одного потока, однако мы можем создавать дополнительные потоки, чтобы поддерживать параллельное  или асинхронное исполнение.</a:t>
            </a:r>
            <a:endParaRPr lang="ru-RU" sz="1200" b="0" u="none" strike="noStrike" dirty="0">
              <a:solidFill>
                <a:schemeClr val="dk1"/>
              </a:solidFill>
              <a:uFillTx/>
              <a:latin typeface="+mn-lt"/>
            </a:endParaRPr>
          </a:p>
          <a:p>
            <a:pPr marL="0" marR="0" lvl="0" indent="0" algn="just" defTabSz="914400" rtl="0" eaLnBrk="1" fontAlgn="auto" latinLnBrk="0" hangingPunct="1">
              <a:lnSpc>
                <a:spcPct val="100000"/>
              </a:lnSpc>
              <a:spcBef>
                <a:spcPts val="360"/>
              </a:spcBef>
              <a:spcAft>
                <a:spcPts val="0"/>
              </a:spcAft>
              <a:buClrTx/>
              <a:buSzTx/>
              <a:buFontTx/>
              <a:buNone/>
              <a:tabLst>
                <a:tab pos="0" algn="l"/>
              </a:tabLst>
              <a:defRPr/>
            </a:pPr>
            <a:r>
              <a:rPr lang="ru-RU" sz="1200" b="0" i="0" kern="1200" dirty="0">
                <a:solidFill>
                  <a:schemeClr val="tx1"/>
                </a:solidFill>
                <a:effectLst/>
                <a:latin typeface="+mn-lt"/>
                <a:ea typeface="+mn-ea"/>
                <a:cs typeface="+mn-cs"/>
              </a:rPr>
              <a:t>Для каждого потока создается свой собственный стек в памяти, куда помещаются все локальные переменные и ряд других данных, связанных с выполнением потока. Соответственно, чем больше потоков создается, тем больше памяти используется. При этом надо помнить, в любой системе размеры используемой памяти ограничены. Кроме того, во многих системах может быть ограничение на количество потоков. Но даже если такого ограничения нет, то в любом случае имеется естественное ограничение в виде максимальной скорости процессора.</a:t>
            </a:r>
            <a:endParaRPr lang="ru-RU" sz="1200" b="0" u="none" strike="noStrike" dirty="0">
              <a:solidFill>
                <a:srgbClr val="000000"/>
              </a:solidFill>
              <a:uFillTx/>
              <a:latin typeface="Arial"/>
            </a:endParaRPr>
          </a:p>
          <a:p>
            <a:pPr marL="0" marR="0" lvl="0" indent="0" algn="just" defTabSz="914400" rtl="0" eaLnBrk="1" fontAlgn="auto" latinLnBrk="0" hangingPunct="1">
              <a:lnSpc>
                <a:spcPct val="100000"/>
              </a:lnSpc>
              <a:spcBef>
                <a:spcPts val="360"/>
              </a:spcBef>
              <a:spcAft>
                <a:spcPts val="0"/>
              </a:spcAft>
              <a:buClrTx/>
              <a:buSzTx/>
              <a:buFontTx/>
              <a:buNone/>
              <a:tabLst>
                <a:tab pos="0" algn="l"/>
              </a:tabLst>
              <a:defRPr/>
            </a:pPr>
            <a:r>
              <a:rPr lang="ru-RU" sz="1200" b="0" u="none" strike="noStrike" dirty="0">
                <a:solidFill>
                  <a:schemeClr val="dk1"/>
                </a:solidFill>
                <a:uFillTx/>
                <a:latin typeface="+mn-lt"/>
              </a:rPr>
              <a:t>Система запоминает состояние (контекст) каждого потока, перед тем как переключиться на другой поток, и восстанавливает его по возвращению к выполнению потока. В контекст потока входят такие параметры, как стек, набор значений регистров процессора, адрес исполняемой команды и прочее…</a:t>
            </a:r>
            <a:endParaRPr lang="ru-RU" sz="1200" b="0" u="none" strike="noStrike" dirty="0">
              <a:solidFill>
                <a:srgbClr val="000000"/>
              </a:solidFill>
              <a:uFillTx/>
              <a:latin typeface="Arial"/>
            </a:endParaRPr>
          </a:p>
        </p:txBody>
      </p:sp>
      <p:sp>
        <p:nvSpPr>
          <p:cNvPr id="4" name="Slide Number Placeholder 3"/>
          <p:cNvSpPr>
            <a:spLocks noGrp="1"/>
          </p:cNvSpPr>
          <p:nvPr>
            <p:ph type="sldNum" sz="quarter" idx="5"/>
          </p:nvPr>
        </p:nvSpPr>
        <p:spPr/>
        <p:txBody>
          <a:bodyPr/>
          <a:lstStyle/>
          <a:p>
            <a:fld id="{9C003A2D-F27E-469C-ADB1-04668A9E28C3}" type="slidenum">
              <a:rPr lang="ru-RU" smtClean="0"/>
              <a:t>3</a:t>
            </a:fld>
            <a:endParaRPr lang="ru-RU"/>
          </a:p>
        </p:txBody>
      </p:sp>
    </p:spTree>
    <p:extLst>
      <p:ext uri="{BB962C8B-B14F-4D97-AF65-F5344CB8AC3E}">
        <p14:creationId xmlns:p14="http://schemas.microsoft.com/office/powerpoint/2010/main" val="3819279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defTabSz="914400">
              <a:lnSpc>
                <a:spcPct val="100000"/>
              </a:lnSpc>
              <a:spcBef>
                <a:spcPts val="360"/>
              </a:spcBef>
              <a:tabLst>
                <a:tab pos="0" algn="l"/>
              </a:tabLst>
            </a:pPr>
            <a:r>
              <a:rPr lang="ru-RU" sz="1200" b="0" u="none" strike="noStrike" dirty="0">
                <a:solidFill>
                  <a:schemeClr val="dk1"/>
                </a:solidFill>
                <a:uFillTx/>
                <a:latin typeface="+mn-lt"/>
              </a:rPr>
              <a:t>Следует отдельно обговорить фразу «параллельно с другими потоками». Известно, что на одно ядро процессора, в каждый момент времени, приходится одна единица исполнения. То есть одноядерный процессор может обрабатывать команды только последовательно, по одной за раз (в упрощенном случае). </a:t>
            </a:r>
          </a:p>
          <a:p>
            <a:pPr algn="just" defTabSz="914400">
              <a:lnSpc>
                <a:spcPct val="100000"/>
              </a:lnSpc>
              <a:spcBef>
                <a:spcPts val="360"/>
              </a:spcBef>
              <a:tabLst>
                <a:tab pos="0" algn="l"/>
              </a:tabLst>
            </a:pPr>
            <a:endParaRPr lang="ru-RU" sz="1200" b="0" u="none" strike="noStrike" dirty="0">
              <a:solidFill>
                <a:schemeClr val="dk1"/>
              </a:solidFill>
              <a:uFillTx/>
              <a:latin typeface="+mn-lt"/>
            </a:endParaRPr>
          </a:p>
          <a:p>
            <a:pPr marL="0" marR="0" lvl="0" indent="0" algn="just" defTabSz="914400" rtl="0" eaLnBrk="1" fontAlgn="auto" latinLnBrk="0" hangingPunct="1">
              <a:lnSpc>
                <a:spcPct val="100000"/>
              </a:lnSpc>
              <a:spcBef>
                <a:spcPts val="360"/>
              </a:spcBef>
              <a:spcAft>
                <a:spcPts val="0"/>
              </a:spcAft>
              <a:buClrTx/>
              <a:buSzTx/>
              <a:buFontTx/>
              <a:buNone/>
              <a:tabLst>
                <a:tab pos="0" algn="l"/>
              </a:tabLst>
              <a:defRPr/>
            </a:pPr>
            <a:r>
              <a:rPr lang="ru-RU" sz="1200" b="0" u="none" strike="noStrike" dirty="0">
                <a:solidFill>
                  <a:schemeClr val="dk1"/>
                </a:solidFill>
                <a:uFillTx/>
                <a:latin typeface="+mn-lt"/>
              </a:rPr>
              <a:t>Однако запуск нескольких параллельных потоков возможен и в системах с одноядерными процессорами. В этом случае система будет периодически переключаться между потоками, поочередно давая выполняться то одному, то другому потоку. Такая схема называется псевдо-параллелизмом. </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4</a:t>
            </a:fld>
            <a:endParaRPr lang="ru-RU"/>
          </a:p>
        </p:txBody>
      </p:sp>
    </p:spTree>
    <p:extLst>
      <p:ext uri="{BB962C8B-B14F-4D97-AF65-F5344CB8AC3E}">
        <p14:creationId xmlns:p14="http://schemas.microsoft.com/office/powerpoint/2010/main" val="3227705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a:t>
            </a:r>
            <a:r>
              <a:rPr lang="ru-RU" dirty="0" err="1"/>
              <a:t>Java</a:t>
            </a:r>
            <a:r>
              <a:rPr lang="ru-RU" dirty="0"/>
              <a:t> процесс завершается тогда, когда завершается последний его поток. Даже если метод </a:t>
            </a:r>
            <a:r>
              <a:rPr lang="ru-RU" dirty="0" err="1"/>
              <a:t>main</a:t>
            </a:r>
            <a:r>
              <a:rPr lang="ru-RU" dirty="0"/>
              <a:t>() уже завершился, но еще выполняются порожденные им потоки, система будет ждать их завершения.</a:t>
            </a:r>
          </a:p>
          <a:p>
            <a:r>
              <a:rPr lang="ru-RU" dirty="0"/>
              <a:t>Однако это правило не относится к особому виду потоков – демонам. Если завершился последний обычный поток процесса, и остались только потоки-демоны, то они будут принудительно завершены и выполнение процесса закончится. </a:t>
            </a:r>
          </a:p>
        </p:txBody>
      </p:sp>
      <p:sp>
        <p:nvSpPr>
          <p:cNvPr id="4" name="Slide Number Placeholder 3"/>
          <p:cNvSpPr>
            <a:spLocks noGrp="1"/>
          </p:cNvSpPr>
          <p:nvPr>
            <p:ph type="sldNum" sz="quarter" idx="10"/>
          </p:nvPr>
        </p:nvSpPr>
        <p:spPr/>
        <p:txBody>
          <a:bodyPr/>
          <a:lstStyle/>
          <a:p>
            <a:fld id="{9C003A2D-F27E-469C-ADB1-04668A9E28C3}" type="slidenum">
              <a:rPr lang="ru-RU" smtClean="0"/>
              <a:t>5</a:t>
            </a:fld>
            <a:endParaRPr lang="ru-RU"/>
          </a:p>
        </p:txBody>
      </p:sp>
    </p:spTree>
    <p:extLst>
      <p:ext uri="{BB962C8B-B14F-4D97-AF65-F5344CB8AC3E}">
        <p14:creationId xmlns:p14="http://schemas.microsoft.com/office/powerpoint/2010/main" val="1672645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defTabSz="914400">
              <a:lnSpc>
                <a:spcPct val="100000"/>
              </a:lnSpc>
              <a:spcBef>
                <a:spcPts val="360"/>
              </a:spcBef>
              <a:tabLst>
                <a:tab pos="0" algn="l"/>
              </a:tabLst>
            </a:pPr>
            <a:r>
              <a:rPr lang="ru-RU" sz="1200" b="0" u="none" strike="noStrike" dirty="0">
                <a:solidFill>
                  <a:schemeClr val="dk1"/>
                </a:solidFill>
                <a:uFillTx/>
                <a:latin typeface="+mn-lt"/>
              </a:rPr>
              <a:t>Чаще всего потоки-демоны используются для выполнения фоновых задач, обслуживающих процесс в течение его жизни.</a:t>
            </a:r>
            <a:endParaRPr lang="ru-RU" sz="1200" b="0" u="none" strike="noStrike" dirty="0">
              <a:solidFill>
                <a:srgbClr val="000000"/>
              </a:solidFill>
              <a:uFillTx/>
              <a:latin typeface="Arial"/>
            </a:endParaRPr>
          </a:p>
          <a:p>
            <a:pPr algn="just" defTabSz="914400">
              <a:lnSpc>
                <a:spcPct val="100000"/>
              </a:lnSpc>
              <a:spcBef>
                <a:spcPts val="360"/>
              </a:spcBef>
              <a:tabLst>
                <a:tab pos="0" algn="l"/>
              </a:tabLst>
            </a:pPr>
            <a:r>
              <a:rPr lang="ru-RU" sz="1200" b="0" u="none" strike="noStrike" dirty="0">
                <a:solidFill>
                  <a:schemeClr val="dk1"/>
                </a:solidFill>
                <a:uFillTx/>
                <a:latin typeface="+mn-lt"/>
              </a:rPr>
              <a:t>Чтобы объявить поток демоном нужно перед запуском потока вызвать его метод </a:t>
            </a:r>
            <a:r>
              <a:rPr lang="ru-RU" sz="1200" b="0" u="none" strike="noStrike" dirty="0" err="1">
                <a:solidFill>
                  <a:schemeClr val="dk1"/>
                </a:solidFill>
                <a:uFillTx/>
                <a:latin typeface="+mn-lt"/>
              </a:rPr>
              <a:t>setDaemon</a:t>
            </a:r>
            <a:r>
              <a:rPr lang="ru-RU" sz="1200" b="0" u="none" strike="noStrike" dirty="0">
                <a:solidFill>
                  <a:schemeClr val="dk1"/>
                </a:solidFill>
                <a:uFillTx/>
                <a:latin typeface="+mn-lt"/>
              </a:rPr>
              <a:t>(</a:t>
            </a:r>
            <a:r>
              <a:rPr lang="ru-RU" sz="1200" b="0" u="none" strike="noStrike" dirty="0" err="1">
                <a:solidFill>
                  <a:schemeClr val="dk1"/>
                </a:solidFill>
                <a:uFillTx/>
                <a:latin typeface="+mn-lt"/>
              </a:rPr>
              <a:t>true</a:t>
            </a:r>
            <a:r>
              <a:rPr lang="ru-RU" sz="1200" b="0" u="none" strike="noStrike" dirty="0">
                <a:solidFill>
                  <a:schemeClr val="dk1"/>
                </a:solidFill>
                <a:uFillTx/>
                <a:latin typeface="+mn-lt"/>
              </a:rPr>
              <a:t>);</a:t>
            </a:r>
            <a:endParaRPr lang="ru-RU" sz="1200" b="0" u="none" strike="noStrike" dirty="0">
              <a:solidFill>
                <a:srgbClr val="000000"/>
              </a:solidFill>
              <a:uFillTx/>
              <a:latin typeface="Arial"/>
            </a:endParaRPr>
          </a:p>
          <a:p>
            <a:pPr algn="just" defTabSz="914400">
              <a:lnSpc>
                <a:spcPct val="100000"/>
              </a:lnSpc>
              <a:spcBef>
                <a:spcPts val="360"/>
              </a:spcBef>
              <a:tabLst>
                <a:tab pos="0" algn="l"/>
              </a:tabLst>
            </a:pPr>
            <a:r>
              <a:rPr lang="ru-RU" sz="1200" b="0" u="none" strike="noStrike" dirty="0">
                <a:solidFill>
                  <a:schemeClr val="dk1"/>
                </a:solidFill>
                <a:uFillTx/>
                <a:latin typeface="+mn-lt"/>
              </a:rPr>
              <a:t>Проверить, является ли поток демоном, можно вызвав его метод </a:t>
            </a:r>
            <a:r>
              <a:rPr lang="ru-RU" sz="1200" b="0" u="none" strike="noStrike" dirty="0" err="1">
                <a:solidFill>
                  <a:schemeClr val="dk1"/>
                </a:solidFill>
                <a:uFillTx/>
                <a:latin typeface="+mn-lt"/>
              </a:rPr>
              <a:t>boolean</a:t>
            </a:r>
            <a:r>
              <a:rPr lang="ru-RU" sz="1200" b="0" u="none" strike="noStrike" dirty="0">
                <a:solidFill>
                  <a:schemeClr val="dk1"/>
                </a:solidFill>
                <a:uFillTx/>
                <a:latin typeface="+mn-lt"/>
              </a:rPr>
              <a:t> </a:t>
            </a:r>
            <a:r>
              <a:rPr lang="ru-RU" sz="1200" b="0" u="none" strike="noStrike" dirty="0" err="1">
                <a:solidFill>
                  <a:schemeClr val="dk1"/>
                </a:solidFill>
                <a:uFillTx/>
                <a:latin typeface="+mn-lt"/>
              </a:rPr>
              <a:t>isDaemon</a:t>
            </a:r>
            <a:r>
              <a:rPr lang="ru-RU" sz="1200" b="0" u="none" strike="noStrike" dirty="0">
                <a:solidFill>
                  <a:schemeClr val="dk1"/>
                </a:solidFill>
                <a:uFillTx/>
                <a:latin typeface="+mn-lt"/>
              </a:rPr>
              <a:t>();</a:t>
            </a:r>
            <a:endParaRPr lang="en-US" sz="1200" b="0" u="none" strike="noStrike" dirty="0">
              <a:solidFill>
                <a:schemeClr val="dk1"/>
              </a:solidFill>
              <a:uFillTx/>
              <a:latin typeface="+mn-lt"/>
            </a:endParaRPr>
          </a:p>
          <a:p>
            <a:pPr algn="just" defTabSz="914400">
              <a:lnSpc>
                <a:spcPct val="100000"/>
              </a:lnSpc>
              <a:spcBef>
                <a:spcPts val="360"/>
              </a:spcBef>
              <a:tabLst>
                <a:tab pos="0" algn="l"/>
              </a:tabLst>
            </a:pPr>
            <a:endParaRPr lang="en-US" sz="1200" b="0" u="none" strike="noStrike" dirty="0">
              <a:solidFill>
                <a:schemeClr val="dk1"/>
              </a:solidFill>
              <a:uFillTx/>
              <a:latin typeface="+mn-lt"/>
            </a:endParaRPr>
          </a:p>
          <a:p>
            <a:pPr algn="just" defTabSz="914400">
              <a:lnSpc>
                <a:spcPct val="100000"/>
              </a:lnSpc>
              <a:spcBef>
                <a:spcPts val="360"/>
              </a:spcBef>
              <a:tabLst>
                <a:tab pos="0" algn="l"/>
              </a:tabLst>
            </a:pPr>
            <a:r>
              <a:rPr lang="ru-RU" sz="1200" b="0" i="0" kern="1200" dirty="0">
                <a:solidFill>
                  <a:schemeClr val="tx1"/>
                </a:solidFill>
                <a:effectLst/>
                <a:latin typeface="+mn-lt"/>
                <a:ea typeface="+mn-ea"/>
                <a:cs typeface="+mn-cs"/>
              </a:rPr>
              <a:t>Потоки-демоны — это низкоприоритетные потоки, работающие в фоновом режиме для выполнения таких задач, как сбор «мусора»: они освобождают память неиспользованных объектов и очищают кэш. Большинство потоков JVM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Virtual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Machine</a:t>
            </a:r>
            <a:r>
              <a:rPr lang="ru-RU" sz="1200" b="0" i="0" kern="1200" dirty="0">
                <a:solidFill>
                  <a:schemeClr val="tx1"/>
                </a:solidFill>
                <a:effectLst/>
                <a:latin typeface="+mn-lt"/>
                <a:ea typeface="+mn-ea"/>
                <a:cs typeface="+mn-cs"/>
              </a:rPr>
              <a:t>) являются потоками-демонами. </a:t>
            </a:r>
            <a:endParaRPr lang="en-US" sz="1200" b="0" i="0" kern="1200" dirty="0">
              <a:solidFill>
                <a:schemeClr val="tx1"/>
              </a:solidFill>
              <a:effectLst/>
              <a:latin typeface="+mn-lt"/>
              <a:ea typeface="+mn-ea"/>
              <a:cs typeface="+mn-cs"/>
            </a:endParaRPr>
          </a:p>
          <a:p>
            <a:pPr algn="just" defTabSz="914400">
              <a:lnSpc>
                <a:spcPct val="100000"/>
              </a:lnSpc>
              <a:spcBef>
                <a:spcPts val="360"/>
              </a:spcBef>
              <a:tabLst>
                <a:tab pos="0" algn="l"/>
              </a:tabLst>
            </a:pPr>
            <a:endParaRPr lang="en-US" sz="1200" b="0" i="0" u="none" strike="noStrike" kern="1200" dirty="0">
              <a:solidFill>
                <a:schemeClr val="tx1"/>
              </a:solidFill>
              <a:effectLst/>
              <a:uFillTx/>
              <a:latin typeface="+mn-lt"/>
              <a:ea typeface="+mn-ea"/>
              <a:cs typeface="+mn-cs"/>
            </a:endParaRPr>
          </a:p>
          <a:p>
            <a:r>
              <a:rPr lang="ru-RU" sz="1200" b="0" i="0" u="none" strike="noStrike" kern="1200" dirty="0">
                <a:solidFill>
                  <a:schemeClr val="tx1"/>
                </a:solidFill>
                <a:effectLst/>
                <a:latin typeface="+mn-lt"/>
                <a:ea typeface="+mn-ea"/>
                <a:cs typeface="+mn-cs"/>
                <a:hlinkClick r:id="rId3" tooltip="Демон"/>
              </a:rPr>
              <a:t>Демон</a:t>
            </a:r>
            <a:r>
              <a:rPr lang="ru-RU" sz="1200" b="0" i="0" kern="1200" dirty="0">
                <a:solidFill>
                  <a:schemeClr val="tx1"/>
                </a:solidFill>
                <a:effectLst/>
                <a:latin typeface="+mn-lt"/>
                <a:ea typeface="+mn-ea"/>
                <a:cs typeface="+mn-cs"/>
              </a:rPr>
              <a:t>  является персонажем </a:t>
            </a:r>
            <a:r>
              <a:rPr lang="ru-RU" sz="1200" b="0" i="0" u="none" strike="noStrike" kern="1200" dirty="0">
                <a:solidFill>
                  <a:schemeClr val="tx1"/>
                </a:solidFill>
                <a:effectLst/>
                <a:latin typeface="+mn-lt"/>
                <a:ea typeface="+mn-ea"/>
                <a:cs typeface="+mn-cs"/>
                <a:hlinkClick r:id="rId4" tooltip="Древнегреческая мифология"/>
              </a:rPr>
              <a:t>греческой мифологии</a:t>
            </a:r>
            <a:r>
              <a:rPr lang="ru-RU" sz="1200" b="0" i="0" kern="1200" dirty="0">
                <a:solidFill>
                  <a:schemeClr val="tx1"/>
                </a:solidFill>
                <a:effectLst/>
                <a:latin typeface="+mn-lt"/>
                <a:ea typeface="+mn-ea"/>
                <a:cs typeface="+mn-cs"/>
              </a:rPr>
              <a:t>, выполняющим задачи, за которые не хотят браться боги. Термин был придуман программистами </a:t>
            </a:r>
            <a:r>
              <a:rPr lang="ru-RU" sz="1200" b="0" i="0" u="none" strike="noStrike" kern="1200" dirty="0">
                <a:solidFill>
                  <a:schemeClr val="tx1"/>
                </a:solidFill>
                <a:effectLst/>
                <a:latin typeface="+mn-lt"/>
                <a:ea typeface="+mn-ea"/>
                <a:cs typeface="+mn-cs"/>
                <a:hlinkClick r:id="rId5" tooltip="Проект MAC (страница отсутствует)"/>
              </a:rPr>
              <a:t>проекта MAC</a:t>
            </a:r>
            <a:r>
              <a:rPr lang="ru-RU" sz="1200" b="0" i="0" u="none" strike="noStrike" kern="1200" baseline="30000" dirty="0">
                <a:solidFill>
                  <a:schemeClr val="tx1"/>
                </a:solidFill>
                <a:effectLst/>
                <a:latin typeface="+mn-lt"/>
                <a:ea typeface="+mn-ea"/>
                <a:cs typeface="+mn-cs"/>
                <a:hlinkClick r:id="rId6" tooltip="en:Project MAC"/>
              </a:rPr>
              <a:t>[англ.]</a:t>
            </a:r>
            <a:r>
              <a:rPr lang="ru-RU" sz="1200" b="0" i="0" kern="1200" dirty="0">
                <a:solidFill>
                  <a:schemeClr val="tx1"/>
                </a:solidFill>
                <a:effectLst/>
                <a:latin typeface="+mn-lt"/>
                <a:ea typeface="+mn-ea"/>
                <a:cs typeface="+mn-cs"/>
              </a:rPr>
              <a:t> </a:t>
            </a:r>
            <a:r>
              <a:rPr lang="ru-RU" sz="1200" b="0" i="0" u="none" strike="noStrike" kern="1200" dirty="0">
                <a:solidFill>
                  <a:schemeClr val="tx1"/>
                </a:solidFill>
                <a:effectLst/>
                <a:latin typeface="+mn-lt"/>
                <a:ea typeface="+mn-ea"/>
                <a:cs typeface="+mn-cs"/>
                <a:hlinkClick r:id="rId7" tooltip="Массачусетский технологический институт"/>
              </a:rPr>
              <a:t>Массачусетского технологического института</a:t>
            </a:r>
            <a:r>
              <a:rPr lang="ru-RU" sz="1200" b="0" i="0" kern="1200" dirty="0">
                <a:solidFill>
                  <a:schemeClr val="tx1"/>
                </a:solidFill>
                <a:effectLst/>
                <a:latin typeface="+mn-lt"/>
                <a:ea typeface="+mn-ea"/>
                <a:cs typeface="+mn-cs"/>
              </a:rPr>
              <a:t>, он отсылает к персонажу мысленного эксперимента, </a:t>
            </a:r>
            <a:r>
              <a:rPr lang="ru-RU" sz="1200" b="0" i="0" u="none" strike="noStrike" kern="1200" dirty="0">
                <a:solidFill>
                  <a:schemeClr val="tx1"/>
                </a:solidFill>
                <a:effectLst/>
                <a:latin typeface="+mn-lt"/>
                <a:ea typeface="+mn-ea"/>
                <a:cs typeface="+mn-cs"/>
                <a:hlinkClick r:id="rId8" tooltip="Демон Максвелла"/>
              </a:rPr>
              <a:t>демону Максвелла</a:t>
            </a:r>
            <a:r>
              <a:rPr lang="ru-RU" sz="1200" b="0" i="0" kern="1200" dirty="0">
                <a:solidFill>
                  <a:schemeClr val="tx1"/>
                </a:solidFill>
                <a:effectLst/>
                <a:latin typeface="+mn-lt"/>
                <a:ea typeface="+mn-ea"/>
                <a:cs typeface="+mn-cs"/>
              </a:rPr>
              <a:t>, занимающегося сортировкой молекул в </a:t>
            </a:r>
            <a:r>
              <a:rPr lang="ru-RU" sz="1200" b="0" i="0" u="none" strike="noStrike" kern="1200" dirty="0">
                <a:solidFill>
                  <a:schemeClr val="tx1"/>
                </a:solidFill>
                <a:effectLst/>
                <a:latin typeface="+mn-lt"/>
                <a:ea typeface="+mn-ea"/>
                <a:cs typeface="+mn-cs"/>
                <a:hlinkClick r:id="rId9" tooltip="Фоновый режим"/>
              </a:rPr>
              <a:t>фоновом режиме</a:t>
            </a:r>
            <a:r>
              <a:rPr lang="ru-RU" sz="1200" b="0" i="0" u="none" strike="noStrike" kern="1200" dirty="0">
                <a:solidFill>
                  <a:schemeClr val="tx1"/>
                </a:solidFill>
                <a:effectLst/>
                <a:latin typeface="+mn-lt"/>
                <a:ea typeface="+mn-ea"/>
                <a:cs typeface="+mn-cs"/>
              </a:rPr>
              <a:t>. </a:t>
            </a:r>
            <a:endParaRPr lang="ru-RU"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C003A2D-F27E-469C-ADB1-04668A9E28C3}" type="slidenum">
              <a:rPr lang="ru-RU" smtClean="0"/>
              <a:t>6</a:t>
            </a:fld>
            <a:endParaRPr lang="ru-RU"/>
          </a:p>
        </p:txBody>
      </p:sp>
    </p:spTree>
    <p:extLst>
      <p:ext uri="{BB962C8B-B14F-4D97-AF65-F5344CB8AC3E}">
        <p14:creationId xmlns:p14="http://schemas.microsoft.com/office/powerpoint/2010/main" val="1940139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PlaceHolder 1"/>
          <p:cNvSpPr>
            <a:spLocks noGrp="1" noRot="1" noChangeAspect="1"/>
          </p:cNvSpPr>
          <p:nvPr>
            <p:ph type="sldImg"/>
          </p:nvPr>
        </p:nvSpPr>
        <p:spPr>
          <a:xfrm>
            <a:off x="381000" y="685800"/>
            <a:ext cx="6096000" cy="3429000"/>
          </a:xfrm>
          <a:prstGeom prst="rect">
            <a:avLst/>
          </a:prstGeom>
          <a:ln w="0">
            <a:noFill/>
          </a:ln>
        </p:spPr>
      </p:sp>
      <p:sp>
        <p:nvSpPr>
          <p:cNvPr id="24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algn="just" defTabSz="1219170">
              <a:spcBef>
                <a:spcPts val="480"/>
              </a:spcBef>
              <a:tabLst>
                <a:tab pos="0" algn="l"/>
              </a:tabLst>
            </a:pPr>
            <a:r>
              <a:rPr lang="ru-RU" sz="1800" dirty="0">
                <a:solidFill>
                  <a:schemeClr val="dk1"/>
                </a:solidFill>
                <a:latin typeface="+mn-lt"/>
              </a:rPr>
              <a:t>Каждый поток в системе имеет свой приоритет. Приоритет – это некоторое число в объекте потока, более высокое значение которого означает больший приоритет. Система в первую очередь выполняет потоки с большим приоритетом, а потоки с меньшим приоритетом получают процессорное время только тогда, когда их более привилегированные собратья простаивают.</a:t>
            </a:r>
            <a:endParaRPr lang="ru-RU" sz="1800" dirty="0">
              <a:solidFill>
                <a:srgbClr val="000000"/>
              </a:solidFill>
              <a:latin typeface="Arial"/>
            </a:endParaRPr>
          </a:p>
          <a:p>
            <a:pPr algn="just" defTabSz="1219170">
              <a:spcBef>
                <a:spcPts val="480"/>
              </a:spcBef>
              <a:tabLst>
                <a:tab pos="0" algn="l"/>
              </a:tabLst>
            </a:pPr>
            <a:r>
              <a:rPr lang="ru-RU" sz="1800" dirty="0">
                <a:solidFill>
                  <a:schemeClr val="dk1"/>
                </a:solidFill>
                <a:latin typeface="+mn-lt"/>
              </a:rPr>
              <a:t>Работать с приоритетами потока можно с помощью двух функций:</a:t>
            </a:r>
            <a:endParaRPr lang="en-US" sz="1800" dirty="0">
              <a:solidFill>
                <a:schemeClr val="dk1"/>
              </a:solidFill>
              <a:latin typeface="+mn-lt"/>
            </a:endParaRPr>
          </a:p>
          <a:p>
            <a:pPr algn="just" defTabSz="1219170">
              <a:spcBef>
                <a:spcPts val="480"/>
              </a:spcBef>
              <a:tabLst>
                <a:tab pos="0" algn="l"/>
              </a:tabLst>
            </a:pPr>
            <a:endParaRPr lang="en-US" sz="1800" dirty="0">
              <a:solidFill>
                <a:schemeClr val="dk1"/>
              </a:solidFill>
              <a:latin typeface="+mn-lt"/>
            </a:endParaRPr>
          </a:p>
          <a:p>
            <a:pPr algn="just" defTabSz="1219170">
              <a:spcBef>
                <a:spcPts val="480"/>
              </a:spcBef>
              <a:tabLst>
                <a:tab pos="0" algn="l"/>
              </a:tabLst>
            </a:pPr>
            <a:r>
              <a:rPr lang="ru-RU" sz="1800" dirty="0">
                <a:solidFill>
                  <a:schemeClr val="dk1"/>
                </a:solidFill>
                <a:latin typeface="+mn-lt"/>
              </a:rPr>
              <a:t>Но правила выполнения потоков сильно разняться от одной ОС к другой и нет прямой зависимости от потока ко времени использования процессора</a:t>
            </a:r>
            <a:endParaRPr lang="ru-RU" sz="1800" dirty="0">
              <a:solidFill>
                <a:srgbClr val="000000"/>
              </a:solidFill>
              <a:latin typeface="Arial"/>
            </a:endParaRPr>
          </a:p>
        </p:txBody>
      </p:sp>
      <p:sp>
        <p:nvSpPr>
          <p:cNvPr id="250"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ru-RU" sz="1200" b="0" u="none" strike="noStrike">
                <a:solidFill>
                  <a:srgbClr val="000000"/>
                </a:solidFill>
                <a:uFillTx/>
                <a:latin typeface="Times New Roman"/>
              </a:defRPr>
            </a:lvl1pPr>
          </a:lstStyle>
          <a:p>
            <a:pPr indent="0" algn="r">
              <a:lnSpc>
                <a:spcPct val="100000"/>
              </a:lnSpc>
              <a:buNone/>
            </a:pPr>
            <a:fld id="{5EE98FAB-5358-4811-A56F-564C239A23DD}" type="slidenum">
              <a:rPr lang="ru-RU" sz="1200" b="0" u="none" strike="noStrike">
                <a:solidFill>
                  <a:srgbClr val="000000"/>
                </a:solidFill>
                <a:uFillTx/>
                <a:latin typeface="Times New Roman"/>
              </a:rPr>
              <a:t>7</a:t>
            </a:fld>
            <a:endParaRPr lang="ru-RU" sz="1200" b="0" u="none" strike="noStrike">
              <a:solidFill>
                <a:srgbClr val="000000"/>
              </a:solidFill>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9</a:t>
            </a:fld>
            <a:endParaRPr lang="ru-RU"/>
          </a:p>
        </p:txBody>
      </p:sp>
    </p:spTree>
    <p:extLst>
      <p:ext uri="{BB962C8B-B14F-4D97-AF65-F5344CB8AC3E}">
        <p14:creationId xmlns:p14="http://schemas.microsoft.com/office/powerpoint/2010/main" val="1397126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1" i="0" kern="1200" dirty="0">
                <a:solidFill>
                  <a:schemeClr val="tx1"/>
                </a:solidFill>
                <a:effectLst/>
                <a:latin typeface="+mn-lt"/>
                <a:ea typeface="+mn-ea"/>
                <a:cs typeface="+mn-cs"/>
              </a:rPr>
              <a:t>Какой из способов выбрать?</a:t>
            </a:r>
            <a:r>
              <a:rPr lang="ru-RU"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Thread</a:t>
            </a:r>
            <a:r>
              <a:rPr lang="ru-RU" sz="1200" b="0" i="0" kern="1200" dirty="0">
                <a:solidFill>
                  <a:schemeClr val="tx1"/>
                </a:solidFill>
                <a:effectLst/>
                <a:latin typeface="+mn-lt"/>
                <a:ea typeface="+mn-ea"/>
                <a:cs typeface="+mn-cs"/>
              </a:rPr>
              <a:t> способ больше подходит для простых приложений, но есть условие: класс задачи должен быть потомком </a:t>
            </a:r>
            <a:r>
              <a:rPr lang="ru-RU" sz="1200" b="0" i="0" kern="1200" dirty="0" err="1">
                <a:solidFill>
                  <a:schemeClr val="tx1"/>
                </a:solidFill>
                <a:effectLst/>
                <a:latin typeface="+mn-lt"/>
                <a:ea typeface="+mn-ea"/>
                <a:cs typeface="+mn-cs"/>
              </a:rPr>
              <a:t>Thread</a:t>
            </a:r>
            <a:r>
              <a:rPr lang="ru-RU"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r>
              <a:rPr lang="ru-RU" sz="1200" b="0" i="0" kern="1200" dirty="0" err="1">
                <a:solidFill>
                  <a:schemeClr val="tx1"/>
                </a:solidFill>
                <a:effectLst/>
                <a:latin typeface="+mn-lt"/>
                <a:ea typeface="+mn-ea"/>
                <a:cs typeface="+mn-cs"/>
              </a:rPr>
              <a:t>Runnable</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более гибкий и может использоваться для высокоуровневых API управления потоками</a:t>
            </a:r>
            <a:r>
              <a:rPr lang="en-US"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1. </a:t>
            </a:r>
            <a:r>
              <a:rPr lang="ru-RU" sz="1200" b="1" i="0" kern="1200" dirty="0">
                <a:solidFill>
                  <a:schemeClr val="tx1"/>
                </a:solidFill>
                <a:effectLst/>
                <a:latin typeface="+mn-lt"/>
                <a:ea typeface="+mn-ea"/>
                <a:cs typeface="+mn-cs"/>
              </a:rPr>
              <a:t>Гибкость в наследовании</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Классы 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могут наследоваться только от одного. Если вы уже наследуетесь от какого-то класса, использование </a:t>
            </a:r>
            <a:r>
              <a:rPr lang="ru-RU" sz="1200" b="0" i="0" kern="1200" dirty="0" err="1">
                <a:solidFill>
                  <a:schemeClr val="tx1"/>
                </a:solidFill>
                <a:effectLst/>
                <a:latin typeface="+mn-lt"/>
                <a:ea typeface="+mn-ea"/>
                <a:cs typeface="+mn-cs"/>
              </a:rPr>
              <a:t>Runnable</a:t>
            </a:r>
            <a:r>
              <a:rPr lang="ru-RU" sz="1200" b="0" i="0" kern="1200" dirty="0">
                <a:solidFill>
                  <a:schemeClr val="tx1"/>
                </a:solidFill>
                <a:effectLst/>
                <a:latin typeface="+mn-lt"/>
                <a:ea typeface="+mn-ea"/>
                <a:cs typeface="+mn-cs"/>
              </a:rPr>
              <a:t> позволяет вам добавить многопоточность, не теряя возможности наследования от другого класса.</a:t>
            </a:r>
          </a:p>
          <a:p>
            <a:r>
              <a:rPr lang="ru-RU" sz="1200" b="1" i="0" kern="1200" dirty="0">
                <a:solidFill>
                  <a:schemeClr val="tx1"/>
                </a:solidFill>
                <a:effectLst/>
                <a:latin typeface="+mn-lt"/>
                <a:ea typeface="+mn-ea"/>
                <a:cs typeface="+mn-cs"/>
              </a:rPr>
              <a:t>2. Легкая реорганизация кода</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Если вам потребуется в будущем изменить структуру вашего класса, использование </a:t>
            </a:r>
            <a:r>
              <a:rPr lang="ru-RU" sz="1200" b="0" i="0" kern="1200" dirty="0" err="1">
                <a:solidFill>
                  <a:schemeClr val="tx1"/>
                </a:solidFill>
                <a:effectLst/>
                <a:latin typeface="+mn-lt"/>
                <a:ea typeface="+mn-ea"/>
                <a:cs typeface="+mn-cs"/>
              </a:rPr>
              <a:t>Runnable</a:t>
            </a:r>
            <a:r>
              <a:rPr lang="ru-RU" sz="1200" b="0" i="0" kern="1200" dirty="0">
                <a:solidFill>
                  <a:schemeClr val="tx1"/>
                </a:solidFill>
                <a:effectLst/>
                <a:latin typeface="+mn-lt"/>
                <a:ea typeface="+mn-ea"/>
                <a:cs typeface="+mn-cs"/>
              </a:rPr>
              <a:t> позволит легко интегрировать многопоточность без необходимости изменения иерархии наследования.</a:t>
            </a:r>
          </a:p>
          <a:p>
            <a:r>
              <a:rPr lang="ru-RU" sz="1200" b="1" i="0" kern="1200" dirty="0">
                <a:solidFill>
                  <a:schemeClr val="tx1"/>
                </a:solidFill>
                <a:effectLst/>
                <a:latin typeface="+mn-lt"/>
                <a:ea typeface="+mn-ea"/>
                <a:cs typeface="+mn-cs"/>
              </a:rPr>
              <a:t>3. Разделение задач:</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Интерфейс </a:t>
            </a:r>
            <a:r>
              <a:rPr lang="ru-RU" sz="1200" b="0" i="0" kern="1200" dirty="0" err="1">
                <a:solidFill>
                  <a:schemeClr val="tx1"/>
                </a:solidFill>
                <a:effectLst/>
                <a:latin typeface="+mn-lt"/>
                <a:ea typeface="+mn-ea"/>
                <a:cs typeface="+mn-cs"/>
              </a:rPr>
              <a:t>Runnable</a:t>
            </a:r>
            <a:r>
              <a:rPr lang="ru-RU" sz="1200" b="0" i="0" kern="1200" dirty="0">
                <a:solidFill>
                  <a:schemeClr val="tx1"/>
                </a:solidFill>
                <a:effectLst/>
                <a:latin typeface="+mn-lt"/>
                <a:ea typeface="+mn-ea"/>
                <a:cs typeface="+mn-cs"/>
              </a:rPr>
              <a:t> позволяет разделить задачу (логику потока) от средств выполнения (самого потока), что способствует четкому разграничению ответственности и улучшает читаемость и </a:t>
            </a:r>
            <a:r>
              <a:rPr lang="ru-RU" sz="1200" b="0" i="0" kern="1200" dirty="0" err="1">
                <a:solidFill>
                  <a:schemeClr val="tx1"/>
                </a:solidFill>
                <a:effectLst/>
                <a:latin typeface="+mn-lt"/>
                <a:ea typeface="+mn-ea"/>
                <a:cs typeface="+mn-cs"/>
              </a:rPr>
              <a:t>поддерживаемость</a:t>
            </a:r>
            <a:r>
              <a:rPr lang="ru-RU" sz="1200" b="0" i="0" kern="1200" dirty="0">
                <a:solidFill>
                  <a:schemeClr val="tx1"/>
                </a:solidFill>
                <a:effectLst/>
                <a:latin typeface="+mn-lt"/>
                <a:ea typeface="+mn-ea"/>
                <a:cs typeface="+mn-cs"/>
              </a:rPr>
              <a:t> кода. Это помогает придерживаться букве S из принципов SOLID.</a:t>
            </a:r>
          </a:p>
          <a:p>
            <a:r>
              <a:rPr lang="ru-RU" sz="1200" b="1" i="0" kern="1200" dirty="0">
                <a:solidFill>
                  <a:schemeClr val="tx1"/>
                </a:solidFill>
                <a:effectLst/>
                <a:latin typeface="+mn-lt"/>
                <a:ea typeface="+mn-ea"/>
                <a:cs typeface="+mn-cs"/>
              </a:rPr>
              <a:t>4. Повышение многократного использования:</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Классы, реализующие интерфейс </a:t>
            </a:r>
            <a:r>
              <a:rPr lang="ru-RU" sz="1200" b="0" i="0" kern="1200" dirty="0" err="1">
                <a:solidFill>
                  <a:schemeClr val="tx1"/>
                </a:solidFill>
                <a:effectLst/>
                <a:latin typeface="+mn-lt"/>
                <a:ea typeface="+mn-ea"/>
                <a:cs typeface="+mn-cs"/>
              </a:rPr>
              <a:t>Runnable</a:t>
            </a:r>
            <a:r>
              <a:rPr lang="ru-RU" sz="1200" b="0" i="0" kern="1200" dirty="0">
                <a:solidFill>
                  <a:schemeClr val="tx1"/>
                </a:solidFill>
                <a:effectLst/>
                <a:latin typeface="+mn-lt"/>
                <a:ea typeface="+mn-ea"/>
                <a:cs typeface="+mn-cs"/>
              </a:rPr>
              <a:t>, могут быть повторно использованы в различных контекстах, таких как исполнители (</a:t>
            </a:r>
            <a:r>
              <a:rPr lang="ru-RU" sz="1200" b="0" i="0" kern="1200" dirty="0" err="1">
                <a:solidFill>
                  <a:schemeClr val="tx1"/>
                </a:solidFill>
                <a:effectLst/>
                <a:latin typeface="+mn-lt"/>
                <a:ea typeface="+mn-ea"/>
                <a:cs typeface="+mn-cs"/>
              </a:rPr>
              <a:t>Executor</a:t>
            </a:r>
            <a:r>
              <a:rPr lang="ru-RU" sz="1200" b="0" i="0" kern="1200" dirty="0">
                <a:solidFill>
                  <a:schemeClr val="tx1"/>
                </a:solidFill>
                <a:effectLst/>
                <a:latin typeface="+mn-lt"/>
                <a:ea typeface="+mn-ea"/>
                <a:cs typeface="+mn-cs"/>
              </a:rPr>
              <a:t>), без привязки к специфическим деталям реализации потока.</a:t>
            </a:r>
          </a:p>
          <a:p>
            <a:endParaRPr lang="ru-RU" sz="1200" b="0" i="0" kern="1200" dirty="0">
              <a:solidFill>
                <a:schemeClr val="tx1"/>
              </a:solidFill>
              <a:effectLst/>
              <a:latin typeface="+mn-lt"/>
              <a:ea typeface="+mn-ea"/>
              <a:cs typeface="+mn-cs"/>
            </a:endParaRPr>
          </a:p>
          <a:p>
            <a:endParaRPr lang="ru-RU"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C003A2D-F27E-469C-ADB1-04668A9E28C3}" type="slidenum">
              <a:rPr lang="ru-RU" smtClean="0"/>
              <a:t>10</a:t>
            </a:fld>
            <a:endParaRPr lang="ru-RU"/>
          </a:p>
        </p:txBody>
      </p:sp>
    </p:spTree>
    <p:extLst>
      <p:ext uri="{BB962C8B-B14F-4D97-AF65-F5344CB8AC3E}">
        <p14:creationId xmlns:p14="http://schemas.microsoft.com/office/powerpoint/2010/main" val="2046487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u="none" strike="noStrike" dirty="0">
                <a:solidFill>
                  <a:schemeClr val="dk1"/>
                </a:solidFill>
                <a:uFillTx/>
                <a:latin typeface="+mn-lt"/>
              </a:rPr>
              <a:t>Поток может остановиться либо тогда, когда он закончит выполнение метода </a:t>
            </a:r>
            <a:r>
              <a:rPr lang="ru-RU" sz="1200" b="0" u="none" strike="noStrike" dirty="0" err="1">
                <a:solidFill>
                  <a:schemeClr val="dk1"/>
                </a:solidFill>
                <a:uFillTx/>
                <a:latin typeface="+mn-lt"/>
              </a:rPr>
              <a:t>run</a:t>
            </a:r>
            <a:r>
              <a:rPr lang="ru-RU" sz="1200" b="0" u="none" strike="noStrike" dirty="0">
                <a:solidFill>
                  <a:schemeClr val="dk1"/>
                </a:solidFill>
                <a:uFillTx/>
                <a:latin typeface="+mn-lt"/>
              </a:rPr>
              <a:t>(), (</a:t>
            </a:r>
            <a:r>
              <a:rPr lang="ru-RU" sz="1200" b="0" u="none" strike="noStrike" dirty="0" err="1">
                <a:solidFill>
                  <a:schemeClr val="dk1"/>
                </a:solidFill>
                <a:uFillTx/>
                <a:latin typeface="+mn-lt"/>
              </a:rPr>
              <a:t>main</a:t>
            </a:r>
            <a:r>
              <a:rPr lang="ru-RU" sz="1200" b="0" u="none" strike="noStrike" dirty="0">
                <a:solidFill>
                  <a:schemeClr val="dk1"/>
                </a:solidFill>
                <a:uFillTx/>
                <a:latin typeface="+mn-lt"/>
              </a:rPr>
              <a:t>() — для главного потока). Но что если у нас создан поток, который </a:t>
            </a:r>
            <a:r>
              <a:rPr lang="ru-RU" sz="1200" b="0" u="none" strike="noStrike" dirty="0" err="1">
                <a:solidFill>
                  <a:schemeClr val="dk1"/>
                </a:solidFill>
                <a:uFillTx/>
                <a:latin typeface="+mn-lt"/>
              </a:rPr>
              <a:t>фоново</a:t>
            </a:r>
            <a:r>
              <a:rPr lang="ru-RU" sz="1200" b="0" u="none" strike="noStrike" dirty="0">
                <a:solidFill>
                  <a:schemeClr val="dk1"/>
                </a:solidFill>
                <a:uFillTx/>
                <a:latin typeface="+mn-lt"/>
              </a:rPr>
              <a:t> запрашивает обновления с заданной периодичностью в бесконечном цикле. А нам по команде пользователя необходимо это обновление закончить.</a:t>
            </a:r>
            <a:endParaRPr lang="en-US" sz="1200" b="0" u="none" strike="noStrike" dirty="0">
              <a:solidFill>
                <a:schemeClr val="dk1"/>
              </a:solidFill>
              <a:uFillTx/>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u="none" strike="noStrike" dirty="0">
                <a:solidFill>
                  <a:schemeClr val="dk1"/>
                </a:solidFill>
                <a:uFillTx/>
                <a:latin typeface="+mn-lt"/>
              </a:rPr>
              <a:t>В </a:t>
            </a:r>
            <a:r>
              <a:rPr lang="en-US" sz="1200" b="0" u="none" strike="noStrike" dirty="0">
                <a:solidFill>
                  <a:schemeClr val="dk1"/>
                </a:solidFill>
                <a:uFillTx/>
                <a:latin typeface="+mn-lt"/>
              </a:rPr>
              <a:t>Java </a:t>
            </a:r>
            <a:r>
              <a:rPr lang="ru-RU" sz="1200" b="0" u="none" strike="noStrike" dirty="0">
                <a:solidFill>
                  <a:schemeClr val="dk1"/>
                </a:solidFill>
                <a:uFillTx/>
                <a:latin typeface="+mn-lt"/>
              </a:rPr>
              <a:t>нет методов, которые бы резко оборвали выполнение потока. Дело в том, что поток может быть «убит» во время выполнения операции, обрыв которой на полуслове оставит некоторый объект в неправильном состоянии, что приведет к появлению </a:t>
            </a:r>
            <a:r>
              <a:rPr lang="ru-RU" sz="1200" b="0" u="none" strike="noStrike" dirty="0" err="1">
                <a:solidFill>
                  <a:schemeClr val="dk1"/>
                </a:solidFill>
                <a:uFillTx/>
                <a:latin typeface="+mn-lt"/>
              </a:rPr>
              <a:t>трудноотлавливаемой</a:t>
            </a:r>
            <a:r>
              <a:rPr lang="ru-RU" sz="1200" b="0" u="none" strike="noStrike" dirty="0">
                <a:solidFill>
                  <a:schemeClr val="dk1"/>
                </a:solidFill>
                <a:uFillTx/>
                <a:latin typeface="+mn-lt"/>
              </a:rPr>
              <a:t> и случайным образом возникающей ошибке.</a:t>
            </a:r>
            <a:endParaRPr lang="ru-RU" sz="1200" b="0" u="none" strike="noStrike" dirty="0">
              <a:solidFill>
                <a:srgbClr val="000000"/>
              </a:solidFill>
              <a:uFillTx/>
              <a:latin typeface="Arial"/>
            </a:endParaRP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11</a:t>
            </a:fld>
            <a:endParaRPr lang="ru-RU"/>
          </a:p>
        </p:txBody>
      </p:sp>
    </p:spTree>
    <p:extLst>
      <p:ext uri="{BB962C8B-B14F-4D97-AF65-F5344CB8AC3E}">
        <p14:creationId xmlns:p14="http://schemas.microsoft.com/office/powerpoint/2010/main" val="765976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u="none" strike="noStrike" dirty="0">
                <a:solidFill>
                  <a:schemeClr val="dk1"/>
                </a:solidFill>
                <a:uFillTx/>
                <a:latin typeface="+mn-lt"/>
              </a:rPr>
              <a:t>Вместо принудительного завершения потока применяется схема, в которой каждый поток сам ответственен за своё завершение. Поток может остановиться по сигналу из другого потока. Причем как реагировать на такой сигнал — дело, опять же, самого потока. Получив его, поток может выполнить некоторые операции и завершить выполнение, а может и вовсе его проигнорировать и продолжить выполняться. </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12</a:t>
            </a:fld>
            <a:endParaRPr lang="ru-RU"/>
          </a:p>
        </p:txBody>
      </p:sp>
    </p:spTree>
    <p:extLst>
      <p:ext uri="{BB962C8B-B14F-4D97-AF65-F5344CB8AC3E}">
        <p14:creationId xmlns:p14="http://schemas.microsoft.com/office/powerpoint/2010/main" val="1268148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У каждого потока есть внутренний флаг, недоступный напрямую, но у нас есть методы для взаимодействия с этим флагом</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13</a:t>
            </a:fld>
            <a:endParaRPr lang="ru-RU"/>
          </a:p>
        </p:txBody>
      </p:sp>
    </p:spTree>
    <p:extLst>
      <p:ext uri="{BB962C8B-B14F-4D97-AF65-F5344CB8AC3E}">
        <p14:creationId xmlns:p14="http://schemas.microsoft.com/office/powerpoint/2010/main" val="2790139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Вызов метода </a:t>
            </a:r>
            <a:r>
              <a:rPr lang="ru-RU" sz="1200" kern="1200" dirty="0" err="1">
                <a:solidFill>
                  <a:schemeClr val="tx1"/>
                </a:solidFill>
                <a:effectLst/>
                <a:latin typeface="+mn-lt"/>
                <a:ea typeface="+mn-ea"/>
                <a:cs typeface="+mn-cs"/>
              </a:rPr>
              <a:t>Thread.yield</a:t>
            </a:r>
            <a:r>
              <a:rPr lang="ru-RU" sz="120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позволяет досрочно завершить квант времени текущего потока или, другими словами, переключает процессор на следующий поток.</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А следующая за </a:t>
            </a:r>
            <a:r>
              <a:rPr lang="ru-RU" sz="1200" b="1" i="0" kern="1200" dirty="0" err="1">
                <a:solidFill>
                  <a:schemeClr val="tx1"/>
                </a:solidFill>
                <a:effectLst/>
                <a:latin typeface="+mn-lt"/>
                <a:ea typeface="+mn-ea"/>
                <a:cs typeface="+mn-cs"/>
              </a:rPr>
              <a:t>yield</a:t>
            </a:r>
            <a:r>
              <a:rPr lang="ru-RU" sz="1200" b="0" i="0" kern="1200" dirty="0">
                <a:solidFill>
                  <a:schemeClr val="tx1"/>
                </a:solidFill>
                <a:effectLst/>
                <a:latin typeface="+mn-lt"/>
                <a:ea typeface="+mn-ea"/>
                <a:cs typeface="+mn-cs"/>
              </a:rPr>
              <a:t> команда начнется с полного кванта времени. Значит шансы, что ее прервут – меньше. Особенно, если она небольшая (по времени). Такой подход можно использовать при оптимизации некоторых процессов.</a:t>
            </a:r>
            <a:endParaRPr lang="ru-RU" sz="1200" b="0" u="none" strike="noStrike" dirty="0">
              <a:solidFill>
                <a:srgbClr val="000000"/>
              </a:solidFill>
              <a:uFillTx/>
              <a:latin typeface="Arial"/>
            </a:endParaRPr>
          </a:p>
        </p:txBody>
      </p:sp>
      <p:sp>
        <p:nvSpPr>
          <p:cNvPr id="4" name="Slide Number Placeholder 3"/>
          <p:cNvSpPr>
            <a:spLocks noGrp="1"/>
          </p:cNvSpPr>
          <p:nvPr>
            <p:ph type="sldNum" sz="quarter" idx="5"/>
          </p:nvPr>
        </p:nvSpPr>
        <p:spPr/>
        <p:txBody>
          <a:bodyPr/>
          <a:lstStyle/>
          <a:p>
            <a:fld id="{9C003A2D-F27E-469C-ADB1-04668A9E28C3}" type="slidenum">
              <a:rPr lang="ru-RU" smtClean="0"/>
              <a:t>14</a:t>
            </a:fld>
            <a:endParaRPr lang="ru-RU"/>
          </a:p>
        </p:txBody>
      </p:sp>
    </p:spTree>
    <p:extLst>
      <p:ext uri="{BB962C8B-B14F-4D97-AF65-F5344CB8AC3E}">
        <p14:creationId xmlns:p14="http://schemas.microsoft.com/office/powerpoint/2010/main" val="185471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при вызове блокирующего метода, выполнение текущего потока будет приостановлено до выполнения определенных условий или завершения операции, после чего поток продолжит свою работу.</a:t>
            </a:r>
            <a:endParaRPr lang="en-US" sz="1200" b="0" u="none" strike="noStrike" dirty="0">
              <a:solidFill>
                <a:schemeClr val="dk1"/>
              </a:solidFill>
              <a:uFillTx/>
              <a:latin typeface="+mn-lt"/>
            </a:endParaRPr>
          </a:p>
        </p:txBody>
      </p:sp>
      <p:sp>
        <p:nvSpPr>
          <p:cNvPr id="4" name="Slide Number Placeholder 3"/>
          <p:cNvSpPr>
            <a:spLocks noGrp="1"/>
          </p:cNvSpPr>
          <p:nvPr>
            <p:ph type="sldNum" sz="quarter" idx="5"/>
          </p:nvPr>
        </p:nvSpPr>
        <p:spPr/>
        <p:txBody>
          <a:bodyPr/>
          <a:lstStyle/>
          <a:p>
            <a:fld id="{9C003A2D-F27E-469C-ADB1-04668A9E28C3}" type="slidenum">
              <a:rPr lang="ru-RU" smtClean="0"/>
              <a:t>15</a:t>
            </a:fld>
            <a:endParaRPr lang="ru-RU"/>
          </a:p>
        </p:txBody>
      </p:sp>
    </p:spTree>
    <p:extLst>
      <p:ext uri="{BB962C8B-B14F-4D97-AF65-F5344CB8AC3E}">
        <p14:creationId xmlns:p14="http://schemas.microsoft.com/office/powerpoint/2010/main" val="1918847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u="none" strike="noStrike" dirty="0" err="1">
                <a:solidFill>
                  <a:schemeClr val="dk1"/>
                </a:solidFill>
                <a:uFillTx/>
                <a:latin typeface="+mn-lt"/>
              </a:rPr>
              <a:t>Thread.sleep</a:t>
            </a:r>
            <a:r>
              <a:rPr lang="ru-RU" sz="1200" b="0" u="none" strike="noStrike" dirty="0">
                <a:solidFill>
                  <a:schemeClr val="dk1"/>
                </a:solidFill>
                <a:uFillTx/>
                <a:latin typeface="+mn-lt"/>
              </a:rPr>
              <a:t>() — статический метод класса </a:t>
            </a:r>
            <a:r>
              <a:rPr lang="ru-RU" sz="1200" b="0" u="none" strike="noStrike" dirty="0" err="1">
                <a:solidFill>
                  <a:schemeClr val="dk1"/>
                </a:solidFill>
                <a:uFillTx/>
                <a:latin typeface="+mn-lt"/>
              </a:rPr>
              <a:t>Thread</a:t>
            </a:r>
            <a:r>
              <a:rPr lang="ru-RU" sz="1200" b="0" u="none" strike="noStrike" dirty="0">
                <a:solidFill>
                  <a:schemeClr val="dk1"/>
                </a:solidFill>
                <a:uFillTx/>
                <a:latin typeface="+mn-lt"/>
              </a:rPr>
              <a:t>, который приостанавливает выполнение потока, в котором он был вызван. Во время выполнения метода </a:t>
            </a:r>
            <a:r>
              <a:rPr lang="ru-RU" sz="1200" b="0" u="none" strike="noStrike" dirty="0" err="1">
                <a:solidFill>
                  <a:schemeClr val="dk1"/>
                </a:solidFill>
                <a:uFillTx/>
                <a:latin typeface="+mn-lt"/>
              </a:rPr>
              <a:t>sleep</a:t>
            </a:r>
            <a:r>
              <a:rPr lang="ru-RU" sz="1200" b="0" u="none" strike="noStrike" dirty="0">
                <a:solidFill>
                  <a:schemeClr val="dk1"/>
                </a:solidFill>
                <a:uFillTx/>
                <a:latin typeface="+mn-lt"/>
              </a:rPr>
              <a:t>() система перестает выделять потоку процессорное время, распределяя его между другими потоками. Метод </a:t>
            </a:r>
            <a:r>
              <a:rPr lang="ru-RU" sz="1200" b="0" u="none" strike="noStrike" dirty="0" err="1">
                <a:solidFill>
                  <a:schemeClr val="dk1"/>
                </a:solidFill>
                <a:uFillTx/>
                <a:latin typeface="+mn-lt"/>
              </a:rPr>
              <a:t>sleep</a:t>
            </a:r>
            <a:r>
              <a:rPr lang="ru-RU" sz="1200" b="0" u="none" strike="noStrike" dirty="0">
                <a:solidFill>
                  <a:schemeClr val="dk1"/>
                </a:solidFill>
                <a:uFillTx/>
                <a:latin typeface="+mn-lt"/>
              </a:rPr>
              <a:t>() может выполняться либо заданное кол-во времени (миллисекунды или наносекунды) либо до тех пор пока он не будет остановлен прерыванием (в этом случае он сгенерирует исключение </a:t>
            </a:r>
            <a:r>
              <a:rPr lang="ru-RU" sz="1200" b="0" u="none" strike="noStrike" dirty="0" err="1">
                <a:solidFill>
                  <a:schemeClr val="dk1"/>
                </a:solidFill>
                <a:uFillTx/>
                <a:latin typeface="+mn-lt"/>
              </a:rPr>
              <a:t>InterruptedException</a:t>
            </a:r>
            <a:r>
              <a:rPr lang="ru-RU" sz="1200" b="0" u="none" strike="noStrike" dirty="0">
                <a:solidFill>
                  <a:schemeClr val="dk1"/>
                </a:solidFill>
                <a:uFillTx/>
                <a:latin typeface="+mn-lt"/>
              </a:rPr>
              <a:t>).</a:t>
            </a:r>
            <a:endParaRPr lang="en-US" sz="1200" b="0" u="none" strike="noStrike" dirty="0">
              <a:solidFill>
                <a:schemeClr val="dk1"/>
              </a:solidFill>
              <a:uFillTx/>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Это может быть полезно в ситуациях, когда потоку нужно «подождать» некоторое время перед выполнением следующей операции.</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Например, во время цикла </a:t>
            </a:r>
            <a:r>
              <a:rPr lang="ru-RU" sz="1200" b="0" i="0" kern="1200" dirty="0" err="1">
                <a:solidFill>
                  <a:schemeClr val="tx1"/>
                </a:solidFill>
                <a:effectLst/>
                <a:latin typeface="+mn-lt"/>
                <a:ea typeface="+mn-ea"/>
                <a:cs typeface="+mn-cs"/>
              </a:rPr>
              <a:t>while</a:t>
            </a:r>
            <a:r>
              <a:rPr lang="ru-RU" sz="1200" b="0" i="0" kern="1200" dirty="0">
                <a:solidFill>
                  <a:schemeClr val="tx1"/>
                </a:solidFill>
                <a:effectLst/>
                <a:latin typeface="+mn-lt"/>
                <a:ea typeface="+mn-ea"/>
                <a:cs typeface="+mn-cs"/>
              </a:rPr>
              <a:t> или </a:t>
            </a:r>
            <a:r>
              <a:rPr lang="ru-RU" sz="1200" b="0" i="0" kern="1200" dirty="0" err="1">
                <a:solidFill>
                  <a:schemeClr val="tx1"/>
                </a:solidFill>
                <a:effectLst/>
                <a:latin typeface="+mn-lt"/>
                <a:ea typeface="+mn-ea"/>
                <a:cs typeface="+mn-cs"/>
              </a:rPr>
              <a:t>for</a:t>
            </a:r>
            <a:endParaRPr lang="en-US" sz="1200" b="0" u="none" strike="noStrike" dirty="0">
              <a:solidFill>
                <a:schemeClr val="dk1"/>
              </a:solidFill>
              <a:uFillTx/>
              <a:latin typeface="+mn-lt"/>
            </a:endParaRPr>
          </a:p>
        </p:txBody>
      </p:sp>
      <p:sp>
        <p:nvSpPr>
          <p:cNvPr id="4" name="Slide Number Placeholder 3"/>
          <p:cNvSpPr>
            <a:spLocks noGrp="1"/>
          </p:cNvSpPr>
          <p:nvPr>
            <p:ph type="sldNum" sz="quarter" idx="5"/>
          </p:nvPr>
        </p:nvSpPr>
        <p:spPr/>
        <p:txBody>
          <a:bodyPr/>
          <a:lstStyle/>
          <a:p>
            <a:fld id="{9C003A2D-F27E-469C-ADB1-04668A9E28C3}" type="slidenum">
              <a:rPr lang="ru-RU" smtClean="0"/>
              <a:t>16</a:t>
            </a:fld>
            <a:endParaRPr lang="ru-RU"/>
          </a:p>
        </p:txBody>
      </p:sp>
    </p:spTree>
    <p:extLst>
      <p:ext uri="{BB962C8B-B14F-4D97-AF65-F5344CB8AC3E}">
        <p14:creationId xmlns:p14="http://schemas.microsoft.com/office/powerpoint/2010/main" val="18596188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defTabSz="914400">
              <a:lnSpc>
                <a:spcPct val="100000"/>
              </a:lnSpc>
              <a:spcBef>
                <a:spcPts val="360"/>
              </a:spcBef>
              <a:tabLst>
                <a:tab pos="0" algn="l"/>
              </a:tabLst>
            </a:pPr>
            <a:r>
              <a:rPr lang="ru-RU" sz="1200" b="0" u="none" strike="noStrike" dirty="0">
                <a:solidFill>
                  <a:schemeClr val="dk1"/>
                </a:solidFill>
                <a:uFillTx/>
                <a:latin typeface="+mn-lt"/>
              </a:rPr>
              <a:t>В </a:t>
            </a:r>
            <a:r>
              <a:rPr lang="ru-RU" sz="1200" b="0" u="none" strike="noStrike" dirty="0" err="1">
                <a:solidFill>
                  <a:schemeClr val="dk1"/>
                </a:solidFill>
                <a:uFillTx/>
                <a:latin typeface="+mn-lt"/>
              </a:rPr>
              <a:t>Java</a:t>
            </a:r>
            <a:r>
              <a:rPr lang="ru-RU" sz="1200" b="0" u="none" strike="noStrike" dirty="0">
                <a:solidFill>
                  <a:schemeClr val="dk1"/>
                </a:solidFill>
                <a:uFillTx/>
                <a:latin typeface="+mn-lt"/>
              </a:rPr>
              <a:t> предусмотрен механизм, позволяющий одному потоку ждать завершения выполнения другого. Для этого используется метод </a:t>
            </a:r>
            <a:r>
              <a:rPr lang="ru-RU" sz="1200" b="0" u="none" strike="noStrike" dirty="0" err="1">
                <a:solidFill>
                  <a:schemeClr val="dk1"/>
                </a:solidFill>
                <a:uFillTx/>
                <a:latin typeface="+mn-lt"/>
              </a:rPr>
              <a:t>join</a:t>
            </a:r>
            <a:r>
              <a:rPr lang="ru-RU" sz="1200" b="0" u="none" strike="noStrike" dirty="0">
                <a:solidFill>
                  <a:schemeClr val="dk1"/>
                </a:solidFill>
                <a:uFillTx/>
                <a:latin typeface="+mn-lt"/>
              </a:rPr>
              <a:t>(). Например, чтобы главный поток подождал завершения побочного потока </a:t>
            </a:r>
            <a:r>
              <a:rPr lang="en-US" sz="1200" b="0" u="none" strike="noStrike" dirty="0">
                <a:solidFill>
                  <a:schemeClr val="dk1"/>
                </a:solidFill>
                <a:uFillTx/>
                <a:latin typeface="+mn-lt"/>
              </a:rPr>
              <a:t>t</a:t>
            </a:r>
            <a:r>
              <a:rPr lang="ru-RU" sz="1200" b="0" u="none" strike="noStrike" dirty="0">
                <a:solidFill>
                  <a:schemeClr val="dk1"/>
                </a:solidFill>
                <a:uFillTx/>
                <a:latin typeface="+mn-lt"/>
              </a:rPr>
              <a:t>, необходимо выполнить инструкцию </a:t>
            </a:r>
            <a:r>
              <a:rPr lang="en-US" sz="1200" b="0" u="none" strike="noStrike" dirty="0">
                <a:solidFill>
                  <a:schemeClr val="dk1"/>
                </a:solidFill>
                <a:uFillTx/>
                <a:latin typeface="+mn-lt"/>
              </a:rPr>
              <a:t>t</a:t>
            </a:r>
            <a:r>
              <a:rPr lang="ru-RU" sz="1200" b="0" u="none" strike="noStrike" dirty="0">
                <a:solidFill>
                  <a:schemeClr val="dk1"/>
                </a:solidFill>
                <a:uFillTx/>
                <a:latin typeface="+mn-lt"/>
              </a:rPr>
              <a:t>.</a:t>
            </a:r>
            <a:r>
              <a:rPr lang="ru-RU" sz="1200" b="0" u="none" strike="noStrike" dirty="0" err="1">
                <a:solidFill>
                  <a:schemeClr val="dk1"/>
                </a:solidFill>
                <a:uFillTx/>
                <a:latin typeface="+mn-lt"/>
              </a:rPr>
              <a:t>join</a:t>
            </a:r>
            <a:r>
              <a:rPr lang="ru-RU" sz="1200" b="0" u="none" strike="noStrike" dirty="0">
                <a:solidFill>
                  <a:schemeClr val="dk1"/>
                </a:solidFill>
                <a:uFillTx/>
                <a:latin typeface="+mn-lt"/>
              </a:rPr>
              <a:t>() в главном потоке. Как только поток </a:t>
            </a:r>
            <a:r>
              <a:rPr lang="en-US" sz="1200" b="0" u="none" strike="noStrike" dirty="0">
                <a:solidFill>
                  <a:schemeClr val="dk1"/>
                </a:solidFill>
                <a:uFillTx/>
                <a:latin typeface="+mn-lt"/>
              </a:rPr>
              <a:t>t</a:t>
            </a:r>
            <a:r>
              <a:rPr lang="ru-RU" sz="1200" b="0" u="none" strike="noStrike" dirty="0">
                <a:solidFill>
                  <a:schemeClr val="dk1"/>
                </a:solidFill>
                <a:uFillTx/>
                <a:latin typeface="+mn-lt"/>
              </a:rPr>
              <a:t> завершится, метод </a:t>
            </a:r>
            <a:r>
              <a:rPr lang="ru-RU" sz="1200" b="0" u="none" strike="noStrike" dirty="0" err="1">
                <a:solidFill>
                  <a:schemeClr val="dk1"/>
                </a:solidFill>
                <a:uFillTx/>
                <a:latin typeface="+mn-lt"/>
              </a:rPr>
              <a:t>join</a:t>
            </a:r>
            <a:r>
              <a:rPr lang="ru-RU" sz="1200" b="0" u="none" strike="noStrike" dirty="0">
                <a:solidFill>
                  <a:schemeClr val="dk1"/>
                </a:solidFill>
                <a:uFillTx/>
                <a:latin typeface="+mn-lt"/>
              </a:rPr>
              <a:t>() вернет управление, и главный поток сможет продолжить выполнение.</a:t>
            </a:r>
            <a:endParaRPr lang="ru-RU" sz="1200" b="0" u="none" strike="noStrike" dirty="0">
              <a:solidFill>
                <a:srgbClr val="000000"/>
              </a:solidFill>
              <a:uFillTx/>
              <a:latin typeface="Arial"/>
            </a:endParaRPr>
          </a:p>
          <a:p>
            <a:pPr algn="just" defTabSz="914400">
              <a:lnSpc>
                <a:spcPct val="100000"/>
              </a:lnSpc>
              <a:spcBef>
                <a:spcPts val="360"/>
              </a:spcBef>
              <a:tabLst>
                <a:tab pos="0" algn="l"/>
              </a:tabLst>
            </a:pPr>
            <a:r>
              <a:rPr lang="ru-RU" sz="1200" b="0" u="none" strike="noStrike" dirty="0">
                <a:solidFill>
                  <a:schemeClr val="dk1"/>
                </a:solidFill>
                <a:uFillTx/>
                <a:latin typeface="+mn-lt"/>
              </a:rPr>
              <a:t>Метод </a:t>
            </a:r>
            <a:r>
              <a:rPr lang="ru-RU" sz="1200" b="0" u="none" strike="noStrike" dirty="0" err="1">
                <a:solidFill>
                  <a:schemeClr val="dk1"/>
                </a:solidFill>
                <a:uFillTx/>
                <a:latin typeface="+mn-lt"/>
              </a:rPr>
              <a:t>join</a:t>
            </a:r>
            <a:r>
              <a:rPr lang="ru-RU" sz="1200" b="0" u="none" strike="noStrike" dirty="0">
                <a:solidFill>
                  <a:schemeClr val="dk1"/>
                </a:solidFill>
                <a:uFillTx/>
                <a:latin typeface="+mn-lt"/>
              </a:rPr>
              <a:t>() имеет перегруженную версию, которая получает в качестве параметра время ожидания. В этом случае </a:t>
            </a:r>
            <a:r>
              <a:rPr lang="ru-RU" sz="1200" b="0" u="none" strike="noStrike" dirty="0" err="1">
                <a:solidFill>
                  <a:schemeClr val="dk1"/>
                </a:solidFill>
                <a:uFillTx/>
                <a:latin typeface="+mn-lt"/>
              </a:rPr>
              <a:t>join</a:t>
            </a:r>
            <a:r>
              <a:rPr lang="ru-RU" sz="1200" b="0" u="none" strike="noStrike" dirty="0">
                <a:solidFill>
                  <a:schemeClr val="dk1"/>
                </a:solidFill>
                <a:uFillTx/>
                <a:latin typeface="+mn-lt"/>
              </a:rPr>
              <a:t>() возвращает управление либо когда завершится ожидаемый поток, либо когда закончится время ожидания. Подобно методу </a:t>
            </a:r>
            <a:r>
              <a:rPr lang="ru-RU" sz="1200" b="0" u="none" strike="noStrike" dirty="0" err="1">
                <a:solidFill>
                  <a:schemeClr val="dk1"/>
                </a:solidFill>
                <a:uFillTx/>
                <a:latin typeface="+mn-lt"/>
              </a:rPr>
              <a:t>Thread.sleep</a:t>
            </a:r>
            <a:r>
              <a:rPr lang="ru-RU" sz="1200" b="0" u="none" strike="noStrike" dirty="0">
                <a:solidFill>
                  <a:schemeClr val="dk1"/>
                </a:solidFill>
                <a:uFillTx/>
                <a:latin typeface="+mn-lt"/>
              </a:rPr>
              <a:t>() метод </a:t>
            </a:r>
            <a:r>
              <a:rPr lang="ru-RU" sz="1200" b="0" u="none" strike="noStrike" dirty="0" err="1">
                <a:solidFill>
                  <a:schemeClr val="dk1"/>
                </a:solidFill>
                <a:uFillTx/>
                <a:latin typeface="+mn-lt"/>
              </a:rPr>
              <a:t>join</a:t>
            </a:r>
            <a:r>
              <a:rPr lang="ru-RU" sz="1200" b="0" u="none" strike="noStrike" dirty="0">
                <a:solidFill>
                  <a:schemeClr val="dk1"/>
                </a:solidFill>
                <a:uFillTx/>
                <a:latin typeface="+mn-lt"/>
              </a:rPr>
              <a:t> может ждать в течение миллисекунд и наносекунд – аргументы те же.</a:t>
            </a:r>
            <a:endParaRPr lang="ru-RU" sz="1200" b="0" u="none" strike="noStrike" dirty="0">
              <a:solidFill>
                <a:srgbClr val="000000"/>
              </a:solidFill>
              <a:uFillTx/>
              <a:latin typeface="Arial"/>
            </a:endParaRPr>
          </a:p>
        </p:txBody>
      </p:sp>
      <p:sp>
        <p:nvSpPr>
          <p:cNvPr id="4" name="Slide Number Placeholder 3"/>
          <p:cNvSpPr>
            <a:spLocks noGrp="1"/>
          </p:cNvSpPr>
          <p:nvPr>
            <p:ph type="sldNum" sz="quarter" idx="5"/>
          </p:nvPr>
        </p:nvSpPr>
        <p:spPr/>
        <p:txBody>
          <a:bodyPr/>
          <a:lstStyle/>
          <a:p>
            <a:fld id="{9C003A2D-F27E-469C-ADB1-04668A9E28C3}" type="slidenum">
              <a:rPr lang="ru-RU" smtClean="0"/>
              <a:t>17</a:t>
            </a:fld>
            <a:endParaRPr lang="ru-RU"/>
          </a:p>
        </p:txBody>
      </p:sp>
    </p:spTree>
    <p:extLst>
      <p:ext uri="{BB962C8B-B14F-4D97-AF65-F5344CB8AC3E}">
        <p14:creationId xmlns:p14="http://schemas.microsoft.com/office/powerpoint/2010/main" val="634638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Иногда при взаимодействии потоков встает вопрос о извещении одних потоков о действиях других. Например, действия одного потока зависят от результата действий другого потока, и надо как-то известить один поток, что второй поток произвел некую работу.</a:t>
            </a:r>
            <a:r>
              <a:rPr lang="en-US" dirty="0"/>
              <a:t> </a:t>
            </a:r>
            <a:r>
              <a:rPr lang="ru-RU" dirty="0"/>
              <a:t>Или </a:t>
            </a:r>
            <a:r>
              <a:rPr lang="ru-RU" sz="1200" b="0" i="0" kern="1200" dirty="0">
                <a:solidFill>
                  <a:schemeClr val="tx1"/>
                </a:solidFill>
                <a:effectLst/>
                <a:latin typeface="+mn-lt"/>
                <a:ea typeface="+mn-ea"/>
                <a:cs typeface="+mn-cs"/>
              </a:rPr>
              <a:t>обеспечить </a:t>
            </a:r>
            <a:r>
              <a:rPr lang="ru-RU" sz="1200" b="1" i="0" kern="1200" dirty="0">
                <a:solidFill>
                  <a:schemeClr val="tx1"/>
                </a:solidFill>
                <a:effectLst/>
                <a:latin typeface="+mn-lt"/>
                <a:ea typeface="+mn-ea"/>
                <a:cs typeface="+mn-cs"/>
              </a:rPr>
              <a:t>последовательный</a:t>
            </a:r>
            <a:r>
              <a:rPr lang="ru-RU" sz="1200" b="0" i="0" kern="1200" dirty="0">
                <a:solidFill>
                  <a:schemeClr val="tx1"/>
                </a:solidFill>
                <a:effectLst/>
                <a:latin typeface="+mn-lt"/>
                <a:ea typeface="+mn-ea"/>
                <a:cs typeface="+mn-cs"/>
              </a:rPr>
              <a:t> доступ к ресурсам, пока один поток не закончил работу с каким-либо ресурсом, второй не имел к ней доступ.</a:t>
            </a:r>
            <a:r>
              <a:rPr lang="ru-RU" dirty="0"/>
              <a:t> </a:t>
            </a:r>
          </a:p>
          <a:p>
            <a:endParaRPr lang="ru-RU" sz="1200" b="1"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для целей синхронизации между потоками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использует некий механизм, который называется "Монитор". С каждым объектом ассоциирован некоторый монитор, а потоки могут его заблокировать "</a:t>
            </a:r>
            <a:r>
              <a:rPr lang="ru-RU" sz="1200" b="0" i="0" kern="1200" dirty="0" err="1">
                <a:solidFill>
                  <a:schemeClr val="tx1"/>
                </a:solidFill>
                <a:effectLst/>
                <a:latin typeface="+mn-lt"/>
                <a:ea typeface="+mn-ea"/>
                <a:cs typeface="+mn-cs"/>
              </a:rPr>
              <a:t>lock</a:t>
            </a:r>
            <a:r>
              <a:rPr lang="ru-RU" sz="1200" b="0" i="0" kern="1200" dirty="0">
                <a:solidFill>
                  <a:schemeClr val="tx1"/>
                </a:solidFill>
                <a:effectLst/>
                <a:latin typeface="+mn-lt"/>
                <a:ea typeface="+mn-ea"/>
                <a:cs typeface="+mn-cs"/>
              </a:rPr>
              <a:t>" или разблокировать "</a:t>
            </a:r>
            <a:r>
              <a:rPr lang="ru-RU" sz="1200" b="0" i="0" kern="1200" dirty="0" err="1">
                <a:solidFill>
                  <a:schemeClr val="tx1"/>
                </a:solidFill>
                <a:effectLst/>
                <a:latin typeface="+mn-lt"/>
                <a:ea typeface="+mn-ea"/>
                <a:cs typeface="+mn-cs"/>
              </a:rPr>
              <a:t>unlock</a:t>
            </a:r>
            <a:r>
              <a:rPr lang="ru-RU" sz="1200" b="0" i="0" kern="1200" dirty="0">
                <a:solidFill>
                  <a:schemeClr val="tx1"/>
                </a:solidFill>
                <a:effectLst/>
                <a:latin typeface="+mn-lt"/>
                <a:ea typeface="+mn-ea"/>
                <a:cs typeface="+mn-cs"/>
              </a:rPr>
              <a:t>".</a:t>
            </a:r>
          </a:p>
          <a:p>
            <a:endParaRPr lang="ru-RU" sz="1200" b="0" i="0" kern="1200" dirty="0">
              <a:solidFill>
                <a:schemeClr val="tx1"/>
              </a:solidFill>
              <a:effectLst/>
              <a:latin typeface="+mn-lt"/>
              <a:ea typeface="+mn-ea"/>
              <a:cs typeface="+mn-cs"/>
            </a:endParaRPr>
          </a:p>
          <a:p>
            <a:r>
              <a:rPr lang="ru-RU" sz="1200" b="0" u="none" strike="noStrike" dirty="0">
                <a:solidFill>
                  <a:schemeClr val="dk1"/>
                </a:solidFill>
                <a:uFillTx/>
                <a:latin typeface="+mn-lt"/>
              </a:rPr>
              <a:t>У каждого объекта в </a:t>
            </a:r>
            <a:r>
              <a:rPr lang="ru-RU" sz="1200" b="0" u="none" strike="noStrike" dirty="0" err="1">
                <a:solidFill>
                  <a:schemeClr val="dk1"/>
                </a:solidFill>
                <a:uFillTx/>
                <a:latin typeface="+mn-lt"/>
              </a:rPr>
              <a:t>Java</a:t>
            </a:r>
            <a:r>
              <a:rPr lang="ru-RU" sz="1200" b="0" u="none" strike="noStrike" dirty="0">
                <a:solidFill>
                  <a:schemeClr val="dk1"/>
                </a:solidFill>
                <a:uFillTx/>
                <a:latin typeface="+mn-lt"/>
              </a:rPr>
              <a:t> есть заголовок (</a:t>
            </a:r>
            <a:r>
              <a:rPr lang="ru-RU" sz="1200" b="0" u="none" strike="noStrike" dirty="0" err="1">
                <a:solidFill>
                  <a:schemeClr val="dk1"/>
                </a:solidFill>
                <a:uFillTx/>
                <a:latin typeface="+mn-lt"/>
              </a:rPr>
              <a:t>header</a:t>
            </a:r>
            <a:r>
              <a:rPr lang="ru-RU" sz="1200" b="0" u="none" strike="noStrike" dirty="0">
                <a:solidFill>
                  <a:schemeClr val="dk1"/>
                </a:solidFill>
                <a:uFillTx/>
                <a:latin typeface="+mn-lt"/>
              </a:rPr>
              <a:t>) — своего рода внутренние метаданные, которые недоступны программисту из кода, но которые нужны виртуальной машине, чтобы работать с объектами правильно. В состав этого заголовка входит в том числе монитор. Т.е. получается, что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с каждым объектом ассоциирует монитор и потоки могут захватить этот монитор и отпустить.</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Существует несколько реализаций этого механизма</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18</a:t>
            </a:fld>
            <a:endParaRPr lang="ru-RU"/>
          </a:p>
        </p:txBody>
      </p:sp>
    </p:spTree>
    <p:extLst>
      <p:ext uri="{BB962C8B-B14F-4D97-AF65-F5344CB8AC3E}">
        <p14:creationId xmlns:p14="http://schemas.microsoft.com/office/powerpoint/2010/main" val="551767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19</a:t>
            </a:fld>
            <a:endParaRPr lang="ru-RU"/>
          </a:p>
        </p:txBody>
      </p:sp>
    </p:spTree>
    <p:extLst>
      <p:ext uri="{BB962C8B-B14F-4D97-AF65-F5344CB8AC3E}">
        <p14:creationId xmlns:p14="http://schemas.microsoft.com/office/powerpoint/2010/main" val="277659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Итак, при помощи ключевого слова </a:t>
            </a:r>
            <a:r>
              <a:rPr lang="ru-RU" dirty="0" err="1"/>
              <a:t>synchronized</a:t>
            </a:r>
            <a:r>
              <a:rPr lang="ru-RU" sz="1200" b="0" i="0" kern="1200" dirty="0">
                <a:solidFill>
                  <a:schemeClr val="tx1"/>
                </a:solidFill>
                <a:effectLst/>
                <a:latin typeface="+mn-lt"/>
                <a:ea typeface="+mn-ea"/>
                <a:cs typeface="+mn-cs"/>
              </a:rPr>
              <a:t> текущий поток (в котором выполняются эти строки кода) пытается использовать монитор, ассоциированный с объектом </a:t>
            </a:r>
            <a:r>
              <a:rPr lang="ru-RU" dirty="0" err="1"/>
              <a:t>object</a:t>
            </a:r>
            <a:r>
              <a:rPr lang="ru-RU" sz="1200" b="0" i="0" kern="1200" dirty="0">
                <a:solidFill>
                  <a:schemeClr val="tx1"/>
                </a:solidFill>
                <a:effectLst/>
                <a:latin typeface="+mn-lt"/>
                <a:ea typeface="+mn-ea"/>
                <a:cs typeface="+mn-cs"/>
              </a:rPr>
              <a:t> и "получить </a:t>
            </a:r>
            <a:r>
              <a:rPr lang="ru-RU" sz="1200" b="0" i="0" kern="1200" dirty="0" err="1">
                <a:solidFill>
                  <a:schemeClr val="tx1"/>
                </a:solidFill>
                <a:effectLst/>
                <a:latin typeface="+mn-lt"/>
                <a:ea typeface="+mn-ea"/>
                <a:cs typeface="+mn-cs"/>
              </a:rPr>
              <a:t>лок</a:t>
            </a:r>
            <a:r>
              <a:rPr lang="ru-RU" sz="1200" b="0" i="0" kern="1200" dirty="0">
                <a:solidFill>
                  <a:schemeClr val="tx1"/>
                </a:solidFill>
                <a:effectLst/>
                <a:latin typeface="+mn-lt"/>
                <a:ea typeface="+mn-ea"/>
                <a:cs typeface="+mn-cs"/>
              </a:rPr>
              <a:t>" или "захватить монитор“</a:t>
            </a: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ru-RU" sz="1200" b="0" i="0" kern="1200" dirty="0">
                <a:solidFill>
                  <a:schemeClr val="tx1"/>
                </a:solidFill>
                <a:effectLst/>
                <a:latin typeface="+mn-lt"/>
                <a:ea typeface="+mn-ea"/>
                <a:cs typeface="+mn-cs"/>
              </a:rPr>
              <a:t>Может быть синхронизирован целый метод</a:t>
            </a:r>
            <a:r>
              <a:rPr lang="ru-RU" dirty="0"/>
              <a:t>. </a:t>
            </a:r>
            <a:r>
              <a:rPr lang="ru-RU" sz="1200" b="0" i="0" kern="1200" dirty="0">
                <a:solidFill>
                  <a:schemeClr val="tx1"/>
                </a:solidFill>
                <a:effectLst/>
                <a:latin typeface="+mn-lt"/>
                <a:ea typeface="+mn-ea"/>
                <a:cs typeface="+mn-cs"/>
              </a:rPr>
              <a:t>В одну единицу времени данный метод будет выполняться только одним потоком. </a:t>
            </a:r>
            <a:r>
              <a:rPr lang="ru-RU" sz="1200" b="0" i="0" kern="1200" dirty="0" err="1">
                <a:solidFill>
                  <a:schemeClr val="tx1"/>
                </a:solidFill>
                <a:effectLst/>
                <a:latin typeface="+mn-lt"/>
                <a:ea typeface="+mn-ea"/>
                <a:cs typeface="+mn-cs"/>
              </a:rPr>
              <a:t>Локом</a:t>
            </a:r>
            <a:r>
              <a:rPr lang="ru-RU" sz="1200" b="0" i="0" kern="1200" dirty="0">
                <a:solidFill>
                  <a:schemeClr val="tx1"/>
                </a:solidFill>
                <a:effectLst/>
                <a:latin typeface="+mn-lt"/>
                <a:ea typeface="+mn-ea"/>
                <a:cs typeface="+mn-cs"/>
              </a:rPr>
              <a:t> будет выступать </a:t>
            </a:r>
            <a:r>
              <a:rPr lang="en-US" sz="1200" b="0" i="0" kern="1200" dirty="0">
                <a:solidFill>
                  <a:schemeClr val="tx1"/>
                </a:solidFill>
                <a:effectLst/>
                <a:latin typeface="+mn-lt"/>
                <a:ea typeface="+mn-ea"/>
                <a:cs typeface="+mn-cs"/>
              </a:rPr>
              <a:t>this.</a:t>
            </a:r>
            <a:endParaRPr lang="ru-RU" sz="1200" b="0" i="0" kern="1200" dirty="0">
              <a:solidFill>
                <a:schemeClr val="tx1"/>
              </a:solidFill>
              <a:effectLst/>
              <a:latin typeface="+mn-lt"/>
              <a:ea typeface="+mn-ea"/>
              <a:cs typeface="+mn-cs"/>
            </a:endParaRPr>
          </a:p>
          <a:p>
            <a:pPr marL="0" indent="0">
              <a:buFont typeface="Arial" panose="020B0604020202020204" pitchFamily="34" charset="0"/>
              <a:buNone/>
            </a:pPr>
            <a:endParaRPr lang="ru-RU"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C003A2D-F27E-469C-ADB1-04668A9E28C3}" type="slidenum">
              <a:rPr lang="ru-RU" smtClean="0"/>
              <a:t>20</a:t>
            </a:fld>
            <a:endParaRPr lang="ru-RU"/>
          </a:p>
        </p:txBody>
      </p:sp>
    </p:spTree>
    <p:extLst>
      <p:ext uri="{BB962C8B-B14F-4D97-AF65-F5344CB8AC3E}">
        <p14:creationId xmlns:p14="http://schemas.microsoft.com/office/powerpoint/2010/main" val="31569766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Synchronized</a:t>
            </a:r>
            <a:r>
              <a:rPr lang="ru-RU" sz="1200" b="0" i="0" kern="1200" dirty="0">
                <a:solidFill>
                  <a:schemeClr val="tx1"/>
                </a:solidFill>
                <a:effectLst/>
                <a:latin typeface="+mn-lt"/>
                <a:ea typeface="+mn-ea"/>
                <a:cs typeface="+mn-cs"/>
              </a:rPr>
              <a:t> является мощным инструментом</a:t>
            </a:r>
            <a:br>
              <a:rPr lang="ru-RU" dirty="0"/>
            </a:br>
            <a:r>
              <a:rPr lang="ru-RU" sz="1200" b="0" i="0" kern="1200" dirty="0">
                <a:solidFill>
                  <a:schemeClr val="tx1"/>
                </a:solidFill>
                <a:effectLst/>
                <a:latin typeface="+mn-lt"/>
                <a:ea typeface="+mn-ea"/>
                <a:cs typeface="+mn-cs"/>
              </a:rPr>
              <a:t>для предотвращения проблем многопоточности, но также может влиять на производительность</a:t>
            </a:r>
            <a:br>
              <a:rPr lang="ru-RU" dirty="0"/>
            </a:br>
            <a:r>
              <a:rPr lang="ru-RU" sz="1200" b="0" i="0" kern="1200" dirty="0">
                <a:solidFill>
                  <a:schemeClr val="tx1"/>
                </a:solidFill>
                <a:effectLst/>
                <a:latin typeface="+mn-lt"/>
                <a:ea typeface="+mn-ea"/>
                <a:cs typeface="+mn-cs"/>
              </a:rPr>
              <a:t>приложения. Поэтому следует использовать его с осторожностью и только там, где это</a:t>
            </a:r>
            <a:br>
              <a:rPr lang="ru-RU" dirty="0"/>
            </a:br>
            <a:r>
              <a:rPr lang="ru-RU" sz="1200" b="0" i="0" kern="1200" dirty="0">
                <a:solidFill>
                  <a:schemeClr val="tx1"/>
                </a:solidFill>
                <a:effectLst/>
                <a:latin typeface="+mn-lt"/>
                <a:ea typeface="+mn-ea"/>
                <a:cs typeface="+mn-cs"/>
              </a:rPr>
              <a:t>действительно необходимо.</a:t>
            </a:r>
            <a:endParaRPr lang="ru-RU" dirty="0"/>
          </a:p>
          <a:p>
            <a:r>
              <a:rPr lang="ru-RU" dirty="0"/>
              <a:t>Недостатком использования </a:t>
            </a:r>
            <a:r>
              <a:rPr lang="ru-RU" dirty="0" err="1"/>
              <a:t>synchronized</a:t>
            </a:r>
            <a:r>
              <a:rPr lang="ru-RU" dirty="0"/>
              <a:t> является то, что другие потоки вынуждены ждать, пока нужный объект или метод освободится. Это создает </a:t>
            </a:r>
            <a:r>
              <a:rPr lang="ru-RU" dirty="0" err="1"/>
              <a:t>bottle</a:t>
            </a:r>
            <a:r>
              <a:rPr lang="ru-RU" dirty="0"/>
              <a:t> </a:t>
            </a:r>
            <a:r>
              <a:rPr lang="ru-RU" dirty="0" err="1"/>
              <a:t>neck</a:t>
            </a:r>
            <a:r>
              <a:rPr lang="ru-RU" dirty="0"/>
              <a:t> (узкое место) в программе, от чего скорость работы может пострадать.</a:t>
            </a: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21</a:t>
            </a:fld>
            <a:endParaRPr lang="ru-RU"/>
          </a:p>
        </p:txBody>
      </p:sp>
    </p:spTree>
    <p:extLst>
      <p:ext uri="{BB962C8B-B14F-4D97-AF65-F5344CB8AC3E}">
        <p14:creationId xmlns:p14="http://schemas.microsoft.com/office/powerpoint/2010/main" val="2219223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Выполняется метод </a:t>
            </a:r>
            <a:r>
              <a:rPr lang="ru-RU" dirty="0" err="1"/>
              <a:t>wait</a:t>
            </a:r>
            <a:r>
              <a:rPr lang="ru-RU" sz="1200" b="0" i="0" kern="1200" dirty="0">
                <a:solidFill>
                  <a:schemeClr val="tx1"/>
                </a:solidFill>
                <a:effectLst/>
                <a:latin typeface="+mn-lt"/>
                <a:ea typeface="+mn-ea"/>
                <a:cs typeface="+mn-cs"/>
              </a:rPr>
              <a:t> на объекте, на мониторе которого мы хотим выполнить ожидание</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Метод </a:t>
            </a:r>
            <a:r>
              <a:rPr lang="ru-RU" sz="1200" b="0" i="0" kern="1200" dirty="0" err="1">
                <a:solidFill>
                  <a:schemeClr val="tx1"/>
                </a:solidFill>
                <a:effectLst/>
                <a:latin typeface="+mn-lt"/>
                <a:ea typeface="+mn-ea"/>
                <a:cs typeface="+mn-cs"/>
              </a:rPr>
              <a:t>wait</a:t>
            </a:r>
            <a:r>
              <a:rPr lang="ru-RU" sz="1200" b="0" i="0" kern="1200" dirty="0">
                <a:solidFill>
                  <a:schemeClr val="tx1"/>
                </a:solidFill>
                <a:effectLst/>
                <a:latin typeface="+mn-lt"/>
                <a:ea typeface="+mn-ea"/>
                <a:cs typeface="+mn-cs"/>
              </a:rPr>
              <a:t>() используется для приостановки выполнения текущего потока до тех пор, пока другой поток не вызовет метод </a:t>
            </a:r>
            <a:r>
              <a:rPr lang="ru-RU" sz="1200" b="0" i="0" kern="1200" dirty="0" err="1">
                <a:solidFill>
                  <a:schemeClr val="tx1"/>
                </a:solidFill>
                <a:effectLst/>
                <a:latin typeface="+mn-lt"/>
                <a:ea typeface="+mn-ea"/>
                <a:cs typeface="+mn-cs"/>
              </a:rPr>
              <a:t>notify</a:t>
            </a:r>
            <a:r>
              <a:rPr lang="ru-RU" sz="1200" b="0" i="0" kern="1200" dirty="0">
                <a:solidFill>
                  <a:schemeClr val="tx1"/>
                </a:solidFill>
                <a:effectLst/>
                <a:latin typeface="+mn-lt"/>
                <a:ea typeface="+mn-ea"/>
                <a:cs typeface="+mn-cs"/>
              </a:rPr>
              <a:t>() или </a:t>
            </a:r>
            <a:r>
              <a:rPr lang="ru-RU" sz="1200" b="0" i="0" kern="1200" dirty="0" err="1">
                <a:solidFill>
                  <a:schemeClr val="tx1"/>
                </a:solidFill>
                <a:effectLst/>
                <a:latin typeface="+mn-lt"/>
                <a:ea typeface="+mn-ea"/>
                <a:cs typeface="+mn-cs"/>
              </a:rPr>
              <a:t>notifyAll</a:t>
            </a:r>
            <a:r>
              <a:rPr lang="ru-RU" sz="1200" b="0" i="0" kern="1200" dirty="0">
                <a:solidFill>
                  <a:schemeClr val="tx1"/>
                </a:solidFill>
                <a:effectLst/>
                <a:latin typeface="+mn-lt"/>
                <a:ea typeface="+mn-ea"/>
                <a:cs typeface="+mn-cs"/>
              </a:rPr>
              <a:t>() на том же объекте. Эти методы широко используются для реализации механизмов синхронизации и сигнализации между потоками.</a:t>
            </a:r>
            <a:r>
              <a:rPr lang="en-US" sz="1200" b="0" i="0" kern="1200" dirty="0">
                <a:solidFill>
                  <a:schemeClr val="tx1"/>
                </a:solidFill>
                <a:effectLst/>
                <a:latin typeface="+mn-lt"/>
                <a:ea typeface="+mn-ea"/>
                <a:cs typeface="+mn-cs"/>
              </a:rPr>
              <a:t> </a:t>
            </a:r>
            <a:endParaRPr lang="ru-RU"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u="none" strike="noStrike" kern="1200" dirty="0">
                <a:solidFill>
                  <a:schemeClr val="tx1"/>
                </a:solidFill>
                <a:effectLst/>
                <a:uFillTx/>
                <a:latin typeface="+mn-lt"/>
                <a:ea typeface="+mn-ea"/>
                <a:cs typeface="+mn-cs"/>
              </a:rPr>
              <a:t>Если несколько потоков ожидают </a:t>
            </a:r>
            <a:r>
              <a:rPr lang="ru-RU" sz="1200" b="0" i="0" u="none" strike="noStrike" kern="1200" dirty="0" err="1">
                <a:solidFill>
                  <a:schemeClr val="tx1"/>
                </a:solidFill>
                <a:effectLst/>
                <a:uFillTx/>
                <a:latin typeface="+mn-lt"/>
                <a:ea typeface="+mn-ea"/>
                <a:cs typeface="+mn-cs"/>
              </a:rPr>
              <a:t>нотификейшн</a:t>
            </a:r>
            <a:r>
              <a:rPr lang="ru-RU" sz="1200" b="0" i="0" u="none" strike="noStrike" kern="1200" dirty="0">
                <a:solidFill>
                  <a:schemeClr val="tx1"/>
                </a:solidFill>
                <a:effectLst/>
                <a:uFillTx/>
                <a:latin typeface="+mn-lt"/>
                <a:ea typeface="+mn-ea"/>
                <a:cs typeface="+mn-cs"/>
              </a:rPr>
              <a:t>, при вызове </a:t>
            </a:r>
            <a:r>
              <a:rPr lang="en-US" sz="1200" b="0" i="0" u="none" strike="noStrike" kern="1200" dirty="0">
                <a:solidFill>
                  <a:schemeClr val="tx1"/>
                </a:solidFill>
                <a:effectLst/>
                <a:uFillTx/>
                <a:latin typeface="+mn-lt"/>
                <a:ea typeface="+mn-ea"/>
                <a:cs typeface="+mn-cs"/>
              </a:rPr>
              <a:t>notify</a:t>
            </a:r>
            <a:r>
              <a:rPr lang="ru-RU" sz="1200" b="0" i="0" u="none" strike="noStrike" kern="1200" dirty="0">
                <a:solidFill>
                  <a:schemeClr val="tx1"/>
                </a:solidFill>
                <a:effectLst/>
                <a:uFillTx/>
                <a:latin typeface="+mn-lt"/>
                <a:ea typeface="+mn-ea"/>
                <a:cs typeface="+mn-cs"/>
              </a:rPr>
              <a:t>, то выбирается поток случайным образом, по принципу </a:t>
            </a:r>
            <a:r>
              <a:rPr lang="en-US" sz="1200" b="0" i="0" u="none" strike="noStrike" kern="1200" dirty="0">
                <a:solidFill>
                  <a:schemeClr val="tx1"/>
                </a:solidFill>
                <a:effectLst/>
                <a:uFillTx/>
                <a:latin typeface="+mn-lt"/>
                <a:ea typeface="+mn-ea"/>
                <a:cs typeface="+mn-cs"/>
              </a:rPr>
              <a:t>FIFO</a:t>
            </a:r>
            <a:r>
              <a:rPr lang="ru-RU" sz="1200" b="0" i="0" u="none" strike="noStrike" kern="1200" dirty="0">
                <a:solidFill>
                  <a:schemeClr val="tx1"/>
                </a:solidFill>
                <a:effectLst/>
                <a:uFillTx/>
                <a:latin typeface="+mn-lt"/>
                <a:ea typeface="+mn-ea"/>
                <a:cs typeface="+mn-cs"/>
              </a:rPr>
              <a:t>, но с поправкой на приоритет и другие особенности системы. Т.е. мы не можем иметь гарантированно порядок просыпания потоков и строить реализацию на таком ожидании ошибочно.</a:t>
            </a:r>
            <a:endParaRPr lang="ru-RU" sz="1200" b="0" u="none" strike="noStrike" dirty="0">
              <a:solidFill>
                <a:srgbClr val="000000"/>
              </a:solidFill>
              <a:uFillTx/>
              <a:latin typeface="Arial"/>
            </a:endParaRPr>
          </a:p>
          <a:p>
            <a:endParaRPr lang="en-US" dirty="0"/>
          </a:p>
          <a:p>
            <a:r>
              <a:rPr lang="ru-RU" sz="1200" b="0" i="0" kern="1200" dirty="0">
                <a:solidFill>
                  <a:schemeClr val="tx1"/>
                </a:solidFill>
                <a:effectLst/>
                <a:latin typeface="+mn-lt"/>
                <a:ea typeface="+mn-ea"/>
                <a:cs typeface="+mn-cs"/>
              </a:rPr>
              <a:t>Метод </a:t>
            </a:r>
            <a:r>
              <a:rPr lang="ru-RU" sz="1200" b="0" i="0" kern="1200" dirty="0" err="1">
                <a:solidFill>
                  <a:schemeClr val="tx1"/>
                </a:solidFill>
                <a:effectLst/>
                <a:latin typeface="+mn-lt"/>
                <a:ea typeface="+mn-ea"/>
                <a:cs typeface="+mn-cs"/>
              </a:rPr>
              <a:t>wait</a:t>
            </a:r>
            <a:r>
              <a:rPr lang="ru-RU" sz="1200" b="0" i="0" kern="1200" dirty="0">
                <a:solidFill>
                  <a:schemeClr val="tx1"/>
                </a:solidFill>
                <a:effectLst/>
                <a:latin typeface="+mn-lt"/>
                <a:ea typeface="+mn-ea"/>
                <a:cs typeface="+mn-cs"/>
              </a:rPr>
              <a:t>() является частью механизма синхронизации 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Он вызывается на объекте, и поток, который вызвал </a:t>
            </a:r>
            <a:r>
              <a:rPr lang="ru-RU" sz="1200" b="0" i="0" kern="1200" dirty="0" err="1">
                <a:solidFill>
                  <a:schemeClr val="tx1"/>
                </a:solidFill>
                <a:effectLst/>
                <a:latin typeface="+mn-lt"/>
                <a:ea typeface="+mn-ea"/>
                <a:cs typeface="+mn-cs"/>
              </a:rPr>
              <a:t>wait</a:t>
            </a:r>
            <a:r>
              <a:rPr lang="ru-RU" sz="1200" b="0" i="0" kern="1200" dirty="0">
                <a:solidFill>
                  <a:schemeClr val="tx1"/>
                </a:solidFill>
                <a:effectLst/>
                <a:latin typeface="+mn-lt"/>
                <a:ea typeface="+mn-ea"/>
                <a:cs typeface="+mn-cs"/>
              </a:rPr>
              <a:t>(), будет ждать, пока другой поток не вызовет метод </a:t>
            </a:r>
            <a:r>
              <a:rPr lang="ru-RU" sz="1200" b="0" i="0" kern="1200" dirty="0" err="1">
                <a:solidFill>
                  <a:schemeClr val="tx1"/>
                </a:solidFill>
                <a:effectLst/>
                <a:latin typeface="+mn-lt"/>
                <a:ea typeface="+mn-ea"/>
                <a:cs typeface="+mn-cs"/>
              </a:rPr>
              <a:t>notify</a:t>
            </a:r>
            <a:r>
              <a:rPr lang="ru-RU" sz="1200" b="0" i="0" kern="1200" dirty="0">
                <a:solidFill>
                  <a:schemeClr val="tx1"/>
                </a:solidFill>
                <a:effectLst/>
                <a:latin typeface="+mn-lt"/>
                <a:ea typeface="+mn-ea"/>
                <a:cs typeface="+mn-cs"/>
              </a:rPr>
              <a:t>() или </a:t>
            </a:r>
            <a:r>
              <a:rPr lang="ru-RU" sz="1200" b="0" i="0" kern="1200" dirty="0" err="1">
                <a:solidFill>
                  <a:schemeClr val="tx1"/>
                </a:solidFill>
                <a:effectLst/>
                <a:latin typeface="+mn-lt"/>
                <a:ea typeface="+mn-ea"/>
                <a:cs typeface="+mn-cs"/>
              </a:rPr>
              <a:t>notifyAll</a:t>
            </a:r>
            <a:r>
              <a:rPr lang="ru-RU" sz="1200" b="0" i="0" kern="1200" dirty="0">
                <a:solidFill>
                  <a:schemeClr val="tx1"/>
                </a:solidFill>
                <a:effectLst/>
                <a:latin typeface="+mn-lt"/>
                <a:ea typeface="+mn-ea"/>
                <a:cs typeface="+mn-cs"/>
              </a:rPr>
              <a:t>() на этом объекте. Во время ожидания, поток, вызвавший </a:t>
            </a:r>
            <a:r>
              <a:rPr lang="ru-RU" sz="1200" b="0" i="0" kern="1200" dirty="0" err="1">
                <a:solidFill>
                  <a:schemeClr val="tx1"/>
                </a:solidFill>
                <a:effectLst/>
                <a:latin typeface="+mn-lt"/>
                <a:ea typeface="+mn-ea"/>
                <a:cs typeface="+mn-cs"/>
              </a:rPr>
              <a:t>wait</a:t>
            </a:r>
            <a:r>
              <a:rPr lang="ru-RU" sz="1200" b="0" i="0" kern="1200" dirty="0">
                <a:solidFill>
                  <a:schemeClr val="tx1"/>
                </a:solidFill>
                <a:effectLst/>
                <a:latin typeface="+mn-lt"/>
                <a:ea typeface="+mn-ea"/>
                <a:cs typeface="+mn-cs"/>
              </a:rPr>
              <a:t>(), не занимает процессорное время и не блокирует другие потоки от выполнения их работы.</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 примере выше в задаче </a:t>
            </a:r>
            <a:r>
              <a:rPr lang="en-US" sz="1200" b="0" i="0" kern="1200" dirty="0">
                <a:solidFill>
                  <a:schemeClr val="tx1"/>
                </a:solidFill>
                <a:effectLst/>
                <a:latin typeface="+mn-lt"/>
                <a:ea typeface="+mn-ea"/>
                <a:cs typeface="+mn-cs"/>
              </a:rPr>
              <a:t>Consumer</a:t>
            </a:r>
            <a:r>
              <a:rPr lang="ru-RU" sz="1200" b="0" i="0" kern="1200" dirty="0">
                <a:solidFill>
                  <a:schemeClr val="tx1"/>
                </a:solidFill>
                <a:effectLst/>
                <a:latin typeface="+mn-lt"/>
                <a:ea typeface="+mn-ea"/>
                <a:cs typeface="+mn-cs"/>
              </a:rPr>
              <a:t> описано, что мы входим в блок синхронизации по монитору, ассоциированному с </a:t>
            </a:r>
            <a:r>
              <a:rPr lang="en-US" dirty="0"/>
              <a:t>obj</a:t>
            </a:r>
            <a:r>
              <a:rPr lang="ru-RU" sz="1200" b="0" i="0" kern="1200" dirty="0">
                <a:solidFill>
                  <a:schemeClr val="tx1"/>
                </a:solidFill>
                <a:effectLst/>
                <a:latin typeface="+mn-lt"/>
                <a:ea typeface="+mn-ea"/>
                <a:cs typeface="+mn-cs"/>
              </a:rPr>
              <a:t>. Если удаётся получить </a:t>
            </a:r>
            <a:r>
              <a:rPr lang="ru-RU" sz="1200" b="0" i="0" kern="1200" dirty="0" err="1">
                <a:solidFill>
                  <a:schemeClr val="tx1"/>
                </a:solidFill>
                <a:effectLst/>
                <a:latin typeface="+mn-lt"/>
                <a:ea typeface="+mn-ea"/>
                <a:cs typeface="+mn-cs"/>
              </a:rPr>
              <a:t>лок</a:t>
            </a:r>
            <a:r>
              <a:rPr lang="ru-RU" sz="1200" b="0" i="0" kern="1200" dirty="0">
                <a:solidFill>
                  <a:schemeClr val="tx1"/>
                </a:solidFill>
                <a:effectLst/>
                <a:latin typeface="+mn-lt"/>
                <a:ea typeface="+mn-ea"/>
                <a:cs typeface="+mn-cs"/>
              </a:rPr>
              <a:t> по этому монитору, то выполняется </a:t>
            </a:r>
            <a:r>
              <a:rPr lang="ru-RU" dirty="0" err="1"/>
              <a:t>wait</a:t>
            </a:r>
            <a:r>
              <a:rPr lang="ru-RU" sz="1200" b="0" i="0" kern="1200" dirty="0">
                <a:solidFill>
                  <a:schemeClr val="tx1"/>
                </a:solidFill>
                <a:effectLst/>
                <a:latin typeface="+mn-lt"/>
                <a:ea typeface="+mn-ea"/>
                <a:cs typeface="+mn-cs"/>
              </a:rPr>
              <a:t>. Поток, выполняющий этот </a:t>
            </a:r>
            <a:r>
              <a:rPr lang="en-US" sz="1200" b="0" i="0" kern="1200" dirty="0">
                <a:solidFill>
                  <a:schemeClr val="tx1"/>
                </a:solidFill>
                <a:effectLst/>
                <a:latin typeface="+mn-lt"/>
                <a:ea typeface="+mn-ea"/>
                <a:cs typeface="+mn-cs"/>
              </a:rPr>
              <a:t>Consumer</a:t>
            </a:r>
            <a:r>
              <a:rPr lang="ru-RU" sz="1200" b="0" i="0" kern="1200" dirty="0">
                <a:solidFill>
                  <a:schemeClr val="tx1"/>
                </a:solidFill>
                <a:effectLst/>
                <a:latin typeface="+mn-lt"/>
                <a:ea typeface="+mn-ea"/>
                <a:cs typeface="+mn-cs"/>
              </a:rPr>
              <a:t>, будет освобождать монитор </a:t>
            </a:r>
            <a:r>
              <a:rPr lang="en-US" dirty="0"/>
              <a:t>obj</a:t>
            </a:r>
            <a:r>
              <a:rPr lang="ru-RU" sz="1200" b="0" i="0" kern="1200" dirty="0">
                <a:solidFill>
                  <a:schemeClr val="tx1"/>
                </a:solidFill>
                <a:effectLst/>
                <a:latin typeface="+mn-lt"/>
                <a:ea typeface="+mn-ea"/>
                <a:cs typeface="+mn-cs"/>
              </a:rPr>
              <a:t>, но становиться в очередь потоков, ожидающих уведомления по монитору </a:t>
            </a:r>
            <a:r>
              <a:rPr lang="en-US" dirty="0"/>
              <a:t>obj</a:t>
            </a:r>
            <a:r>
              <a:rPr lang="ru-RU"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Поток </a:t>
            </a:r>
            <a:r>
              <a:rPr lang="en-US" dirty="0"/>
              <a:t>Producer</a:t>
            </a:r>
            <a:r>
              <a:rPr lang="ru-RU" sz="1200" b="0" i="0" kern="1200" dirty="0">
                <a:solidFill>
                  <a:schemeClr val="tx1"/>
                </a:solidFill>
                <a:effectLst/>
                <a:latin typeface="+mn-lt"/>
                <a:ea typeface="+mn-ea"/>
                <a:cs typeface="+mn-cs"/>
              </a:rPr>
              <a:t> входит в блок синхронизации по </a:t>
            </a:r>
            <a:r>
              <a:rPr lang="en-US" dirty="0"/>
              <a:t>obj</a:t>
            </a:r>
            <a:r>
              <a:rPr lang="ru-RU" sz="1200" b="0" i="0" kern="1200" dirty="0">
                <a:solidFill>
                  <a:schemeClr val="tx1"/>
                </a:solidFill>
                <a:effectLst/>
                <a:latin typeface="+mn-lt"/>
                <a:ea typeface="+mn-ea"/>
                <a:cs typeface="+mn-cs"/>
              </a:rPr>
              <a:t> и выполняет уведомление потока по монитору. После того, как уведомление отправлено, поток </a:t>
            </a:r>
            <a:r>
              <a:rPr lang="en-US" dirty="0"/>
              <a:t>Producer</a:t>
            </a:r>
            <a:r>
              <a:rPr lang="ru-RU" sz="1200" b="0" i="0" kern="1200" dirty="0">
                <a:solidFill>
                  <a:schemeClr val="tx1"/>
                </a:solidFill>
                <a:effectLst/>
                <a:latin typeface="+mn-lt"/>
                <a:ea typeface="+mn-ea"/>
                <a:cs typeface="+mn-cs"/>
              </a:rPr>
              <a:t> освобождает монитор </a:t>
            </a:r>
            <a:r>
              <a:rPr lang="en-US" dirty="0"/>
              <a:t>obj</a:t>
            </a:r>
            <a:r>
              <a:rPr lang="ru-RU" sz="1200" b="0" i="0" kern="1200" dirty="0">
                <a:solidFill>
                  <a:schemeClr val="tx1"/>
                </a:solidFill>
                <a:effectLst/>
                <a:latin typeface="+mn-lt"/>
                <a:ea typeface="+mn-ea"/>
                <a:cs typeface="+mn-cs"/>
              </a:rPr>
              <a:t>, а новый поток (который ранее ждал) дождавшись освобождения монитора </a:t>
            </a:r>
            <a:r>
              <a:rPr lang="en-US" dirty="0"/>
              <a:t>obj</a:t>
            </a:r>
            <a:r>
              <a:rPr lang="ru-RU" sz="1200" b="0" i="0" kern="1200" dirty="0">
                <a:solidFill>
                  <a:schemeClr val="tx1"/>
                </a:solidFill>
                <a:effectLst/>
                <a:latin typeface="+mn-lt"/>
                <a:ea typeface="+mn-ea"/>
                <a:cs typeface="+mn-cs"/>
              </a:rPr>
              <a:t>, продолжает выполнение.</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С другой стороны, </a:t>
            </a:r>
            <a:r>
              <a:rPr lang="ru-RU" sz="1200" b="0" i="0" kern="1200" dirty="0" err="1">
                <a:solidFill>
                  <a:schemeClr val="tx1"/>
                </a:solidFill>
                <a:effectLst/>
                <a:latin typeface="+mn-lt"/>
                <a:ea typeface="+mn-ea"/>
                <a:cs typeface="+mn-cs"/>
              </a:rPr>
              <a:t>sleep</a:t>
            </a:r>
            <a:r>
              <a:rPr lang="ru-RU" sz="1200" b="0" i="0" kern="1200" dirty="0">
                <a:solidFill>
                  <a:schemeClr val="tx1"/>
                </a:solidFill>
                <a:effectLst/>
                <a:latin typeface="+mn-lt"/>
                <a:ea typeface="+mn-ea"/>
                <a:cs typeface="+mn-cs"/>
              </a:rPr>
              <a:t>() — это статический метод класса </a:t>
            </a:r>
            <a:r>
              <a:rPr lang="ru-RU" sz="1200" b="0" i="0" kern="1200" dirty="0" err="1">
                <a:solidFill>
                  <a:schemeClr val="tx1"/>
                </a:solidFill>
                <a:effectLst/>
                <a:latin typeface="+mn-lt"/>
                <a:ea typeface="+mn-ea"/>
                <a:cs typeface="+mn-cs"/>
              </a:rPr>
              <a:t>Thread</a:t>
            </a:r>
            <a:r>
              <a:rPr lang="ru-RU" sz="1200" b="0" i="0" kern="1200" dirty="0">
                <a:solidFill>
                  <a:schemeClr val="tx1"/>
                </a:solidFill>
                <a:effectLst/>
                <a:latin typeface="+mn-lt"/>
                <a:ea typeface="+mn-ea"/>
                <a:cs typeface="+mn-cs"/>
              </a:rPr>
              <a:t>, который заставляет текущий поток приостановить выполнение на определенное количество времени. В отличие от </a:t>
            </a:r>
            <a:r>
              <a:rPr lang="ru-RU" sz="1200" b="0" i="0" kern="1200" dirty="0" err="1">
                <a:solidFill>
                  <a:schemeClr val="tx1"/>
                </a:solidFill>
                <a:effectLst/>
                <a:latin typeface="+mn-lt"/>
                <a:ea typeface="+mn-ea"/>
                <a:cs typeface="+mn-cs"/>
              </a:rPr>
              <a:t>wait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sleep</a:t>
            </a:r>
            <a:r>
              <a:rPr lang="ru-RU" sz="1200" b="0" i="0" kern="1200" dirty="0">
                <a:solidFill>
                  <a:schemeClr val="tx1"/>
                </a:solidFill>
                <a:effectLst/>
                <a:latin typeface="+mn-lt"/>
                <a:ea typeface="+mn-ea"/>
                <a:cs typeface="+mn-cs"/>
              </a:rPr>
              <a:t>() не зависит от какого-либо конкретного объекта и не включает в себя механизм синхронизации. Поток, вызвавший </a:t>
            </a:r>
            <a:r>
              <a:rPr lang="ru-RU" sz="1200" b="0" i="0" kern="1200" dirty="0" err="1">
                <a:solidFill>
                  <a:schemeClr val="tx1"/>
                </a:solidFill>
                <a:effectLst/>
                <a:latin typeface="+mn-lt"/>
                <a:ea typeface="+mn-ea"/>
                <a:cs typeface="+mn-cs"/>
              </a:rPr>
              <a:t>sleep</a:t>
            </a:r>
            <a:r>
              <a:rPr lang="ru-RU" sz="1200" b="0" i="0" kern="1200" dirty="0">
                <a:solidFill>
                  <a:schemeClr val="tx1"/>
                </a:solidFill>
                <a:effectLst/>
                <a:latin typeface="+mn-lt"/>
                <a:ea typeface="+mn-ea"/>
                <a:cs typeface="+mn-cs"/>
              </a:rPr>
              <a:t>(), будет заблокирован на заданный период времени, но при этом он не освобождает блокировку объектов, которые он может держать.</a:t>
            </a:r>
          </a:p>
        </p:txBody>
      </p:sp>
      <p:sp>
        <p:nvSpPr>
          <p:cNvPr id="4" name="Slide Number Placeholder 3"/>
          <p:cNvSpPr>
            <a:spLocks noGrp="1"/>
          </p:cNvSpPr>
          <p:nvPr>
            <p:ph type="sldNum" sz="quarter" idx="10"/>
          </p:nvPr>
        </p:nvSpPr>
        <p:spPr/>
        <p:txBody>
          <a:bodyPr/>
          <a:lstStyle/>
          <a:p>
            <a:fld id="{9C003A2D-F27E-469C-ADB1-04668A9E28C3}" type="slidenum">
              <a:rPr lang="ru-RU" smtClean="0"/>
              <a:t>22</a:t>
            </a:fld>
            <a:endParaRPr lang="ru-RU"/>
          </a:p>
        </p:txBody>
      </p:sp>
    </p:spTree>
    <p:extLst>
      <p:ext uri="{BB962C8B-B14F-4D97-AF65-F5344CB8AC3E}">
        <p14:creationId xmlns:p14="http://schemas.microsoft.com/office/powerpoint/2010/main" val="1960268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1" i="0" kern="1200" dirty="0" err="1">
                <a:solidFill>
                  <a:schemeClr val="tx1"/>
                </a:solidFill>
                <a:effectLst/>
                <a:latin typeface="+mn-lt"/>
                <a:ea typeface="+mn-ea"/>
                <a:cs typeface="+mn-cs"/>
              </a:rPr>
              <a:t>New</a:t>
            </a:r>
            <a:r>
              <a:rPr lang="ru-RU" sz="1200" b="0" i="1"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 когда создается экземпляр класса </a:t>
            </a:r>
            <a:r>
              <a:rPr lang="ru-RU" sz="1200" b="0" i="0" kern="1200" dirty="0" err="1">
                <a:solidFill>
                  <a:schemeClr val="tx1"/>
                </a:solidFill>
                <a:effectLst/>
                <a:latin typeface="+mn-lt"/>
                <a:ea typeface="+mn-ea"/>
                <a:cs typeface="+mn-cs"/>
              </a:rPr>
              <a:t>Thread</a:t>
            </a:r>
            <a:r>
              <a:rPr lang="ru-RU" sz="1200" b="0" i="0" kern="1200" dirty="0">
                <a:solidFill>
                  <a:schemeClr val="tx1"/>
                </a:solidFill>
                <a:effectLst/>
                <a:latin typeface="+mn-lt"/>
                <a:ea typeface="+mn-ea"/>
                <a:cs typeface="+mn-cs"/>
              </a:rPr>
              <a:t>, поток находится в состоянии </a:t>
            </a:r>
            <a:r>
              <a:rPr lang="ru-RU" sz="1200" b="0" i="0" kern="1200" dirty="0" err="1">
                <a:solidFill>
                  <a:schemeClr val="tx1"/>
                </a:solidFill>
                <a:effectLst/>
                <a:latin typeface="+mn-lt"/>
                <a:ea typeface="+mn-ea"/>
                <a:cs typeface="+mn-cs"/>
              </a:rPr>
              <a:t>new</a:t>
            </a:r>
            <a:r>
              <a:rPr lang="ru-RU" sz="1200" b="0" i="0" kern="1200" dirty="0">
                <a:solidFill>
                  <a:schemeClr val="tx1"/>
                </a:solidFill>
                <a:effectLst/>
                <a:latin typeface="+mn-lt"/>
                <a:ea typeface="+mn-ea"/>
                <a:cs typeface="+mn-cs"/>
              </a:rPr>
              <a:t>. Он пока еще не работает.</a:t>
            </a:r>
          </a:p>
          <a:p>
            <a:r>
              <a:rPr lang="ru-RU" sz="1200" b="1" i="0" kern="1200" dirty="0" err="1">
                <a:solidFill>
                  <a:schemeClr val="tx1"/>
                </a:solidFill>
                <a:effectLst/>
                <a:latin typeface="+mn-lt"/>
                <a:ea typeface="+mn-ea"/>
                <a:cs typeface="+mn-cs"/>
              </a:rPr>
              <a:t>Running</a:t>
            </a:r>
            <a:r>
              <a:rPr lang="ru-RU" sz="1200" b="0" i="1"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 поток запущен и процессор начинает его выполнение. Во время выполнения состояние потока также может измениться на </a:t>
            </a:r>
            <a:r>
              <a:rPr lang="ru-RU" sz="1200" b="0" i="0" kern="1200" dirty="0" err="1">
                <a:solidFill>
                  <a:schemeClr val="tx1"/>
                </a:solidFill>
                <a:effectLst/>
                <a:latin typeface="+mn-lt"/>
                <a:ea typeface="+mn-ea"/>
                <a:cs typeface="+mn-cs"/>
              </a:rPr>
              <a:t>Runnable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Dead</a:t>
            </a:r>
            <a:r>
              <a:rPr lang="ru-RU" sz="1200" b="0" i="0" kern="1200" dirty="0">
                <a:solidFill>
                  <a:schemeClr val="tx1"/>
                </a:solidFill>
                <a:effectLst/>
                <a:latin typeface="+mn-lt"/>
                <a:ea typeface="+mn-ea"/>
                <a:cs typeface="+mn-cs"/>
              </a:rPr>
              <a:t> или </a:t>
            </a:r>
            <a:r>
              <a:rPr lang="ru-RU" sz="1200" b="0" i="0" kern="1200" dirty="0" err="1">
                <a:solidFill>
                  <a:schemeClr val="tx1"/>
                </a:solidFill>
                <a:effectLst/>
                <a:latin typeface="+mn-lt"/>
                <a:ea typeface="+mn-ea"/>
                <a:cs typeface="+mn-cs"/>
              </a:rPr>
              <a:t>Blocked</a:t>
            </a:r>
            <a:r>
              <a:rPr lang="ru-RU"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Waiting</a:t>
            </a:r>
            <a:r>
              <a:rPr lang="ru-RU" sz="1200" b="0" i="0" kern="1200" dirty="0">
                <a:solidFill>
                  <a:schemeClr val="tx1"/>
                </a:solidFill>
                <a:effectLst/>
                <a:latin typeface="+mn-lt"/>
                <a:ea typeface="+mn-ea"/>
                <a:cs typeface="+mn-cs"/>
              </a:rPr>
              <a:t> — запущенный поток приостанавливает свою работу, затем можно возобновить его выполнение. Поток начнет работать с того места, где его остановили.</a:t>
            </a:r>
          </a:p>
          <a:p>
            <a:r>
              <a:rPr lang="ru-RU" sz="1200" b="1" i="0" kern="1200" dirty="0" err="1">
                <a:solidFill>
                  <a:schemeClr val="tx1"/>
                </a:solidFill>
                <a:effectLst/>
                <a:latin typeface="+mn-lt"/>
                <a:ea typeface="+mn-ea"/>
                <a:cs typeface="+mn-cs"/>
              </a:rPr>
              <a:t>Blocked</a:t>
            </a:r>
            <a:r>
              <a:rPr lang="ru-RU" sz="1200" b="0" i="0" kern="1200" dirty="0">
                <a:solidFill>
                  <a:schemeClr val="tx1"/>
                </a:solidFill>
                <a:effectLst/>
                <a:latin typeface="+mn-lt"/>
                <a:ea typeface="+mn-ea"/>
                <a:cs typeface="+mn-cs"/>
              </a:rPr>
              <a:t> — поток ожидает высвобождения ресурсов или завершение операции ввода-вывода. Находясь в этом состоянии поток не потребляет процессорное время.</a:t>
            </a:r>
          </a:p>
          <a:p>
            <a:r>
              <a:rPr lang="ru-RU" sz="1200" b="1" i="0" kern="1200" dirty="0" err="1">
                <a:solidFill>
                  <a:schemeClr val="tx1"/>
                </a:solidFill>
                <a:effectLst/>
                <a:latin typeface="+mn-lt"/>
                <a:ea typeface="+mn-ea"/>
                <a:cs typeface="+mn-cs"/>
              </a:rPr>
              <a:t>Terminated</a:t>
            </a:r>
            <a:r>
              <a:rPr lang="ru-RU" sz="1200" b="0" i="0" kern="1200" dirty="0">
                <a:solidFill>
                  <a:schemeClr val="tx1"/>
                </a:solidFill>
                <a:effectLst/>
                <a:latin typeface="+mn-lt"/>
                <a:ea typeface="+mn-ea"/>
                <a:cs typeface="+mn-cs"/>
              </a:rPr>
              <a:t> — поток немедленно завершает свое выполнение. Его работу нельзя возобновить. Причинами завершения потока могут быть ситуации, когда код потока полностью выполнен или во время выполнения потока произошла ошибка (например, ошибка сегментации или необработанного исключения).</a:t>
            </a:r>
          </a:p>
        </p:txBody>
      </p:sp>
      <p:sp>
        <p:nvSpPr>
          <p:cNvPr id="4" name="Slide Number Placeholder 3"/>
          <p:cNvSpPr>
            <a:spLocks noGrp="1"/>
          </p:cNvSpPr>
          <p:nvPr>
            <p:ph type="sldNum" sz="quarter" idx="5"/>
          </p:nvPr>
        </p:nvSpPr>
        <p:spPr/>
        <p:txBody>
          <a:bodyPr/>
          <a:lstStyle/>
          <a:p>
            <a:fld id="{9C003A2D-F27E-469C-ADB1-04668A9E28C3}" type="slidenum">
              <a:rPr lang="ru-RU" smtClean="0"/>
              <a:t>23</a:t>
            </a:fld>
            <a:endParaRPr lang="ru-RU"/>
          </a:p>
        </p:txBody>
      </p:sp>
    </p:spTree>
    <p:extLst>
      <p:ext uri="{BB962C8B-B14F-4D97-AF65-F5344CB8AC3E}">
        <p14:creationId xmlns:p14="http://schemas.microsoft.com/office/powerpoint/2010/main" val="2179465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Многопоточность недаром считается сложной темой. Ведь при неправильном использовании она создает проблемы вместо того, чтобы решать их.</a:t>
            </a:r>
            <a:endParaRPr lang="ru-RU" sz="1200" b="0" u="none" strike="noStrike" dirty="0">
              <a:solidFill>
                <a:schemeClr val="dk1"/>
              </a:solidFill>
              <a:uFillTx/>
              <a:latin typeface="+mn-lt"/>
            </a:endParaRPr>
          </a:p>
        </p:txBody>
      </p:sp>
      <p:sp>
        <p:nvSpPr>
          <p:cNvPr id="4" name="Slide Number Placeholder 3"/>
          <p:cNvSpPr>
            <a:spLocks noGrp="1"/>
          </p:cNvSpPr>
          <p:nvPr>
            <p:ph type="sldNum" sz="quarter" idx="5"/>
          </p:nvPr>
        </p:nvSpPr>
        <p:spPr/>
        <p:txBody>
          <a:bodyPr/>
          <a:lstStyle/>
          <a:p>
            <a:fld id="{9C003A2D-F27E-469C-ADB1-04668A9E28C3}" type="slidenum">
              <a:rPr lang="ru-RU" smtClean="0"/>
              <a:t>24</a:t>
            </a:fld>
            <a:endParaRPr lang="ru-RU"/>
          </a:p>
        </p:txBody>
      </p:sp>
    </p:spTree>
    <p:extLst>
      <p:ext uri="{BB962C8B-B14F-4D97-AF65-F5344CB8AC3E}">
        <p14:creationId xmlns:p14="http://schemas.microsoft.com/office/powerpoint/2010/main" val="26593982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Race conditions:</a:t>
            </a:r>
            <a:endParaRPr lang="ru-RU" dirty="0"/>
          </a:p>
          <a:p>
            <a:r>
              <a:rPr lang="ru-RU" sz="1200" b="0" i="0" kern="1200" dirty="0">
                <a:solidFill>
                  <a:schemeClr val="tx1"/>
                </a:solidFill>
                <a:effectLst/>
                <a:latin typeface="+mn-lt"/>
                <a:ea typeface="+mn-ea"/>
                <a:cs typeface="+mn-cs"/>
              </a:rPr>
              <a:t>Один мужик идет вдоль улицы и копает ямы, за ним второй эти ямы закапывает. Прохожий удивляется:</a:t>
            </a:r>
            <a:br>
              <a:rPr lang="ru-RU" dirty="0"/>
            </a:br>
            <a:r>
              <a:rPr lang="ru-RU" sz="1200" b="0" i="0" kern="1200" dirty="0">
                <a:solidFill>
                  <a:schemeClr val="tx1"/>
                </a:solidFill>
                <a:effectLst/>
                <a:latin typeface="+mn-lt"/>
                <a:ea typeface="+mn-ea"/>
                <a:cs typeface="+mn-cs"/>
              </a:rPr>
              <a:t>- Вы что делаете, идиоты? Один копает, второй закапывает?</a:t>
            </a:r>
            <a:br>
              <a:rPr lang="ru-RU" dirty="0"/>
            </a:br>
            <a:r>
              <a:rPr lang="ru-RU" sz="1200" b="0" i="0" kern="1200" dirty="0">
                <a:solidFill>
                  <a:schemeClr val="tx1"/>
                </a:solidFill>
                <a:effectLst/>
                <a:latin typeface="+mn-lt"/>
                <a:ea typeface="+mn-ea"/>
                <a:cs typeface="+mn-cs"/>
              </a:rPr>
              <a:t>- Я не второй, я третий. Второй не вышел на работу, он должен был деревья сажать.</a:t>
            </a:r>
          </a:p>
          <a:p>
            <a:endParaRPr lang="en-US" dirty="0"/>
          </a:p>
          <a:p>
            <a:r>
              <a:rPr lang="en-US" dirty="0"/>
              <a:t>Deadlock:</a:t>
            </a:r>
          </a:p>
          <a:p>
            <a:r>
              <a:rPr lang="ru-RU" sz="1200" b="0" i="0" kern="1200" dirty="0">
                <a:solidFill>
                  <a:schemeClr val="tx1"/>
                </a:solidFill>
                <a:effectLst/>
                <a:latin typeface="+mn-lt"/>
                <a:ea typeface="+mn-ea"/>
                <a:cs typeface="+mn-cs"/>
              </a:rPr>
              <a:t>«В некоторых штатах Индии вам не продадут землю сельскохозяйственного назначения, если вы не зарегистрированы как фермер. При этом вас не зарегистрируют в качестве фермера, если вы не владеете сельскохозяйственными землями».</a:t>
            </a:r>
            <a:endParaRPr lang="en-US" dirty="0">
              <a:effectLst/>
            </a:endParaRPr>
          </a:p>
          <a:p>
            <a:endParaRPr lang="ru-RU" dirty="0">
              <a:effectLst/>
            </a:endParaRPr>
          </a:p>
          <a:p>
            <a:r>
              <a:rPr lang="en-US" dirty="0" err="1">
                <a:effectLst/>
              </a:rPr>
              <a:t>Livelock</a:t>
            </a:r>
            <a:r>
              <a:rPr lang="en-US" dirty="0">
                <a:effectLst/>
              </a:rPr>
              <a:t>:</a:t>
            </a:r>
          </a:p>
          <a:p>
            <a:r>
              <a:rPr lang="ru-RU" sz="1200" b="0" i="0" kern="1200" dirty="0">
                <a:solidFill>
                  <a:schemeClr val="tx1"/>
                </a:solidFill>
                <a:effectLst/>
                <a:latin typeface="+mn-lt"/>
                <a:ea typeface="+mn-ea"/>
                <a:cs typeface="+mn-cs"/>
              </a:rPr>
              <a:t>двое встречаются лицом к лицу на узкой дороге. Каждый из них пытается посторониться, но они не расходятся, а несколько секунд сдвигаются в одну и ту же сторону.</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Starvation:</a:t>
            </a:r>
          </a:p>
          <a:p>
            <a:r>
              <a:rPr lang="ru-RU" sz="1200" b="0" i="0" kern="1200" dirty="0">
                <a:solidFill>
                  <a:schemeClr val="tx1"/>
                </a:solidFill>
                <a:effectLst/>
                <a:latin typeface="+mn-lt"/>
                <a:ea typeface="+mn-ea"/>
                <a:cs typeface="+mn-cs"/>
              </a:rPr>
              <a:t>Когда множество потоков постоянно находятся в борьбе за один критический ресурс, то все ждут, пока кто-то один освободит этот ресурс. Потом из ждущих по какому-либо алгоритму выбирается только кто-то один, кто следующим захватит ресурс. Таким образом, может найтись один такой поток, который никогда не получит доступ к ресурсу, потому что другие потоки постоянно захватывают ресурс раньше него.</a:t>
            </a:r>
          </a:p>
        </p:txBody>
      </p:sp>
      <p:sp>
        <p:nvSpPr>
          <p:cNvPr id="4" name="Slide Number Placeholder 3"/>
          <p:cNvSpPr>
            <a:spLocks noGrp="1"/>
          </p:cNvSpPr>
          <p:nvPr>
            <p:ph type="sldNum" sz="quarter" idx="5"/>
          </p:nvPr>
        </p:nvSpPr>
        <p:spPr/>
        <p:txBody>
          <a:bodyPr/>
          <a:lstStyle/>
          <a:p>
            <a:fld id="{9C003A2D-F27E-469C-ADB1-04668A9E28C3}" type="slidenum">
              <a:rPr lang="ru-RU" smtClean="0"/>
              <a:t>25</a:t>
            </a:fld>
            <a:endParaRPr lang="ru-RU"/>
          </a:p>
        </p:txBody>
      </p:sp>
    </p:spTree>
    <p:extLst>
      <p:ext uri="{BB962C8B-B14F-4D97-AF65-F5344CB8AC3E}">
        <p14:creationId xmlns:p14="http://schemas.microsoft.com/office/powerpoint/2010/main" val="1846292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Что еще может породить проблемы при использовании нескольких потоков</a:t>
            </a:r>
          </a:p>
          <a:p>
            <a:r>
              <a:rPr lang="ru-RU" sz="1200" b="0" i="0" kern="1200" dirty="0">
                <a:solidFill>
                  <a:schemeClr val="tx1"/>
                </a:solidFill>
                <a:effectLst/>
                <a:latin typeface="+mn-lt"/>
                <a:ea typeface="+mn-ea"/>
                <a:cs typeface="+mn-cs"/>
              </a:rPr>
              <a:t>оптимизации делаются с целью повысить производительность программ:</a:t>
            </a:r>
          </a:p>
          <a:p>
            <a:br>
              <a:rPr lang="ru-RU" dirty="0"/>
            </a:br>
            <a:r>
              <a:rPr lang="ru-RU" sz="1200" b="0" i="0" kern="1200" dirty="0">
                <a:solidFill>
                  <a:schemeClr val="tx1"/>
                </a:solidFill>
                <a:effectLst/>
                <a:latin typeface="+mn-lt"/>
                <a:ea typeface="+mn-ea"/>
                <a:cs typeface="+mn-cs"/>
              </a:rPr>
              <a:t>Переупорядочивание необходимо для того, чтобы найти самый оптимальный путь к выполнению кода, учитывая стоимость выполнения процессорных инструкций. Например, процессор может инициировать загрузку значения из памяти заранее, даже если в порядке программы это чтение идет позднее. Операции чтения из памяти стоят дорого, поэтому эта оптимизация позволяет максимально эффективно утилизировать процессор, избежав простаивания, когда это чтение действительно понадобится</a:t>
            </a:r>
          </a:p>
          <a:p>
            <a:r>
              <a:rPr lang="ru-RU" sz="1200" b="0" i="0" kern="1200" dirty="0">
                <a:solidFill>
                  <a:schemeClr val="tx1"/>
                </a:solidFill>
                <a:effectLst/>
                <a:latin typeface="+mn-lt"/>
                <a:ea typeface="+mn-ea"/>
                <a:cs typeface="+mn-cs"/>
              </a:rPr>
              <a:t>Чтение из регистра и кэша стоит сильно дешевле, чем чтение из памяти. </a:t>
            </a:r>
          </a:p>
          <a:p>
            <a:r>
              <a:rPr lang="ru-RU" sz="1200" b="0" i="0" kern="1200" dirty="0">
                <a:solidFill>
                  <a:schemeClr val="tx1"/>
                </a:solidFill>
                <a:effectLst/>
                <a:latin typeface="+mn-lt"/>
                <a:ea typeface="+mn-ea"/>
                <a:cs typeface="+mn-cs"/>
              </a:rPr>
              <a:t>Операция в общей области памяти называется атомарной, если она завершается в один шаг относительно других потоков, имеющих доступ к этой памяти. Во время выполнения такой операции над переменной, ни один поток не может наблюдать изменение наполовину завершенным. </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26</a:t>
            </a:fld>
            <a:endParaRPr lang="ru-RU"/>
          </a:p>
        </p:txBody>
      </p:sp>
    </p:spTree>
    <p:extLst>
      <p:ext uri="{BB962C8B-B14F-4D97-AF65-F5344CB8AC3E}">
        <p14:creationId xmlns:p14="http://schemas.microsoft.com/office/powerpoint/2010/main" val="37833959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на некоторых платформах операции записи значения в переменную могут оказаться неатомарными. То есть, пока идёт запись значения старшие и младшие 32 бита отдельно</a:t>
            </a:r>
            <a:endParaRPr lang="ru-RU"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вызовом </a:t>
            </a:r>
            <a:r>
              <a:rPr lang="ru-RU" dirty="0"/>
              <a:t>i++</a:t>
            </a:r>
            <a:r>
              <a:rPr lang="ru-RU" sz="1200" b="0" i="0" kern="1200" dirty="0">
                <a:solidFill>
                  <a:schemeClr val="tx1"/>
                </a:solidFill>
                <a:effectLst/>
                <a:latin typeface="+mn-lt"/>
                <a:ea typeface="+mn-ea"/>
                <a:cs typeface="+mn-cs"/>
              </a:rPr>
              <a:t> скрывается несколько последовательных операций. Переменная сперва считывается из памяти, затем увеличивается на единицу, а результат снова записывается в </a:t>
            </a:r>
            <a:r>
              <a:rPr lang="ru-RU" sz="1200" b="0" i="0" kern="1200" dirty="0" err="1">
                <a:solidFill>
                  <a:schemeClr val="tx1"/>
                </a:solidFill>
                <a:effectLst/>
                <a:latin typeface="+mn-lt"/>
                <a:ea typeface="+mn-ea"/>
                <a:cs typeface="+mn-cs"/>
              </a:rPr>
              <a:t>память.одним</a:t>
            </a:r>
            <a:r>
              <a:rPr lang="ru-RU" sz="1200" b="0" i="0" kern="1200" dirty="0">
                <a:solidFill>
                  <a:schemeClr val="tx1"/>
                </a:solidFill>
                <a:effectLst/>
                <a:latin typeface="+mn-lt"/>
                <a:ea typeface="+mn-ea"/>
                <a:cs typeface="+mn-cs"/>
              </a:rPr>
              <a:t> потоком, другой поток может увидеть какое-то промежуточное состояние. </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27</a:t>
            </a:fld>
            <a:endParaRPr lang="ru-RU"/>
          </a:p>
        </p:txBody>
      </p:sp>
    </p:spTree>
    <p:extLst>
      <p:ext uri="{BB962C8B-B14F-4D97-AF65-F5344CB8AC3E}">
        <p14:creationId xmlns:p14="http://schemas.microsoft.com/office/powerpoint/2010/main" val="3664061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Если переменную сделать </a:t>
            </a:r>
            <a:r>
              <a:rPr lang="ru-RU" dirty="0" err="1"/>
              <a:t>volatile</a:t>
            </a:r>
            <a:r>
              <a:rPr lang="ru-RU" dirty="0"/>
              <a:t>, то запись и чтение происходит атомарно. НО если, происходит какая-то операция, например, </a:t>
            </a:r>
            <a:r>
              <a:rPr lang="ru-RU" dirty="0" err="1"/>
              <a:t>инкримент</a:t>
            </a:r>
            <a:r>
              <a:rPr lang="ru-RU" dirty="0"/>
              <a:t>, то уже атомарность не обеспечивается, потому что это сначала выполняется чтение(1), потом изменение(2) в локальной памяти, а затем запись(3). Такая операция не является атомарной и в неё может вклиниться поток по середине.</a:t>
            </a:r>
          </a:p>
        </p:txBody>
      </p:sp>
      <p:sp>
        <p:nvSpPr>
          <p:cNvPr id="4" name="Slide Number Placeholder 3"/>
          <p:cNvSpPr>
            <a:spLocks noGrp="1"/>
          </p:cNvSpPr>
          <p:nvPr>
            <p:ph type="sldNum" sz="quarter" idx="5"/>
          </p:nvPr>
        </p:nvSpPr>
        <p:spPr/>
        <p:txBody>
          <a:bodyPr/>
          <a:lstStyle/>
          <a:p>
            <a:fld id="{9C003A2D-F27E-469C-ADB1-04668A9E28C3}" type="slidenum">
              <a:rPr lang="ru-RU" smtClean="0"/>
              <a:t>28</a:t>
            </a:fld>
            <a:endParaRPr lang="ru-RU"/>
          </a:p>
        </p:txBody>
      </p:sp>
    </p:spTree>
    <p:extLst>
      <p:ext uri="{BB962C8B-B14F-4D97-AF65-F5344CB8AC3E}">
        <p14:creationId xmlns:p14="http://schemas.microsoft.com/office/powerpoint/2010/main" val="12055974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В целях повышения производительности спецификация языка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допускает сохранение локальной копии переменной для каждого потока, который на нее ссылается. Такие "локальные" копии переменных напоминают кэш и помогают потоку избежать обращения к главной памяти каждый раз, когда требуется получить значение переменной.</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Но у всего есть и минус: данные в кэше могут быть не актуальны. Может возникнуть ситуация, что один поток изменит значение общей переменной, а второй поток будет продолжать работать с ее </a:t>
            </a:r>
            <a:r>
              <a:rPr lang="ru-RU" sz="1200" b="1" i="0" kern="1200" dirty="0">
                <a:solidFill>
                  <a:schemeClr val="tx1"/>
                </a:solidFill>
                <a:effectLst/>
                <a:latin typeface="+mn-lt"/>
                <a:ea typeface="+mn-ea"/>
                <a:cs typeface="+mn-cs"/>
              </a:rPr>
              <a:t>старым значением</a:t>
            </a:r>
            <a:r>
              <a:rPr lang="ru-RU" sz="1200" b="0" i="0" kern="1200" dirty="0">
                <a:solidFill>
                  <a:schemeClr val="tx1"/>
                </a:solidFill>
                <a:effectLst/>
                <a:latin typeface="+mn-lt"/>
                <a:ea typeface="+mn-ea"/>
                <a:cs typeface="+mn-cs"/>
              </a:rPr>
              <a:t> из своего </a:t>
            </a:r>
            <a:r>
              <a:rPr lang="ru-RU" sz="1200" b="1" i="0" kern="1200" dirty="0">
                <a:solidFill>
                  <a:schemeClr val="tx1"/>
                </a:solidFill>
                <a:effectLst/>
                <a:latin typeface="+mn-lt"/>
                <a:ea typeface="+mn-ea"/>
                <a:cs typeface="+mn-cs"/>
              </a:rPr>
              <a:t>кэша</a:t>
            </a:r>
            <a:r>
              <a:rPr lang="ru-RU"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Ключевое слово </a:t>
            </a:r>
            <a:r>
              <a:rPr lang="ru-RU" dirty="0" err="1"/>
              <a:t>volatile</a:t>
            </a:r>
            <a:r>
              <a:rPr lang="ru-RU" sz="1200" b="0" i="0" kern="1200" dirty="0">
                <a:solidFill>
                  <a:schemeClr val="tx1"/>
                </a:solidFill>
                <a:effectLst/>
                <a:latin typeface="+mn-lt"/>
                <a:ea typeface="+mn-ea"/>
                <a:cs typeface="+mn-cs"/>
              </a:rPr>
              <a:t> указывает JVM, что переменную кэшировать не нужно. Это позволяет увидеть актуальный результат во всех потоках.</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Важно отметить, что ключевое слово </a:t>
            </a:r>
            <a:r>
              <a:rPr lang="ru-RU" sz="1200" b="0" i="0" kern="1200" dirty="0" err="1">
                <a:solidFill>
                  <a:schemeClr val="tx1"/>
                </a:solidFill>
                <a:effectLst/>
                <a:latin typeface="+mn-lt"/>
                <a:ea typeface="+mn-ea"/>
                <a:cs typeface="+mn-cs"/>
              </a:rPr>
              <a:t>volatile</a:t>
            </a:r>
            <a:r>
              <a:rPr lang="ru-RU" sz="1200" b="0" i="0" kern="1200" dirty="0">
                <a:solidFill>
                  <a:schemeClr val="tx1"/>
                </a:solidFill>
                <a:effectLst/>
                <a:latin typeface="+mn-lt"/>
                <a:ea typeface="+mn-ea"/>
                <a:cs typeface="+mn-cs"/>
              </a:rPr>
              <a:t> не обеспечивает атомарность</a:t>
            </a:r>
            <a:br>
              <a:rPr lang="ru-RU" dirty="0"/>
            </a:br>
            <a:r>
              <a:rPr lang="ru-RU" sz="1200" b="0" i="0" kern="1200" dirty="0">
                <a:solidFill>
                  <a:schemeClr val="tx1"/>
                </a:solidFill>
                <a:effectLst/>
                <a:latin typeface="+mn-lt"/>
                <a:ea typeface="+mn-ea"/>
                <a:cs typeface="+mn-cs"/>
              </a:rPr>
              <a:t>операций над переменной типа </a:t>
            </a:r>
            <a:r>
              <a:rPr lang="en-US" sz="1200" b="0" i="0" kern="1200" dirty="0">
                <a:solidFill>
                  <a:schemeClr val="tx1"/>
                </a:solidFill>
                <a:effectLst/>
                <a:latin typeface="+mn-lt"/>
                <a:ea typeface="+mn-ea"/>
                <a:cs typeface="+mn-cs"/>
              </a:rPr>
              <a:t>volatile</a:t>
            </a:r>
            <a:r>
              <a:rPr lang="ru-RU" sz="1200" b="0" i="0" kern="1200" dirty="0">
                <a:solidFill>
                  <a:schemeClr val="tx1"/>
                </a:solidFill>
                <a:effectLst/>
                <a:latin typeface="+mn-lt"/>
                <a:ea typeface="+mn-ea"/>
                <a:cs typeface="+mn-cs"/>
              </a:rPr>
              <a:t>, например, </a:t>
            </a:r>
            <a:r>
              <a:rPr lang="ru-RU" dirty="0" err="1"/>
              <a:t>инкримент</a:t>
            </a:r>
            <a:r>
              <a:rPr lang="ru-RU" sz="1200" b="0" i="0" kern="1200" dirty="0">
                <a:solidFill>
                  <a:schemeClr val="tx1"/>
                </a:solidFill>
                <a:effectLst/>
                <a:latin typeface="+mn-lt"/>
                <a:ea typeface="+mn-ea"/>
                <a:cs typeface="+mn-cs"/>
              </a:rPr>
              <a:t>, потому что это сначала выполняется </a:t>
            </a:r>
            <a:r>
              <a:rPr lang="ru-RU" sz="1200" b="1" i="0" kern="1200" dirty="0">
                <a:solidFill>
                  <a:schemeClr val="tx1"/>
                </a:solidFill>
                <a:effectLst/>
                <a:latin typeface="+mn-lt"/>
                <a:ea typeface="+mn-ea"/>
                <a:cs typeface="+mn-cs"/>
              </a:rPr>
              <a:t>чтение(1)</a:t>
            </a:r>
            <a:r>
              <a:rPr lang="ru-RU" sz="1200" b="0" i="0" kern="1200" dirty="0">
                <a:solidFill>
                  <a:schemeClr val="tx1"/>
                </a:solidFill>
                <a:effectLst/>
                <a:latin typeface="+mn-lt"/>
                <a:ea typeface="+mn-ea"/>
                <a:cs typeface="+mn-cs"/>
              </a:rPr>
              <a:t>, потом </a:t>
            </a:r>
            <a:r>
              <a:rPr lang="ru-RU" sz="1200" b="1" i="0" kern="1200" dirty="0">
                <a:solidFill>
                  <a:schemeClr val="tx1"/>
                </a:solidFill>
                <a:effectLst/>
                <a:latin typeface="+mn-lt"/>
                <a:ea typeface="+mn-ea"/>
                <a:cs typeface="+mn-cs"/>
              </a:rPr>
              <a:t>изменение(2)</a:t>
            </a:r>
            <a:r>
              <a:rPr lang="ru-RU" sz="1200" b="0" i="0" kern="1200" dirty="0">
                <a:solidFill>
                  <a:schemeClr val="tx1"/>
                </a:solidFill>
                <a:effectLst/>
                <a:latin typeface="+mn-lt"/>
                <a:ea typeface="+mn-ea"/>
                <a:cs typeface="+mn-cs"/>
              </a:rPr>
              <a:t> в локальной памяти, а затем </a:t>
            </a:r>
            <a:r>
              <a:rPr lang="ru-RU" sz="1200" b="1" i="0" kern="1200" dirty="0">
                <a:solidFill>
                  <a:schemeClr val="tx1"/>
                </a:solidFill>
                <a:effectLst/>
                <a:latin typeface="+mn-lt"/>
                <a:ea typeface="+mn-ea"/>
                <a:cs typeface="+mn-cs"/>
              </a:rPr>
              <a:t>запись(3)</a:t>
            </a:r>
            <a:r>
              <a:rPr lang="ru-RU" sz="1200" b="0" i="0" kern="1200" dirty="0">
                <a:solidFill>
                  <a:schemeClr val="tx1"/>
                </a:solidFill>
                <a:effectLst/>
                <a:latin typeface="+mn-lt"/>
                <a:ea typeface="+mn-ea"/>
                <a:cs typeface="+mn-cs"/>
              </a:rPr>
              <a:t>. Такая операция не является атомарной и в неё может вклиниться поток по середине, </a:t>
            </a:r>
            <a:r>
              <a:rPr lang="ru-RU" sz="1200" b="0" i="0" kern="1200" dirty="0" err="1">
                <a:solidFill>
                  <a:schemeClr val="tx1"/>
                </a:solidFill>
                <a:effectLst/>
                <a:latin typeface="+mn-lt"/>
                <a:ea typeface="+mn-ea"/>
                <a:cs typeface="+mn-cs"/>
              </a:rPr>
              <a:t>т.о</a:t>
            </a:r>
            <a:r>
              <a:rPr lang="ru-RU" sz="1200" b="0" i="0" kern="1200" dirty="0">
                <a:solidFill>
                  <a:schemeClr val="tx1"/>
                </a:solidFill>
                <a:effectLst/>
                <a:latin typeface="+mn-lt"/>
                <a:ea typeface="+mn-ea"/>
                <a:cs typeface="+mn-cs"/>
              </a:rPr>
              <a:t>. может потребоваться дополнительная синхронизация для обеспечения атомарности.</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Если внутреннее состояние объекта может меняться, необходимо обеспечить его </a:t>
            </a:r>
            <a:r>
              <a:rPr lang="ru-RU" sz="1200" b="0" i="0" kern="1200" dirty="0" err="1">
                <a:solidFill>
                  <a:schemeClr val="tx1"/>
                </a:solidFill>
                <a:effectLst/>
                <a:latin typeface="+mn-lt"/>
                <a:ea typeface="+mn-ea"/>
                <a:cs typeface="+mn-cs"/>
              </a:rPr>
              <a:t>потокобезопасность</a:t>
            </a:r>
            <a:r>
              <a:rPr lang="ru-RU" sz="1200" b="0" i="0" kern="1200" dirty="0">
                <a:solidFill>
                  <a:schemeClr val="tx1"/>
                </a:solidFill>
                <a:effectLst/>
                <a:latin typeface="+mn-lt"/>
                <a:ea typeface="+mn-ea"/>
                <a:cs typeface="+mn-cs"/>
              </a:rPr>
              <a:t> другими способами, например, через неизменяемые объекты или синхронизацию.</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C003A2D-F27E-469C-ADB1-04668A9E28C3}" type="slidenum">
              <a:rPr lang="ru-RU" smtClean="0"/>
              <a:t>29</a:t>
            </a:fld>
            <a:endParaRPr lang="ru-RU"/>
          </a:p>
        </p:txBody>
      </p:sp>
    </p:spTree>
    <p:extLst>
      <p:ext uri="{BB962C8B-B14F-4D97-AF65-F5344CB8AC3E}">
        <p14:creationId xmlns:p14="http://schemas.microsoft.com/office/powerpoint/2010/main" val="32583449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Паттерн проектирования — это типовое решение для часто встречающейся задачи на построение приложения.</a:t>
            </a:r>
            <a:endParaRPr lang="en-US" dirty="0"/>
          </a:p>
          <a:p>
            <a:r>
              <a:rPr lang="ru-RU" dirty="0" err="1"/>
              <a:t>Singleton</a:t>
            </a:r>
            <a:r>
              <a:rPr lang="ru-RU" dirty="0"/>
              <a:t> (с англ. «одиночка») — это паттерн проектирования, гарантирующий, что у класса будет только один экземпляр. К этому экземпляру будет предоставлена глобальная, то есть доступная из любой части программы, точка доступа.</a:t>
            </a:r>
          </a:p>
          <a:p>
            <a:endParaRPr lang="ru-RU" dirty="0"/>
          </a:p>
          <a:p>
            <a:pPr fontAlgn="base" latinLnBrk="0"/>
            <a:r>
              <a:rPr lang="ru-RU" sz="1200" b="0" i="0" u="none" strike="noStrike" kern="1200" dirty="0">
                <a:solidFill>
                  <a:schemeClr val="tx1"/>
                </a:solidFill>
                <a:effectLst/>
                <a:latin typeface="+mn-lt"/>
                <a:ea typeface="+mn-ea"/>
                <a:cs typeface="+mn-cs"/>
              </a:rPr>
              <a:t>менеджер паролей. Он создаёт только один объект для каждой учётной записи и возвращает его при запросе — для одной учётной записи не может быть двух разных паролей.</a:t>
            </a:r>
          </a:p>
          <a:p>
            <a:pPr fontAlgn="base" latinLnBrk="0"/>
            <a:r>
              <a:rPr lang="ru-RU" sz="1200" b="1" i="0" u="none" strike="noStrike" kern="1200" dirty="0">
                <a:solidFill>
                  <a:schemeClr val="tx1"/>
                </a:solidFill>
                <a:effectLst/>
                <a:latin typeface="+mn-lt"/>
                <a:ea typeface="+mn-ea"/>
                <a:cs typeface="+mn-cs"/>
              </a:rPr>
              <a:t>Конфигурационные настройки.</a:t>
            </a:r>
            <a:r>
              <a:rPr lang="ru-RU" sz="1200" b="0" i="0" u="none" strike="noStrike" kern="1200" dirty="0">
                <a:solidFill>
                  <a:schemeClr val="tx1"/>
                </a:solidFill>
                <a:effectLst/>
                <a:latin typeface="+mn-lt"/>
                <a:ea typeface="+mn-ea"/>
                <a:cs typeface="+mn-cs"/>
              </a:rPr>
              <a:t> Представим, что у нас есть класс с настройками приложения — параметрами базы данных или внешнего вида интерфейса. Имеет смысл реализовать его как </a:t>
            </a:r>
            <a:r>
              <a:rPr lang="ru-RU" sz="1200" b="0" i="0" u="none" strike="noStrike" kern="1200" dirty="0" err="1">
                <a:solidFill>
                  <a:schemeClr val="tx1"/>
                </a:solidFill>
                <a:effectLst/>
                <a:latin typeface="+mn-lt"/>
                <a:ea typeface="+mn-ea"/>
                <a:cs typeface="+mn-cs"/>
              </a:rPr>
              <a:t>Singleton</a:t>
            </a:r>
            <a:r>
              <a:rPr lang="ru-RU" sz="1200" b="0" i="0" u="none" strike="noStrike" kern="1200" dirty="0">
                <a:solidFill>
                  <a:schemeClr val="tx1"/>
                </a:solidFill>
                <a:effectLst/>
                <a:latin typeface="+mn-lt"/>
                <a:ea typeface="+mn-ea"/>
                <a:cs typeface="+mn-cs"/>
              </a:rPr>
              <a:t>. Это обеспечит одну точку доступа к настройкам, и весь код сможет ссылаться на одни и те же настройки.</a:t>
            </a:r>
          </a:p>
          <a:p>
            <a:pPr fontAlgn="base" latinLnBrk="0"/>
            <a:r>
              <a:rPr lang="ru-RU" sz="1200" b="1" i="0" u="none" strike="noStrike" kern="1200" dirty="0">
                <a:solidFill>
                  <a:schemeClr val="tx1"/>
                </a:solidFill>
                <a:effectLst/>
                <a:latin typeface="+mn-lt"/>
                <a:ea typeface="+mn-ea"/>
                <a:cs typeface="+mn-cs"/>
              </a:rPr>
              <a:t>Подключение к базе данных.</a:t>
            </a:r>
            <a:r>
              <a:rPr lang="ru-RU" sz="1200" b="0" i="0" u="none" strike="noStrike" kern="1200" dirty="0">
                <a:solidFill>
                  <a:schemeClr val="tx1"/>
                </a:solidFill>
                <a:effectLst/>
                <a:latin typeface="+mn-lt"/>
                <a:ea typeface="+mn-ea"/>
                <a:cs typeface="+mn-cs"/>
              </a:rPr>
              <a:t> Если наше приложение использует базу данных, </a:t>
            </a:r>
            <a:r>
              <a:rPr lang="ru-RU" sz="1200" b="0" i="0" u="none" strike="noStrike" kern="1200" dirty="0" err="1">
                <a:solidFill>
                  <a:schemeClr val="tx1"/>
                </a:solidFill>
                <a:effectLst/>
                <a:latin typeface="+mn-lt"/>
                <a:ea typeface="+mn-ea"/>
                <a:cs typeface="+mn-cs"/>
              </a:rPr>
              <a:t>Singleton</a:t>
            </a:r>
            <a:r>
              <a:rPr lang="ru-RU" sz="1200" b="0" i="0" u="none" strike="noStrike" kern="1200" dirty="0">
                <a:solidFill>
                  <a:schemeClr val="tx1"/>
                </a:solidFill>
                <a:effectLst/>
                <a:latin typeface="+mn-lt"/>
                <a:ea typeface="+mn-ea"/>
                <a:cs typeface="+mn-cs"/>
              </a:rPr>
              <a:t> гарантированно создаст только один экземпляр класса, отвечающего за подключение к ней. Так мы предотвратим лишние соединения и упростим подключение в целом.</a:t>
            </a:r>
          </a:p>
          <a:p>
            <a:pPr fontAlgn="base" latinLnBrk="0"/>
            <a:r>
              <a:rPr lang="ru-RU" sz="1200" b="1" i="0" u="none" strike="noStrike" kern="1200" dirty="0">
                <a:solidFill>
                  <a:schemeClr val="tx1"/>
                </a:solidFill>
                <a:effectLst/>
                <a:latin typeface="+mn-lt"/>
                <a:ea typeface="+mn-ea"/>
                <a:cs typeface="+mn-cs"/>
              </a:rPr>
              <a:t>Логирование.</a:t>
            </a:r>
            <a:r>
              <a:rPr lang="ru-RU" sz="1200" b="0" i="0" u="none" strike="noStrike" kern="1200" dirty="0">
                <a:solidFill>
                  <a:schemeClr val="tx1"/>
                </a:solidFill>
                <a:effectLst/>
                <a:latin typeface="+mn-lt"/>
                <a:ea typeface="+mn-ea"/>
                <a:cs typeface="+mn-cs"/>
              </a:rPr>
              <a:t> </a:t>
            </a:r>
            <a:r>
              <a:rPr lang="ru-RU" sz="1200" b="0" i="0" u="none" strike="noStrike" kern="1200" dirty="0" err="1">
                <a:solidFill>
                  <a:schemeClr val="tx1"/>
                </a:solidFill>
                <a:effectLst/>
                <a:latin typeface="+mn-lt"/>
                <a:ea typeface="+mn-ea"/>
                <a:cs typeface="+mn-cs"/>
              </a:rPr>
              <a:t>Singleton</a:t>
            </a:r>
            <a:r>
              <a:rPr lang="ru-RU" sz="1200" b="0" i="0" u="none" strike="noStrike" kern="1200" dirty="0">
                <a:solidFill>
                  <a:schemeClr val="tx1"/>
                </a:solidFill>
                <a:effectLst/>
                <a:latin typeface="+mn-lt"/>
                <a:ea typeface="+mn-ea"/>
                <a:cs typeface="+mn-cs"/>
              </a:rPr>
              <a:t> удобно использовать для логов. Вместо создания нового логгера каждый раз, когда нужно что-то </a:t>
            </a:r>
            <a:r>
              <a:rPr lang="ru-RU" sz="1200" b="0" i="0" u="none" strike="noStrike" kern="1200" dirty="0" err="1">
                <a:solidFill>
                  <a:schemeClr val="tx1"/>
                </a:solidFill>
                <a:effectLst/>
                <a:latin typeface="+mn-lt"/>
                <a:ea typeface="+mn-ea"/>
                <a:cs typeface="+mn-cs"/>
              </a:rPr>
              <a:t>залогировать</a:t>
            </a:r>
            <a:r>
              <a:rPr lang="ru-RU" sz="1200" b="0" i="0" u="none" strike="noStrike" kern="1200" dirty="0">
                <a:solidFill>
                  <a:schemeClr val="tx1"/>
                </a:solidFill>
                <a:effectLst/>
                <a:latin typeface="+mn-lt"/>
                <a:ea typeface="+mn-ea"/>
                <a:cs typeface="+mn-cs"/>
              </a:rPr>
              <a:t>, мы записываем всё в один объект.</a:t>
            </a:r>
            <a:endParaRPr lang="en-US" sz="1200" b="0" i="0" u="none" strike="noStrike" kern="1200" dirty="0">
              <a:solidFill>
                <a:schemeClr val="tx1"/>
              </a:solidFill>
              <a:effectLst/>
              <a:latin typeface="+mn-lt"/>
              <a:ea typeface="+mn-ea"/>
              <a:cs typeface="+mn-cs"/>
            </a:endParaRPr>
          </a:p>
          <a:p>
            <a:pPr fontAlgn="base" latinLnBrk="0"/>
            <a:endParaRPr lang="en-US" sz="12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Не ленивая инициализация: когда класс загружается при старте приложения, независимо от того, нужен он или нет (парадокс, в мире IT лучше быть лентяем)</a:t>
            </a:r>
            <a:endParaRPr lang="en-US" sz="1200" b="0" i="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ru-RU" dirty="0" err="1"/>
              <a:t>volatile</a:t>
            </a:r>
            <a:r>
              <a:rPr lang="ru-RU" sz="1200" b="0" i="0" kern="1200" dirty="0">
                <a:solidFill>
                  <a:schemeClr val="tx1"/>
                </a:solidFill>
                <a:effectLst/>
                <a:latin typeface="+mn-lt"/>
                <a:ea typeface="+mn-ea"/>
                <a:cs typeface="+mn-cs"/>
              </a:rPr>
              <a:t> гарантирует, что запись в </a:t>
            </a:r>
            <a:r>
              <a:rPr lang="ru-RU" dirty="0" err="1"/>
              <a:t>instance</a:t>
            </a:r>
            <a:r>
              <a:rPr lang="ru-RU" sz="1200" b="0" i="0" kern="1200" dirty="0">
                <a:solidFill>
                  <a:schemeClr val="tx1"/>
                </a:solidFill>
                <a:effectLst/>
                <a:latin typeface="+mn-lt"/>
                <a:ea typeface="+mn-ea"/>
                <a:cs typeface="+mn-cs"/>
              </a:rPr>
              <a:t> происходит только после полной инициализации объекта, и все последующие чтения увидят актуальное состояние.</a:t>
            </a:r>
          </a:p>
          <a:p>
            <a:pPr fontAlgn="base" latinLnBrk="0"/>
            <a:endParaRPr lang="ru-RU" sz="1200" b="0" i="0" u="none" strike="noStrike" kern="1200" dirty="0">
              <a:solidFill>
                <a:schemeClr val="tx1"/>
              </a:solidFill>
              <a:effectLst/>
              <a:latin typeface="+mn-lt"/>
              <a:ea typeface="+mn-ea"/>
              <a:cs typeface="+mn-cs"/>
            </a:endParaRPr>
          </a:p>
          <a:p>
            <a:pPr fontAlgn="base" latinLnBrk="0"/>
            <a:endParaRPr lang="ru-RU" sz="1200" b="0" i="0" u="none" strike="noStrike" kern="1200" dirty="0">
              <a:solidFill>
                <a:schemeClr val="tx1"/>
              </a:solidFill>
              <a:effectLst/>
              <a:latin typeface="+mn-lt"/>
              <a:ea typeface="+mn-ea"/>
              <a:cs typeface="+mn-cs"/>
            </a:endParaRP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30</a:t>
            </a:fld>
            <a:endParaRPr lang="ru-RU"/>
          </a:p>
        </p:txBody>
      </p:sp>
    </p:spTree>
    <p:extLst>
      <p:ext uri="{BB962C8B-B14F-4D97-AF65-F5344CB8AC3E}">
        <p14:creationId xmlns:p14="http://schemas.microsoft.com/office/powerpoint/2010/main" val="35619280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ru-RU" sz="1200" b="0" i="0" kern="1200" dirty="0">
                <a:solidFill>
                  <a:schemeClr val="tx1"/>
                </a:solidFill>
                <a:effectLst/>
                <a:latin typeface="+mn-lt"/>
                <a:ea typeface="+mn-ea"/>
                <a:cs typeface="+mn-cs"/>
              </a:rPr>
              <a:t>В ней собраны </a:t>
            </a:r>
            <a:r>
              <a:rPr lang="ru-RU" sz="1200" b="0" i="0" kern="1200" dirty="0" err="1">
                <a:solidFill>
                  <a:schemeClr val="tx1"/>
                </a:solidFill>
                <a:effectLst/>
                <a:latin typeface="+mn-lt"/>
                <a:ea typeface="+mn-ea"/>
                <a:cs typeface="+mn-cs"/>
              </a:rPr>
              <a:t>спецклассы</a:t>
            </a:r>
            <a:r>
              <a:rPr lang="ru-RU" sz="1200" b="0" i="0" kern="1200" dirty="0">
                <a:solidFill>
                  <a:schemeClr val="tx1"/>
                </a:solidFill>
                <a:effectLst/>
                <a:latin typeface="+mn-lt"/>
                <a:ea typeface="+mn-ea"/>
                <a:cs typeface="+mn-cs"/>
              </a:rPr>
              <a:t>, предназначенные для работы с несколькими потоками.</a:t>
            </a:r>
            <a:endParaRPr lang="en-US" sz="1200" b="1" dirty="0"/>
          </a:p>
          <a:p>
            <a:pPr marL="285750" indent="-285750">
              <a:buFont typeface="Arial" panose="020B0604020202020204" pitchFamily="34" charset="0"/>
              <a:buChar char="•"/>
            </a:pPr>
            <a:r>
              <a:rPr lang="ru-RU" sz="1200" b="1" dirty="0" err="1"/>
              <a:t>Collections</a:t>
            </a:r>
            <a:r>
              <a:rPr lang="ru-RU" sz="1200" dirty="0"/>
              <a:t> – набор более эффективно работающих в многопоточной среде коллекций нежели стандартные универсальные коллекции из </a:t>
            </a:r>
            <a:r>
              <a:rPr lang="ru-RU" sz="1200" dirty="0" err="1"/>
              <a:t>java.util</a:t>
            </a:r>
            <a:r>
              <a:rPr lang="ru-RU" sz="1200" dirty="0"/>
              <a:t> пакета</a:t>
            </a:r>
          </a:p>
          <a:p>
            <a:pPr marL="285750" indent="-285750">
              <a:buFont typeface="Arial" panose="020B0604020202020204" pitchFamily="34" charset="0"/>
              <a:buChar char="•"/>
            </a:pPr>
            <a:r>
              <a:rPr lang="ru-RU" sz="1200" b="1" dirty="0" err="1"/>
              <a:t>Synchronizers</a:t>
            </a:r>
            <a:r>
              <a:rPr lang="ru-RU" sz="1200" dirty="0"/>
              <a:t> – объекты синхронизации, позволяющие управлять и/или ограничивать работу нескольких потоков.</a:t>
            </a:r>
          </a:p>
          <a:p>
            <a:pPr marL="285750" indent="-285750">
              <a:buFont typeface="Arial" panose="020B0604020202020204" pitchFamily="34" charset="0"/>
              <a:buChar char="•"/>
            </a:pPr>
            <a:r>
              <a:rPr lang="ru-RU" sz="1200" b="1" dirty="0" err="1"/>
              <a:t>Atomic</a:t>
            </a:r>
            <a:r>
              <a:rPr lang="en-US" sz="1200" b="1" dirty="0"/>
              <a:t>s</a:t>
            </a:r>
            <a:r>
              <a:rPr lang="ru-RU" sz="1200" dirty="0"/>
              <a:t> – </a:t>
            </a:r>
            <a:r>
              <a:rPr lang="ru-RU" sz="1200" b="0" i="0" kern="1200" dirty="0">
                <a:solidFill>
                  <a:schemeClr val="tx1"/>
                </a:solidFill>
                <a:effectLst/>
                <a:latin typeface="+mn-lt"/>
                <a:ea typeface="+mn-ea"/>
                <a:cs typeface="+mn-cs"/>
              </a:rPr>
              <a:t>классы, которые могут поддерживать атомарные операции над примитивами и ссылками</a:t>
            </a:r>
            <a:r>
              <a:rPr lang="ru-RU" sz="1200" dirty="0"/>
              <a:t>.</a:t>
            </a:r>
          </a:p>
          <a:p>
            <a:pPr marL="285750" indent="-285750">
              <a:buFont typeface="Arial" panose="020B0604020202020204" pitchFamily="34" charset="0"/>
              <a:buChar char="•"/>
            </a:pPr>
            <a:r>
              <a:rPr lang="ru-RU" sz="1200" b="1" dirty="0" err="1"/>
              <a:t>Queues</a:t>
            </a:r>
            <a:r>
              <a:rPr lang="ru-RU" sz="1200" dirty="0"/>
              <a:t> – объекты создания блокирующих и неблокирующих очередей с поддержкой многопоточности.</a:t>
            </a:r>
          </a:p>
          <a:p>
            <a:pPr marL="285750" indent="-285750">
              <a:buFont typeface="Arial" panose="020B0604020202020204" pitchFamily="34" charset="0"/>
              <a:buChar char="•"/>
            </a:pPr>
            <a:r>
              <a:rPr lang="ru-RU" sz="1200" b="1" dirty="0" err="1"/>
              <a:t>Locks</a:t>
            </a:r>
            <a:r>
              <a:rPr lang="ru-RU" sz="1200" dirty="0"/>
              <a:t> – механизмы синхронизации потоков, альтернативы базовым </a:t>
            </a:r>
            <a:r>
              <a:rPr lang="ru-RU" sz="1200" dirty="0" err="1"/>
              <a:t>synchronized</a:t>
            </a:r>
            <a:r>
              <a:rPr lang="ru-RU" sz="1200" dirty="0"/>
              <a:t>, </a:t>
            </a:r>
            <a:r>
              <a:rPr lang="ru-RU" sz="1200" dirty="0" err="1"/>
              <a:t>wait</a:t>
            </a:r>
            <a:r>
              <a:rPr lang="ru-RU" sz="1200" dirty="0"/>
              <a:t>, </a:t>
            </a:r>
            <a:r>
              <a:rPr lang="ru-RU" sz="1200" dirty="0" err="1"/>
              <a:t>notify</a:t>
            </a:r>
            <a:r>
              <a:rPr lang="ru-RU" sz="1200" dirty="0"/>
              <a:t>, </a:t>
            </a:r>
            <a:r>
              <a:rPr lang="ru-RU" sz="1200" dirty="0" err="1"/>
              <a:t>notifyAll</a:t>
            </a:r>
            <a:endParaRPr lang="ru-RU" sz="1200" dirty="0"/>
          </a:p>
          <a:p>
            <a:pPr marL="285750" indent="-285750">
              <a:buFont typeface="Arial" panose="020B0604020202020204" pitchFamily="34" charset="0"/>
              <a:buChar char="•"/>
            </a:pPr>
            <a:r>
              <a:rPr lang="ru-RU" sz="1200" b="1" dirty="0" err="1"/>
              <a:t>Executors</a:t>
            </a:r>
            <a:r>
              <a:rPr lang="ru-RU" sz="1200" dirty="0"/>
              <a:t> – механизмы создания пулов потоков и планирования работы асинхронных задач</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Когда обрабатывают </a:t>
            </a:r>
            <a:r>
              <a:rPr lang="ru-RU" sz="1200" b="1" i="0" kern="1200" dirty="0">
                <a:solidFill>
                  <a:schemeClr val="tx1"/>
                </a:solidFill>
                <a:effectLst/>
                <a:latin typeface="+mn-lt"/>
                <a:ea typeface="+mn-ea"/>
                <a:cs typeface="+mn-cs"/>
              </a:rPr>
              <a:t>крупный массив данных</a:t>
            </a:r>
            <a:r>
              <a:rPr lang="ru-RU" sz="1200" b="0" i="0" kern="1200" dirty="0">
                <a:solidFill>
                  <a:schemeClr val="tx1"/>
                </a:solidFill>
                <a:effectLst/>
                <a:latin typeface="+mn-lt"/>
                <a:ea typeface="+mn-ea"/>
                <a:cs typeface="+mn-cs"/>
              </a:rPr>
              <a:t> на многоядерном процессоре, обычные структуры данных можно оградить мьютексом только </a:t>
            </a:r>
            <a:r>
              <a:rPr lang="ru-RU" sz="1200" b="1" i="0" kern="1200" dirty="0">
                <a:solidFill>
                  <a:schemeClr val="tx1"/>
                </a:solidFill>
                <a:effectLst/>
                <a:latin typeface="+mn-lt"/>
                <a:ea typeface="+mn-ea"/>
                <a:cs typeface="+mn-cs"/>
              </a:rPr>
              <a:t>целиком</a:t>
            </a:r>
            <a:r>
              <a:rPr lang="ru-RU" sz="1200" b="0" i="0" kern="1200" dirty="0">
                <a:solidFill>
                  <a:schemeClr val="tx1"/>
                </a:solidFill>
                <a:effectLst/>
                <a:latin typeface="+mn-lt"/>
                <a:ea typeface="+mn-ea"/>
                <a:cs typeface="+mn-cs"/>
              </a:rPr>
              <a:t>, и если потоки постоянно к ним обращаются, работа становится почти что </a:t>
            </a:r>
            <a:r>
              <a:rPr lang="ru-RU" sz="1200" b="1" i="0" kern="1200" dirty="0">
                <a:solidFill>
                  <a:schemeClr val="tx1"/>
                </a:solidFill>
                <a:effectLst/>
                <a:latin typeface="+mn-lt"/>
                <a:ea typeface="+mn-ea"/>
                <a:cs typeface="+mn-cs"/>
              </a:rPr>
              <a:t>последовательной</a:t>
            </a:r>
            <a:r>
              <a:rPr lang="ru-RU" sz="1200" b="0" i="0" kern="1200" dirty="0">
                <a:solidFill>
                  <a:schemeClr val="tx1"/>
                </a:solidFill>
                <a:effectLst/>
                <a:latin typeface="+mn-lt"/>
                <a:ea typeface="+mn-ea"/>
                <a:cs typeface="+mn-cs"/>
              </a:rPr>
              <a:t>.</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31</a:t>
            </a:fld>
            <a:endParaRPr lang="ru-RU"/>
          </a:p>
        </p:txBody>
      </p:sp>
    </p:spTree>
    <p:extLst>
      <p:ext uri="{BB962C8B-B14F-4D97-AF65-F5344CB8AC3E}">
        <p14:creationId xmlns:p14="http://schemas.microsoft.com/office/powerpoint/2010/main" val="22556588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В дочернем пакете </a:t>
            </a:r>
            <a:r>
              <a:rPr lang="ru-RU" dirty="0" err="1"/>
              <a:t>java.util.concurrent.atomic</a:t>
            </a:r>
            <a:r>
              <a:rPr lang="ru-RU" sz="1200" b="0" i="0" kern="1200" dirty="0">
                <a:solidFill>
                  <a:schemeClr val="tx1"/>
                </a:solidFill>
                <a:effectLst/>
                <a:latin typeface="+mn-lt"/>
                <a:ea typeface="+mn-ea"/>
                <a:cs typeface="+mn-cs"/>
              </a:rPr>
              <a:t> находится набор классов для атомарной работы с примитивными типами. Контракт данных классов гарантирует выполнение операций добавления значения и операции инкремента и декремента за «1 единицу процессорного времени». При установке нового значения этой переменной вы также передаете ее старое значение. Если с момента вызова метода значение переменной отличается от ожидаемого — результатом выполнения будет </a:t>
            </a:r>
            <a:r>
              <a:rPr lang="ru-RU" dirty="0" err="1"/>
              <a:t>false</a:t>
            </a:r>
            <a:r>
              <a:rPr lang="ru-RU"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endParaRPr lang="en-US" dirty="0"/>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32</a:t>
            </a:fld>
            <a:endParaRPr lang="ru-RU"/>
          </a:p>
        </p:txBody>
      </p:sp>
    </p:spTree>
    <p:extLst>
      <p:ext uri="{BB962C8B-B14F-4D97-AF65-F5344CB8AC3E}">
        <p14:creationId xmlns:p14="http://schemas.microsoft.com/office/powerpoint/2010/main" val="40140060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Согласно множеству источников неблокирующие алгоритмы в большинстве случаев более масштабируемы и намного производительнее, чем блокировки. Это связано с тем, что операции CAS реализованы на уровне машинных инструкций, а блокировки тяжеловесны и используют приостановку и возобновление потоков, переключение контекста и </a:t>
            </a:r>
            <a:r>
              <a:rPr lang="ru-RU" sz="1200" b="0" i="0" kern="1200" dirty="0" err="1">
                <a:solidFill>
                  <a:schemeClr val="tx1"/>
                </a:solidFill>
                <a:effectLst/>
                <a:latin typeface="+mn-lt"/>
                <a:ea typeface="+mn-ea"/>
                <a:cs typeface="+mn-cs"/>
              </a:rPr>
              <a:t>т.д</a:t>
            </a:r>
            <a:endParaRPr lang="ru-RU" sz="1200" b="0" i="0" kern="1200" dirty="0">
              <a:solidFill>
                <a:schemeClr val="tx1"/>
              </a:solidFill>
              <a:effectLst/>
              <a:latin typeface="+mn-lt"/>
              <a:ea typeface="+mn-ea"/>
              <a:cs typeface="+mn-cs"/>
            </a:endParaRP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33</a:t>
            </a:fld>
            <a:endParaRPr lang="ru-RU"/>
          </a:p>
        </p:txBody>
      </p:sp>
    </p:spTree>
    <p:extLst>
      <p:ext uri="{BB962C8B-B14F-4D97-AF65-F5344CB8AC3E}">
        <p14:creationId xmlns:p14="http://schemas.microsoft.com/office/powerpoint/2010/main" val="16398851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Интерфейс </a:t>
            </a:r>
            <a:r>
              <a:rPr lang="ru-RU" dirty="0" err="1"/>
              <a:t>Lock</a:t>
            </a:r>
            <a:r>
              <a:rPr lang="ru-RU" sz="1200" b="0" i="0" kern="1200" dirty="0">
                <a:solidFill>
                  <a:schemeClr val="tx1"/>
                </a:solidFill>
                <a:effectLst/>
                <a:latin typeface="+mn-lt"/>
                <a:ea typeface="+mn-ea"/>
                <a:cs typeface="+mn-cs"/>
              </a:rPr>
              <a:t> определен внутри пакета </a:t>
            </a:r>
            <a:r>
              <a:rPr lang="ru-RU" dirty="0" err="1"/>
              <a:t>java.util.concurrent.lock</a:t>
            </a:r>
            <a:r>
              <a:rPr lang="ru-RU" sz="1200" b="0" i="0" kern="1200" dirty="0">
                <a:solidFill>
                  <a:schemeClr val="tx1"/>
                </a:solidFill>
                <a:effectLst/>
                <a:latin typeface="+mn-lt"/>
                <a:ea typeface="+mn-ea"/>
                <a:cs typeface="+mn-cs"/>
              </a:rPr>
              <a:t> и предоставляет обширные операции для блокировки.</a:t>
            </a:r>
            <a:endParaRPr lang="en-US" sz="1200" b="0" i="0" kern="1200" dirty="0">
              <a:solidFill>
                <a:schemeClr val="tx1"/>
              </a:solidFill>
              <a:effectLst/>
              <a:latin typeface="+mn-lt"/>
              <a:ea typeface="+mn-ea"/>
              <a:cs typeface="+mn-cs"/>
            </a:endParaRPr>
          </a:p>
          <a:p>
            <a:r>
              <a:rPr lang="ru-RU" sz="1200" b="1" i="1" kern="1200" dirty="0" err="1">
                <a:solidFill>
                  <a:schemeClr val="tx1"/>
                </a:solidFill>
                <a:effectLst/>
                <a:latin typeface="+mn-lt"/>
                <a:ea typeface="+mn-ea"/>
                <a:cs typeface="+mn-cs"/>
              </a:rPr>
              <a:t>Lock</a:t>
            </a:r>
            <a:r>
              <a:rPr lang="ru-RU" sz="1200" b="0" i="0" kern="1200" dirty="0">
                <a:solidFill>
                  <a:schemeClr val="tx1"/>
                </a:solidFill>
                <a:effectLst/>
                <a:latin typeface="+mn-lt"/>
                <a:ea typeface="+mn-ea"/>
                <a:cs typeface="+mn-cs"/>
              </a:rPr>
              <a:t> — реализует гибкий подход по ограничению доступа к ресурсам/блокам по сравнению с </a:t>
            </a:r>
            <a:r>
              <a:rPr lang="ru-RU" sz="1200" b="0" i="0" kern="1200" dirty="0" err="1">
                <a:solidFill>
                  <a:schemeClr val="tx1"/>
                </a:solidFill>
                <a:effectLst/>
                <a:latin typeface="+mn-lt"/>
                <a:ea typeface="+mn-ea"/>
                <a:cs typeface="+mn-cs"/>
              </a:rPr>
              <a:t>synchronized</a:t>
            </a:r>
            <a:r>
              <a:rPr lang="ru-RU" sz="1200" b="0" i="0" kern="1200" dirty="0">
                <a:solidFill>
                  <a:schemeClr val="tx1"/>
                </a:solidFill>
                <a:effectLst/>
                <a:latin typeface="+mn-lt"/>
                <a:ea typeface="+mn-ea"/>
                <a:cs typeface="+mn-cs"/>
              </a:rPr>
              <a:t>. При использовании нескольких </a:t>
            </a:r>
            <a:r>
              <a:rPr lang="ru-RU" sz="1200" b="0" i="0" kern="1200" dirty="0" err="1">
                <a:solidFill>
                  <a:schemeClr val="tx1"/>
                </a:solidFill>
                <a:effectLst/>
                <a:latin typeface="+mn-lt"/>
                <a:ea typeface="+mn-ea"/>
                <a:cs typeface="+mn-cs"/>
              </a:rPr>
              <a:t>локов</a:t>
            </a:r>
            <a:r>
              <a:rPr lang="ru-RU" sz="1200" b="0" i="0" kern="1200" dirty="0">
                <a:solidFill>
                  <a:schemeClr val="tx1"/>
                </a:solidFill>
                <a:effectLst/>
                <a:latin typeface="+mn-lt"/>
                <a:ea typeface="+mn-ea"/>
                <a:cs typeface="+mn-cs"/>
              </a:rPr>
              <a:t> порядок их освобождения может быть произвольный, плюс его также можно настроить. Еще имеется возможность обработать ситуацию, когда </a:t>
            </a:r>
            <a:r>
              <a:rPr lang="ru-RU" sz="1200" b="0" i="0" kern="1200" dirty="0" err="1">
                <a:solidFill>
                  <a:schemeClr val="tx1"/>
                </a:solidFill>
                <a:effectLst/>
                <a:latin typeface="+mn-lt"/>
                <a:ea typeface="+mn-ea"/>
                <a:cs typeface="+mn-cs"/>
              </a:rPr>
              <a:t>лок</a:t>
            </a:r>
            <a:r>
              <a:rPr lang="ru-RU" sz="1200" b="0" i="0" kern="1200" dirty="0">
                <a:solidFill>
                  <a:schemeClr val="tx1"/>
                </a:solidFill>
                <a:effectLst/>
                <a:latin typeface="+mn-lt"/>
                <a:ea typeface="+mn-ea"/>
                <a:cs typeface="+mn-cs"/>
              </a:rPr>
              <a:t> уже захвачен.</a:t>
            </a:r>
          </a:p>
          <a:p>
            <a:r>
              <a:rPr lang="en-US" sz="1200" b="0" i="0" kern="1200" dirty="0" err="1">
                <a:solidFill>
                  <a:schemeClr val="tx1"/>
                </a:solidFill>
                <a:effectLst/>
                <a:latin typeface="+mn-lt"/>
                <a:ea typeface="+mn-ea"/>
                <a:cs typeface="+mn-cs"/>
              </a:rPr>
              <a:t>TryLock</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может быть полезен, если только один поток должен выполнить какую либо операции в один момент времени</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34</a:t>
            </a:fld>
            <a:endParaRPr lang="ru-RU"/>
          </a:p>
        </p:txBody>
      </p:sp>
    </p:spTree>
    <p:extLst>
      <p:ext uri="{BB962C8B-B14F-4D97-AF65-F5344CB8AC3E}">
        <p14:creationId xmlns:p14="http://schemas.microsoft.com/office/powerpoint/2010/main" val="9552912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Класс </a:t>
            </a:r>
            <a:r>
              <a:rPr lang="ru-RU" sz="1200" b="1" i="0" kern="1200" dirty="0" err="1">
                <a:solidFill>
                  <a:schemeClr val="tx1"/>
                </a:solidFill>
                <a:effectLst/>
                <a:latin typeface="+mn-lt"/>
                <a:ea typeface="+mn-ea"/>
                <a:cs typeface="+mn-cs"/>
              </a:rPr>
              <a:t>ReentrantLock</a:t>
            </a:r>
            <a:r>
              <a:rPr lang="ru-RU" sz="1200" b="0" i="0" kern="1200" dirty="0">
                <a:solidFill>
                  <a:schemeClr val="tx1"/>
                </a:solidFill>
                <a:effectLst/>
                <a:latin typeface="+mn-lt"/>
                <a:ea typeface="+mn-ea"/>
                <a:cs typeface="+mn-cs"/>
              </a:rPr>
              <a:t>, реализующий интерфейс </a:t>
            </a:r>
            <a:r>
              <a:rPr lang="ru-RU" sz="1200" b="0" i="1" kern="1200" dirty="0" err="1">
                <a:solidFill>
                  <a:schemeClr val="tx1"/>
                </a:solidFill>
                <a:effectLst/>
                <a:latin typeface="+mn-lt"/>
                <a:ea typeface="+mn-ea"/>
                <a:cs typeface="+mn-cs"/>
              </a:rPr>
              <a:t>Lock</a:t>
            </a:r>
            <a:r>
              <a:rPr lang="ru-RU" sz="1200" b="0" i="0" kern="1200" dirty="0">
                <a:solidFill>
                  <a:schemeClr val="tx1"/>
                </a:solidFill>
                <a:effectLst/>
                <a:latin typeface="+mn-lt"/>
                <a:ea typeface="+mn-ea"/>
                <a:cs typeface="+mn-cs"/>
              </a:rPr>
              <a:t>, также, как и </a:t>
            </a:r>
            <a:r>
              <a:rPr lang="ru-RU" sz="1200" b="0" i="1" kern="1200" dirty="0" err="1">
                <a:solidFill>
                  <a:schemeClr val="tx1"/>
                </a:solidFill>
                <a:effectLst/>
                <a:latin typeface="+mn-lt"/>
                <a:ea typeface="+mn-ea"/>
                <a:cs typeface="+mn-cs"/>
              </a:rPr>
              <a:t>synchronized</a:t>
            </a:r>
            <a:r>
              <a:rPr lang="ru-RU" sz="1200" b="0" i="0" kern="1200" dirty="0">
                <a:solidFill>
                  <a:schemeClr val="tx1"/>
                </a:solidFill>
                <a:effectLst/>
                <a:latin typeface="+mn-lt"/>
                <a:ea typeface="+mn-ea"/>
                <a:cs typeface="+mn-cs"/>
              </a:rPr>
              <a:t>, обеспечивает многопоточность, но  предлагает гораздо более высокую эффективность функционирования в условиях когда несколько потоков пытаются получить доступ к совместно используемому ресурсу.</a:t>
            </a:r>
          </a:p>
          <a:p>
            <a:r>
              <a:rPr lang="ru-RU" sz="1200" b="0" i="0" kern="1200" dirty="0">
                <a:solidFill>
                  <a:schemeClr val="tx1"/>
                </a:solidFill>
                <a:effectLst/>
                <a:latin typeface="+mn-lt"/>
                <a:ea typeface="+mn-ea"/>
                <a:cs typeface="+mn-cs"/>
              </a:rPr>
              <a:t>В переводе </a:t>
            </a:r>
            <a:r>
              <a:rPr lang="ru-RU" sz="1200" b="0" i="1" kern="1200" dirty="0" err="1">
                <a:solidFill>
                  <a:schemeClr val="tx1"/>
                </a:solidFill>
                <a:effectLst/>
                <a:latin typeface="+mn-lt"/>
                <a:ea typeface="+mn-ea"/>
                <a:cs typeface="+mn-cs"/>
              </a:rPr>
              <a:t>reentrant</a:t>
            </a:r>
            <a:r>
              <a:rPr lang="ru-RU" sz="1200" b="0" i="0" kern="1200" dirty="0">
                <a:solidFill>
                  <a:schemeClr val="tx1"/>
                </a:solidFill>
                <a:effectLst/>
                <a:latin typeface="+mn-lt"/>
                <a:ea typeface="+mn-ea"/>
                <a:cs typeface="+mn-cs"/>
              </a:rPr>
              <a:t> может означать </a:t>
            </a:r>
            <a:r>
              <a:rPr lang="ru-RU" sz="1200" b="0" i="1" kern="1200" dirty="0">
                <a:solidFill>
                  <a:schemeClr val="tx1"/>
                </a:solidFill>
                <a:effectLst/>
                <a:latin typeface="+mn-lt"/>
                <a:ea typeface="+mn-ea"/>
                <a:cs typeface="+mn-cs"/>
              </a:rPr>
              <a:t>повторно используемый</a:t>
            </a:r>
            <a:r>
              <a:rPr lang="ru-RU" sz="1200" b="0" i="0" kern="1200" dirty="0">
                <a:solidFill>
                  <a:schemeClr val="tx1"/>
                </a:solidFill>
                <a:effectLst/>
                <a:latin typeface="+mn-lt"/>
                <a:ea typeface="+mn-ea"/>
                <a:cs typeface="+mn-cs"/>
              </a:rPr>
              <a:t> (повторный вход). Что может означать блокировка </a:t>
            </a:r>
            <a:r>
              <a:rPr lang="ru-RU" sz="1200" b="0" i="1" kern="1200" dirty="0">
                <a:solidFill>
                  <a:schemeClr val="tx1"/>
                </a:solidFill>
                <a:effectLst/>
                <a:latin typeface="+mn-lt"/>
                <a:ea typeface="+mn-ea"/>
                <a:cs typeface="+mn-cs"/>
              </a:rPr>
              <a:t>с повторным входом</a:t>
            </a:r>
            <a:r>
              <a:rPr lang="ru-RU" sz="1200" b="0" i="0" kern="1200" dirty="0">
                <a:solidFill>
                  <a:schemeClr val="tx1"/>
                </a:solidFill>
                <a:effectLst/>
                <a:latin typeface="+mn-lt"/>
                <a:ea typeface="+mn-ea"/>
                <a:cs typeface="+mn-cs"/>
              </a:rPr>
              <a:t>? Это учет количества получения определенных блокировок. Т.е. один и тот же поток повторно получает одну и ту же блокировку. Но для того, чтобы реально разблокировать необходимо уже будет два раза снять блокировку.</a:t>
            </a:r>
          </a:p>
          <a:p>
            <a:r>
              <a:rPr lang="ru-RU" sz="1200" b="0" i="0" kern="1200" dirty="0">
                <a:solidFill>
                  <a:schemeClr val="tx1"/>
                </a:solidFill>
                <a:effectLst/>
                <a:latin typeface="+mn-lt"/>
                <a:ea typeface="+mn-ea"/>
                <a:cs typeface="+mn-cs"/>
              </a:rPr>
              <a:t>Одним из интересных методов интерфейса </a:t>
            </a:r>
            <a:r>
              <a:rPr lang="ru-RU" sz="1200" b="0" i="1" kern="1200" dirty="0" err="1">
                <a:solidFill>
                  <a:schemeClr val="tx1"/>
                </a:solidFill>
                <a:effectLst/>
                <a:latin typeface="+mn-lt"/>
                <a:ea typeface="+mn-ea"/>
                <a:cs typeface="+mn-cs"/>
              </a:rPr>
              <a:t>Lock</a:t>
            </a:r>
            <a:r>
              <a:rPr lang="ru-RU" sz="1200" b="0" i="0" kern="1200" dirty="0">
                <a:solidFill>
                  <a:schemeClr val="tx1"/>
                </a:solidFill>
                <a:effectLst/>
                <a:latin typeface="+mn-lt"/>
                <a:ea typeface="+mn-ea"/>
                <a:cs typeface="+mn-cs"/>
              </a:rPr>
              <a:t> и его реализации </a:t>
            </a:r>
            <a:r>
              <a:rPr lang="ru-RU" sz="1200" b="0" i="1" kern="1200" dirty="0" err="1">
                <a:solidFill>
                  <a:schemeClr val="tx1"/>
                </a:solidFill>
                <a:effectLst/>
                <a:latin typeface="+mn-lt"/>
                <a:ea typeface="+mn-ea"/>
                <a:cs typeface="+mn-cs"/>
              </a:rPr>
              <a:t>ReentrantLock</a:t>
            </a:r>
            <a:r>
              <a:rPr lang="ru-RU" sz="1200" b="0" i="0" kern="1200" dirty="0">
                <a:solidFill>
                  <a:schemeClr val="tx1"/>
                </a:solidFill>
                <a:effectLst/>
                <a:latin typeface="+mn-lt"/>
                <a:ea typeface="+mn-ea"/>
                <a:cs typeface="+mn-cs"/>
              </a:rPr>
              <a:t> является запрос блокировки с возможностью прерывания процесса ожидания. Т.е. если поток запрашивает блокировку методом </a:t>
            </a:r>
            <a:r>
              <a:rPr lang="ru-RU" sz="1200" b="0" i="0" kern="1200" dirty="0" err="1">
                <a:solidFill>
                  <a:schemeClr val="tx1"/>
                </a:solidFill>
                <a:effectLst/>
                <a:latin typeface="+mn-lt"/>
                <a:ea typeface="+mn-ea"/>
                <a:cs typeface="+mn-cs"/>
              </a:rPr>
              <a:t>lockInterruptibly</a:t>
            </a:r>
            <a:r>
              <a:rPr lang="ru-RU" sz="1200" b="0" i="0" kern="1200" dirty="0">
                <a:solidFill>
                  <a:schemeClr val="tx1"/>
                </a:solidFill>
                <a:effectLst/>
                <a:latin typeface="+mn-lt"/>
                <a:ea typeface="+mn-ea"/>
                <a:cs typeface="+mn-cs"/>
              </a:rPr>
              <a:t>() и не получает ее сразу же, то переходит в процесс ожидания. Методом </a:t>
            </a:r>
            <a:r>
              <a:rPr lang="ru-RU" sz="1200" b="0" i="1" kern="1200" dirty="0" err="1">
                <a:solidFill>
                  <a:schemeClr val="tx1"/>
                </a:solidFill>
                <a:effectLst/>
                <a:latin typeface="+mn-lt"/>
                <a:ea typeface="+mn-ea"/>
                <a:cs typeface="+mn-cs"/>
              </a:rPr>
              <a:t>interrupt</a:t>
            </a:r>
            <a:r>
              <a:rPr lang="ru-RU" sz="1200" b="0" i="0" kern="1200" dirty="0">
                <a:solidFill>
                  <a:schemeClr val="tx1"/>
                </a:solidFill>
                <a:effectLst/>
                <a:latin typeface="+mn-lt"/>
                <a:ea typeface="+mn-ea"/>
                <a:cs typeface="+mn-cs"/>
              </a:rPr>
              <a:t> работу потока можно прервать. Тогда ожидающий блокировки поток просыпается, и генерируется исключительная ситуация </a:t>
            </a:r>
            <a:r>
              <a:rPr lang="ru-RU" sz="1200" b="0" i="0" kern="1200" dirty="0" err="1">
                <a:solidFill>
                  <a:schemeClr val="tx1"/>
                </a:solidFill>
                <a:effectLst/>
                <a:latin typeface="+mn-lt"/>
                <a:ea typeface="+mn-ea"/>
                <a:cs typeface="+mn-cs"/>
              </a:rPr>
              <a:t>InterruptedException</a:t>
            </a:r>
            <a:r>
              <a:rPr lang="ru-RU" sz="1200" b="0" i="0" kern="1200" dirty="0">
                <a:solidFill>
                  <a:schemeClr val="tx1"/>
                </a:solidFill>
                <a:effectLst/>
                <a:latin typeface="+mn-lt"/>
                <a:ea typeface="+mn-ea"/>
                <a:cs typeface="+mn-cs"/>
              </a:rPr>
              <a:t>.</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35</a:t>
            </a:fld>
            <a:endParaRPr lang="ru-RU"/>
          </a:p>
        </p:txBody>
      </p:sp>
    </p:spTree>
    <p:extLst>
      <p:ext uri="{BB962C8B-B14F-4D97-AF65-F5344CB8AC3E}">
        <p14:creationId xmlns:p14="http://schemas.microsoft.com/office/powerpoint/2010/main" val="22832603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В этом примере </a:t>
            </a:r>
            <a:r>
              <a:rPr lang="ru-RU" sz="1200" b="0" i="0" kern="1200" dirty="0" err="1">
                <a:solidFill>
                  <a:schemeClr val="tx1"/>
                </a:solidFill>
                <a:effectLst/>
                <a:latin typeface="+mn-lt"/>
                <a:ea typeface="+mn-ea"/>
                <a:cs typeface="+mn-cs"/>
              </a:rPr>
              <a:t>ReadWriteLock</a:t>
            </a:r>
            <a:r>
              <a:rPr lang="ru-RU" sz="1200" b="0" i="0" kern="1200" dirty="0">
                <a:solidFill>
                  <a:schemeClr val="tx1"/>
                </a:solidFill>
                <a:effectLst/>
                <a:latin typeface="+mn-lt"/>
                <a:ea typeface="+mn-ea"/>
                <a:cs typeface="+mn-cs"/>
              </a:rPr>
              <a:t> используется для синхронизации доступа к переменной </a:t>
            </a:r>
            <a:r>
              <a:rPr lang="ru-RU" sz="1200" b="0" i="0" kern="1200" dirty="0" err="1">
                <a:solidFill>
                  <a:schemeClr val="tx1"/>
                </a:solidFill>
                <a:effectLst/>
                <a:latin typeface="+mn-lt"/>
                <a:ea typeface="+mn-ea"/>
                <a:cs typeface="+mn-cs"/>
              </a:rPr>
              <a:t>data</a:t>
            </a:r>
            <a:r>
              <a:rPr lang="ru-RU" sz="1200" b="0" i="0" kern="1200" dirty="0">
                <a:solidFill>
                  <a:schemeClr val="tx1"/>
                </a:solidFill>
                <a:effectLst/>
                <a:latin typeface="+mn-lt"/>
                <a:ea typeface="+mn-ea"/>
                <a:cs typeface="+mn-cs"/>
              </a:rPr>
              <a:t>. Метод </a:t>
            </a:r>
            <a:r>
              <a:rPr lang="ru-RU" sz="1200" b="0" i="0" kern="1200" dirty="0" err="1">
                <a:solidFill>
                  <a:schemeClr val="tx1"/>
                </a:solidFill>
                <a:effectLst/>
                <a:latin typeface="+mn-lt"/>
                <a:ea typeface="+mn-ea"/>
                <a:cs typeface="+mn-cs"/>
              </a:rPr>
              <a:t>readData</a:t>
            </a:r>
            <a:r>
              <a:rPr lang="ru-RU" sz="1200" b="0" i="0" kern="1200" dirty="0">
                <a:solidFill>
                  <a:schemeClr val="tx1"/>
                </a:solidFill>
                <a:effectLst/>
                <a:latin typeface="+mn-lt"/>
                <a:ea typeface="+mn-ea"/>
                <a:cs typeface="+mn-cs"/>
              </a:rPr>
              <a:t>() блокирует доступ на чтение, позволяя нескольким потокам одновременно читать данные. Метод </a:t>
            </a:r>
            <a:r>
              <a:rPr lang="ru-RU" sz="1200" b="0" i="0" kern="1200" dirty="0" err="1">
                <a:solidFill>
                  <a:schemeClr val="tx1"/>
                </a:solidFill>
                <a:effectLst/>
                <a:latin typeface="+mn-lt"/>
                <a:ea typeface="+mn-ea"/>
                <a:cs typeface="+mn-cs"/>
              </a:rPr>
              <a:t>writeData</a:t>
            </a:r>
            <a:r>
              <a:rPr lang="ru-RU" sz="1200" b="0" i="0" kern="1200" dirty="0">
                <a:solidFill>
                  <a:schemeClr val="tx1"/>
                </a:solidFill>
                <a:effectLst/>
                <a:latin typeface="+mn-lt"/>
                <a:ea typeface="+mn-ea"/>
                <a:cs typeface="+mn-cs"/>
              </a:rPr>
              <a:t>() блокирует доступ на запись, позволяя только одному потоку выполнять запись данных.</a:t>
            </a:r>
          </a:p>
          <a:p>
            <a:r>
              <a:rPr lang="ru-RU" sz="1200" b="0" i="0" kern="1200" dirty="0">
                <a:solidFill>
                  <a:schemeClr val="tx1"/>
                </a:solidFill>
                <a:effectLst/>
                <a:latin typeface="+mn-lt"/>
                <a:ea typeface="+mn-ea"/>
                <a:cs typeface="+mn-cs"/>
              </a:rPr>
              <a:t>Использование </a:t>
            </a:r>
            <a:r>
              <a:rPr lang="ru-RU" sz="1200" b="0" i="0" kern="1200" dirty="0" err="1">
                <a:solidFill>
                  <a:schemeClr val="tx1"/>
                </a:solidFill>
                <a:effectLst/>
                <a:latin typeface="+mn-lt"/>
                <a:ea typeface="+mn-ea"/>
                <a:cs typeface="+mn-cs"/>
              </a:rPr>
              <a:t>ReadWriteLock</a:t>
            </a:r>
            <a:r>
              <a:rPr lang="ru-RU" sz="1200" b="0" i="0" kern="1200" dirty="0">
                <a:solidFill>
                  <a:schemeClr val="tx1"/>
                </a:solidFill>
                <a:effectLst/>
                <a:latin typeface="+mn-lt"/>
                <a:ea typeface="+mn-ea"/>
                <a:cs typeface="+mn-cs"/>
              </a:rPr>
              <a:t> может улучшить производительность в приложениях, где доступ на чтение является доминирующей операцией, и конкурентный доступ на запись редкость.</a:t>
            </a: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36</a:t>
            </a:fld>
            <a:endParaRPr lang="ru-RU"/>
          </a:p>
        </p:txBody>
      </p:sp>
    </p:spTree>
    <p:extLst>
      <p:ext uri="{BB962C8B-B14F-4D97-AF65-F5344CB8AC3E}">
        <p14:creationId xmlns:p14="http://schemas.microsoft.com/office/powerpoint/2010/main" val="14979543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err="1"/>
              <a:t>ExecutorService</a:t>
            </a:r>
            <a:r>
              <a:rPr lang="ru-RU" sz="1200" b="0" i="0" kern="1200" dirty="0">
                <a:solidFill>
                  <a:schemeClr val="tx1"/>
                </a:solidFill>
                <a:effectLst/>
                <a:latin typeface="+mn-lt"/>
                <a:ea typeface="+mn-ea"/>
                <a:cs typeface="+mn-cs"/>
              </a:rPr>
              <a:t> пришел на замену </a:t>
            </a:r>
            <a:r>
              <a:rPr lang="ru-RU" dirty="0" err="1"/>
              <a:t>new</a:t>
            </a:r>
            <a:r>
              <a:rPr lang="ru-RU" dirty="0"/>
              <a:t> </a:t>
            </a:r>
            <a:r>
              <a:rPr lang="ru-RU" dirty="0" err="1"/>
              <a:t>Thread</a:t>
            </a:r>
            <a:r>
              <a:rPr lang="ru-RU" dirty="0"/>
              <a:t>(</a:t>
            </a:r>
            <a:r>
              <a:rPr lang="ru-RU" dirty="0" err="1"/>
              <a:t>runnable</a:t>
            </a:r>
            <a:r>
              <a:rPr lang="ru-RU" dirty="0"/>
              <a:t>)</a:t>
            </a:r>
            <a:r>
              <a:rPr lang="ru-RU" sz="1200" b="0" i="0" kern="1200" dirty="0">
                <a:solidFill>
                  <a:schemeClr val="tx1"/>
                </a:solidFill>
                <a:effectLst/>
                <a:latin typeface="+mn-lt"/>
                <a:ea typeface="+mn-ea"/>
                <a:cs typeface="+mn-cs"/>
              </a:rPr>
              <a:t> чтобы упростить работу с потоками. </a:t>
            </a:r>
            <a:r>
              <a:rPr lang="ru-RU" dirty="0" err="1"/>
              <a:t>ExecutorService</a:t>
            </a:r>
            <a:r>
              <a:rPr lang="ru-RU" sz="1200" b="0" i="0" kern="1200" dirty="0">
                <a:solidFill>
                  <a:schemeClr val="tx1"/>
                </a:solidFill>
                <a:effectLst/>
                <a:latin typeface="+mn-lt"/>
                <a:ea typeface="+mn-ea"/>
                <a:cs typeface="+mn-cs"/>
              </a:rPr>
              <a:t> помогает повторно использовать освободившиеся потоки, организовывать очереди из задач для пула потоков, подписываться на результат выполнения задачи.</a:t>
            </a:r>
            <a:endParaRPr lang="en-US" sz="1200" b="0" i="0" kern="1200" dirty="0">
              <a:solidFill>
                <a:schemeClr val="tx1"/>
              </a:solidFill>
              <a:effectLst/>
              <a:latin typeface="+mn-lt"/>
              <a:ea typeface="+mn-ea"/>
              <a:cs typeface="+mn-cs"/>
            </a:endParaRPr>
          </a:p>
          <a:p>
            <a:r>
              <a:rPr lang="ru-RU" sz="1200" b="0" i="0" kern="1200" dirty="0" err="1">
                <a:solidFill>
                  <a:schemeClr val="tx1"/>
                </a:solidFill>
                <a:effectLst/>
                <a:latin typeface="+mn-lt"/>
                <a:ea typeface="+mn-ea"/>
                <a:cs typeface="+mn-cs"/>
              </a:rPr>
              <a:t>ExecutorService</a:t>
            </a:r>
            <a:r>
              <a:rPr lang="ru-RU" sz="1200" b="0" i="0" kern="1200" dirty="0">
                <a:solidFill>
                  <a:schemeClr val="tx1"/>
                </a:solidFill>
                <a:effectLst/>
                <a:latin typeface="+mn-lt"/>
                <a:ea typeface="+mn-ea"/>
                <a:cs typeface="+mn-cs"/>
              </a:rPr>
              <a:t> - это интерфейс 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который предоставляет удобный способ управления выполнением задач в многопоточной среде. </a:t>
            </a:r>
            <a:endParaRPr lang="en-US" sz="1200" b="0" i="0" kern="1200" dirty="0">
              <a:solidFill>
                <a:schemeClr val="tx1"/>
              </a:solidFill>
              <a:effectLst/>
              <a:latin typeface="+mn-lt"/>
              <a:ea typeface="+mn-ea"/>
              <a:cs typeface="+mn-cs"/>
            </a:endParaRPr>
          </a:p>
          <a:p>
            <a:r>
              <a:rPr lang="ru-RU" sz="1200" b="0" i="0" kern="1200" dirty="0" err="1">
                <a:solidFill>
                  <a:schemeClr val="tx1"/>
                </a:solidFill>
                <a:effectLst/>
                <a:latin typeface="+mn-lt"/>
                <a:ea typeface="+mn-ea"/>
                <a:cs typeface="+mn-cs"/>
              </a:rPr>
              <a:t>Вмест</a:t>
            </a:r>
            <a:r>
              <a:rPr lang="en-US" sz="1200" b="0" i="0" kern="1200" dirty="0">
                <a:solidFill>
                  <a:schemeClr val="tx1"/>
                </a:solidFill>
                <a:effectLst/>
                <a:latin typeface="+mn-lt"/>
                <a:ea typeface="+mn-ea"/>
                <a:cs typeface="+mn-cs"/>
              </a:rPr>
              <a:t>e</a:t>
            </a:r>
            <a:r>
              <a:rPr lang="ru-RU" sz="1200" b="0" i="0" kern="1200" dirty="0">
                <a:solidFill>
                  <a:schemeClr val="tx1"/>
                </a:solidFill>
                <a:effectLst/>
                <a:latin typeface="+mn-lt"/>
                <a:ea typeface="+mn-ea"/>
                <a:cs typeface="+mn-cs"/>
              </a:rPr>
              <a:t> интерфейса </a:t>
            </a:r>
            <a:r>
              <a:rPr lang="ru-RU" dirty="0" err="1"/>
              <a:t>Runnable</a:t>
            </a:r>
            <a:r>
              <a:rPr lang="ru-RU" sz="1200" b="0" i="0" kern="1200" dirty="0">
                <a:solidFill>
                  <a:schemeClr val="tx1"/>
                </a:solidFill>
                <a:effectLst/>
                <a:latin typeface="+mn-lt"/>
                <a:ea typeface="+mn-ea"/>
                <a:cs typeface="+mn-cs"/>
              </a:rPr>
              <a:t> пул использует интерфейс </a:t>
            </a:r>
            <a:r>
              <a:rPr lang="ru-RU" dirty="0" err="1"/>
              <a:t>Callable</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37</a:t>
            </a:fld>
            <a:endParaRPr lang="ru-RU"/>
          </a:p>
        </p:txBody>
      </p:sp>
    </p:spTree>
    <p:extLst>
      <p:ext uri="{BB962C8B-B14F-4D97-AF65-F5344CB8AC3E}">
        <p14:creationId xmlns:p14="http://schemas.microsoft.com/office/powerpoint/2010/main" val="19958505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Наряду с интерфейсом </a:t>
            </a:r>
            <a:r>
              <a:rPr lang="en-US" dirty="0"/>
              <a:t>Runnable Java </a:t>
            </a:r>
            <a:r>
              <a:rPr lang="ru-RU" dirty="0"/>
              <a:t>предлагает нам интерфейс </a:t>
            </a:r>
            <a:r>
              <a:rPr lang="en-US" dirty="0"/>
              <a:t>Callable. </a:t>
            </a:r>
            <a:r>
              <a:rPr lang="ru-RU" sz="1200" b="0" i="0" kern="1200" dirty="0">
                <a:solidFill>
                  <a:schemeClr val="tx1"/>
                </a:solidFill>
                <a:effectLst/>
                <a:latin typeface="+mn-lt"/>
                <a:ea typeface="+mn-ea"/>
                <a:cs typeface="+mn-cs"/>
              </a:rPr>
              <a:t>интерфейсы </a:t>
            </a:r>
            <a:r>
              <a:rPr lang="ru-RU" sz="1200" b="0" i="0" kern="1200" dirty="0" err="1">
                <a:solidFill>
                  <a:schemeClr val="tx1"/>
                </a:solidFill>
                <a:effectLst/>
                <a:latin typeface="+mn-lt"/>
                <a:ea typeface="+mn-ea"/>
                <a:cs typeface="+mn-cs"/>
              </a:rPr>
              <a:t>Callable</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Runnable</a:t>
            </a:r>
            <a:r>
              <a:rPr lang="ru-RU" sz="1200" b="0" i="0" kern="1200" dirty="0">
                <a:solidFill>
                  <a:schemeClr val="tx1"/>
                </a:solidFill>
                <a:effectLst/>
                <a:latin typeface="+mn-lt"/>
                <a:ea typeface="+mn-ea"/>
                <a:cs typeface="+mn-cs"/>
              </a:rPr>
              <a:t> используются для выполнения кода в отдельном потоке, но есть различия в том, как они предоставляют результат выполнения и обрабатывают исключения.</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Интерфейс </a:t>
            </a:r>
            <a:r>
              <a:rPr lang="ru-RU" sz="1200" b="0" i="0" kern="1200" dirty="0" err="1">
                <a:solidFill>
                  <a:schemeClr val="tx1"/>
                </a:solidFill>
                <a:effectLst/>
                <a:latin typeface="+mn-lt"/>
                <a:ea typeface="+mn-ea"/>
                <a:cs typeface="+mn-cs"/>
              </a:rPr>
              <a:t>Callable</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1. Возвращаемое значение: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Callable</a:t>
            </a:r>
            <a:r>
              <a:rPr lang="ru-RU" sz="1200" b="0" i="0" kern="1200" dirty="0">
                <a:solidFill>
                  <a:schemeClr val="tx1"/>
                </a:solidFill>
                <a:effectLst/>
                <a:latin typeface="+mn-lt"/>
                <a:ea typeface="+mn-ea"/>
                <a:cs typeface="+mn-cs"/>
              </a:rPr>
              <a:t> предоставляет возможность возвращать результат выполнения задачи.</a:t>
            </a:r>
          </a:p>
          <a:p>
            <a:r>
              <a:rPr lang="ru-RU" sz="1200" b="1" i="0" kern="1200" dirty="0">
                <a:solidFill>
                  <a:schemeClr val="tx1"/>
                </a:solidFill>
                <a:effectLst/>
                <a:latin typeface="+mn-lt"/>
                <a:ea typeface="+mn-ea"/>
                <a:cs typeface="+mn-cs"/>
              </a:rPr>
              <a:t>2. Исключения: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Callable</a:t>
            </a:r>
            <a:r>
              <a:rPr lang="ru-RU" sz="1200" b="0" i="0" kern="1200" dirty="0">
                <a:solidFill>
                  <a:schemeClr val="tx1"/>
                </a:solidFill>
                <a:effectLst/>
                <a:latin typeface="+mn-lt"/>
                <a:ea typeface="+mn-ea"/>
                <a:cs typeface="+mn-cs"/>
              </a:rPr>
              <a:t> позволяет бросать проверяемые исключения.</a:t>
            </a:r>
          </a:p>
          <a:p>
            <a:r>
              <a:rPr lang="ru-RU" sz="1200" b="1" i="0" kern="1200" dirty="0">
                <a:solidFill>
                  <a:schemeClr val="tx1"/>
                </a:solidFill>
                <a:effectLst/>
                <a:latin typeface="+mn-lt"/>
                <a:ea typeface="+mn-ea"/>
                <a:cs typeface="+mn-cs"/>
              </a:rPr>
              <a:t>3. Метод:</a:t>
            </a:r>
            <a:r>
              <a:rPr lang="ru-RU" sz="1200" b="0" i="0" kern="1200" dirty="0">
                <a:solidFill>
                  <a:schemeClr val="tx1"/>
                </a:solidFill>
                <a:effectLst/>
                <a:latin typeface="+mn-lt"/>
                <a:ea typeface="+mn-ea"/>
                <a:cs typeface="+mn-cs"/>
              </a:rPr>
              <a:t> Он содержит метод </a:t>
            </a:r>
            <a:r>
              <a:rPr lang="ru-RU" sz="1200" b="0" i="0" kern="1200" dirty="0" err="1">
                <a:solidFill>
                  <a:schemeClr val="tx1"/>
                </a:solidFill>
                <a:effectLst/>
                <a:latin typeface="+mn-lt"/>
                <a:ea typeface="+mn-ea"/>
                <a:cs typeface="+mn-cs"/>
              </a:rPr>
              <a:t>call</a:t>
            </a:r>
            <a:r>
              <a:rPr lang="ru-RU" sz="1200" b="0" i="0" kern="1200" dirty="0">
                <a:solidFill>
                  <a:schemeClr val="tx1"/>
                </a:solidFill>
                <a:effectLst/>
                <a:latin typeface="+mn-lt"/>
                <a:ea typeface="+mn-ea"/>
                <a:cs typeface="+mn-cs"/>
              </a:rPr>
              <a:t>(), который аналогичен методу </a:t>
            </a:r>
            <a:r>
              <a:rPr lang="ru-RU" sz="1200" b="0" i="0" kern="1200" dirty="0" err="1">
                <a:solidFill>
                  <a:schemeClr val="tx1"/>
                </a:solidFill>
                <a:effectLst/>
                <a:latin typeface="+mn-lt"/>
                <a:ea typeface="+mn-ea"/>
                <a:cs typeface="+mn-cs"/>
              </a:rPr>
              <a:t>run</a:t>
            </a:r>
            <a:r>
              <a:rPr lang="ru-RU" sz="1200" b="0" i="0" kern="1200" dirty="0">
                <a:solidFill>
                  <a:schemeClr val="tx1"/>
                </a:solidFill>
                <a:effectLst/>
                <a:latin typeface="+mn-lt"/>
                <a:ea typeface="+mn-ea"/>
                <a:cs typeface="+mn-cs"/>
              </a:rPr>
              <a:t>() в интерфейсе </a:t>
            </a:r>
            <a:r>
              <a:rPr lang="ru-RU" sz="1200" b="0" i="0" kern="1200" dirty="0" err="1">
                <a:solidFill>
                  <a:schemeClr val="tx1"/>
                </a:solidFill>
                <a:effectLst/>
                <a:latin typeface="+mn-lt"/>
                <a:ea typeface="+mn-ea"/>
                <a:cs typeface="+mn-cs"/>
              </a:rPr>
              <a:t>Runnable</a:t>
            </a:r>
            <a:r>
              <a:rPr lang="ru-RU" sz="1200" b="0" i="0" kern="1200" dirty="0">
                <a:solidFill>
                  <a:schemeClr val="tx1"/>
                </a:solidFill>
                <a:effectLst/>
                <a:latin typeface="+mn-lt"/>
                <a:ea typeface="+mn-ea"/>
                <a:cs typeface="+mn-cs"/>
              </a:rPr>
              <a:t>, но может возвращать значение и бросать проверяемые исключения.</a:t>
            </a: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38</a:t>
            </a:fld>
            <a:endParaRPr lang="ru-RU"/>
          </a:p>
        </p:txBody>
      </p:sp>
    </p:spTree>
    <p:extLst>
      <p:ext uri="{BB962C8B-B14F-4D97-AF65-F5344CB8AC3E}">
        <p14:creationId xmlns:p14="http://schemas.microsoft.com/office/powerpoint/2010/main" val="20537141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В этом примере создается </a:t>
            </a:r>
            <a:r>
              <a:rPr lang="ru-RU" sz="1200" b="0" i="0" kern="1200" dirty="0" err="1">
                <a:solidFill>
                  <a:schemeClr val="tx1"/>
                </a:solidFill>
                <a:effectLst/>
                <a:latin typeface="+mn-lt"/>
                <a:ea typeface="+mn-ea"/>
                <a:cs typeface="+mn-cs"/>
              </a:rPr>
              <a:t>ExecutorService</a:t>
            </a:r>
            <a:r>
              <a:rPr lang="ru-RU" sz="1200" b="0" i="0" kern="1200" dirty="0">
                <a:solidFill>
                  <a:schemeClr val="tx1"/>
                </a:solidFill>
                <a:effectLst/>
                <a:latin typeface="+mn-lt"/>
                <a:ea typeface="+mn-ea"/>
                <a:cs typeface="+mn-cs"/>
              </a:rPr>
              <a:t> с помощью</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класса-фабрика </a:t>
            </a:r>
            <a:r>
              <a:rPr lang="en-US" sz="1200" b="0" i="0" kern="1200" dirty="0">
                <a:solidFill>
                  <a:schemeClr val="tx1"/>
                </a:solidFill>
                <a:effectLst/>
                <a:latin typeface="+mn-lt"/>
                <a:ea typeface="+mn-ea"/>
                <a:cs typeface="+mn-cs"/>
              </a:rPr>
              <a:t>Executors</a:t>
            </a:r>
            <a:r>
              <a:rPr lang="ru-RU" sz="1200" b="0" i="0" kern="1200" dirty="0">
                <a:solidFill>
                  <a:schemeClr val="tx1"/>
                </a:solidFill>
                <a:effectLst/>
                <a:latin typeface="+mn-lt"/>
                <a:ea typeface="+mn-ea"/>
                <a:cs typeface="+mn-cs"/>
              </a:rPr>
              <a:t>, что означает, что будет создан пул из 5 потоков. Затем 10 задач подаются на выполнение с помощью метода </a:t>
            </a:r>
            <a:r>
              <a:rPr lang="ru-RU" sz="1200" b="0" i="0" kern="1200" dirty="0" err="1">
                <a:solidFill>
                  <a:schemeClr val="tx1"/>
                </a:solidFill>
                <a:effectLst/>
                <a:latin typeface="+mn-lt"/>
                <a:ea typeface="+mn-ea"/>
                <a:cs typeface="+mn-cs"/>
              </a:rPr>
              <a:t>execute</a:t>
            </a:r>
            <a:r>
              <a:rPr lang="ru-RU" sz="1200" b="0" i="0" kern="1200" dirty="0">
                <a:solidFill>
                  <a:schemeClr val="tx1"/>
                </a:solidFill>
                <a:effectLst/>
                <a:latin typeface="+mn-lt"/>
                <a:ea typeface="+mn-ea"/>
                <a:cs typeface="+mn-cs"/>
              </a:rPr>
              <a:t>(). Каждая задача выполняется асинхронно в одном из потоков пула. После завершения всех задач вызывается метод </a:t>
            </a:r>
            <a:r>
              <a:rPr lang="ru-RU" sz="1200" b="0" i="0" kern="1200" dirty="0" err="1">
                <a:solidFill>
                  <a:schemeClr val="tx1"/>
                </a:solidFill>
                <a:effectLst/>
                <a:latin typeface="+mn-lt"/>
                <a:ea typeface="+mn-ea"/>
                <a:cs typeface="+mn-cs"/>
              </a:rPr>
              <a:t>shutdown</a:t>
            </a:r>
            <a:r>
              <a:rPr lang="ru-RU" sz="1200" b="0" i="0" kern="1200" dirty="0">
                <a:solidFill>
                  <a:schemeClr val="tx1"/>
                </a:solidFill>
                <a:effectLst/>
                <a:latin typeface="+mn-lt"/>
                <a:ea typeface="+mn-ea"/>
                <a:cs typeface="+mn-cs"/>
              </a:rPr>
              <a:t>(), чтобы корректно завершить работу </a:t>
            </a:r>
            <a:r>
              <a:rPr lang="ru-RU" sz="1200" b="0" i="0" kern="1200" dirty="0" err="1">
                <a:solidFill>
                  <a:schemeClr val="tx1"/>
                </a:solidFill>
                <a:effectLst/>
                <a:latin typeface="+mn-lt"/>
                <a:ea typeface="+mn-ea"/>
                <a:cs typeface="+mn-cs"/>
              </a:rPr>
              <a:t>ExecutorService</a:t>
            </a:r>
            <a:r>
              <a:rPr lang="ru-RU" sz="1200" b="0" i="0" kern="1200" dirty="0">
                <a:solidFill>
                  <a:schemeClr val="tx1"/>
                </a:solidFill>
                <a:effectLst/>
                <a:latin typeface="+mn-lt"/>
                <a:ea typeface="+mn-ea"/>
                <a:cs typeface="+mn-cs"/>
              </a:rPr>
              <a:t>.</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39</a:t>
            </a:fld>
            <a:endParaRPr lang="ru-RU"/>
          </a:p>
        </p:txBody>
      </p:sp>
    </p:spTree>
    <p:extLst>
      <p:ext uri="{BB962C8B-B14F-4D97-AF65-F5344CB8AC3E}">
        <p14:creationId xmlns:p14="http://schemas.microsoft.com/office/powerpoint/2010/main" val="16530490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В целом, такой пул, мы можем использовать для выполнения “сервисных” периодических задач. Сервисными мы называем те задачи, которые должны быть выполнены вне зависимости от работы основного функционала программы.</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40</a:t>
            </a:fld>
            <a:endParaRPr lang="ru-RU"/>
          </a:p>
        </p:txBody>
      </p:sp>
    </p:spTree>
    <p:extLst>
      <p:ext uri="{BB962C8B-B14F-4D97-AF65-F5344CB8AC3E}">
        <p14:creationId xmlns:p14="http://schemas.microsoft.com/office/powerpoint/2010/main" val="16217439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Дата 3"/>
          <p:cNvSpPr>
            <a:spLocks noGrp="1"/>
          </p:cNvSpPr>
          <p:nvPr>
            <p:ph type="dt" sz="half" idx="10"/>
          </p:nvPr>
        </p:nvSpPr>
        <p:spPr/>
        <p:txBody>
          <a:bodyPr/>
          <a:lstStyle/>
          <a:p>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54587950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14400" y="2130426"/>
            <a:ext cx="10363200" cy="1470025"/>
          </a:xfrm>
        </p:spPr>
        <p:txBody>
          <a:bodyPr/>
          <a:lstStyle>
            <a:lvl1pPr>
              <a:defRPr b="1">
                <a:solidFill>
                  <a:schemeClr val="accent6"/>
                </a:solidFill>
              </a:defRPr>
            </a:lvl1pPr>
          </a:lstStyle>
          <a:p>
            <a:r>
              <a:rPr lang="en-US"/>
              <a:t>Click to edit Master title style</a:t>
            </a:r>
            <a:endParaRPr lang="ru-RU" dirty="0"/>
          </a:p>
        </p:txBody>
      </p:sp>
      <p:sp>
        <p:nvSpPr>
          <p:cNvPr id="3" name="Подзаголовок 2"/>
          <p:cNvSpPr>
            <a:spLocks noGrp="1"/>
          </p:cNvSpPr>
          <p:nvPr>
            <p:ph type="subTitle" idx="1"/>
          </p:nvPr>
        </p:nvSpPr>
        <p:spPr>
          <a:xfrm>
            <a:off x="1828800" y="3886200"/>
            <a:ext cx="8534400" cy="1752600"/>
          </a:xfrm>
        </p:spPr>
        <p:txBody>
          <a:bodyPr/>
          <a:lstStyle>
            <a:lvl1pPr marL="0" indent="0" algn="ctr">
              <a:buNone/>
              <a:defRPr>
                <a:solidFill>
                  <a:schemeClr val="accent1">
                    <a:lumMod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ru-RU" dirty="0"/>
          </a:p>
        </p:txBody>
      </p:sp>
      <p:sp>
        <p:nvSpPr>
          <p:cNvPr id="4" name="Дата 3"/>
          <p:cNvSpPr>
            <a:spLocks noGrp="1"/>
          </p:cNvSpPr>
          <p:nvPr>
            <p:ph type="dt" sz="half" idx="10"/>
          </p:nvPr>
        </p:nvSpPr>
        <p:spPr/>
        <p:txBody>
          <a:bodyPr/>
          <a:lstStyle/>
          <a:p>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344066404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endParaRPr lang="ru-RU"/>
          </a:p>
        </p:txBody>
      </p:sp>
      <p:sp>
        <p:nvSpPr>
          <p:cNvPr id="3" name="Текст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Дата 3"/>
          <p:cNvSpPr>
            <a:spLocks noGrp="1"/>
          </p:cNvSpPr>
          <p:nvPr>
            <p:ph type="dt" sz="half" idx="10"/>
          </p:nvPr>
        </p:nvSpPr>
        <p:spPr/>
        <p:txBody>
          <a:bodyPr/>
          <a:lstStyle/>
          <a:p>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178190155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Содержимое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Дата 3"/>
          <p:cNvSpPr>
            <a:spLocks noGrp="1"/>
          </p:cNvSpPr>
          <p:nvPr>
            <p:ph type="dt" sz="half" idx="10"/>
          </p:nvPr>
        </p:nvSpPr>
        <p:spPr/>
        <p:txBody>
          <a:bodyPr/>
          <a:lstStyle>
            <a:lvl1pPr>
              <a:defRPr>
                <a:solidFill>
                  <a:schemeClr val="bg1"/>
                </a:solidFill>
              </a:defRPr>
            </a:lvl1pPr>
          </a:lstStyle>
          <a:p>
            <a:endParaRPr lang="ru-RU"/>
          </a:p>
        </p:txBody>
      </p:sp>
      <p:sp>
        <p:nvSpPr>
          <p:cNvPr id="5" name="Нижний колонтитул 4"/>
          <p:cNvSpPr>
            <a:spLocks noGrp="1"/>
          </p:cNvSpPr>
          <p:nvPr>
            <p:ph type="ftr" sz="quarter" idx="11"/>
          </p:nvPr>
        </p:nvSpPr>
        <p:spPr/>
        <p:txBody>
          <a:bodyPr/>
          <a:lstStyle>
            <a:lvl1pPr>
              <a:defRPr>
                <a:solidFill>
                  <a:schemeClr val="bg1"/>
                </a:solidFill>
              </a:defRPr>
            </a:lvl1pPr>
          </a:lstStyle>
          <a:p>
            <a:endParaRPr lang="ru-RU"/>
          </a:p>
        </p:txBody>
      </p:sp>
      <p:sp>
        <p:nvSpPr>
          <p:cNvPr id="6" name="Номер слайда 5"/>
          <p:cNvSpPr>
            <a:spLocks noGrp="1"/>
          </p:cNvSpPr>
          <p:nvPr>
            <p:ph type="sldNum" sz="quarter" idx="12"/>
          </p:nvPr>
        </p:nvSpPr>
        <p:spPr/>
        <p:txBody>
          <a:bodyPr/>
          <a:lstStyle>
            <a:lvl1pPr>
              <a:defRPr>
                <a:solidFill>
                  <a:schemeClr val="bg1"/>
                </a:solidFill>
              </a:defRPr>
            </a:lvl1pPr>
          </a:lstStyle>
          <a:p>
            <a:fld id="{2559BB7A-F704-4182-B16A-69B3F5ADA7F7}" type="slidenum">
              <a:rPr lang="ru-RU" smtClean="0"/>
              <a:t>‹#›</a:t>
            </a:fld>
            <a:endParaRPr lang="ru-RU"/>
          </a:p>
        </p:txBody>
      </p:sp>
    </p:spTree>
    <p:extLst>
      <p:ext uri="{BB962C8B-B14F-4D97-AF65-F5344CB8AC3E}">
        <p14:creationId xmlns:p14="http://schemas.microsoft.com/office/powerpoint/2010/main" val="121009446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Два объект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
        <p:nvSpPr>
          <p:cNvPr id="3" name="Содержимое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Содержимое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Дата 4"/>
          <p:cNvSpPr>
            <a:spLocks noGrp="1"/>
          </p:cNvSpPr>
          <p:nvPr>
            <p:ph type="dt" sz="half" idx="10"/>
          </p:nvPr>
        </p:nvSpPr>
        <p:spPr/>
        <p:txBody>
          <a:bodyPr/>
          <a:lstStyle/>
          <a:p>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403774456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Дата 2"/>
          <p:cNvSpPr>
            <a:spLocks noGrp="1"/>
          </p:cNvSpPr>
          <p:nvPr>
            <p:ph type="dt" sz="half" idx="10"/>
          </p:nvPr>
        </p:nvSpPr>
        <p:spPr/>
        <p:txBody>
          <a:bodyPr/>
          <a:lstStyle/>
          <a:p>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336953600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121656047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endParaRPr lang="ru-RU"/>
          </a:p>
        </p:txBody>
      </p:sp>
      <p:sp>
        <p:nvSpPr>
          <p:cNvPr id="3" name="Содержимое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Текст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18472600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endParaRPr lang="ru-RU"/>
          </a:p>
        </p:txBody>
      </p:sp>
      <p:sp>
        <p:nvSpPr>
          <p:cNvPr id="3" name="Рисунок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ru-RU"/>
          </a:p>
        </p:txBody>
      </p:sp>
      <p:sp>
        <p:nvSpPr>
          <p:cNvPr id="4" name="Текст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289579496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ection_titl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Текст 10"/>
          <p:cNvSpPr>
            <a:spLocks noGrp="1"/>
          </p:cNvSpPr>
          <p:nvPr>
            <p:ph type="body" sz="quarter" idx="10" hasCustomPrompt="1"/>
          </p:nvPr>
        </p:nvSpPr>
        <p:spPr>
          <a:xfrm>
            <a:off x="738191" y="323850"/>
            <a:ext cx="6938959" cy="438150"/>
          </a:xfrm>
        </p:spPr>
        <p:txBody>
          <a:bodyPr>
            <a:normAutofit/>
          </a:bodyPr>
          <a:lstStyle>
            <a:lvl1pPr marL="0" indent="0">
              <a:buNone/>
              <a:defRPr sz="1800">
                <a:solidFill>
                  <a:schemeClr val="bg1"/>
                </a:solidFill>
              </a:defRPr>
            </a:lvl1pPr>
          </a:lstStyle>
          <a:p>
            <a:r>
              <a:rPr lang="en-US" dirty="0">
                <a:solidFill>
                  <a:schemeClr val="bg1"/>
                </a:solidFill>
              </a:rPr>
              <a:t>Name of the presentation</a:t>
            </a:r>
            <a:endParaRPr lang="ru-RU" dirty="0">
              <a:solidFill>
                <a:schemeClr val="bg1"/>
              </a:solidFill>
            </a:endParaRPr>
          </a:p>
        </p:txBody>
      </p:sp>
      <p:sp>
        <p:nvSpPr>
          <p:cNvPr id="3" name="TextBox 2"/>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5" name="Текст 4"/>
          <p:cNvSpPr>
            <a:spLocks noGrp="1"/>
          </p:cNvSpPr>
          <p:nvPr>
            <p:ph type="body" sz="quarter" idx="11" hasCustomPrompt="1"/>
          </p:nvPr>
        </p:nvSpPr>
        <p:spPr>
          <a:xfrm>
            <a:off x="738188" y="2753574"/>
            <a:ext cx="10706100" cy="1098583"/>
          </a:xfrm>
        </p:spPr>
        <p:txBody>
          <a:bodyPr>
            <a:normAutofit/>
          </a:bodyPr>
          <a:lstStyle>
            <a:lvl1pPr marL="0" indent="0">
              <a:buNone/>
              <a:defRPr sz="6600" baseline="0">
                <a:solidFill>
                  <a:schemeClr val="bg1"/>
                </a:solidFill>
                <a:latin typeface="+mj-lt"/>
              </a:defRPr>
            </a:lvl1pPr>
          </a:lstStyle>
          <a:p>
            <a:pPr lvl="0"/>
            <a:r>
              <a:rPr lang="en-US" dirty="0"/>
              <a:t>1.</a:t>
            </a:r>
            <a:endParaRPr lang="ru-RU" dirty="0"/>
          </a:p>
        </p:txBody>
      </p:sp>
      <p:sp>
        <p:nvSpPr>
          <p:cNvPr id="8" name="Заголовок 1"/>
          <p:cNvSpPr>
            <a:spLocks noGrp="1"/>
          </p:cNvSpPr>
          <p:nvPr>
            <p:ph type="title" hasCustomPrompt="1"/>
          </p:nvPr>
        </p:nvSpPr>
        <p:spPr>
          <a:xfrm>
            <a:off x="1519241" y="2882386"/>
            <a:ext cx="9925045" cy="957693"/>
          </a:xfrm>
        </p:spPr>
        <p:txBody>
          <a:bodyPr anchor="t">
            <a:normAutofit/>
          </a:bodyPr>
          <a:lstStyle>
            <a:lvl1pPr algn="l">
              <a:defRPr sz="5400" baseline="0">
                <a:solidFill>
                  <a:schemeClr val="bg1"/>
                </a:solidFill>
                <a:latin typeface="+mn-lt"/>
              </a:defRPr>
            </a:lvl1pPr>
          </a:lstStyle>
          <a:p>
            <a:r>
              <a:rPr lang="en-US" dirty="0"/>
              <a:t>Title of the section</a:t>
            </a:r>
            <a:endParaRPr lang="ru-RU" dirty="0"/>
          </a:p>
        </p:txBody>
      </p:sp>
    </p:spTree>
    <p:extLst>
      <p:ext uri="{BB962C8B-B14F-4D97-AF65-F5344CB8AC3E}">
        <p14:creationId xmlns:p14="http://schemas.microsoft.com/office/powerpoint/2010/main" val="1560784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lumn slide 5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3" name="Текст 2"/>
          <p:cNvSpPr>
            <a:spLocks noGrp="1"/>
          </p:cNvSpPr>
          <p:nvPr>
            <p:ph type="body" sz="quarter" idx="35"/>
          </p:nvPr>
        </p:nvSpPr>
        <p:spPr>
          <a:xfrm>
            <a:off x="738191" y="1282700"/>
            <a:ext cx="10706097" cy="4508500"/>
          </a:xfrm>
        </p:spPr>
        <p:txBody>
          <a:bodyPr>
            <a:normAutofit/>
          </a:bodyPr>
          <a:lstStyle>
            <a:lvl1pPr marL="0" indent="0">
              <a:buFont typeface="Arial" panose="020B0604020202020204" pitchFamily="34" charse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Tree>
    <p:extLst>
      <p:ext uri="{BB962C8B-B14F-4D97-AF65-F5344CB8AC3E}">
        <p14:creationId xmlns:p14="http://schemas.microsoft.com/office/powerpoint/2010/main" val="1916596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olumns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4" name="Рисунок 3"/>
          <p:cNvSpPr>
            <a:spLocks noGrp="1"/>
          </p:cNvSpPr>
          <p:nvPr>
            <p:ph type="pic" sz="quarter" idx="38" hasCustomPrompt="1"/>
          </p:nvPr>
        </p:nvSpPr>
        <p:spPr>
          <a:xfrm>
            <a:off x="738191" y="1292252"/>
            <a:ext cx="5075018" cy="4635500"/>
          </a:xfrm>
        </p:spPr>
        <p:txBody>
          <a:bodyPr/>
          <a:lstStyle>
            <a:lvl1pPr>
              <a:defRPr/>
            </a:lvl1pPr>
          </a:lstStyle>
          <a:p>
            <a:r>
              <a:rPr lang="en-US" dirty="0"/>
              <a:t>Insert a picture</a:t>
            </a:r>
            <a:endParaRPr lang="ru-RU" dirty="0"/>
          </a:p>
        </p:txBody>
      </p:sp>
      <p:sp>
        <p:nvSpPr>
          <p:cNvPr id="3" name="Текст 2"/>
          <p:cNvSpPr>
            <a:spLocks noGrp="1"/>
          </p:cNvSpPr>
          <p:nvPr>
            <p:ph type="body" sz="quarter" idx="42" hasCustomPrompt="1"/>
          </p:nvPr>
        </p:nvSpPr>
        <p:spPr>
          <a:xfrm>
            <a:off x="6396038" y="1292225"/>
            <a:ext cx="5048250" cy="318861"/>
          </a:xfrm>
        </p:spPr>
        <p:txBody>
          <a:bodyPr>
            <a:normAutofit/>
          </a:bodyPr>
          <a:lstStyle>
            <a:lvl1pPr marL="0" indent="0">
              <a:buNone/>
              <a:defRPr sz="1800" b="1">
                <a:solidFill>
                  <a:srgbClr val="006CB7"/>
                </a:solidFill>
              </a:defRPr>
            </a:lvl1pPr>
          </a:lstStyle>
          <a:p>
            <a:pPr lvl="0"/>
            <a:r>
              <a:rPr lang="en-US" dirty="0"/>
              <a:t>Subtitle</a:t>
            </a:r>
          </a:p>
        </p:txBody>
      </p:sp>
      <p:sp>
        <p:nvSpPr>
          <p:cNvPr id="6" name="Текст 5"/>
          <p:cNvSpPr>
            <a:spLocks noGrp="1"/>
          </p:cNvSpPr>
          <p:nvPr>
            <p:ph type="body" sz="quarter" idx="43" hasCustomPrompt="1"/>
          </p:nvPr>
        </p:nvSpPr>
        <p:spPr>
          <a:xfrm>
            <a:off x="6396038" y="1633538"/>
            <a:ext cx="5048250" cy="1298849"/>
          </a:xfrm>
        </p:spPr>
        <p:txBody>
          <a:bodyPr>
            <a:noAutofit/>
          </a:bodyPr>
          <a:lstStyle>
            <a:lvl1pPr marL="285750" indent="-285750">
              <a:buFont typeface="Arial" panose="020B0604020202020204" pitchFamily="34" charset="0"/>
              <a:buChar char="•"/>
              <a:defRPr sz="1400"/>
            </a:lvl1pPr>
            <a:lvl2pPr>
              <a:defRPr sz="1400"/>
            </a:lvl2pPr>
          </a:lstStyle>
          <a:p>
            <a:pPr lvl="1"/>
            <a:r>
              <a:rPr lang="en-US" dirty="0"/>
              <a:t>Text</a:t>
            </a:r>
          </a:p>
        </p:txBody>
      </p:sp>
      <p:sp>
        <p:nvSpPr>
          <p:cNvPr id="13" name="Текст 2"/>
          <p:cNvSpPr>
            <a:spLocks noGrp="1"/>
          </p:cNvSpPr>
          <p:nvPr>
            <p:ph type="body" sz="quarter" idx="44" hasCustomPrompt="1"/>
          </p:nvPr>
        </p:nvSpPr>
        <p:spPr>
          <a:xfrm>
            <a:off x="6396038" y="2954839"/>
            <a:ext cx="5048250" cy="318861"/>
          </a:xfrm>
        </p:spPr>
        <p:txBody>
          <a:bodyPr>
            <a:normAutofit/>
          </a:bodyPr>
          <a:lstStyle>
            <a:lvl1pPr marL="0" indent="0">
              <a:buNone/>
              <a:defRPr sz="1800" b="1">
                <a:solidFill>
                  <a:srgbClr val="006CB7"/>
                </a:solidFill>
              </a:defRPr>
            </a:lvl1pPr>
          </a:lstStyle>
          <a:p>
            <a:pPr lvl="0"/>
            <a:r>
              <a:rPr lang="en-US" dirty="0"/>
              <a:t>Subtitle</a:t>
            </a:r>
          </a:p>
        </p:txBody>
      </p:sp>
      <p:sp>
        <p:nvSpPr>
          <p:cNvPr id="14" name="Текст 5"/>
          <p:cNvSpPr>
            <a:spLocks noGrp="1"/>
          </p:cNvSpPr>
          <p:nvPr>
            <p:ph type="body" sz="quarter" idx="45" hasCustomPrompt="1"/>
          </p:nvPr>
        </p:nvSpPr>
        <p:spPr>
          <a:xfrm>
            <a:off x="6396038" y="3296152"/>
            <a:ext cx="5048250" cy="1298849"/>
          </a:xfrm>
        </p:spPr>
        <p:txBody>
          <a:bodyPr>
            <a:noAutofit/>
          </a:bodyPr>
          <a:lstStyle>
            <a:lvl1pPr marL="285750" indent="-285750">
              <a:buFont typeface="Arial" panose="020B0604020202020204" pitchFamily="34" charset="0"/>
              <a:buChar char="•"/>
              <a:defRPr sz="1400"/>
            </a:lvl1pPr>
            <a:lvl2pPr>
              <a:defRPr sz="1400"/>
            </a:lvl2pPr>
          </a:lstStyle>
          <a:p>
            <a:pPr lvl="1"/>
            <a:r>
              <a:rPr lang="en-US" dirty="0"/>
              <a:t>Text</a:t>
            </a:r>
          </a:p>
        </p:txBody>
      </p:sp>
      <p:sp>
        <p:nvSpPr>
          <p:cNvPr id="15" name="Текст 2"/>
          <p:cNvSpPr>
            <a:spLocks noGrp="1"/>
          </p:cNvSpPr>
          <p:nvPr>
            <p:ph type="body" sz="quarter" idx="46" hasCustomPrompt="1"/>
          </p:nvPr>
        </p:nvSpPr>
        <p:spPr>
          <a:xfrm>
            <a:off x="6396036" y="4617763"/>
            <a:ext cx="5048250" cy="318861"/>
          </a:xfrm>
        </p:spPr>
        <p:txBody>
          <a:bodyPr>
            <a:normAutofit/>
          </a:bodyPr>
          <a:lstStyle>
            <a:lvl1pPr marL="0" indent="0">
              <a:buNone/>
              <a:defRPr sz="1800" b="1">
                <a:solidFill>
                  <a:srgbClr val="006CB7"/>
                </a:solidFill>
              </a:defRPr>
            </a:lvl1pPr>
          </a:lstStyle>
          <a:p>
            <a:pPr lvl="0"/>
            <a:r>
              <a:rPr lang="en-US" dirty="0"/>
              <a:t>Subtitle</a:t>
            </a:r>
          </a:p>
        </p:txBody>
      </p:sp>
      <p:sp>
        <p:nvSpPr>
          <p:cNvPr id="16" name="Текст 5"/>
          <p:cNvSpPr>
            <a:spLocks noGrp="1"/>
          </p:cNvSpPr>
          <p:nvPr>
            <p:ph type="body" sz="quarter" idx="47" hasCustomPrompt="1"/>
          </p:nvPr>
        </p:nvSpPr>
        <p:spPr>
          <a:xfrm>
            <a:off x="6396036" y="4959077"/>
            <a:ext cx="5048250" cy="979988"/>
          </a:xfrm>
        </p:spPr>
        <p:txBody>
          <a:bodyPr>
            <a:noAutofit/>
          </a:bodyPr>
          <a:lstStyle>
            <a:lvl1pPr marL="285750" indent="-285750">
              <a:buFont typeface="Arial" panose="020B0604020202020204" pitchFamily="34" charset="0"/>
              <a:buChar char="•"/>
              <a:defRPr sz="1400"/>
            </a:lvl1pPr>
            <a:lvl2pPr>
              <a:defRPr sz="1400"/>
            </a:lvl2pPr>
          </a:lstStyle>
          <a:p>
            <a:pPr lvl="1"/>
            <a:r>
              <a:rPr lang="en-US" dirty="0"/>
              <a:t>Text</a:t>
            </a:r>
          </a:p>
        </p:txBody>
      </p:sp>
    </p:spTree>
    <p:extLst>
      <p:ext uri="{BB962C8B-B14F-4D97-AF65-F5344CB8AC3E}">
        <p14:creationId xmlns:p14="http://schemas.microsoft.com/office/powerpoint/2010/main" val="33460431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
        <p:nvSpPr>
          <p:cNvPr id="3" name="Текст 2"/>
          <p:cNvSpPr>
            <a:spLocks noGrp="1"/>
          </p:cNvSpPr>
          <p:nvPr>
            <p:ph type="body" sz="quarter" idx="35" hasCustomPrompt="1"/>
          </p:nvPr>
        </p:nvSpPr>
        <p:spPr>
          <a:xfrm>
            <a:off x="738190"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4" name="Рисунок 3"/>
          <p:cNvSpPr>
            <a:spLocks noGrp="1"/>
          </p:cNvSpPr>
          <p:nvPr>
            <p:ph type="pic" sz="quarter" idx="38" hasCustomPrompt="1"/>
          </p:nvPr>
        </p:nvSpPr>
        <p:spPr>
          <a:xfrm>
            <a:off x="6369270" y="1339850"/>
            <a:ext cx="5075018" cy="4635500"/>
          </a:xfrm>
        </p:spPr>
        <p:txBody>
          <a:bodyPr/>
          <a:lstStyle>
            <a:lvl1pPr>
              <a:defRPr/>
            </a:lvl1pPr>
          </a:lstStyle>
          <a:p>
            <a:r>
              <a:rPr lang="en-US" dirty="0"/>
              <a:t>Insert a picture</a:t>
            </a:r>
            <a:endParaRPr lang="ru-RU" dirty="0"/>
          </a:p>
        </p:txBody>
      </p:sp>
    </p:spTree>
    <p:extLst>
      <p:ext uri="{BB962C8B-B14F-4D97-AF65-F5344CB8AC3E}">
        <p14:creationId xmlns:p14="http://schemas.microsoft.com/office/powerpoint/2010/main" val="527483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du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3"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Introduction</a:t>
            </a:r>
            <a:endParaRPr lang="ru-RU" dirty="0"/>
          </a:p>
        </p:txBody>
      </p:sp>
      <p:sp>
        <p:nvSpPr>
          <p:cNvPr id="16" name="TextBox 15"/>
          <p:cNvSpPr txBox="1"/>
          <p:nvPr userDrawn="1"/>
        </p:nvSpPr>
        <p:spPr>
          <a:xfrm>
            <a:off x="738188" y="1168400"/>
            <a:ext cx="10706098" cy="461665"/>
          </a:xfrm>
          <a:prstGeom prst="rect">
            <a:avLst/>
          </a:prstGeom>
          <a:noFill/>
        </p:spPr>
        <p:txBody>
          <a:bodyPr wrap="square" rtlCol="0">
            <a:spAutoFit/>
          </a:bodyPr>
          <a:lstStyle/>
          <a:p>
            <a:pPr lvl="0"/>
            <a:r>
              <a:rPr lang="en-US" sz="2400" dirty="0">
                <a:solidFill>
                  <a:srgbClr val="006CB7"/>
                </a:solidFill>
              </a:rPr>
              <a:t>Welcome to MERA Presentations template!</a:t>
            </a:r>
          </a:p>
        </p:txBody>
      </p:sp>
      <p:sp>
        <p:nvSpPr>
          <p:cNvPr id="17" name="TextBox 16"/>
          <p:cNvSpPr txBox="1"/>
          <p:nvPr userDrawn="1"/>
        </p:nvSpPr>
        <p:spPr>
          <a:xfrm>
            <a:off x="738188" y="1752600"/>
            <a:ext cx="1070609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To fulfill your needs of creating a wonderful corporate presentation please follow these steps:</a:t>
            </a:r>
          </a:p>
          <a:p>
            <a:endParaRPr lang="ru-RU" sz="1800" b="1" dirty="0"/>
          </a:p>
        </p:txBody>
      </p:sp>
      <p:sp>
        <p:nvSpPr>
          <p:cNvPr id="19" name="TextBox 18"/>
          <p:cNvSpPr txBox="1"/>
          <p:nvPr userDrawn="1"/>
        </p:nvSpPr>
        <p:spPr>
          <a:xfrm>
            <a:off x="738188" y="2184400"/>
            <a:ext cx="10706098" cy="1754326"/>
          </a:xfrm>
          <a:prstGeom prst="rect">
            <a:avLst/>
          </a:prstGeom>
          <a:noFill/>
        </p:spPr>
        <p:txBody>
          <a:bodyPr wrap="square" rtlCol="0">
            <a:spAutoFit/>
          </a:bodyPr>
          <a:lstStyle/>
          <a:p>
            <a:pPr marL="342900" lvl="0" indent="-342900">
              <a:buFont typeface="+mj-lt"/>
              <a:buAutoNum type="arabicPeriod"/>
            </a:pPr>
            <a:r>
              <a:rPr lang="en-US" dirty="0"/>
              <a:t>Use the tab “New slide” to create slides from already structured layouts (or choose “Empty slide” )</a:t>
            </a:r>
          </a:p>
          <a:p>
            <a:pPr marL="342900" lvl="0" indent="-342900">
              <a:buFont typeface="+mj-lt"/>
              <a:buAutoNum type="arabicPeriod"/>
            </a:pPr>
            <a:r>
              <a:rPr lang="en-US" dirty="0"/>
              <a:t>Insert your information in the blocks (size, font and color has been set for you)</a:t>
            </a:r>
          </a:p>
          <a:p>
            <a:pPr marL="342900" lvl="0" indent="-342900">
              <a:buFont typeface="+mj-lt"/>
              <a:buAutoNum type="arabicPeriod"/>
            </a:pPr>
            <a:r>
              <a:rPr lang="en-US" dirty="0"/>
              <a:t>Resize, reorganize and use blocks the way it fits your content</a:t>
            </a:r>
          </a:p>
          <a:p>
            <a:pPr marL="342900" lvl="0" indent="-342900">
              <a:buFont typeface="+mj-lt"/>
              <a:buAutoNum type="arabicPeriod"/>
            </a:pPr>
            <a:r>
              <a:rPr lang="en-US" dirty="0"/>
              <a:t>Enjoy the beauty of your masterpiece!</a:t>
            </a:r>
          </a:p>
          <a:p>
            <a:pPr marL="0" lvl="0" indent="0">
              <a:buFont typeface="+mj-lt"/>
              <a:buNone/>
            </a:pPr>
            <a:endParaRPr lang="en-US" dirty="0"/>
          </a:p>
          <a:p>
            <a:pPr marL="0" lvl="0" indent="0">
              <a:buFont typeface="+mj-lt"/>
              <a:buNone/>
            </a:pPr>
            <a:r>
              <a:rPr lang="en-US" dirty="0"/>
              <a:t>With any suggestions, remarks and complains feel free to contact PR Team.</a:t>
            </a:r>
            <a:endParaRPr lang="ru-RU" dirty="0"/>
          </a:p>
        </p:txBody>
      </p:sp>
    </p:spTree>
    <p:extLst>
      <p:ext uri="{BB962C8B-B14F-4D97-AF65-F5344CB8AC3E}">
        <p14:creationId xmlns:p14="http://schemas.microsoft.com/office/powerpoint/2010/main" val="3965978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hasCustomPrompt="1"/>
          </p:nvPr>
        </p:nvSpPr>
        <p:spPr>
          <a:xfrm>
            <a:off x="628650" y="4800600"/>
            <a:ext cx="8810624" cy="909638"/>
          </a:xfrm>
        </p:spPr>
        <p:txBody>
          <a:bodyPr anchor="b">
            <a:normAutofit/>
          </a:bodyPr>
          <a:lstStyle>
            <a:lvl1pPr algn="l">
              <a:defRPr sz="3600" b="1">
                <a:solidFill>
                  <a:schemeClr val="bg1"/>
                </a:solidFill>
                <a:latin typeface="+mj-lt"/>
              </a:defRPr>
            </a:lvl1pPr>
          </a:lstStyle>
          <a:p>
            <a:r>
              <a:rPr lang="en-US" dirty="0"/>
              <a:t>Title</a:t>
            </a:r>
            <a:endParaRPr lang="ru-RU" dirty="0"/>
          </a:p>
        </p:txBody>
      </p:sp>
      <p:cxnSp>
        <p:nvCxnSpPr>
          <p:cNvPr id="8" name="Прямая соединительная линия 7"/>
          <p:cNvCxnSpPr/>
          <p:nvPr/>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Текст 4"/>
          <p:cNvSpPr>
            <a:spLocks noGrp="1"/>
          </p:cNvSpPr>
          <p:nvPr>
            <p:ph type="body" sz="quarter" idx="10" hasCustomPrompt="1"/>
          </p:nvPr>
        </p:nvSpPr>
        <p:spPr>
          <a:xfrm>
            <a:off x="2100263" y="6271417"/>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Tree>
    <p:extLst>
      <p:ext uri="{BB962C8B-B14F-4D97-AF65-F5344CB8AC3E}">
        <p14:creationId xmlns:p14="http://schemas.microsoft.com/office/powerpoint/2010/main" val="3428738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mpty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3"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37171074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lumn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23"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5"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p>
        </p:txBody>
      </p:sp>
      <p:sp>
        <p:nvSpPr>
          <p:cNvPr id="3" name="Текст 2"/>
          <p:cNvSpPr>
            <a:spLocks noGrp="1"/>
          </p:cNvSpPr>
          <p:nvPr>
            <p:ph type="body" sz="quarter" idx="35" hasCustomPrompt="1"/>
          </p:nvPr>
        </p:nvSpPr>
        <p:spPr>
          <a:xfrm>
            <a:off x="738188" y="2170113"/>
            <a:ext cx="2589212" cy="560387"/>
          </a:xfrm>
        </p:spPr>
        <p:txBody>
          <a:bodyPr>
            <a:normAutofit/>
          </a:bodyPr>
          <a:lstStyle>
            <a:lvl1pPr marL="0" indent="0" algn="l">
              <a:buFont typeface="Arial" panose="020B0604020202020204" pitchFamily="34" charset="0"/>
              <a:buNone/>
              <a:defRPr sz="1800" b="1"/>
            </a:lvl1pPr>
            <a:lvl2pPr>
              <a:defRPr/>
            </a:lvl2pPr>
            <a:lvl3pPr>
              <a:defRPr/>
            </a:lvl3pPr>
          </a:lstStyle>
          <a:p>
            <a:pPr lvl="0"/>
            <a:r>
              <a:rPr lang="en-US" dirty="0"/>
              <a:t>Block title</a:t>
            </a:r>
            <a:endParaRPr lang="ru-RU" dirty="0"/>
          </a:p>
        </p:txBody>
      </p:sp>
      <p:sp>
        <p:nvSpPr>
          <p:cNvPr id="6" name="Текст 5"/>
          <p:cNvSpPr>
            <a:spLocks noGrp="1"/>
          </p:cNvSpPr>
          <p:nvPr>
            <p:ph type="body" sz="quarter" idx="36" hasCustomPrompt="1"/>
          </p:nvPr>
        </p:nvSpPr>
        <p:spPr>
          <a:xfrm>
            <a:off x="738188"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a:p>
            <a:pPr lvl="0"/>
            <a:endParaRPr lang="en-US" dirty="0"/>
          </a:p>
        </p:txBody>
      </p:sp>
      <p:sp>
        <p:nvSpPr>
          <p:cNvPr id="13" name="Текст 2"/>
          <p:cNvSpPr>
            <a:spLocks noGrp="1"/>
          </p:cNvSpPr>
          <p:nvPr>
            <p:ph type="body" sz="quarter" idx="37" hasCustomPrompt="1"/>
          </p:nvPr>
        </p:nvSpPr>
        <p:spPr>
          <a:xfrm>
            <a:off x="3443817" y="2170113"/>
            <a:ext cx="2589212" cy="560387"/>
          </a:xfrm>
        </p:spPr>
        <p:txBody>
          <a:bodyPr>
            <a:normAutofit/>
          </a:bodyPr>
          <a:lstStyle>
            <a:lvl1pPr marL="0" indent="0" algn="l">
              <a:buNone/>
              <a:defRPr sz="1800" b="1"/>
            </a:lvl1pPr>
          </a:lstStyle>
          <a:p>
            <a:pPr lvl="0"/>
            <a:r>
              <a:rPr lang="en-US" dirty="0"/>
              <a:t>Block title</a:t>
            </a:r>
            <a:endParaRPr lang="ru-RU" dirty="0"/>
          </a:p>
        </p:txBody>
      </p:sp>
      <p:sp>
        <p:nvSpPr>
          <p:cNvPr id="15" name="Текст 5"/>
          <p:cNvSpPr>
            <a:spLocks noGrp="1"/>
          </p:cNvSpPr>
          <p:nvPr>
            <p:ph type="body" sz="quarter" idx="38" hasCustomPrompt="1"/>
          </p:nvPr>
        </p:nvSpPr>
        <p:spPr>
          <a:xfrm>
            <a:off x="3443817"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6" name="Текст 2"/>
          <p:cNvSpPr>
            <a:spLocks noGrp="1"/>
          </p:cNvSpPr>
          <p:nvPr>
            <p:ph type="body" sz="quarter" idx="39" hasCustomPrompt="1"/>
          </p:nvPr>
        </p:nvSpPr>
        <p:spPr>
          <a:xfrm>
            <a:off x="6149446" y="2170113"/>
            <a:ext cx="2589212" cy="560387"/>
          </a:xfrm>
        </p:spPr>
        <p:txBody>
          <a:bodyPr>
            <a:normAutofit/>
          </a:bodyPr>
          <a:lstStyle>
            <a:lvl1pPr marL="0" indent="0" algn="l">
              <a:buNone/>
              <a:defRPr sz="1800" b="1"/>
            </a:lvl1pPr>
          </a:lstStyle>
          <a:p>
            <a:pPr lvl="0"/>
            <a:r>
              <a:rPr lang="en-US" dirty="0"/>
              <a:t>Block title</a:t>
            </a:r>
            <a:endParaRPr lang="ru-RU" dirty="0"/>
          </a:p>
        </p:txBody>
      </p:sp>
      <p:sp>
        <p:nvSpPr>
          <p:cNvPr id="20" name="Текст 5"/>
          <p:cNvSpPr>
            <a:spLocks noGrp="1"/>
          </p:cNvSpPr>
          <p:nvPr>
            <p:ph type="body" sz="quarter" idx="40" hasCustomPrompt="1"/>
          </p:nvPr>
        </p:nvSpPr>
        <p:spPr>
          <a:xfrm>
            <a:off x="6149446"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21" name="Текст 2"/>
          <p:cNvSpPr>
            <a:spLocks noGrp="1"/>
          </p:cNvSpPr>
          <p:nvPr>
            <p:ph type="body" sz="quarter" idx="41" hasCustomPrompt="1"/>
          </p:nvPr>
        </p:nvSpPr>
        <p:spPr>
          <a:xfrm>
            <a:off x="8855074" y="2170113"/>
            <a:ext cx="2589212" cy="560387"/>
          </a:xfrm>
        </p:spPr>
        <p:txBody>
          <a:bodyPr>
            <a:normAutofit/>
          </a:bodyPr>
          <a:lstStyle>
            <a:lvl1pPr marL="0" indent="0" algn="l">
              <a:buNone/>
              <a:defRPr sz="1800" b="1"/>
            </a:lvl1pPr>
          </a:lstStyle>
          <a:p>
            <a:pPr lvl="0"/>
            <a:r>
              <a:rPr lang="en-US" dirty="0"/>
              <a:t>Block title</a:t>
            </a:r>
            <a:endParaRPr lang="ru-RU" dirty="0"/>
          </a:p>
        </p:txBody>
      </p:sp>
      <p:sp>
        <p:nvSpPr>
          <p:cNvPr id="22" name="Текст 5"/>
          <p:cNvSpPr>
            <a:spLocks noGrp="1"/>
          </p:cNvSpPr>
          <p:nvPr>
            <p:ph type="body" sz="quarter" idx="42" hasCustomPrompt="1"/>
          </p:nvPr>
        </p:nvSpPr>
        <p:spPr>
          <a:xfrm>
            <a:off x="8855074"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4102920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columns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 name="Рисунок 2"/>
          <p:cNvSpPr>
            <a:spLocks noGrp="1"/>
          </p:cNvSpPr>
          <p:nvPr>
            <p:ph type="pic" sz="quarter" idx="16" hasCustomPrompt="1"/>
          </p:nvPr>
        </p:nvSpPr>
        <p:spPr>
          <a:xfrm>
            <a:off x="8856661" y="1339848"/>
            <a:ext cx="2587627" cy="4635283"/>
          </a:xfrm>
        </p:spPr>
        <p:txBody>
          <a:bodyPr/>
          <a:lstStyle>
            <a:lvl1pPr>
              <a:defRPr/>
            </a:lvl1pPr>
          </a:lstStyle>
          <a:p>
            <a:r>
              <a:rPr lang="en-US" dirty="0"/>
              <a:t>Insert a picture</a:t>
            </a:r>
            <a:endParaRPr lang="ru-RU" dirty="0"/>
          </a:p>
        </p:txBody>
      </p:sp>
      <p:sp>
        <p:nvSpPr>
          <p:cNvPr id="15"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8" name="Текст 7"/>
          <p:cNvSpPr>
            <a:spLocks noGrp="1"/>
          </p:cNvSpPr>
          <p:nvPr>
            <p:ph type="body" sz="quarter" idx="34" hasCustomPrompt="1"/>
          </p:nvPr>
        </p:nvSpPr>
        <p:spPr>
          <a:xfrm>
            <a:off x="738191" y="1339849"/>
            <a:ext cx="7999409" cy="725433"/>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9" name="Текст 2"/>
          <p:cNvSpPr>
            <a:spLocks noGrp="1"/>
          </p:cNvSpPr>
          <p:nvPr>
            <p:ph type="body" sz="quarter" idx="35" hasCustomPrompt="1"/>
          </p:nvPr>
        </p:nvSpPr>
        <p:spPr>
          <a:xfrm>
            <a:off x="737398" y="2278119"/>
            <a:ext cx="2589212" cy="560387"/>
          </a:xfrm>
        </p:spPr>
        <p:txBody>
          <a:bodyPr>
            <a:normAutofit/>
          </a:bodyPr>
          <a:lstStyle>
            <a:lvl1pPr marL="0" indent="0" algn="l">
              <a:buNone/>
              <a:defRPr sz="1800" b="1"/>
            </a:lvl1pPr>
          </a:lstStyle>
          <a:p>
            <a:pPr lvl="0"/>
            <a:r>
              <a:rPr lang="en-US" dirty="0"/>
              <a:t>Block title</a:t>
            </a:r>
            <a:endParaRPr lang="ru-RU" dirty="0"/>
          </a:p>
        </p:txBody>
      </p:sp>
      <p:sp>
        <p:nvSpPr>
          <p:cNvPr id="10" name="Текст 5"/>
          <p:cNvSpPr>
            <a:spLocks noGrp="1"/>
          </p:cNvSpPr>
          <p:nvPr>
            <p:ph type="body" sz="quarter" idx="36" hasCustomPrompt="1"/>
          </p:nvPr>
        </p:nvSpPr>
        <p:spPr>
          <a:xfrm>
            <a:off x="737398" y="2838505"/>
            <a:ext cx="2589212" cy="313662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1" name="Текст 2"/>
          <p:cNvSpPr>
            <a:spLocks noGrp="1"/>
          </p:cNvSpPr>
          <p:nvPr>
            <p:ph type="body" sz="quarter" idx="37" hasCustomPrompt="1"/>
          </p:nvPr>
        </p:nvSpPr>
        <p:spPr>
          <a:xfrm>
            <a:off x="3442893" y="2278119"/>
            <a:ext cx="2589212" cy="560387"/>
          </a:xfrm>
        </p:spPr>
        <p:txBody>
          <a:bodyPr>
            <a:normAutofit/>
          </a:bodyPr>
          <a:lstStyle>
            <a:lvl1pPr marL="0" indent="0" algn="l">
              <a:buNone/>
              <a:defRPr sz="1800" b="1"/>
            </a:lvl1pPr>
          </a:lstStyle>
          <a:p>
            <a:pPr lvl="0"/>
            <a:r>
              <a:rPr lang="en-US" dirty="0"/>
              <a:t>Block title</a:t>
            </a:r>
            <a:endParaRPr lang="ru-RU" dirty="0"/>
          </a:p>
        </p:txBody>
      </p:sp>
      <p:sp>
        <p:nvSpPr>
          <p:cNvPr id="12" name="Текст 5"/>
          <p:cNvSpPr>
            <a:spLocks noGrp="1"/>
          </p:cNvSpPr>
          <p:nvPr>
            <p:ph type="body" sz="quarter" idx="38" hasCustomPrompt="1"/>
          </p:nvPr>
        </p:nvSpPr>
        <p:spPr>
          <a:xfrm>
            <a:off x="3442893" y="2838505"/>
            <a:ext cx="2589212" cy="313662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3" name="Текст 2"/>
          <p:cNvSpPr>
            <a:spLocks noGrp="1"/>
          </p:cNvSpPr>
          <p:nvPr>
            <p:ph type="body" sz="quarter" idx="39" hasCustomPrompt="1"/>
          </p:nvPr>
        </p:nvSpPr>
        <p:spPr>
          <a:xfrm>
            <a:off x="6148388" y="2278119"/>
            <a:ext cx="2589212" cy="560387"/>
          </a:xfrm>
        </p:spPr>
        <p:txBody>
          <a:bodyPr>
            <a:normAutofit/>
          </a:bodyPr>
          <a:lstStyle>
            <a:lvl1pPr marL="0" indent="0" algn="l">
              <a:buNone/>
              <a:defRPr sz="1800" b="1"/>
            </a:lvl1pPr>
          </a:lstStyle>
          <a:p>
            <a:pPr lvl="0"/>
            <a:r>
              <a:rPr lang="en-US" dirty="0"/>
              <a:t>Block title</a:t>
            </a:r>
            <a:endParaRPr lang="ru-RU" dirty="0"/>
          </a:p>
        </p:txBody>
      </p:sp>
      <p:sp>
        <p:nvSpPr>
          <p:cNvPr id="16" name="Текст 5"/>
          <p:cNvSpPr>
            <a:spLocks noGrp="1"/>
          </p:cNvSpPr>
          <p:nvPr>
            <p:ph type="body" sz="quarter" idx="40" hasCustomPrompt="1"/>
          </p:nvPr>
        </p:nvSpPr>
        <p:spPr>
          <a:xfrm>
            <a:off x="6148388" y="2838505"/>
            <a:ext cx="2589212" cy="313662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2190683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 name="Рисунок 2"/>
          <p:cNvSpPr>
            <a:spLocks noGrp="1"/>
          </p:cNvSpPr>
          <p:nvPr>
            <p:ph type="pic" sz="quarter" idx="16" hasCustomPrompt="1"/>
          </p:nvPr>
        </p:nvSpPr>
        <p:spPr>
          <a:xfrm>
            <a:off x="738190" y="1576388"/>
            <a:ext cx="2587624" cy="2018150"/>
          </a:xfrm>
        </p:spPr>
        <p:txBody>
          <a:bodyPr/>
          <a:lstStyle>
            <a:lvl1pPr>
              <a:defRPr/>
            </a:lvl1pPr>
          </a:lstStyle>
          <a:p>
            <a:r>
              <a:rPr lang="en-US" dirty="0"/>
              <a:t>Insert a picture</a:t>
            </a:r>
            <a:endParaRPr lang="ru-RU" dirty="0"/>
          </a:p>
        </p:txBody>
      </p:sp>
      <p:sp>
        <p:nvSpPr>
          <p:cNvPr id="11" name="Рисунок 2"/>
          <p:cNvSpPr>
            <a:spLocks noGrp="1"/>
          </p:cNvSpPr>
          <p:nvPr>
            <p:ph type="pic" sz="quarter" idx="17" hasCustomPrompt="1"/>
          </p:nvPr>
        </p:nvSpPr>
        <p:spPr>
          <a:xfrm>
            <a:off x="3444347" y="1576388"/>
            <a:ext cx="2587624" cy="2018150"/>
          </a:xfrm>
        </p:spPr>
        <p:txBody>
          <a:bodyPr/>
          <a:lstStyle/>
          <a:p>
            <a:r>
              <a:rPr lang="en-US" dirty="0"/>
              <a:t>Insert a picture</a:t>
            </a:r>
            <a:endParaRPr lang="ru-RU" dirty="0"/>
          </a:p>
        </p:txBody>
      </p:sp>
      <p:sp>
        <p:nvSpPr>
          <p:cNvPr id="12" name="Рисунок 2"/>
          <p:cNvSpPr>
            <a:spLocks noGrp="1"/>
          </p:cNvSpPr>
          <p:nvPr>
            <p:ph type="pic" sz="quarter" idx="18" hasCustomPrompt="1"/>
          </p:nvPr>
        </p:nvSpPr>
        <p:spPr>
          <a:xfrm>
            <a:off x="6150504" y="1576388"/>
            <a:ext cx="2587624" cy="2018150"/>
          </a:xfrm>
        </p:spPr>
        <p:txBody>
          <a:bodyPr/>
          <a:lstStyle/>
          <a:p>
            <a:r>
              <a:rPr lang="en-US" dirty="0"/>
              <a:t>Insert a picture</a:t>
            </a:r>
            <a:endParaRPr lang="ru-RU" dirty="0"/>
          </a:p>
        </p:txBody>
      </p:sp>
      <p:sp>
        <p:nvSpPr>
          <p:cNvPr id="13" name="Рисунок 2"/>
          <p:cNvSpPr>
            <a:spLocks noGrp="1"/>
          </p:cNvSpPr>
          <p:nvPr>
            <p:ph type="pic" sz="quarter" idx="19" hasCustomPrompt="1"/>
          </p:nvPr>
        </p:nvSpPr>
        <p:spPr>
          <a:xfrm>
            <a:off x="8856662" y="1576388"/>
            <a:ext cx="2587624" cy="2018150"/>
          </a:xfrm>
        </p:spPr>
        <p:txBody>
          <a:bodyPr/>
          <a:lstStyle/>
          <a:p>
            <a:r>
              <a:rPr lang="en-US" dirty="0"/>
              <a:t>Insert a picture</a:t>
            </a:r>
            <a:endParaRPr lang="ru-RU" dirty="0"/>
          </a:p>
        </p:txBody>
      </p:sp>
      <p:sp>
        <p:nvSpPr>
          <p:cNvPr id="15"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6" name="Текст 2"/>
          <p:cNvSpPr>
            <a:spLocks noGrp="1"/>
          </p:cNvSpPr>
          <p:nvPr>
            <p:ph type="body" sz="quarter" idx="35" hasCustomPrompt="1"/>
          </p:nvPr>
        </p:nvSpPr>
        <p:spPr>
          <a:xfrm>
            <a:off x="3442758" y="3846785"/>
            <a:ext cx="2589212" cy="560387"/>
          </a:xfrm>
        </p:spPr>
        <p:txBody>
          <a:bodyPr>
            <a:normAutofit/>
          </a:bodyPr>
          <a:lstStyle>
            <a:lvl1pPr marL="0" indent="0" algn="l">
              <a:buNone/>
              <a:defRPr sz="1800" b="1"/>
            </a:lvl1pPr>
          </a:lstStyle>
          <a:p>
            <a:pPr lvl="0"/>
            <a:r>
              <a:rPr lang="en-US" dirty="0"/>
              <a:t>Block title</a:t>
            </a:r>
            <a:endParaRPr lang="ru-RU" dirty="0"/>
          </a:p>
        </p:txBody>
      </p:sp>
      <p:sp>
        <p:nvSpPr>
          <p:cNvPr id="20" name="Текст 5"/>
          <p:cNvSpPr>
            <a:spLocks noGrp="1"/>
          </p:cNvSpPr>
          <p:nvPr>
            <p:ph type="body" sz="quarter" idx="36" hasCustomPrompt="1"/>
          </p:nvPr>
        </p:nvSpPr>
        <p:spPr>
          <a:xfrm>
            <a:off x="3442758" y="4407171"/>
            <a:ext cx="2589212" cy="1378773"/>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21" name="Текст 2"/>
          <p:cNvSpPr>
            <a:spLocks noGrp="1"/>
          </p:cNvSpPr>
          <p:nvPr>
            <p:ph type="body" sz="quarter" idx="37" hasCustomPrompt="1"/>
          </p:nvPr>
        </p:nvSpPr>
        <p:spPr>
          <a:xfrm>
            <a:off x="6148916" y="3846784"/>
            <a:ext cx="2589212" cy="560387"/>
          </a:xfrm>
        </p:spPr>
        <p:txBody>
          <a:bodyPr>
            <a:normAutofit/>
          </a:bodyPr>
          <a:lstStyle>
            <a:lvl1pPr marL="0" indent="0" algn="l">
              <a:buNone/>
              <a:defRPr sz="1800" b="1"/>
            </a:lvl1pPr>
          </a:lstStyle>
          <a:p>
            <a:pPr lvl="0"/>
            <a:r>
              <a:rPr lang="en-US" dirty="0"/>
              <a:t>Block title</a:t>
            </a:r>
            <a:endParaRPr lang="ru-RU" dirty="0"/>
          </a:p>
        </p:txBody>
      </p:sp>
      <p:sp>
        <p:nvSpPr>
          <p:cNvPr id="22" name="Текст 5"/>
          <p:cNvSpPr>
            <a:spLocks noGrp="1"/>
          </p:cNvSpPr>
          <p:nvPr>
            <p:ph type="body" sz="quarter" idx="38" hasCustomPrompt="1"/>
          </p:nvPr>
        </p:nvSpPr>
        <p:spPr>
          <a:xfrm>
            <a:off x="6148916" y="4407170"/>
            <a:ext cx="2589212" cy="1378773"/>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23" name="Текст 2"/>
          <p:cNvSpPr>
            <a:spLocks noGrp="1"/>
          </p:cNvSpPr>
          <p:nvPr>
            <p:ph type="body" sz="quarter" idx="39" hasCustomPrompt="1"/>
          </p:nvPr>
        </p:nvSpPr>
        <p:spPr>
          <a:xfrm>
            <a:off x="8855072" y="3846783"/>
            <a:ext cx="2589212" cy="560387"/>
          </a:xfrm>
        </p:spPr>
        <p:txBody>
          <a:bodyPr>
            <a:normAutofit/>
          </a:bodyPr>
          <a:lstStyle>
            <a:lvl1pPr marL="0" indent="0" algn="l">
              <a:buNone/>
              <a:defRPr sz="1800" b="1"/>
            </a:lvl1pPr>
          </a:lstStyle>
          <a:p>
            <a:pPr lvl="0"/>
            <a:r>
              <a:rPr lang="en-US" dirty="0"/>
              <a:t>Block title</a:t>
            </a:r>
            <a:endParaRPr lang="ru-RU" dirty="0"/>
          </a:p>
        </p:txBody>
      </p:sp>
      <p:sp>
        <p:nvSpPr>
          <p:cNvPr id="24" name="Текст 5"/>
          <p:cNvSpPr>
            <a:spLocks noGrp="1"/>
          </p:cNvSpPr>
          <p:nvPr>
            <p:ph type="body" sz="quarter" idx="40" hasCustomPrompt="1"/>
          </p:nvPr>
        </p:nvSpPr>
        <p:spPr>
          <a:xfrm>
            <a:off x="8855072" y="4407169"/>
            <a:ext cx="2589212" cy="1378773"/>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4" name="Текст 3"/>
          <p:cNvSpPr>
            <a:spLocks noGrp="1"/>
          </p:cNvSpPr>
          <p:nvPr>
            <p:ph type="body" sz="quarter" idx="41" hasCustomPrompt="1"/>
          </p:nvPr>
        </p:nvSpPr>
        <p:spPr>
          <a:xfrm>
            <a:off x="738189" y="3846783"/>
            <a:ext cx="2587623" cy="193965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p>
          <a:p>
            <a:pPr lvl="0"/>
            <a:endParaRPr lang="ru-RU" dirty="0"/>
          </a:p>
        </p:txBody>
      </p:sp>
    </p:spTree>
    <p:extLst>
      <p:ext uri="{BB962C8B-B14F-4D97-AF65-F5344CB8AC3E}">
        <p14:creationId xmlns:p14="http://schemas.microsoft.com/office/powerpoint/2010/main" val="31483095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olumns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4" name="Текст 3"/>
          <p:cNvSpPr>
            <a:spLocks noGrp="1"/>
          </p:cNvSpPr>
          <p:nvPr>
            <p:ph type="body" sz="quarter" idx="17" hasCustomPrompt="1"/>
          </p:nvPr>
        </p:nvSpPr>
        <p:spPr>
          <a:xfrm>
            <a:off x="3444347" y="1355725"/>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7" name="Диаграмма 6"/>
          <p:cNvSpPr>
            <a:spLocks noGrp="1"/>
          </p:cNvSpPr>
          <p:nvPr>
            <p:ph type="chart" sz="quarter" idx="18" hasCustomPrompt="1"/>
          </p:nvPr>
        </p:nvSpPr>
        <p:spPr>
          <a:xfrm>
            <a:off x="3444875" y="2017987"/>
            <a:ext cx="2587097" cy="2687363"/>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9" name="Объект 8"/>
          <p:cNvSpPr>
            <a:spLocks noGrp="1"/>
          </p:cNvSpPr>
          <p:nvPr>
            <p:ph sz="quarter" idx="19" hasCustomPrompt="1"/>
          </p:nvPr>
        </p:nvSpPr>
        <p:spPr>
          <a:xfrm>
            <a:off x="3444347"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15" name="Объект 8"/>
          <p:cNvSpPr>
            <a:spLocks noGrp="1"/>
          </p:cNvSpPr>
          <p:nvPr>
            <p:ph sz="quarter" idx="20" hasCustomPrompt="1"/>
          </p:nvPr>
        </p:nvSpPr>
        <p:spPr>
          <a:xfrm>
            <a:off x="3444082"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16" name="Объект 8"/>
          <p:cNvSpPr>
            <a:spLocks noGrp="1"/>
          </p:cNvSpPr>
          <p:nvPr>
            <p:ph sz="quarter" idx="21" hasCustomPrompt="1"/>
          </p:nvPr>
        </p:nvSpPr>
        <p:spPr>
          <a:xfrm>
            <a:off x="3444081"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17" name="Текст 3"/>
          <p:cNvSpPr>
            <a:spLocks noGrp="1"/>
          </p:cNvSpPr>
          <p:nvPr>
            <p:ph type="body" sz="quarter" idx="22" hasCustomPrompt="1"/>
          </p:nvPr>
        </p:nvSpPr>
        <p:spPr>
          <a:xfrm>
            <a:off x="6150109" y="1355725"/>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1" name="Диаграмма 6"/>
          <p:cNvSpPr>
            <a:spLocks noGrp="1"/>
          </p:cNvSpPr>
          <p:nvPr>
            <p:ph type="chart" sz="quarter" idx="23" hasCustomPrompt="1"/>
          </p:nvPr>
        </p:nvSpPr>
        <p:spPr>
          <a:xfrm>
            <a:off x="6150637" y="2017987"/>
            <a:ext cx="2587097" cy="2687363"/>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3" name="Объект 8"/>
          <p:cNvSpPr>
            <a:spLocks noGrp="1"/>
          </p:cNvSpPr>
          <p:nvPr>
            <p:ph sz="quarter" idx="24" hasCustomPrompt="1"/>
          </p:nvPr>
        </p:nvSpPr>
        <p:spPr>
          <a:xfrm>
            <a:off x="6150109"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4" name="Объект 8"/>
          <p:cNvSpPr>
            <a:spLocks noGrp="1"/>
          </p:cNvSpPr>
          <p:nvPr>
            <p:ph sz="quarter" idx="25" hasCustomPrompt="1"/>
          </p:nvPr>
        </p:nvSpPr>
        <p:spPr>
          <a:xfrm>
            <a:off x="6149844"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25" name="Объект 8"/>
          <p:cNvSpPr>
            <a:spLocks noGrp="1"/>
          </p:cNvSpPr>
          <p:nvPr>
            <p:ph sz="quarter" idx="26" hasCustomPrompt="1"/>
          </p:nvPr>
        </p:nvSpPr>
        <p:spPr>
          <a:xfrm>
            <a:off x="6149843"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26" name="Текст 3"/>
          <p:cNvSpPr>
            <a:spLocks noGrp="1"/>
          </p:cNvSpPr>
          <p:nvPr>
            <p:ph type="body" sz="quarter" idx="27" hasCustomPrompt="1"/>
          </p:nvPr>
        </p:nvSpPr>
        <p:spPr>
          <a:xfrm>
            <a:off x="8856661" y="1355725"/>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7" name="Диаграмма 6"/>
          <p:cNvSpPr>
            <a:spLocks noGrp="1"/>
          </p:cNvSpPr>
          <p:nvPr>
            <p:ph type="chart" sz="quarter" idx="28" hasCustomPrompt="1"/>
          </p:nvPr>
        </p:nvSpPr>
        <p:spPr>
          <a:xfrm>
            <a:off x="8857189" y="2017987"/>
            <a:ext cx="2587097" cy="2687363"/>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8" name="Объект 8"/>
          <p:cNvSpPr>
            <a:spLocks noGrp="1"/>
          </p:cNvSpPr>
          <p:nvPr>
            <p:ph sz="quarter" idx="29" hasCustomPrompt="1"/>
          </p:nvPr>
        </p:nvSpPr>
        <p:spPr>
          <a:xfrm>
            <a:off x="8856661"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9" name="Объект 8"/>
          <p:cNvSpPr>
            <a:spLocks noGrp="1"/>
          </p:cNvSpPr>
          <p:nvPr>
            <p:ph sz="quarter" idx="30" hasCustomPrompt="1"/>
          </p:nvPr>
        </p:nvSpPr>
        <p:spPr>
          <a:xfrm>
            <a:off x="8856396"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30" name="Объект 8"/>
          <p:cNvSpPr>
            <a:spLocks noGrp="1"/>
          </p:cNvSpPr>
          <p:nvPr>
            <p:ph sz="quarter" idx="31" hasCustomPrompt="1"/>
          </p:nvPr>
        </p:nvSpPr>
        <p:spPr>
          <a:xfrm>
            <a:off x="8856395"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31"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3" name="Текст 12"/>
          <p:cNvSpPr>
            <a:spLocks noGrp="1"/>
          </p:cNvSpPr>
          <p:nvPr>
            <p:ph type="body" sz="quarter" idx="34" hasCustomPrompt="1"/>
          </p:nvPr>
        </p:nvSpPr>
        <p:spPr>
          <a:xfrm>
            <a:off x="738191" y="1355725"/>
            <a:ext cx="2587622" cy="661988"/>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Title or subtitle</a:t>
            </a:r>
            <a:endParaRPr lang="ru-RU" dirty="0"/>
          </a:p>
        </p:txBody>
      </p:sp>
      <p:sp>
        <p:nvSpPr>
          <p:cNvPr id="8" name="Текст 7"/>
          <p:cNvSpPr>
            <a:spLocks noGrp="1"/>
          </p:cNvSpPr>
          <p:nvPr>
            <p:ph type="body" sz="quarter" idx="36" hasCustomPrompt="1"/>
          </p:nvPr>
        </p:nvSpPr>
        <p:spPr>
          <a:xfrm>
            <a:off x="738191" y="2249269"/>
            <a:ext cx="2586037" cy="3725862"/>
          </a:xfrm>
        </p:spPr>
        <p:txBody>
          <a:bodyPr>
            <a:normAutofit/>
          </a:bodyPr>
          <a:lstStyle>
            <a:lvl1pPr marL="0" indent="0">
              <a:buNone/>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1834906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columns slid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4" name="Текст 3"/>
          <p:cNvSpPr>
            <a:spLocks noGrp="1"/>
          </p:cNvSpPr>
          <p:nvPr>
            <p:ph type="body" sz="quarter" idx="17" hasCustomPrompt="1"/>
          </p:nvPr>
        </p:nvSpPr>
        <p:spPr>
          <a:xfrm>
            <a:off x="3444347"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7" name="Диаграмма 6"/>
          <p:cNvSpPr>
            <a:spLocks noGrp="1"/>
          </p:cNvSpPr>
          <p:nvPr>
            <p:ph type="chart" sz="quarter" idx="18" hasCustomPrompt="1"/>
          </p:nvPr>
        </p:nvSpPr>
        <p:spPr>
          <a:xfrm>
            <a:off x="3444875"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9" name="Объект 8"/>
          <p:cNvSpPr>
            <a:spLocks noGrp="1"/>
          </p:cNvSpPr>
          <p:nvPr>
            <p:ph sz="quarter" idx="19" hasCustomPrompt="1"/>
          </p:nvPr>
        </p:nvSpPr>
        <p:spPr>
          <a:xfrm>
            <a:off x="3444347"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15" name="Объект 8"/>
          <p:cNvSpPr>
            <a:spLocks noGrp="1"/>
          </p:cNvSpPr>
          <p:nvPr>
            <p:ph sz="quarter" idx="20" hasCustomPrompt="1"/>
          </p:nvPr>
        </p:nvSpPr>
        <p:spPr>
          <a:xfrm>
            <a:off x="3444082"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16" name="Объект 8"/>
          <p:cNvSpPr>
            <a:spLocks noGrp="1"/>
          </p:cNvSpPr>
          <p:nvPr>
            <p:ph sz="quarter" idx="21" hasCustomPrompt="1"/>
          </p:nvPr>
        </p:nvSpPr>
        <p:spPr>
          <a:xfrm>
            <a:off x="3444081"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17" name="Текст 3"/>
          <p:cNvSpPr>
            <a:spLocks noGrp="1"/>
          </p:cNvSpPr>
          <p:nvPr>
            <p:ph type="body" sz="quarter" idx="22" hasCustomPrompt="1"/>
          </p:nvPr>
        </p:nvSpPr>
        <p:spPr>
          <a:xfrm>
            <a:off x="6150109"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1" name="Диаграмма 6"/>
          <p:cNvSpPr>
            <a:spLocks noGrp="1"/>
          </p:cNvSpPr>
          <p:nvPr>
            <p:ph type="chart" sz="quarter" idx="23" hasCustomPrompt="1"/>
          </p:nvPr>
        </p:nvSpPr>
        <p:spPr>
          <a:xfrm>
            <a:off x="6150637"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3" name="Объект 8"/>
          <p:cNvSpPr>
            <a:spLocks noGrp="1"/>
          </p:cNvSpPr>
          <p:nvPr>
            <p:ph sz="quarter" idx="24" hasCustomPrompt="1"/>
          </p:nvPr>
        </p:nvSpPr>
        <p:spPr>
          <a:xfrm>
            <a:off x="6150109"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4" name="Объект 8"/>
          <p:cNvSpPr>
            <a:spLocks noGrp="1"/>
          </p:cNvSpPr>
          <p:nvPr>
            <p:ph sz="quarter" idx="25" hasCustomPrompt="1"/>
          </p:nvPr>
        </p:nvSpPr>
        <p:spPr>
          <a:xfrm>
            <a:off x="6149844"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25" name="Объект 8"/>
          <p:cNvSpPr>
            <a:spLocks noGrp="1"/>
          </p:cNvSpPr>
          <p:nvPr>
            <p:ph sz="quarter" idx="26" hasCustomPrompt="1"/>
          </p:nvPr>
        </p:nvSpPr>
        <p:spPr>
          <a:xfrm>
            <a:off x="6149843"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26" name="Текст 3"/>
          <p:cNvSpPr>
            <a:spLocks noGrp="1"/>
          </p:cNvSpPr>
          <p:nvPr>
            <p:ph type="body" sz="quarter" idx="27" hasCustomPrompt="1"/>
          </p:nvPr>
        </p:nvSpPr>
        <p:spPr>
          <a:xfrm>
            <a:off x="8856661"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7" name="Диаграмма 6"/>
          <p:cNvSpPr>
            <a:spLocks noGrp="1"/>
          </p:cNvSpPr>
          <p:nvPr>
            <p:ph type="chart" sz="quarter" idx="28" hasCustomPrompt="1"/>
          </p:nvPr>
        </p:nvSpPr>
        <p:spPr>
          <a:xfrm>
            <a:off x="8857189"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8" name="Объект 8"/>
          <p:cNvSpPr>
            <a:spLocks noGrp="1"/>
          </p:cNvSpPr>
          <p:nvPr>
            <p:ph sz="quarter" idx="29" hasCustomPrompt="1"/>
          </p:nvPr>
        </p:nvSpPr>
        <p:spPr>
          <a:xfrm>
            <a:off x="8856661"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9" name="Объект 8"/>
          <p:cNvSpPr>
            <a:spLocks noGrp="1"/>
          </p:cNvSpPr>
          <p:nvPr>
            <p:ph sz="quarter" idx="30" hasCustomPrompt="1"/>
          </p:nvPr>
        </p:nvSpPr>
        <p:spPr>
          <a:xfrm>
            <a:off x="8856396"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30" name="Объект 8"/>
          <p:cNvSpPr>
            <a:spLocks noGrp="1"/>
          </p:cNvSpPr>
          <p:nvPr>
            <p:ph sz="quarter" idx="31" hasCustomPrompt="1"/>
          </p:nvPr>
        </p:nvSpPr>
        <p:spPr>
          <a:xfrm>
            <a:off x="8856395"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31" name="Объект 19"/>
          <p:cNvSpPr>
            <a:spLocks noGrp="1"/>
          </p:cNvSpPr>
          <p:nvPr>
            <p:ph sz="quarter" idx="14" hasCustomPrompt="1"/>
          </p:nvPr>
        </p:nvSpPr>
        <p:spPr>
          <a:xfrm>
            <a:off x="738189" y="1214002"/>
            <a:ext cx="10706099" cy="449262"/>
          </a:xfrm>
        </p:spPr>
        <p:txBody>
          <a:bodyPr/>
          <a:lstStyle>
            <a:lvl1pPr marL="0" indent="0">
              <a:buNone/>
              <a:defRPr sz="2800"/>
            </a:lvl1pPr>
          </a:lstStyle>
          <a:p>
            <a:r>
              <a:rPr lang="en-US" sz="2000" dirty="0">
                <a:solidFill>
                  <a:srgbClr val="006CB7"/>
                </a:solidFill>
              </a:rPr>
              <a:t>Long subtitle or descriptive text on one or two lines</a:t>
            </a:r>
          </a:p>
        </p:txBody>
      </p:sp>
      <p:sp>
        <p:nvSpPr>
          <p:cNvPr id="44" name="Текст 3"/>
          <p:cNvSpPr>
            <a:spLocks noGrp="1"/>
          </p:cNvSpPr>
          <p:nvPr>
            <p:ph type="body" sz="quarter" idx="32" hasCustomPrompt="1"/>
          </p:nvPr>
        </p:nvSpPr>
        <p:spPr>
          <a:xfrm>
            <a:off x="737001"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45" name="Диаграмма 6"/>
          <p:cNvSpPr>
            <a:spLocks noGrp="1"/>
          </p:cNvSpPr>
          <p:nvPr>
            <p:ph type="chart" sz="quarter" idx="33" hasCustomPrompt="1"/>
          </p:nvPr>
        </p:nvSpPr>
        <p:spPr>
          <a:xfrm>
            <a:off x="737529"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46" name="Объект 8"/>
          <p:cNvSpPr>
            <a:spLocks noGrp="1"/>
          </p:cNvSpPr>
          <p:nvPr>
            <p:ph sz="quarter" idx="34" hasCustomPrompt="1"/>
          </p:nvPr>
        </p:nvSpPr>
        <p:spPr>
          <a:xfrm>
            <a:off x="737001"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47" name="Объект 8"/>
          <p:cNvSpPr>
            <a:spLocks noGrp="1"/>
          </p:cNvSpPr>
          <p:nvPr>
            <p:ph sz="quarter" idx="35" hasCustomPrompt="1"/>
          </p:nvPr>
        </p:nvSpPr>
        <p:spPr>
          <a:xfrm>
            <a:off x="736736"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48" name="Объект 8"/>
          <p:cNvSpPr>
            <a:spLocks noGrp="1"/>
          </p:cNvSpPr>
          <p:nvPr>
            <p:ph sz="quarter" idx="36" hasCustomPrompt="1"/>
          </p:nvPr>
        </p:nvSpPr>
        <p:spPr>
          <a:xfrm>
            <a:off x="736735"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49" name="Текст 5"/>
          <p:cNvSpPr>
            <a:spLocks noGrp="1"/>
          </p:cNvSpPr>
          <p:nvPr>
            <p:ph type="body" sz="quarter" idx="37"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23629377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olumn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8" name="Текст 2"/>
          <p:cNvSpPr>
            <a:spLocks noGrp="1"/>
          </p:cNvSpPr>
          <p:nvPr>
            <p:ph type="body" sz="quarter" idx="35" hasCustomPrompt="1"/>
          </p:nvPr>
        </p:nvSpPr>
        <p:spPr>
          <a:xfrm>
            <a:off x="737398" y="2175641"/>
            <a:ext cx="3359976" cy="560387"/>
          </a:xfrm>
        </p:spPr>
        <p:txBody>
          <a:bodyPr>
            <a:normAutofit/>
          </a:bodyPr>
          <a:lstStyle>
            <a:lvl1pPr marL="0" indent="0" algn="l">
              <a:buNone/>
              <a:defRPr sz="1800" b="1"/>
            </a:lvl1pPr>
          </a:lstStyle>
          <a:p>
            <a:pPr lvl="0"/>
            <a:r>
              <a:rPr lang="en-US" dirty="0"/>
              <a:t>Block title</a:t>
            </a:r>
            <a:endParaRPr lang="ru-RU" dirty="0"/>
          </a:p>
        </p:txBody>
      </p:sp>
      <p:sp>
        <p:nvSpPr>
          <p:cNvPr id="9" name="Текст 5"/>
          <p:cNvSpPr>
            <a:spLocks noGrp="1"/>
          </p:cNvSpPr>
          <p:nvPr>
            <p:ph type="body" sz="quarter" idx="36" hasCustomPrompt="1"/>
          </p:nvPr>
        </p:nvSpPr>
        <p:spPr>
          <a:xfrm>
            <a:off x="737398" y="2736027"/>
            <a:ext cx="335997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1" name="Текст 2"/>
          <p:cNvSpPr>
            <a:spLocks noGrp="1"/>
          </p:cNvSpPr>
          <p:nvPr>
            <p:ph type="body" sz="quarter" idx="37" hasCustomPrompt="1"/>
          </p:nvPr>
        </p:nvSpPr>
        <p:spPr>
          <a:xfrm>
            <a:off x="8084310" y="2175641"/>
            <a:ext cx="3359976" cy="560387"/>
          </a:xfrm>
        </p:spPr>
        <p:txBody>
          <a:bodyPr>
            <a:normAutofit/>
          </a:bodyPr>
          <a:lstStyle>
            <a:lvl1pPr marL="0" indent="0" algn="l">
              <a:buNone/>
              <a:defRPr sz="1800" b="1"/>
            </a:lvl1pPr>
          </a:lstStyle>
          <a:p>
            <a:pPr lvl="0"/>
            <a:r>
              <a:rPr lang="en-US" dirty="0"/>
              <a:t>Block title</a:t>
            </a:r>
            <a:endParaRPr lang="ru-RU" dirty="0"/>
          </a:p>
        </p:txBody>
      </p:sp>
      <p:sp>
        <p:nvSpPr>
          <p:cNvPr id="12" name="Текст 5"/>
          <p:cNvSpPr>
            <a:spLocks noGrp="1"/>
          </p:cNvSpPr>
          <p:nvPr>
            <p:ph type="body" sz="quarter" idx="38" hasCustomPrompt="1"/>
          </p:nvPr>
        </p:nvSpPr>
        <p:spPr>
          <a:xfrm>
            <a:off x="8084310" y="2736027"/>
            <a:ext cx="335997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3" name="Текст 2"/>
          <p:cNvSpPr>
            <a:spLocks noGrp="1"/>
          </p:cNvSpPr>
          <p:nvPr>
            <p:ph type="body" sz="quarter" idx="39" hasCustomPrompt="1"/>
          </p:nvPr>
        </p:nvSpPr>
        <p:spPr>
          <a:xfrm>
            <a:off x="4410854" y="2175641"/>
            <a:ext cx="3359976" cy="560387"/>
          </a:xfrm>
        </p:spPr>
        <p:txBody>
          <a:bodyPr>
            <a:normAutofit/>
          </a:bodyPr>
          <a:lstStyle>
            <a:lvl1pPr marL="0" indent="0" algn="l">
              <a:buNone/>
              <a:defRPr sz="1800" b="1"/>
            </a:lvl1pPr>
          </a:lstStyle>
          <a:p>
            <a:pPr lvl="0"/>
            <a:r>
              <a:rPr lang="en-US" dirty="0"/>
              <a:t>Block title</a:t>
            </a:r>
            <a:endParaRPr lang="ru-RU" dirty="0"/>
          </a:p>
        </p:txBody>
      </p:sp>
      <p:sp>
        <p:nvSpPr>
          <p:cNvPr id="14" name="Текст 5"/>
          <p:cNvSpPr>
            <a:spLocks noGrp="1"/>
          </p:cNvSpPr>
          <p:nvPr>
            <p:ph type="body" sz="quarter" idx="40" hasCustomPrompt="1"/>
          </p:nvPr>
        </p:nvSpPr>
        <p:spPr>
          <a:xfrm>
            <a:off x="4410854" y="2736027"/>
            <a:ext cx="335997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5314479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lumns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6" name="Текст 4"/>
          <p:cNvSpPr>
            <a:spLocks noGrp="1"/>
          </p:cNvSpPr>
          <p:nvPr>
            <p:ph type="body" sz="quarter" idx="10" hasCustomPrompt="1"/>
          </p:nvPr>
        </p:nvSpPr>
        <p:spPr>
          <a:xfrm>
            <a:off x="738189" y="5139557"/>
            <a:ext cx="3359185" cy="425669"/>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lvl1pPr>
          </a:lstStyle>
          <a:p>
            <a:r>
              <a:rPr lang="en-US" b="1" dirty="0"/>
              <a:t>Text</a:t>
            </a:r>
            <a:endParaRPr lang="ru-RU" b="1" dirty="0"/>
          </a:p>
        </p:txBody>
      </p:sp>
      <p:sp>
        <p:nvSpPr>
          <p:cNvPr id="17" name="Текст 4"/>
          <p:cNvSpPr>
            <a:spLocks noGrp="1"/>
          </p:cNvSpPr>
          <p:nvPr>
            <p:ph type="body" sz="quarter" idx="12" hasCustomPrompt="1"/>
          </p:nvPr>
        </p:nvSpPr>
        <p:spPr>
          <a:xfrm>
            <a:off x="4411645" y="5139557"/>
            <a:ext cx="3359185" cy="425669"/>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lvl1pPr>
          </a:lstStyle>
          <a:p>
            <a:r>
              <a:rPr lang="en-US" b="1" dirty="0"/>
              <a:t>Text</a:t>
            </a:r>
            <a:endParaRPr lang="ru-RU" b="1" dirty="0"/>
          </a:p>
        </p:txBody>
      </p:sp>
      <p:sp>
        <p:nvSpPr>
          <p:cNvPr id="18" name="Текст 4"/>
          <p:cNvSpPr>
            <a:spLocks noGrp="1"/>
          </p:cNvSpPr>
          <p:nvPr>
            <p:ph type="body" sz="quarter" idx="13" hasCustomPrompt="1"/>
          </p:nvPr>
        </p:nvSpPr>
        <p:spPr>
          <a:xfrm>
            <a:off x="8085101" y="5139557"/>
            <a:ext cx="3359185" cy="425669"/>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lvl1pPr>
          </a:lstStyle>
          <a:p>
            <a:r>
              <a:rPr lang="en-US" b="1" dirty="0"/>
              <a:t>Text</a:t>
            </a:r>
            <a:endParaRPr lang="ru-RU" b="1" dirty="0"/>
          </a:p>
        </p:txBody>
      </p:sp>
      <p:sp>
        <p:nvSpPr>
          <p:cNvPr id="3" name="Рисунок 2"/>
          <p:cNvSpPr>
            <a:spLocks noGrp="1"/>
          </p:cNvSpPr>
          <p:nvPr>
            <p:ph type="pic" sz="quarter" idx="16" hasCustomPrompt="1"/>
          </p:nvPr>
        </p:nvSpPr>
        <p:spPr>
          <a:xfrm>
            <a:off x="738188" y="2474584"/>
            <a:ext cx="3359150" cy="2286000"/>
          </a:xfrm>
        </p:spPr>
        <p:txBody>
          <a:bodyPr/>
          <a:lstStyle>
            <a:lvl1pPr>
              <a:defRPr/>
            </a:lvl1pPr>
          </a:lstStyle>
          <a:p>
            <a:r>
              <a:rPr lang="en-US" dirty="0"/>
              <a:t>Insert a picture</a:t>
            </a:r>
            <a:endParaRPr lang="ru-RU" dirty="0"/>
          </a:p>
        </p:txBody>
      </p:sp>
      <p:sp>
        <p:nvSpPr>
          <p:cNvPr id="11" name="Рисунок 2"/>
          <p:cNvSpPr>
            <a:spLocks noGrp="1"/>
          </p:cNvSpPr>
          <p:nvPr>
            <p:ph type="pic" sz="quarter" idx="17" hasCustomPrompt="1"/>
          </p:nvPr>
        </p:nvSpPr>
        <p:spPr>
          <a:xfrm>
            <a:off x="4411645" y="2474584"/>
            <a:ext cx="3359150" cy="2286000"/>
          </a:xfrm>
        </p:spPr>
        <p:txBody>
          <a:bodyPr/>
          <a:lstStyle/>
          <a:p>
            <a:r>
              <a:rPr lang="en-US" dirty="0"/>
              <a:t>Insert a picture</a:t>
            </a:r>
            <a:endParaRPr lang="ru-RU" dirty="0"/>
          </a:p>
        </p:txBody>
      </p:sp>
      <p:sp>
        <p:nvSpPr>
          <p:cNvPr id="12" name="Рисунок 2"/>
          <p:cNvSpPr>
            <a:spLocks noGrp="1"/>
          </p:cNvSpPr>
          <p:nvPr>
            <p:ph type="pic" sz="quarter" idx="18" hasCustomPrompt="1"/>
          </p:nvPr>
        </p:nvSpPr>
        <p:spPr>
          <a:xfrm>
            <a:off x="8085136" y="2474584"/>
            <a:ext cx="3359150" cy="2286000"/>
          </a:xfrm>
        </p:spPr>
        <p:txBody>
          <a:bodyPr/>
          <a:lstStyle/>
          <a:p>
            <a:r>
              <a:rPr lang="en-US" dirty="0"/>
              <a:t>Insert a picture</a:t>
            </a:r>
            <a:endParaRPr lang="ru-RU" dirty="0"/>
          </a:p>
        </p:txBody>
      </p:sp>
      <p:sp>
        <p:nvSpPr>
          <p:cNvPr id="5" name="Текст 4"/>
          <p:cNvSpPr>
            <a:spLocks noGrp="1"/>
          </p:cNvSpPr>
          <p:nvPr>
            <p:ph type="body" sz="quarter" idx="33" hasCustomPrompt="1"/>
          </p:nvPr>
        </p:nvSpPr>
        <p:spPr>
          <a:xfrm>
            <a:off x="738188" y="1339849"/>
            <a:ext cx="10706100" cy="772729"/>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20" name="Текст 5"/>
          <p:cNvSpPr>
            <a:spLocks noGrp="1"/>
          </p:cNvSpPr>
          <p:nvPr>
            <p:ph type="body" sz="quarter" idx="34"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27149634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 name="Рисунок 2"/>
          <p:cNvSpPr>
            <a:spLocks noGrp="1"/>
          </p:cNvSpPr>
          <p:nvPr>
            <p:ph type="pic" sz="quarter" idx="16" hasCustomPrompt="1"/>
          </p:nvPr>
        </p:nvSpPr>
        <p:spPr>
          <a:xfrm>
            <a:off x="738188" y="3452647"/>
            <a:ext cx="3359150" cy="2561187"/>
          </a:xfrm>
        </p:spPr>
        <p:txBody>
          <a:bodyPr/>
          <a:lstStyle>
            <a:lvl1pPr>
              <a:defRPr/>
            </a:lvl1pPr>
          </a:lstStyle>
          <a:p>
            <a:r>
              <a:rPr lang="en-US" dirty="0"/>
              <a:t>Insert a picture</a:t>
            </a:r>
            <a:endParaRPr lang="ru-RU" dirty="0"/>
          </a:p>
        </p:txBody>
      </p:sp>
      <p:sp>
        <p:nvSpPr>
          <p:cNvPr id="11" name="Рисунок 2"/>
          <p:cNvSpPr>
            <a:spLocks noGrp="1"/>
          </p:cNvSpPr>
          <p:nvPr>
            <p:ph type="pic" sz="quarter" idx="17" hasCustomPrompt="1"/>
          </p:nvPr>
        </p:nvSpPr>
        <p:spPr>
          <a:xfrm>
            <a:off x="4411645" y="3925613"/>
            <a:ext cx="3359150" cy="2088221"/>
          </a:xfrm>
        </p:spPr>
        <p:txBody>
          <a:bodyPr/>
          <a:lstStyle/>
          <a:p>
            <a:r>
              <a:rPr lang="en-US" dirty="0"/>
              <a:t>Insert a picture</a:t>
            </a:r>
            <a:endParaRPr lang="ru-RU" dirty="0"/>
          </a:p>
        </p:txBody>
      </p:sp>
      <p:sp>
        <p:nvSpPr>
          <p:cNvPr id="12" name="Рисунок 2"/>
          <p:cNvSpPr>
            <a:spLocks noGrp="1"/>
          </p:cNvSpPr>
          <p:nvPr>
            <p:ph type="pic" sz="quarter" idx="18" hasCustomPrompt="1"/>
          </p:nvPr>
        </p:nvSpPr>
        <p:spPr>
          <a:xfrm>
            <a:off x="8085136" y="4382814"/>
            <a:ext cx="3359150" cy="1631020"/>
          </a:xfrm>
        </p:spPr>
        <p:txBody>
          <a:bodyPr/>
          <a:lstStyle/>
          <a:p>
            <a:r>
              <a:rPr lang="en-US" dirty="0"/>
              <a:t>Insert a picture</a:t>
            </a:r>
            <a:endParaRPr lang="ru-RU" dirty="0"/>
          </a:p>
        </p:txBody>
      </p:sp>
      <p:sp>
        <p:nvSpPr>
          <p:cNvPr id="5" name="Текст 4"/>
          <p:cNvSpPr>
            <a:spLocks noGrp="1"/>
          </p:cNvSpPr>
          <p:nvPr>
            <p:ph type="body" sz="quarter" idx="33" hasCustomPrompt="1"/>
          </p:nvPr>
        </p:nvSpPr>
        <p:spPr>
          <a:xfrm>
            <a:off x="738188" y="1339849"/>
            <a:ext cx="10706100" cy="772729"/>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20" name="Текст 5"/>
          <p:cNvSpPr>
            <a:spLocks noGrp="1"/>
          </p:cNvSpPr>
          <p:nvPr>
            <p:ph type="body" sz="quarter" idx="34"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3" name="Текст 2"/>
          <p:cNvSpPr>
            <a:spLocks noGrp="1"/>
          </p:cNvSpPr>
          <p:nvPr>
            <p:ph type="body" sz="quarter" idx="37" hasCustomPrompt="1"/>
          </p:nvPr>
        </p:nvSpPr>
        <p:spPr>
          <a:xfrm>
            <a:off x="737328" y="2317530"/>
            <a:ext cx="3359976" cy="560387"/>
          </a:xfrm>
        </p:spPr>
        <p:txBody>
          <a:bodyPr>
            <a:normAutofit/>
          </a:bodyPr>
          <a:lstStyle>
            <a:lvl1pPr marL="0" indent="0" algn="l">
              <a:buNone/>
              <a:defRPr sz="1800" b="1"/>
            </a:lvl1pPr>
          </a:lstStyle>
          <a:p>
            <a:pPr lvl="0"/>
            <a:r>
              <a:rPr lang="en-US" dirty="0"/>
              <a:t>Block title</a:t>
            </a:r>
            <a:endParaRPr lang="ru-RU" dirty="0"/>
          </a:p>
        </p:txBody>
      </p:sp>
      <p:sp>
        <p:nvSpPr>
          <p:cNvPr id="24" name="Текст 5"/>
          <p:cNvSpPr>
            <a:spLocks noGrp="1"/>
          </p:cNvSpPr>
          <p:nvPr>
            <p:ph type="body" sz="quarter" idx="38" hasCustomPrompt="1"/>
          </p:nvPr>
        </p:nvSpPr>
        <p:spPr>
          <a:xfrm>
            <a:off x="737328" y="2877916"/>
            <a:ext cx="3359976" cy="574731"/>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
        <p:nvSpPr>
          <p:cNvPr id="25" name="Текст 2"/>
          <p:cNvSpPr>
            <a:spLocks noGrp="1"/>
          </p:cNvSpPr>
          <p:nvPr>
            <p:ph type="body" sz="quarter" idx="39" hasCustomPrompt="1"/>
          </p:nvPr>
        </p:nvSpPr>
        <p:spPr>
          <a:xfrm>
            <a:off x="4410819" y="2317530"/>
            <a:ext cx="3359976" cy="560387"/>
          </a:xfrm>
        </p:spPr>
        <p:txBody>
          <a:bodyPr>
            <a:normAutofit/>
          </a:bodyPr>
          <a:lstStyle>
            <a:lvl1pPr marL="0" indent="0" algn="l">
              <a:buNone/>
              <a:defRPr sz="1800" b="1"/>
            </a:lvl1pPr>
          </a:lstStyle>
          <a:p>
            <a:pPr lvl="0"/>
            <a:r>
              <a:rPr lang="en-US" dirty="0"/>
              <a:t>Block title</a:t>
            </a:r>
            <a:endParaRPr lang="ru-RU" dirty="0"/>
          </a:p>
        </p:txBody>
      </p:sp>
      <p:sp>
        <p:nvSpPr>
          <p:cNvPr id="26" name="Текст 5"/>
          <p:cNvSpPr>
            <a:spLocks noGrp="1"/>
          </p:cNvSpPr>
          <p:nvPr>
            <p:ph type="body" sz="quarter" idx="40" hasCustomPrompt="1"/>
          </p:nvPr>
        </p:nvSpPr>
        <p:spPr>
          <a:xfrm>
            <a:off x="4410819" y="2877916"/>
            <a:ext cx="3359976" cy="1047697"/>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
        <p:nvSpPr>
          <p:cNvPr id="27" name="Текст 2"/>
          <p:cNvSpPr>
            <a:spLocks noGrp="1"/>
          </p:cNvSpPr>
          <p:nvPr>
            <p:ph type="body" sz="quarter" idx="41" hasCustomPrompt="1"/>
          </p:nvPr>
        </p:nvSpPr>
        <p:spPr>
          <a:xfrm>
            <a:off x="8084310" y="2317529"/>
            <a:ext cx="3359976" cy="560387"/>
          </a:xfrm>
        </p:spPr>
        <p:txBody>
          <a:bodyPr>
            <a:normAutofit/>
          </a:bodyPr>
          <a:lstStyle>
            <a:lvl1pPr marL="0" indent="0" algn="l">
              <a:buNone/>
              <a:defRPr sz="1800" b="1"/>
            </a:lvl1pPr>
          </a:lstStyle>
          <a:p>
            <a:pPr lvl="0"/>
            <a:r>
              <a:rPr lang="en-US" dirty="0"/>
              <a:t>Block title</a:t>
            </a:r>
            <a:endParaRPr lang="ru-RU" dirty="0"/>
          </a:p>
        </p:txBody>
      </p:sp>
      <p:sp>
        <p:nvSpPr>
          <p:cNvPr id="28" name="Текст 5"/>
          <p:cNvSpPr>
            <a:spLocks noGrp="1"/>
          </p:cNvSpPr>
          <p:nvPr>
            <p:ph type="body" sz="quarter" idx="42" hasCustomPrompt="1"/>
          </p:nvPr>
        </p:nvSpPr>
        <p:spPr>
          <a:xfrm>
            <a:off x="8084310" y="2877915"/>
            <a:ext cx="3359976" cy="1504899"/>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Tree>
    <p:extLst>
      <p:ext uri="{BB962C8B-B14F-4D97-AF65-F5344CB8AC3E}">
        <p14:creationId xmlns:p14="http://schemas.microsoft.com/office/powerpoint/2010/main" val="7306773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columns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4" name="Текст 3"/>
          <p:cNvSpPr>
            <a:spLocks noGrp="1"/>
          </p:cNvSpPr>
          <p:nvPr>
            <p:ph type="body" sz="quarter" idx="17" hasCustomPrompt="1"/>
          </p:nvPr>
        </p:nvSpPr>
        <p:spPr>
          <a:xfrm>
            <a:off x="737572" y="1923695"/>
            <a:ext cx="3026117"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7" name="Диаграмма 6"/>
          <p:cNvSpPr>
            <a:spLocks noGrp="1"/>
          </p:cNvSpPr>
          <p:nvPr>
            <p:ph type="chart" sz="quarter" idx="18" hasCustomPrompt="1"/>
          </p:nvPr>
        </p:nvSpPr>
        <p:spPr>
          <a:xfrm>
            <a:off x="738189" y="2501024"/>
            <a:ext cx="3025500"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9" name="Объект 8"/>
          <p:cNvSpPr>
            <a:spLocks noGrp="1"/>
          </p:cNvSpPr>
          <p:nvPr>
            <p:ph sz="quarter" idx="19" hasCustomPrompt="1"/>
          </p:nvPr>
        </p:nvSpPr>
        <p:spPr>
          <a:xfrm>
            <a:off x="737838" y="4997450"/>
            <a:ext cx="3026735"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15" name="Объект 8"/>
          <p:cNvSpPr>
            <a:spLocks noGrp="1"/>
          </p:cNvSpPr>
          <p:nvPr>
            <p:ph sz="quarter" idx="20" hasCustomPrompt="1"/>
          </p:nvPr>
        </p:nvSpPr>
        <p:spPr>
          <a:xfrm>
            <a:off x="737573" y="5695731"/>
            <a:ext cx="3026735"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16" name="Объект 8"/>
          <p:cNvSpPr>
            <a:spLocks noGrp="1"/>
          </p:cNvSpPr>
          <p:nvPr>
            <p:ph sz="quarter" idx="21" hasCustomPrompt="1"/>
          </p:nvPr>
        </p:nvSpPr>
        <p:spPr>
          <a:xfrm>
            <a:off x="737572" y="5346590"/>
            <a:ext cx="3026735"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17" name="Текст 3"/>
          <p:cNvSpPr>
            <a:spLocks noGrp="1"/>
          </p:cNvSpPr>
          <p:nvPr>
            <p:ph type="body" sz="quarter" idx="22" hasCustomPrompt="1"/>
          </p:nvPr>
        </p:nvSpPr>
        <p:spPr>
          <a:xfrm>
            <a:off x="4577870" y="1923695"/>
            <a:ext cx="3026117"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1" name="Диаграмма 6"/>
          <p:cNvSpPr>
            <a:spLocks noGrp="1"/>
          </p:cNvSpPr>
          <p:nvPr>
            <p:ph type="chart" sz="quarter" idx="23" hasCustomPrompt="1"/>
          </p:nvPr>
        </p:nvSpPr>
        <p:spPr>
          <a:xfrm>
            <a:off x="4578488" y="2501025"/>
            <a:ext cx="3025500"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3" name="Объект 8"/>
          <p:cNvSpPr>
            <a:spLocks noGrp="1"/>
          </p:cNvSpPr>
          <p:nvPr>
            <p:ph sz="quarter" idx="24" hasCustomPrompt="1"/>
          </p:nvPr>
        </p:nvSpPr>
        <p:spPr>
          <a:xfrm>
            <a:off x="4577959" y="4997450"/>
            <a:ext cx="3026735"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4" name="Объект 8"/>
          <p:cNvSpPr>
            <a:spLocks noGrp="1"/>
          </p:cNvSpPr>
          <p:nvPr>
            <p:ph sz="quarter" idx="25" hasCustomPrompt="1"/>
          </p:nvPr>
        </p:nvSpPr>
        <p:spPr>
          <a:xfrm>
            <a:off x="4577694" y="5695731"/>
            <a:ext cx="3026735"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25" name="Объект 8"/>
          <p:cNvSpPr>
            <a:spLocks noGrp="1"/>
          </p:cNvSpPr>
          <p:nvPr>
            <p:ph sz="quarter" idx="26" hasCustomPrompt="1"/>
          </p:nvPr>
        </p:nvSpPr>
        <p:spPr>
          <a:xfrm>
            <a:off x="4577693" y="5346590"/>
            <a:ext cx="3026735"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26" name="Текст 3"/>
          <p:cNvSpPr>
            <a:spLocks noGrp="1"/>
          </p:cNvSpPr>
          <p:nvPr>
            <p:ph type="body" sz="quarter" idx="27" hasCustomPrompt="1"/>
          </p:nvPr>
        </p:nvSpPr>
        <p:spPr>
          <a:xfrm>
            <a:off x="8418169" y="1923695"/>
            <a:ext cx="3026117"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7" name="Диаграмма 6"/>
          <p:cNvSpPr>
            <a:spLocks noGrp="1"/>
          </p:cNvSpPr>
          <p:nvPr>
            <p:ph type="chart" sz="quarter" idx="28" hasCustomPrompt="1"/>
          </p:nvPr>
        </p:nvSpPr>
        <p:spPr>
          <a:xfrm>
            <a:off x="8418787" y="2501025"/>
            <a:ext cx="3025500"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8" name="Объект 8"/>
          <p:cNvSpPr>
            <a:spLocks noGrp="1"/>
          </p:cNvSpPr>
          <p:nvPr>
            <p:ph sz="quarter" idx="29" hasCustomPrompt="1"/>
          </p:nvPr>
        </p:nvSpPr>
        <p:spPr>
          <a:xfrm>
            <a:off x="8418079" y="4997450"/>
            <a:ext cx="3026735"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9" name="Объект 8"/>
          <p:cNvSpPr>
            <a:spLocks noGrp="1"/>
          </p:cNvSpPr>
          <p:nvPr>
            <p:ph sz="quarter" idx="30" hasCustomPrompt="1"/>
          </p:nvPr>
        </p:nvSpPr>
        <p:spPr>
          <a:xfrm>
            <a:off x="8417814" y="5695731"/>
            <a:ext cx="3026735"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30" name="Объект 8"/>
          <p:cNvSpPr>
            <a:spLocks noGrp="1"/>
          </p:cNvSpPr>
          <p:nvPr>
            <p:ph sz="quarter" idx="31" hasCustomPrompt="1"/>
          </p:nvPr>
        </p:nvSpPr>
        <p:spPr>
          <a:xfrm>
            <a:off x="8417813" y="5346590"/>
            <a:ext cx="3026735"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31" name="Объект 19"/>
          <p:cNvSpPr>
            <a:spLocks noGrp="1"/>
          </p:cNvSpPr>
          <p:nvPr>
            <p:ph sz="quarter" idx="14" hasCustomPrompt="1"/>
          </p:nvPr>
        </p:nvSpPr>
        <p:spPr>
          <a:xfrm>
            <a:off x="738189" y="1214002"/>
            <a:ext cx="10706099" cy="449262"/>
          </a:xfrm>
        </p:spPr>
        <p:txBody>
          <a:bodyPr/>
          <a:lstStyle>
            <a:lvl1pPr marL="0" indent="0">
              <a:buNone/>
              <a:defRPr sz="2800"/>
            </a:lvl1pPr>
          </a:lstStyle>
          <a:p>
            <a:r>
              <a:rPr lang="en-US" sz="2000" dirty="0">
                <a:solidFill>
                  <a:srgbClr val="006CB7"/>
                </a:solidFill>
              </a:rPr>
              <a:t>Long subtitle or descriptive text on one or two lines</a:t>
            </a:r>
          </a:p>
        </p:txBody>
      </p:sp>
      <p:sp>
        <p:nvSpPr>
          <p:cNvPr id="49" name="Текст 5"/>
          <p:cNvSpPr>
            <a:spLocks noGrp="1"/>
          </p:cNvSpPr>
          <p:nvPr>
            <p:ph type="body" sz="quarter" idx="37"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38166769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column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7" name="Текст 2"/>
          <p:cNvSpPr>
            <a:spLocks noGrp="1"/>
          </p:cNvSpPr>
          <p:nvPr>
            <p:ph type="body" sz="quarter" idx="37" hasCustomPrompt="1"/>
          </p:nvPr>
        </p:nvSpPr>
        <p:spPr>
          <a:xfrm>
            <a:off x="738190" y="2175641"/>
            <a:ext cx="5043486" cy="560387"/>
          </a:xfrm>
        </p:spPr>
        <p:txBody>
          <a:bodyPr>
            <a:normAutofit/>
          </a:bodyPr>
          <a:lstStyle>
            <a:lvl1pPr marL="0" indent="0" algn="l">
              <a:buNone/>
              <a:defRPr sz="1800" b="1"/>
            </a:lvl1pPr>
          </a:lstStyle>
          <a:p>
            <a:pPr lvl="0"/>
            <a:r>
              <a:rPr lang="en-US" dirty="0"/>
              <a:t>Block title</a:t>
            </a:r>
            <a:endParaRPr lang="ru-RU" dirty="0"/>
          </a:p>
        </p:txBody>
      </p:sp>
      <p:sp>
        <p:nvSpPr>
          <p:cNvPr id="8" name="Текст 5"/>
          <p:cNvSpPr>
            <a:spLocks noGrp="1"/>
          </p:cNvSpPr>
          <p:nvPr>
            <p:ph type="body" sz="quarter" idx="38" hasCustomPrompt="1"/>
          </p:nvPr>
        </p:nvSpPr>
        <p:spPr>
          <a:xfrm>
            <a:off x="738190" y="2736027"/>
            <a:ext cx="504348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
        <p:nvSpPr>
          <p:cNvPr id="9" name="Текст 2"/>
          <p:cNvSpPr>
            <a:spLocks noGrp="1"/>
          </p:cNvSpPr>
          <p:nvPr>
            <p:ph type="body" sz="quarter" idx="39" hasCustomPrompt="1"/>
          </p:nvPr>
        </p:nvSpPr>
        <p:spPr>
          <a:xfrm>
            <a:off x="6400800" y="2175641"/>
            <a:ext cx="5043486" cy="560387"/>
          </a:xfrm>
        </p:spPr>
        <p:txBody>
          <a:bodyPr>
            <a:normAutofit/>
          </a:bodyPr>
          <a:lstStyle>
            <a:lvl1pPr marL="0" indent="0" algn="l">
              <a:buNone/>
              <a:defRPr sz="1800" b="1"/>
            </a:lvl1pPr>
          </a:lstStyle>
          <a:p>
            <a:pPr lvl="0"/>
            <a:r>
              <a:rPr lang="en-US" dirty="0"/>
              <a:t>Block title</a:t>
            </a:r>
            <a:endParaRPr lang="ru-RU" dirty="0"/>
          </a:p>
        </p:txBody>
      </p:sp>
      <p:sp>
        <p:nvSpPr>
          <p:cNvPr id="11" name="Текст 5"/>
          <p:cNvSpPr>
            <a:spLocks noGrp="1"/>
          </p:cNvSpPr>
          <p:nvPr>
            <p:ph type="body" sz="quarter" idx="40" hasCustomPrompt="1"/>
          </p:nvPr>
        </p:nvSpPr>
        <p:spPr>
          <a:xfrm>
            <a:off x="6400800" y="2736027"/>
            <a:ext cx="504348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Tree>
    <p:extLst>
      <p:ext uri="{BB962C8B-B14F-4D97-AF65-F5344CB8AC3E}">
        <p14:creationId xmlns:p14="http://schemas.microsoft.com/office/powerpoint/2010/main" val="33075524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lumns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
        <p:nvSpPr>
          <p:cNvPr id="3" name="Текст 2"/>
          <p:cNvSpPr>
            <a:spLocks noGrp="1"/>
          </p:cNvSpPr>
          <p:nvPr>
            <p:ph type="body" sz="quarter" idx="35" hasCustomPrompt="1"/>
          </p:nvPr>
        </p:nvSpPr>
        <p:spPr>
          <a:xfrm>
            <a:off x="738190"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9" name="Текст 2"/>
          <p:cNvSpPr>
            <a:spLocks noGrp="1"/>
          </p:cNvSpPr>
          <p:nvPr>
            <p:ph type="body" sz="quarter" idx="36" hasCustomPrompt="1"/>
          </p:nvPr>
        </p:nvSpPr>
        <p:spPr>
          <a:xfrm>
            <a:off x="6396039"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11" name="Текст 24"/>
          <p:cNvSpPr>
            <a:spLocks noGrp="1"/>
          </p:cNvSpPr>
          <p:nvPr>
            <p:ph type="body" sz="quarter" idx="37" hasCustomPrompt="1"/>
          </p:nvPr>
        </p:nvSpPr>
        <p:spPr>
          <a:xfrm>
            <a:off x="6396038"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Tree>
    <p:extLst>
      <p:ext uri="{BB962C8B-B14F-4D97-AF65-F5344CB8AC3E}">
        <p14:creationId xmlns:p14="http://schemas.microsoft.com/office/powerpoint/2010/main" val="26886581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olumns slid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10706096"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Текст 2"/>
          <p:cNvSpPr>
            <a:spLocks noGrp="1"/>
          </p:cNvSpPr>
          <p:nvPr>
            <p:ph type="body" sz="quarter" idx="35" hasCustomPrompt="1"/>
          </p:nvPr>
        </p:nvSpPr>
        <p:spPr>
          <a:xfrm>
            <a:off x="738190" y="3421116"/>
            <a:ext cx="5048247" cy="2554233"/>
          </a:xfrm>
        </p:spPr>
        <p:txBody>
          <a:bodyPr>
            <a:normAutofit/>
          </a:bodyPr>
          <a:lstStyle>
            <a:lvl1pPr marL="285750" marR="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4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ru-RU"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8" name="Текст 2"/>
          <p:cNvSpPr>
            <a:spLocks noGrp="1"/>
          </p:cNvSpPr>
          <p:nvPr>
            <p:ph type="body" sz="quarter" idx="36" hasCustomPrompt="1"/>
          </p:nvPr>
        </p:nvSpPr>
        <p:spPr>
          <a:xfrm>
            <a:off x="6396039" y="3421116"/>
            <a:ext cx="5048247" cy="2554232"/>
          </a:xfrm>
        </p:spPr>
        <p:txBody>
          <a:bodyPr>
            <a:normAutofit/>
          </a:bodyPr>
          <a:lstStyle>
            <a:lvl1pPr marL="285750" marR="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4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ru-RU"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4" name="Текст 3"/>
          <p:cNvSpPr>
            <a:spLocks noGrp="1"/>
          </p:cNvSpPr>
          <p:nvPr>
            <p:ph type="body" sz="quarter" idx="37" hasCustomPrompt="1"/>
          </p:nvPr>
        </p:nvSpPr>
        <p:spPr>
          <a:xfrm>
            <a:off x="738188" y="2617789"/>
            <a:ext cx="5048250" cy="582612"/>
          </a:xfrm>
        </p:spPr>
        <p:txBody>
          <a:bodyPr>
            <a:normAutofit/>
          </a:bodyPr>
          <a:lstStyle>
            <a:lvl1pPr marL="0" indent="0">
              <a:buNone/>
              <a:defRPr sz="1800" b="1" baseline="0"/>
            </a:lvl1pPr>
          </a:lstStyle>
          <a:p>
            <a:pPr lvl="0"/>
            <a:r>
              <a:rPr lang="en-US" dirty="0"/>
              <a:t>Subtitle (can be longer and longer and longer and longer and longer and longer)</a:t>
            </a:r>
            <a:endParaRPr lang="ru-RU" dirty="0"/>
          </a:p>
        </p:txBody>
      </p:sp>
    </p:spTree>
    <p:extLst>
      <p:ext uri="{BB962C8B-B14F-4D97-AF65-F5344CB8AC3E}">
        <p14:creationId xmlns:p14="http://schemas.microsoft.com/office/powerpoint/2010/main" val="33499100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lumn sl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9" name="Текст 4"/>
          <p:cNvSpPr>
            <a:spLocks noGrp="1"/>
          </p:cNvSpPr>
          <p:nvPr>
            <p:ph type="body" sz="quarter" idx="10" hasCustomPrompt="1"/>
          </p:nvPr>
        </p:nvSpPr>
        <p:spPr>
          <a:xfrm>
            <a:off x="738190" y="2144713"/>
            <a:ext cx="10706096" cy="472363"/>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2000"/>
            </a:lvl1pPr>
          </a:lstStyle>
          <a:p>
            <a:r>
              <a:rPr lang="en-US" b="1" dirty="0"/>
              <a:t>Block title</a:t>
            </a:r>
            <a:endParaRPr lang="ru-RU" b="1" baseline="0" dirty="0"/>
          </a:p>
          <a:p>
            <a:endParaRPr lang="ru-RU" b="1" baseline="0" dirty="0"/>
          </a:p>
        </p:txBody>
      </p:sp>
      <p:sp>
        <p:nvSpPr>
          <p:cNvPr id="7" name="Текст 6"/>
          <p:cNvSpPr>
            <a:spLocks noGrp="1"/>
          </p:cNvSpPr>
          <p:nvPr>
            <p:ph type="body" sz="quarter" idx="36" hasCustomPrompt="1"/>
          </p:nvPr>
        </p:nvSpPr>
        <p:spPr>
          <a:xfrm>
            <a:off x="738190" y="2806700"/>
            <a:ext cx="10706098" cy="3105150"/>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Tree>
    <p:extLst>
      <p:ext uri="{BB962C8B-B14F-4D97-AF65-F5344CB8AC3E}">
        <p14:creationId xmlns:p14="http://schemas.microsoft.com/office/powerpoint/2010/main" val="2450965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lum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Текст 2"/>
          <p:cNvSpPr>
            <a:spLocks noGrp="1"/>
          </p:cNvSpPr>
          <p:nvPr>
            <p:ph type="body" sz="quarter" idx="35" hasCustomPrompt="1"/>
          </p:nvPr>
        </p:nvSpPr>
        <p:spPr>
          <a:xfrm>
            <a:off x="1182415" y="2144713"/>
            <a:ext cx="9747524" cy="3846512"/>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800" b="1"/>
            </a:lvl1pPr>
            <a:lvl2pPr marL="4572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1800" baseline="0"/>
            </a:lvl2pPr>
          </a:lstStyle>
          <a:p>
            <a:pPr lvl="0"/>
            <a:r>
              <a:rPr lang="en-US" dirty="0"/>
              <a:t>Text</a:t>
            </a:r>
            <a:endParaRPr lang="ru-RU" dirty="0"/>
          </a:p>
          <a:p>
            <a:pPr lvl="1"/>
            <a:endParaRPr lang="ru-RU" dirty="0"/>
          </a:p>
          <a:p>
            <a:pPr lvl="1"/>
            <a:endParaRPr lang="ru-RU" dirty="0"/>
          </a:p>
        </p:txBody>
      </p:sp>
      <p:sp>
        <p:nvSpPr>
          <p:cNvPr id="6" name="Текст 5"/>
          <p:cNvSpPr>
            <a:spLocks noGrp="1"/>
          </p:cNvSpPr>
          <p:nvPr>
            <p:ph type="body" sz="quarter" idx="37" hasCustomPrompt="1"/>
          </p:nvPr>
        </p:nvSpPr>
        <p:spPr>
          <a:xfrm>
            <a:off x="1182686" y="2538636"/>
            <a:ext cx="9747250" cy="682625"/>
          </a:xfrm>
        </p:spPr>
        <p:txBody>
          <a:bodyPr>
            <a:noAutofit/>
          </a:bodyPr>
          <a:lstStyle>
            <a:lvl1pPr marL="0" indent="0">
              <a:buNone/>
              <a:defRPr sz="1800"/>
            </a:lvl1pPr>
            <a:lvl2pPr marL="457200" indent="0">
              <a:buNone/>
              <a:defRPr sz="1800"/>
            </a:lvl2pPr>
          </a:lstStyle>
          <a:p>
            <a:pPr lvl="1"/>
            <a:r>
              <a:rPr lang="en-US" dirty="0"/>
              <a:t>Second level text</a:t>
            </a:r>
          </a:p>
        </p:txBody>
      </p:sp>
    </p:spTree>
    <p:extLst>
      <p:ext uri="{BB962C8B-B14F-4D97-AF65-F5344CB8AC3E}">
        <p14:creationId xmlns:p14="http://schemas.microsoft.com/office/powerpoint/2010/main" val="31161349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olumn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Рисунок 2"/>
          <p:cNvSpPr>
            <a:spLocks noGrp="1"/>
          </p:cNvSpPr>
          <p:nvPr>
            <p:ph type="pic" sz="quarter" idx="35" hasCustomPrompt="1"/>
          </p:nvPr>
        </p:nvSpPr>
        <p:spPr>
          <a:xfrm>
            <a:off x="1308100" y="2144713"/>
            <a:ext cx="9621838" cy="3894137"/>
          </a:xfrm>
        </p:spPr>
        <p:txBody>
          <a:bodyPr/>
          <a:lstStyle>
            <a:lvl1pPr>
              <a:defRPr/>
            </a:lvl1pPr>
          </a:lstStyle>
          <a:p>
            <a:r>
              <a:rPr lang="en-US" dirty="0"/>
              <a:t>Insert a picture</a:t>
            </a:r>
            <a:endParaRPr lang="ru-RU" dirty="0"/>
          </a:p>
        </p:txBody>
      </p:sp>
    </p:spTree>
    <p:extLst>
      <p:ext uri="{BB962C8B-B14F-4D97-AF65-F5344CB8AC3E}">
        <p14:creationId xmlns:p14="http://schemas.microsoft.com/office/powerpoint/2010/main" val="26522983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lumn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88" y="4274234"/>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Рисунок 2"/>
          <p:cNvSpPr>
            <a:spLocks noGrp="1"/>
          </p:cNvSpPr>
          <p:nvPr>
            <p:ph type="pic" sz="quarter" idx="35" hasCustomPrompt="1"/>
          </p:nvPr>
        </p:nvSpPr>
        <p:spPr>
          <a:xfrm>
            <a:off x="1308098" y="1429490"/>
            <a:ext cx="9621838" cy="2480358"/>
          </a:xfrm>
        </p:spPr>
        <p:txBody>
          <a:bodyPr/>
          <a:lstStyle>
            <a:lvl1pPr>
              <a:defRPr/>
            </a:lvl1pPr>
          </a:lstStyle>
          <a:p>
            <a:r>
              <a:rPr lang="en-US" dirty="0"/>
              <a:t>Insert a picture</a:t>
            </a:r>
            <a:endParaRPr lang="ru-RU" dirty="0"/>
          </a:p>
        </p:txBody>
      </p:sp>
      <p:sp>
        <p:nvSpPr>
          <p:cNvPr id="6" name="Текст 6"/>
          <p:cNvSpPr>
            <a:spLocks noGrp="1"/>
          </p:cNvSpPr>
          <p:nvPr>
            <p:ph type="body" sz="quarter" idx="36" hasCustomPrompt="1"/>
          </p:nvPr>
        </p:nvSpPr>
        <p:spPr>
          <a:xfrm>
            <a:off x="738188" y="4982349"/>
            <a:ext cx="10706098" cy="850892"/>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p:txBody>
      </p:sp>
    </p:spTree>
    <p:extLst>
      <p:ext uri="{BB962C8B-B14F-4D97-AF65-F5344CB8AC3E}">
        <p14:creationId xmlns:p14="http://schemas.microsoft.com/office/powerpoint/2010/main" val="2679531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lumn slide 6 (ta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4" name="Таблица 3"/>
          <p:cNvSpPr>
            <a:spLocks noGrp="1"/>
          </p:cNvSpPr>
          <p:nvPr>
            <p:ph type="tbl" sz="quarter" idx="34" hasCustomPrompt="1"/>
          </p:nvPr>
        </p:nvSpPr>
        <p:spPr>
          <a:xfrm>
            <a:off x="738188" y="1292225"/>
            <a:ext cx="10706100" cy="4510088"/>
          </a:xfrm>
        </p:spPr>
        <p:txBody>
          <a:bodyPr/>
          <a:lstStyle>
            <a:lvl1pPr>
              <a:defRPr/>
            </a:lvl1pPr>
          </a:lstStyle>
          <a:p>
            <a:r>
              <a:rPr lang="en-US" dirty="0"/>
              <a:t>Table insert</a:t>
            </a:r>
            <a:endParaRPr lang="ru-RU" dirty="0"/>
          </a:p>
        </p:txBody>
      </p:sp>
    </p:spTree>
    <p:extLst>
      <p:ext uri="{BB962C8B-B14F-4D97-AF65-F5344CB8AC3E}">
        <p14:creationId xmlns:p14="http://schemas.microsoft.com/office/powerpoint/2010/main" val="14110061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_image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1"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3" name="Текст 12"/>
          <p:cNvSpPr>
            <a:spLocks noGrp="1"/>
          </p:cNvSpPr>
          <p:nvPr>
            <p:ph type="body" sz="quarter" idx="34" hasCustomPrompt="1"/>
          </p:nvPr>
        </p:nvSpPr>
        <p:spPr>
          <a:xfrm>
            <a:off x="738191" y="1355725"/>
            <a:ext cx="2587622" cy="661988"/>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Title or subtitle</a:t>
            </a:r>
            <a:endParaRPr lang="ru-RU" dirty="0"/>
          </a:p>
        </p:txBody>
      </p:sp>
      <p:sp>
        <p:nvSpPr>
          <p:cNvPr id="3" name="Рисунок 2"/>
          <p:cNvSpPr>
            <a:spLocks noGrp="1"/>
          </p:cNvSpPr>
          <p:nvPr>
            <p:ph type="pic" sz="quarter" idx="35" hasCustomPrompt="1"/>
          </p:nvPr>
        </p:nvSpPr>
        <p:spPr>
          <a:xfrm>
            <a:off x="3606800" y="1355725"/>
            <a:ext cx="7837488" cy="4619625"/>
          </a:xfrm>
        </p:spPr>
        <p:txBody>
          <a:bodyPr/>
          <a:lstStyle>
            <a:lvl1pPr>
              <a:defRPr/>
            </a:lvl1pPr>
          </a:lstStyle>
          <a:p>
            <a:r>
              <a:rPr lang="en-US" dirty="0"/>
              <a:t>Insert a picture</a:t>
            </a:r>
            <a:endParaRPr lang="ru-RU" dirty="0"/>
          </a:p>
        </p:txBody>
      </p:sp>
      <p:sp>
        <p:nvSpPr>
          <p:cNvPr id="4" name="Текст 3"/>
          <p:cNvSpPr>
            <a:spLocks noGrp="1"/>
          </p:cNvSpPr>
          <p:nvPr>
            <p:ph type="body" sz="quarter" idx="36" hasCustomPrompt="1"/>
          </p:nvPr>
        </p:nvSpPr>
        <p:spPr>
          <a:xfrm>
            <a:off x="738191" y="2263775"/>
            <a:ext cx="2587622" cy="3711575"/>
          </a:xfrm>
        </p:spPr>
        <p:txBody>
          <a:bodyPr>
            <a:normAutofit/>
          </a:bodyPr>
          <a:lstStyle>
            <a:lvl1pPr marL="0" indent="0">
              <a:buNone/>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9505621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_diagram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1"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3" name="Текст 12"/>
          <p:cNvSpPr>
            <a:spLocks noGrp="1"/>
          </p:cNvSpPr>
          <p:nvPr>
            <p:ph type="body" sz="quarter" idx="34" hasCustomPrompt="1"/>
          </p:nvPr>
        </p:nvSpPr>
        <p:spPr>
          <a:xfrm>
            <a:off x="738191" y="1355725"/>
            <a:ext cx="2587622" cy="661988"/>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Title or subtitle</a:t>
            </a:r>
            <a:endParaRPr lang="ru-RU" dirty="0"/>
          </a:p>
        </p:txBody>
      </p:sp>
      <p:sp>
        <p:nvSpPr>
          <p:cNvPr id="4" name="Диаграмма 3"/>
          <p:cNvSpPr>
            <a:spLocks noGrp="1"/>
          </p:cNvSpPr>
          <p:nvPr>
            <p:ph type="chart" sz="quarter" idx="35" hasCustomPrompt="1"/>
          </p:nvPr>
        </p:nvSpPr>
        <p:spPr>
          <a:xfrm>
            <a:off x="3606800" y="1355725"/>
            <a:ext cx="7837488" cy="4619407"/>
          </a:xfrm>
        </p:spPr>
        <p:txBody>
          <a:bodyPr/>
          <a:lstStyle>
            <a:lvl1pPr>
              <a:defRPr/>
            </a:lvl1pPr>
          </a:lstStyle>
          <a:p>
            <a:r>
              <a:rPr lang="en-US" dirty="0"/>
              <a:t>Diagram</a:t>
            </a:r>
            <a:endParaRPr lang="ru-RU" dirty="0"/>
          </a:p>
        </p:txBody>
      </p:sp>
      <p:sp>
        <p:nvSpPr>
          <p:cNvPr id="7" name="Текст 3"/>
          <p:cNvSpPr>
            <a:spLocks noGrp="1"/>
          </p:cNvSpPr>
          <p:nvPr>
            <p:ph type="body" sz="quarter" idx="36" hasCustomPrompt="1"/>
          </p:nvPr>
        </p:nvSpPr>
        <p:spPr>
          <a:xfrm>
            <a:off x="738191" y="2263775"/>
            <a:ext cx="2587622" cy="3711575"/>
          </a:xfrm>
        </p:spPr>
        <p:txBody>
          <a:bodyPr>
            <a:normAutofit/>
          </a:bodyPr>
          <a:lstStyle>
            <a:lvl1pPr marL="0" indent="0">
              <a:buNone/>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8913706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acts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Текст 10"/>
          <p:cNvSpPr>
            <a:spLocks noGrp="1"/>
          </p:cNvSpPr>
          <p:nvPr>
            <p:ph type="body" sz="quarter" idx="10" hasCustomPrompt="1"/>
          </p:nvPr>
        </p:nvSpPr>
        <p:spPr>
          <a:xfrm>
            <a:off x="738191" y="323850"/>
            <a:ext cx="6938959" cy="438150"/>
          </a:xfrm>
        </p:spPr>
        <p:txBody>
          <a:bodyPr>
            <a:noAutofit/>
          </a:bodyPr>
          <a:lstStyle>
            <a:lvl1pPr marL="0" indent="0">
              <a:buNone/>
              <a:defRPr sz="2800">
                <a:solidFill>
                  <a:schemeClr val="bg1"/>
                </a:solidFill>
              </a:defRPr>
            </a:lvl1pPr>
          </a:lstStyle>
          <a:p>
            <a:r>
              <a:rPr lang="en-US" dirty="0">
                <a:solidFill>
                  <a:schemeClr val="bg1"/>
                </a:solidFill>
              </a:rPr>
              <a:t>Contacts</a:t>
            </a:r>
            <a:endParaRPr lang="ru-RU" dirty="0">
              <a:solidFill>
                <a:schemeClr val="bg1"/>
              </a:solidFill>
            </a:endParaRPr>
          </a:p>
        </p:txBody>
      </p:sp>
      <p:sp>
        <p:nvSpPr>
          <p:cNvPr id="3" name="TextBox 2"/>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8" name="Овал 7"/>
          <p:cNvSpPr/>
          <p:nvPr userDrawn="1"/>
        </p:nvSpPr>
        <p:spPr>
          <a:xfrm>
            <a:off x="2837794" y="1813034"/>
            <a:ext cx="2443655" cy="244365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Your photo</a:t>
            </a:r>
            <a:endParaRPr lang="ru-RU" dirty="0">
              <a:solidFill>
                <a:schemeClr val="tx1"/>
              </a:solidFill>
            </a:endParaRPr>
          </a:p>
        </p:txBody>
      </p:sp>
      <p:cxnSp>
        <p:nvCxnSpPr>
          <p:cNvPr id="14" name="Прямая соединительная линия 13"/>
          <p:cNvCxnSpPr/>
          <p:nvPr userDrawn="1"/>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Текст 4"/>
          <p:cNvSpPr>
            <a:spLocks noGrp="1"/>
          </p:cNvSpPr>
          <p:nvPr>
            <p:ph type="body" sz="quarter" idx="11" hasCustomPrompt="1"/>
          </p:nvPr>
        </p:nvSpPr>
        <p:spPr>
          <a:xfrm>
            <a:off x="2100263" y="6273231"/>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
        <p:nvSpPr>
          <p:cNvPr id="21" name="Текст 20"/>
          <p:cNvSpPr>
            <a:spLocks noGrp="1"/>
          </p:cNvSpPr>
          <p:nvPr>
            <p:ph type="body" sz="quarter" idx="12" hasCustomPrompt="1"/>
          </p:nvPr>
        </p:nvSpPr>
        <p:spPr>
          <a:xfrm>
            <a:off x="5675585" y="1813034"/>
            <a:ext cx="5768700" cy="425778"/>
          </a:xfrm>
        </p:spPr>
        <p:txBody>
          <a:bodyPr>
            <a:normAutofit/>
          </a:bodyPr>
          <a:lstStyle>
            <a:lvl1pPr marL="0" indent="0">
              <a:buNone/>
              <a:defRPr sz="2400" baseline="0">
                <a:solidFill>
                  <a:schemeClr val="bg1"/>
                </a:solidFill>
              </a:defRPr>
            </a:lvl1pPr>
            <a:lvl2pPr marL="457200" indent="0">
              <a:buNone/>
              <a:defRPr/>
            </a:lvl2pPr>
          </a:lstStyle>
          <a:p>
            <a:pPr lvl="0"/>
            <a:r>
              <a:rPr lang="en-US" dirty="0"/>
              <a:t>Name</a:t>
            </a:r>
            <a:endParaRPr lang="ru-RU" dirty="0"/>
          </a:p>
        </p:txBody>
      </p:sp>
      <p:sp>
        <p:nvSpPr>
          <p:cNvPr id="23" name="Текст 22"/>
          <p:cNvSpPr>
            <a:spLocks noGrp="1"/>
          </p:cNvSpPr>
          <p:nvPr>
            <p:ph type="body" sz="quarter" idx="13" hasCustomPrompt="1"/>
          </p:nvPr>
        </p:nvSpPr>
        <p:spPr>
          <a:xfrm>
            <a:off x="5675585" y="2270125"/>
            <a:ext cx="5768701" cy="457418"/>
          </a:xfrm>
        </p:spPr>
        <p:txBody>
          <a:bodyPr>
            <a:normAutofit/>
          </a:bodyPr>
          <a:lstStyle>
            <a:lvl1pPr marL="0" indent="0">
              <a:buNone/>
              <a:defRPr sz="2000" b="1"/>
            </a:lvl1pPr>
          </a:lstStyle>
          <a:p>
            <a:pPr lvl="0"/>
            <a:r>
              <a:rPr lang="en-US" dirty="0"/>
              <a:t>Position</a:t>
            </a:r>
            <a:endParaRPr lang="ru-RU" dirty="0"/>
          </a:p>
        </p:txBody>
      </p:sp>
      <p:sp>
        <p:nvSpPr>
          <p:cNvPr id="24" name="Текст 22"/>
          <p:cNvSpPr>
            <a:spLocks noGrp="1"/>
          </p:cNvSpPr>
          <p:nvPr>
            <p:ph type="body" sz="quarter" idx="14" hasCustomPrompt="1"/>
          </p:nvPr>
        </p:nvSpPr>
        <p:spPr>
          <a:xfrm>
            <a:off x="5675583" y="2727542"/>
            <a:ext cx="5768701" cy="1970581"/>
          </a:xfrm>
        </p:spPr>
        <p:txBody>
          <a:bodyPr>
            <a:normAutofit/>
          </a:bodyPr>
          <a:lstStyle>
            <a:lvl1pPr marL="0" indent="0">
              <a:buNone/>
              <a:defRPr sz="1800" baseline="0">
                <a:solidFill>
                  <a:schemeClr val="bg1"/>
                </a:solidFill>
              </a:defRPr>
            </a:lvl1pPr>
          </a:lstStyle>
          <a:p>
            <a:pPr lvl="0"/>
            <a:r>
              <a:rPr lang="en-US" dirty="0"/>
              <a:t>Working place, address, telephone, email and any other contact information</a:t>
            </a:r>
            <a:endParaRPr lang="ru-RU" dirty="0"/>
          </a:p>
        </p:txBody>
      </p:sp>
    </p:spTree>
    <p:extLst>
      <p:ext uri="{BB962C8B-B14F-4D97-AF65-F5344CB8AC3E}">
        <p14:creationId xmlns:p14="http://schemas.microsoft.com/office/powerpoint/2010/main" val="12349591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acts slide (many contacts)">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Текст 10"/>
          <p:cNvSpPr>
            <a:spLocks noGrp="1"/>
          </p:cNvSpPr>
          <p:nvPr>
            <p:ph type="body" sz="quarter" idx="10" hasCustomPrompt="1"/>
          </p:nvPr>
        </p:nvSpPr>
        <p:spPr>
          <a:xfrm>
            <a:off x="738191" y="323850"/>
            <a:ext cx="6938959" cy="438150"/>
          </a:xfrm>
        </p:spPr>
        <p:txBody>
          <a:bodyPr>
            <a:noAutofit/>
          </a:bodyPr>
          <a:lstStyle>
            <a:lvl1pPr marL="0" indent="0">
              <a:buNone/>
              <a:defRPr sz="2800">
                <a:solidFill>
                  <a:schemeClr val="bg1"/>
                </a:solidFill>
              </a:defRPr>
            </a:lvl1pPr>
          </a:lstStyle>
          <a:p>
            <a:r>
              <a:rPr lang="en-US" dirty="0">
                <a:solidFill>
                  <a:schemeClr val="bg1"/>
                </a:solidFill>
              </a:rPr>
              <a:t>Contacts</a:t>
            </a:r>
            <a:endParaRPr lang="ru-RU" dirty="0">
              <a:solidFill>
                <a:schemeClr val="bg1"/>
              </a:solidFill>
            </a:endParaRPr>
          </a:p>
        </p:txBody>
      </p:sp>
      <p:sp>
        <p:nvSpPr>
          <p:cNvPr id="3" name="TextBox 2"/>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cxnSp>
        <p:nvCxnSpPr>
          <p:cNvPr id="14" name="Прямая соединительная линия 13"/>
          <p:cNvCxnSpPr/>
          <p:nvPr userDrawn="1"/>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Текст 4"/>
          <p:cNvSpPr>
            <a:spLocks noGrp="1"/>
          </p:cNvSpPr>
          <p:nvPr>
            <p:ph type="body" sz="quarter" idx="11" hasCustomPrompt="1"/>
          </p:nvPr>
        </p:nvSpPr>
        <p:spPr>
          <a:xfrm>
            <a:off x="2100263" y="6273231"/>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
        <p:nvSpPr>
          <p:cNvPr id="21" name="Текст 20"/>
          <p:cNvSpPr>
            <a:spLocks noGrp="1"/>
          </p:cNvSpPr>
          <p:nvPr>
            <p:ph type="body" sz="quarter" idx="12" hasCustomPrompt="1"/>
          </p:nvPr>
        </p:nvSpPr>
        <p:spPr>
          <a:xfrm>
            <a:off x="5675585" y="1813034"/>
            <a:ext cx="5768700" cy="425778"/>
          </a:xfrm>
        </p:spPr>
        <p:txBody>
          <a:bodyPr>
            <a:normAutofit/>
          </a:bodyPr>
          <a:lstStyle>
            <a:lvl1pPr marL="0" indent="0">
              <a:buNone/>
              <a:defRPr sz="2400" baseline="0">
                <a:solidFill>
                  <a:schemeClr val="bg1"/>
                </a:solidFill>
              </a:defRPr>
            </a:lvl1pPr>
            <a:lvl2pPr marL="457200" indent="0">
              <a:buNone/>
              <a:defRPr/>
            </a:lvl2pPr>
          </a:lstStyle>
          <a:p>
            <a:pPr lvl="0"/>
            <a:r>
              <a:rPr lang="en-US" dirty="0"/>
              <a:t>Name</a:t>
            </a:r>
            <a:endParaRPr lang="ru-RU" dirty="0"/>
          </a:p>
        </p:txBody>
      </p:sp>
      <p:sp>
        <p:nvSpPr>
          <p:cNvPr id="23" name="Текст 22"/>
          <p:cNvSpPr>
            <a:spLocks noGrp="1"/>
          </p:cNvSpPr>
          <p:nvPr>
            <p:ph type="body" sz="quarter" idx="13" hasCustomPrompt="1"/>
          </p:nvPr>
        </p:nvSpPr>
        <p:spPr>
          <a:xfrm>
            <a:off x="5675585" y="2270125"/>
            <a:ext cx="5768701" cy="457418"/>
          </a:xfrm>
        </p:spPr>
        <p:txBody>
          <a:bodyPr>
            <a:normAutofit/>
          </a:bodyPr>
          <a:lstStyle>
            <a:lvl1pPr marL="0" indent="0">
              <a:buNone/>
              <a:defRPr sz="2000" b="1"/>
            </a:lvl1pPr>
          </a:lstStyle>
          <a:p>
            <a:pPr lvl="0"/>
            <a:r>
              <a:rPr lang="en-US" dirty="0"/>
              <a:t>Position</a:t>
            </a:r>
            <a:endParaRPr lang="ru-RU" dirty="0"/>
          </a:p>
        </p:txBody>
      </p:sp>
      <p:sp>
        <p:nvSpPr>
          <p:cNvPr id="24" name="Текст 22"/>
          <p:cNvSpPr>
            <a:spLocks noGrp="1"/>
          </p:cNvSpPr>
          <p:nvPr>
            <p:ph type="body" sz="quarter" idx="14" hasCustomPrompt="1"/>
          </p:nvPr>
        </p:nvSpPr>
        <p:spPr>
          <a:xfrm>
            <a:off x="5675583" y="2727542"/>
            <a:ext cx="5768701" cy="1970581"/>
          </a:xfrm>
        </p:spPr>
        <p:txBody>
          <a:bodyPr>
            <a:normAutofit/>
          </a:bodyPr>
          <a:lstStyle>
            <a:lvl1pPr marL="0" indent="0">
              <a:buNone/>
              <a:defRPr sz="1800" baseline="0">
                <a:solidFill>
                  <a:schemeClr val="bg1"/>
                </a:solidFill>
              </a:defRPr>
            </a:lvl1pPr>
          </a:lstStyle>
          <a:p>
            <a:pPr lvl="0"/>
            <a:r>
              <a:rPr lang="en-US" dirty="0"/>
              <a:t>Working place, address, telephone, email and any other contact information</a:t>
            </a:r>
            <a:endParaRPr lang="ru-RU" dirty="0"/>
          </a:p>
        </p:txBody>
      </p:sp>
    </p:spTree>
    <p:extLst>
      <p:ext uri="{BB962C8B-B14F-4D97-AF65-F5344CB8AC3E}">
        <p14:creationId xmlns:p14="http://schemas.microsoft.com/office/powerpoint/2010/main" val="40236072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1_Заголовок и объект">
    <p:spTree>
      <p:nvGrpSpPr>
        <p:cNvPr id="1" name=""/>
        <p:cNvGrpSpPr/>
        <p:nvPr/>
      </p:nvGrpSpPr>
      <p:grpSpPr>
        <a:xfrm>
          <a:off x="0" y="0"/>
          <a:ext cx="0" cy="0"/>
          <a:chOff x="0" y="0"/>
          <a:chExt cx="0" cy="0"/>
        </a:xfrm>
      </p:grpSpPr>
      <p:sp>
        <p:nvSpPr>
          <p:cNvPr id="24" name="PlaceHolder 1"/>
          <p:cNvSpPr>
            <a:spLocks noGrp="1"/>
          </p:cNvSpPr>
          <p:nvPr>
            <p:ph type="title"/>
          </p:nvPr>
        </p:nvSpPr>
        <p:spPr>
          <a:xfrm>
            <a:off x="609600" y="666720"/>
            <a:ext cx="10972320" cy="1142400"/>
          </a:xfrm>
          <a:prstGeom prst="rect">
            <a:avLst/>
          </a:prstGeom>
          <a:noFill/>
          <a:ln w="0">
            <a:noFill/>
          </a:ln>
        </p:spPr>
        <p:txBody>
          <a:bodyPr lIns="0" tIns="0" rIns="0" bIns="0" anchor="ctr">
            <a:noAutofit/>
          </a:bodyPr>
          <a:lstStyle>
            <a:lvl1pPr indent="0">
              <a:buNone/>
              <a:defRPr/>
            </a:lvl1pPr>
          </a:lstStyle>
          <a:p>
            <a:pPr indent="0">
              <a:buNone/>
            </a:pPr>
            <a:endParaRPr lang="ru-RU" sz="2400" b="0" u="none" strike="noStrike">
              <a:solidFill>
                <a:schemeClr val="dk1"/>
              </a:solidFill>
              <a:uFillTx/>
              <a:latin typeface="Calibri"/>
            </a:endParaRPr>
          </a:p>
        </p:txBody>
      </p:sp>
      <p:sp>
        <p:nvSpPr>
          <p:cNvPr id="25" name="PlaceHolder 2"/>
          <p:cNvSpPr>
            <a:spLocks noGrp="1"/>
          </p:cNvSpPr>
          <p:nvPr>
            <p:ph/>
          </p:nvPr>
        </p:nvSpPr>
        <p:spPr>
          <a:xfrm>
            <a:off x="609600" y="1905120"/>
            <a:ext cx="10972320" cy="4220640"/>
          </a:xfrm>
          <a:prstGeom prst="rect">
            <a:avLst/>
          </a:prstGeom>
          <a:noFill/>
          <a:ln w="0">
            <a:noFill/>
          </a:ln>
        </p:spPr>
        <p:txBody>
          <a:bodyPr lIns="0" tIns="0" rIns="0" bIns="0" anchor="t">
            <a:normAutofit/>
          </a:bodyPr>
          <a:lstStyle>
            <a:lvl1pPr indent="0">
              <a:spcBef>
                <a:spcPts val="1889"/>
              </a:spcBef>
              <a:buNone/>
              <a:defRPr/>
            </a:lvl1pPr>
          </a:lstStyle>
          <a:p>
            <a:pPr indent="0">
              <a:spcBef>
                <a:spcPts val="1417"/>
              </a:spcBef>
              <a:buNone/>
            </a:pPr>
            <a:endParaRPr lang="ru-RU" sz="4267" b="0" u="none" strike="noStrike">
              <a:solidFill>
                <a:schemeClr val="dk1"/>
              </a:solidFill>
              <a:uFillTx/>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2EB100FD-F669-4E4F-B489-F2ADFE612C1E}" type="slidenum">
              <a:t>‹#›</a:t>
            </a:fld>
            <a:endParaRPr/>
          </a:p>
        </p:txBody>
      </p:sp>
      <p:sp>
        <p:nvSpPr>
          <p:cNvPr id="6" name="PlaceHolder 5"/>
          <p:cNvSpPr>
            <a:spLocks noGrp="1"/>
          </p:cNvSpPr>
          <p:nvPr>
            <p:ph type="dt" idx="10"/>
          </p:nvPr>
        </p:nvSpPr>
        <p:spPr/>
        <p:txBody>
          <a:bodyPr/>
          <a:lstStyle/>
          <a:p>
            <a:endParaRPr/>
          </a:p>
        </p:txBody>
      </p:sp>
    </p:spTree>
    <p:extLst>
      <p:ext uri="{BB962C8B-B14F-4D97-AF65-F5344CB8AC3E}">
        <p14:creationId xmlns:p14="http://schemas.microsoft.com/office/powerpoint/2010/main" val="158844390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jp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0">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p:cNvSpPr>
            <a:spLocks noGrp="1"/>
          </p:cNvSpPr>
          <p:nvPr>
            <p:ph type="body" idx="1"/>
          </p:nvPr>
        </p:nvSpPr>
        <p:spPr>
          <a:xfrm>
            <a:off x="609600" y="1904989"/>
            <a:ext cx="10972800" cy="4221175"/>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bg1"/>
                </a:solidFill>
              </a:defRPr>
            </a:lvl1pPr>
          </a:lstStyle>
          <a:p>
            <a:endParaRPr lang="ru-RU"/>
          </a:p>
        </p:txBody>
      </p:sp>
      <p:sp>
        <p:nvSpPr>
          <p:cNvPr id="5" name="Нижний колонтитул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bg1"/>
                </a:solidFill>
              </a:defRPr>
            </a:lvl1pPr>
          </a:lstStyle>
          <a:p>
            <a:endParaRPr lang="ru-RU"/>
          </a:p>
        </p:txBody>
      </p:sp>
      <p:sp>
        <p:nvSpPr>
          <p:cNvPr id="6" name="Номер слайда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bg1"/>
                </a:solidFill>
              </a:defRPr>
            </a:lvl1pPr>
          </a:lstStyle>
          <a:p>
            <a:fld id="{2559BB7A-F704-4182-B16A-69B3F5ADA7F7}" type="slidenum">
              <a:rPr lang="ru-RU" smtClean="0"/>
              <a:t>‹#›</a:t>
            </a:fld>
            <a:endParaRPr lang="ru-RU"/>
          </a:p>
        </p:txBody>
      </p:sp>
    </p:spTree>
    <p:extLst>
      <p:ext uri="{BB962C8B-B14F-4D97-AF65-F5344CB8AC3E}">
        <p14:creationId xmlns:p14="http://schemas.microsoft.com/office/powerpoint/2010/main" val="31073047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01" r:id="rId14"/>
    <p:sldLayoutId id="2147483691" r:id="rId15"/>
    <p:sldLayoutId id="2147483663" r:id="rId16"/>
    <p:sldLayoutId id="2147483664" r:id="rId17"/>
    <p:sldLayoutId id="2147483674" r:id="rId18"/>
    <p:sldLayoutId id="2147483675" r:id="rId19"/>
    <p:sldLayoutId id="2147483676" r:id="rId20"/>
    <p:sldLayoutId id="2147483677" r:id="rId21"/>
    <p:sldLayoutId id="2147483665" r:id="rId22"/>
    <p:sldLayoutId id="2147483678" r:id="rId23"/>
    <p:sldLayoutId id="2147483679" r:id="rId24"/>
    <p:sldLayoutId id="2147483680" r:id="rId25"/>
    <p:sldLayoutId id="2147483681" r:id="rId26"/>
    <p:sldLayoutId id="2147483682" r:id="rId27"/>
    <p:sldLayoutId id="2147483685" r:id="rId28"/>
    <p:sldLayoutId id="2147483686" r:id="rId29"/>
    <p:sldLayoutId id="2147483687" r:id="rId30"/>
    <p:sldLayoutId id="2147483688" r:id="rId31"/>
    <p:sldLayoutId id="2147483689" r:id="rId32"/>
    <p:sldLayoutId id="2147483690" r:id="rId33"/>
    <p:sldLayoutId id="2147483699" r:id="rId34"/>
    <p:sldLayoutId id="2147483700" r:id="rId35"/>
    <p:sldLayoutId id="2147483697" r:id="rId36"/>
    <p:sldLayoutId id="2147483702" r:id="rId37"/>
    <p:sldLayoutId id="2147483718" r:id="rId38"/>
  </p:sldLayoutIdLst>
  <p:hf sldNum="0" hdr="0" ftr="0" dt="0"/>
  <p:txStyles>
    <p:titleStyle>
      <a:lvl1pPr algn="ctr" defTabSz="1219170" rtl="0" eaLnBrk="1" latinLnBrk="0" hangingPunct="1">
        <a:spcBef>
          <a:spcPct val="0"/>
        </a:spcBef>
        <a:buNone/>
        <a:defRPr sz="5867" kern="1200">
          <a:solidFill>
            <a:schemeClr val="accent6"/>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ru-RU"/>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9.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hyperlink" Target="https://docs.oracle.com/en/java/javase/18/docs/api/java.base/java/util/concurrent/atomic/package-summary.html"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48.emf"/></Relationships>
</file>

<file path=ppt/slides/_rels/slide4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50.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3D0F58E-23A6-45FC-A732-8CD05CD10001}"/>
              </a:ext>
            </a:extLst>
          </p:cNvPr>
          <p:cNvSpPr>
            <a:spLocks noGrp="1"/>
          </p:cNvSpPr>
          <p:nvPr>
            <p:ph type="ctrTitle"/>
          </p:nvPr>
        </p:nvSpPr>
        <p:spPr/>
        <p:txBody>
          <a:bodyPr>
            <a:normAutofit/>
          </a:bodyPr>
          <a:lstStyle/>
          <a:p>
            <a:r>
              <a:rPr lang="ru-RU" sz="6000" dirty="0"/>
              <a:t>Программирование на </a:t>
            </a:r>
            <a:r>
              <a:rPr lang="en-US" sz="6000" dirty="0"/>
              <a:t>Java</a:t>
            </a:r>
            <a:endParaRPr lang="ru-RU" dirty="0"/>
          </a:p>
        </p:txBody>
      </p:sp>
      <p:sp>
        <p:nvSpPr>
          <p:cNvPr id="11" name="Subtitle 10">
            <a:extLst>
              <a:ext uri="{FF2B5EF4-FFF2-40B4-BE49-F238E27FC236}">
                <a16:creationId xmlns:a16="http://schemas.microsoft.com/office/drawing/2014/main" id="{CBBDBF86-5719-4B9C-8609-E94410409A9E}"/>
              </a:ext>
            </a:extLst>
          </p:cNvPr>
          <p:cNvSpPr>
            <a:spLocks noGrp="1"/>
          </p:cNvSpPr>
          <p:nvPr>
            <p:ph type="subTitle" idx="1"/>
          </p:nvPr>
        </p:nvSpPr>
        <p:spPr/>
        <p:txBody>
          <a:bodyPr/>
          <a:lstStyle/>
          <a:p>
            <a:r>
              <a:rPr lang="ru-RU" dirty="0"/>
              <a:t>Многопоточность</a:t>
            </a:r>
          </a:p>
        </p:txBody>
      </p:sp>
    </p:spTree>
    <p:extLst>
      <p:ext uri="{BB962C8B-B14F-4D97-AF65-F5344CB8AC3E}">
        <p14:creationId xmlns:p14="http://schemas.microsoft.com/office/powerpoint/2010/main" val="3213764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A64D-96DB-4BFC-81C6-5FA31F62D7A8}"/>
              </a:ext>
            </a:extLst>
          </p:cNvPr>
          <p:cNvSpPr>
            <a:spLocks noGrp="1"/>
          </p:cNvSpPr>
          <p:nvPr>
            <p:ph type="title"/>
          </p:nvPr>
        </p:nvSpPr>
        <p:spPr/>
        <p:txBody>
          <a:bodyPr/>
          <a:lstStyle/>
          <a:p>
            <a:r>
              <a:rPr lang="ru-RU" dirty="0"/>
              <a:t>Зачем?</a:t>
            </a:r>
          </a:p>
        </p:txBody>
      </p:sp>
      <p:sp>
        <p:nvSpPr>
          <p:cNvPr id="5" name="Текст 4"/>
          <p:cNvSpPr>
            <a:spLocks noGrp="1"/>
          </p:cNvSpPr>
          <p:nvPr>
            <p:ph type="body" sz="quarter" idx="4294967295"/>
          </p:nvPr>
        </p:nvSpPr>
        <p:spPr>
          <a:xfrm>
            <a:off x="609600" y="1809739"/>
            <a:ext cx="10706100" cy="3787872"/>
          </a:xfrm>
        </p:spPr>
        <p:txBody>
          <a:bodyPr>
            <a:normAutofit/>
          </a:bodyPr>
          <a:lstStyle/>
          <a:p>
            <a:pPr marL="285750" indent="-285750">
              <a:buFont typeface="Arial" panose="020B0604020202020204" pitchFamily="34" charset="0"/>
              <a:buChar char="•"/>
            </a:pPr>
            <a:r>
              <a:rPr lang="ru-RU" sz="3200" dirty="0"/>
              <a:t>Утилизация </a:t>
            </a:r>
            <a:r>
              <a:rPr lang="en-US" sz="3200" dirty="0"/>
              <a:t>CPU (</a:t>
            </a:r>
            <a:r>
              <a:rPr lang="ru-RU" sz="3200" dirty="0"/>
              <a:t>одного или нескольких)</a:t>
            </a:r>
          </a:p>
          <a:p>
            <a:pPr marL="285750" indent="-285750">
              <a:buFont typeface="Arial" panose="020B0604020202020204" pitchFamily="34" charset="0"/>
              <a:buChar char="•"/>
            </a:pPr>
            <a:r>
              <a:rPr lang="ru-RU" sz="3200" dirty="0"/>
              <a:t>Упрощение моделирования (многозадачность)</a:t>
            </a:r>
          </a:p>
          <a:p>
            <a:pPr marL="285750" indent="-285750">
              <a:buFont typeface="Arial" panose="020B0604020202020204" pitchFamily="34" charset="0"/>
              <a:buChar char="•"/>
            </a:pPr>
            <a:r>
              <a:rPr lang="ru-RU" sz="3200" dirty="0"/>
              <a:t>Асинхронная обработка событий</a:t>
            </a:r>
          </a:p>
          <a:p>
            <a:pPr marL="285750" indent="-285750">
              <a:buFont typeface="Arial" panose="020B0604020202020204" pitchFamily="34" charset="0"/>
              <a:buChar char="•"/>
            </a:pPr>
            <a:r>
              <a:rPr lang="ru-RU" sz="3200" dirty="0"/>
              <a:t>Производительность</a:t>
            </a:r>
          </a:p>
        </p:txBody>
      </p:sp>
      <p:pic>
        <p:nvPicPr>
          <p:cNvPr id="7" name="Picture 6">
            <a:extLst>
              <a:ext uri="{FF2B5EF4-FFF2-40B4-BE49-F238E27FC236}">
                <a16:creationId xmlns:a16="http://schemas.microsoft.com/office/drawing/2014/main" id="{B3BE2647-6B41-4098-BE9D-F6BD7282FE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2962" y="3238315"/>
            <a:ext cx="4112738" cy="2952946"/>
          </a:xfrm>
          <a:prstGeom prst="rect">
            <a:avLst/>
          </a:prstGeom>
          <a:ln>
            <a:noFill/>
          </a:ln>
          <a:effectLst>
            <a:softEdge rad="112500"/>
          </a:effectLst>
        </p:spPr>
      </p:pic>
    </p:spTree>
    <p:extLst>
      <p:ext uri="{BB962C8B-B14F-4D97-AF65-F5344CB8AC3E}">
        <p14:creationId xmlns:p14="http://schemas.microsoft.com/office/powerpoint/2010/main" val="2307706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F60D2D-1629-4A0A-A400-C525BEDD5536}"/>
              </a:ext>
            </a:extLst>
          </p:cNvPr>
          <p:cNvSpPr>
            <a:spLocks noGrp="1"/>
          </p:cNvSpPr>
          <p:nvPr>
            <p:ph type="title"/>
          </p:nvPr>
        </p:nvSpPr>
        <p:spPr/>
        <p:txBody>
          <a:bodyPr>
            <a:normAutofit/>
          </a:bodyPr>
          <a:lstStyle/>
          <a:p>
            <a:r>
              <a:rPr lang="ru-RU" dirty="0"/>
              <a:t>Процессы и потоки</a:t>
            </a:r>
          </a:p>
        </p:txBody>
      </p:sp>
      <p:sp>
        <p:nvSpPr>
          <p:cNvPr id="3" name="Текст 2"/>
          <p:cNvSpPr>
            <a:spLocks noGrp="1"/>
          </p:cNvSpPr>
          <p:nvPr>
            <p:ph type="body" sz="quarter" idx="4294967295"/>
          </p:nvPr>
        </p:nvSpPr>
        <p:spPr>
          <a:xfrm>
            <a:off x="609600" y="1809739"/>
            <a:ext cx="7447005" cy="4282142"/>
          </a:xfrm>
        </p:spPr>
        <p:txBody>
          <a:bodyPr>
            <a:normAutofit lnSpcReduction="10000"/>
          </a:bodyPr>
          <a:lstStyle/>
          <a:p>
            <a:pPr marL="285750" indent="-285750">
              <a:buFont typeface="Arial" panose="020B0604020202020204" pitchFamily="34" charset="0"/>
              <a:buChar char="•"/>
            </a:pPr>
            <a:r>
              <a:rPr lang="ru-RU" sz="2400" dirty="0"/>
              <a:t>Процесс обладает собственным адресным пространством, он не может напрямую иметь доступ к данным в памяти другого процесса.</a:t>
            </a:r>
          </a:p>
          <a:p>
            <a:pPr marL="285750" indent="-285750">
              <a:buFont typeface="Arial" panose="020B0604020202020204" pitchFamily="34" charset="0"/>
              <a:buChar char="•"/>
            </a:pPr>
            <a:r>
              <a:rPr lang="ru-RU" sz="2400" dirty="0"/>
              <a:t>Потоки работают с общей разделяемой памятью в рамках одного процесса, но имеют каждый свой стек вызовов и </a:t>
            </a:r>
            <a:r>
              <a:rPr lang="ru-RU" sz="2400" dirty="0" err="1"/>
              <a:t>кеш</a:t>
            </a:r>
            <a:r>
              <a:rPr lang="ru-RU" sz="2400" dirty="0"/>
              <a:t>.</a:t>
            </a:r>
          </a:p>
          <a:p>
            <a:pPr marL="285750" indent="-285750">
              <a:buFont typeface="Arial" panose="020B0604020202020204" pitchFamily="34" charset="0"/>
              <a:buChar char="•"/>
            </a:pPr>
            <a:r>
              <a:rPr lang="ru-RU" sz="2400" dirty="0"/>
              <a:t>Планировщик ОС работает с потоками.</a:t>
            </a:r>
          </a:p>
          <a:p>
            <a:pPr marL="285750" indent="-285750">
              <a:buFont typeface="Arial" panose="020B0604020202020204" pitchFamily="34" charset="0"/>
              <a:buChar char="•"/>
            </a:pPr>
            <a:r>
              <a:rPr lang="ru-RU" sz="2400" dirty="0"/>
              <a:t>Приложение </a:t>
            </a:r>
            <a:r>
              <a:rPr lang="en-US" sz="2400" dirty="0"/>
              <a:t>Java</a:t>
            </a:r>
            <a:r>
              <a:rPr lang="ru-RU" sz="2400" dirty="0"/>
              <a:t> по умолчанию запускается как один процесс и в рамках одного потока, однако мы можем создавать дополнительные потоки, чтобы поддерживать параллельное  или асинхронное исполнение.</a:t>
            </a:r>
          </a:p>
          <a:p>
            <a:endParaRPr lang="ru-RU" dirty="0"/>
          </a:p>
        </p:txBody>
      </p:sp>
      <p:pic>
        <p:nvPicPr>
          <p:cNvPr id="3074" name="Picture 2" descr="НОУ ИНТУИТ | Основы современных операционных систем. Лекция 10: Потоки  (threads) и многопоточное выполнение программ (multi-threading)">
            <a:extLst>
              <a:ext uri="{FF2B5EF4-FFF2-40B4-BE49-F238E27FC236}">
                <a16:creationId xmlns:a16="http://schemas.microsoft.com/office/drawing/2014/main" id="{94957200-D11E-405F-9328-172CA2AF944E}"/>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69339" y="2711782"/>
            <a:ext cx="3793567" cy="24780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987127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A64D-96DB-4BFC-81C6-5FA31F62D7A8}"/>
              </a:ext>
            </a:extLst>
          </p:cNvPr>
          <p:cNvSpPr>
            <a:spLocks noGrp="1"/>
          </p:cNvSpPr>
          <p:nvPr>
            <p:ph type="title"/>
          </p:nvPr>
        </p:nvSpPr>
        <p:spPr/>
        <p:txBody>
          <a:bodyPr/>
          <a:lstStyle/>
          <a:p>
            <a:r>
              <a:rPr lang="ru-RU" dirty="0"/>
              <a:t>Псевдо-параллелизм</a:t>
            </a:r>
          </a:p>
        </p:txBody>
      </p:sp>
      <p:pic>
        <p:nvPicPr>
          <p:cNvPr id="4098" name="Picture 2" descr="Многопоточность в Java / Хабр">
            <a:extLst>
              <a:ext uri="{FF2B5EF4-FFF2-40B4-BE49-F238E27FC236}">
                <a16:creationId xmlns:a16="http://schemas.microsoft.com/office/drawing/2014/main" id="{C162A7D2-1C82-4D03-92CA-3A65688DD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373" y="2037697"/>
            <a:ext cx="542925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A1CCBDA-3668-47CF-A765-3B0C3F290015}"/>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900"/>
                    </a14:imgEffect>
                  </a14:imgLayer>
                </a14:imgProps>
              </a:ext>
            </a:extLst>
          </a:blip>
          <a:stretch>
            <a:fillRect/>
          </a:stretch>
        </p:blipFill>
        <p:spPr>
          <a:xfrm>
            <a:off x="7888455" y="2649808"/>
            <a:ext cx="3693945" cy="1558383"/>
          </a:xfrm>
          <a:prstGeom prst="rect">
            <a:avLst/>
          </a:prstGeom>
          <a:ln>
            <a:noFill/>
          </a:ln>
          <a:effectLst>
            <a:softEdge rad="112500"/>
          </a:effectLst>
        </p:spPr>
      </p:pic>
    </p:spTree>
    <p:extLst>
      <p:ext uri="{BB962C8B-B14F-4D97-AF65-F5344CB8AC3E}">
        <p14:creationId xmlns:p14="http://schemas.microsoft.com/office/powerpoint/2010/main" val="3750277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7349E2-13ED-4FC5-BD8B-A4BD22CD6EAB}"/>
              </a:ext>
            </a:extLst>
          </p:cNvPr>
          <p:cNvSpPr>
            <a:spLocks noGrp="1"/>
          </p:cNvSpPr>
          <p:nvPr>
            <p:ph type="title"/>
          </p:nvPr>
        </p:nvSpPr>
        <p:spPr/>
        <p:txBody>
          <a:bodyPr>
            <a:normAutofit/>
          </a:bodyPr>
          <a:lstStyle/>
          <a:p>
            <a:r>
              <a:rPr lang="ru-RU" dirty="0"/>
              <a:t>Класс </a:t>
            </a:r>
            <a:r>
              <a:rPr lang="en-US" dirty="0"/>
              <a:t>Thread</a:t>
            </a:r>
            <a:endParaRPr lang="ru-RU" dirty="0"/>
          </a:p>
        </p:txBody>
      </p:sp>
      <p:sp>
        <p:nvSpPr>
          <p:cNvPr id="13" name="Text Placeholder 12"/>
          <p:cNvSpPr>
            <a:spLocks noGrp="1"/>
          </p:cNvSpPr>
          <p:nvPr>
            <p:ph type="body" sz="quarter" idx="4294967295"/>
          </p:nvPr>
        </p:nvSpPr>
        <p:spPr>
          <a:xfrm>
            <a:off x="353600" y="1828811"/>
            <a:ext cx="7061808" cy="4246312"/>
          </a:xfrm>
        </p:spPr>
        <p:txBody>
          <a:bodyPr>
            <a:normAutofit/>
          </a:bodyPr>
          <a:lstStyle/>
          <a:p>
            <a:r>
              <a:rPr lang="ru-RU" sz="2400" dirty="0"/>
              <a:t>В </a:t>
            </a:r>
            <a:r>
              <a:rPr lang="ru-RU" sz="2400" dirty="0" err="1"/>
              <a:t>Java</a:t>
            </a:r>
            <a:r>
              <a:rPr lang="ru-RU" sz="2400" dirty="0"/>
              <a:t> функциональность отдельного потока заключается в классе </a:t>
            </a:r>
            <a:r>
              <a:rPr lang="ru-RU" sz="2400" b="1" dirty="0" err="1"/>
              <a:t>Thread</a:t>
            </a:r>
            <a:r>
              <a:rPr lang="ru-RU" sz="2400" dirty="0"/>
              <a:t>.</a:t>
            </a:r>
            <a:endParaRPr lang="en-US" sz="2400" dirty="0"/>
          </a:p>
          <a:p>
            <a:r>
              <a:rPr lang="ru-RU" sz="2400" dirty="0"/>
              <a:t>Чтобы создать новый поток, нам надо создать объект этого класса.</a:t>
            </a:r>
          </a:p>
          <a:p>
            <a:r>
              <a:rPr lang="ru-RU" sz="2400" dirty="0"/>
              <a:t>Когда запускается программа, начинает работать главный поток этой программы.</a:t>
            </a:r>
          </a:p>
          <a:p>
            <a:r>
              <a:rPr lang="ru-RU" sz="2400" dirty="0"/>
              <a:t>От этого главного потока порождаются все остальные дочерние потоки.</a:t>
            </a:r>
          </a:p>
          <a:p>
            <a:r>
              <a:rPr lang="ru-RU" sz="2400" dirty="0"/>
              <a:t>Когда все потоки НЕ демоны останавливаются, программа завершена.</a:t>
            </a:r>
          </a:p>
        </p:txBody>
      </p:sp>
      <p:sp>
        <p:nvSpPr>
          <p:cNvPr id="5" name="AutoShape 2" descr="Threads in Operating System (OS) | PrepInsta">
            <a:extLst>
              <a:ext uri="{FF2B5EF4-FFF2-40B4-BE49-F238E27FC236}">
                <a16:creationId xmlns:a16="http://schemas.microsoft.com/office/drawing/2014/main" id="{5B0DE2E2-7CE4-449E-9FF9-D9D4AF20E88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 name="Picture 5">
            <a:extLst>
              <a:ext uri="{FF2B5EF4-FFF2-40B4-BE49-F238E27FC236}">
                <a16:creationId xmlns:a16="http://schemas.microsoft.com/office/drawing/2014/main" id="{FC00ED20-CF37-4B20-8F97-475C6126C184}"/>
              </a:ext>
            </a:extLst>
          </p:cNvPr>
          <p:cNvPicPr>
            <a:picLocks noChangeAspect="1"/>
          </p:cNvPicPr>
          <p:nvPr/>
        </p:nvPicPr>
        <p:blipFill>
          <a:blip r:embed="rId3">
            <a:duotone>
              <a:schemeClr val="accent6">
                <a:shade val="45000"/>
                <a:satMod val="135000"/>
              </a:schemeClr>
              <a:prstClr val="white"/>
            </a:duotone>
          </a:blip>
          <a:stretch>
            <a:fillRect/>
          </a:stretch>
        </p:blipFill>
        <p:spPr>
          <a:xfrm>
            <a:off x="8597030" y="2362200"/>
            <a:ext cx="2438400" cy="2438400"/>
          </a:xfrm>
          <a:prstGeom prst="rect">
            <a:avLst/>
          </a:prstGeom>
        </p:spPr>
      </p:pic>
    </p:spTree>
    <p:extLst>
      <p:ext uri="{BB962C8B-B14F-4D97-AF65-F5344CB8AC3E}">
        <p14:creationId xmlns:p14="http://schemas.microsoft.com/office/powerpoint/2010/main" val="3531413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0098E9-F32B-4489-8719-B2CCACE861B9}"/>
              </a:ext>
            </a:extLst>
          </p:cNvPr>
          <p:cNvSpPr>
            <a:spLocks noGrp="1"/>
          </p:cNvSpPr>
          <p:nvPr>
            <p:ph type="title"/>
          </p:nvPr>
        </p:nvSpPr>
        <p:spPr/>
        <p:txBody>
          <a:bodyPr>
            <a:normAutofit/>
          </a:bodyPr>
          <a:lstStyle/>
          <a:p>
            <a:r>
              <a:rPr lang="ru-RU" dirty="0"/>
              <a:t>Потоки демоны</a:t>
            </a:r>
          </a:p>
        </p:txBody>
      </p:sp>
      <p:sp>
        <p:nvSpPr>
          <p:cNvPr id="3" name="Текст 2"/>
          <p:cNvSpPr>
            <a:spLocks noGrp="1"/>
          </p:cNvSpPr>
          <p:nvPr>
            <p:ph type="body" sz="quarter" idx="4294967295"/>
          </p:nvPr>
        </p:nvSpPr>
        <p:spPr>
          <a:xfrm>
            <a:off x="6267449" y="1809739"/>
            <a:ext cx="5048250" cy="4508500"/>
          </a:xfrm>
        </p:spPr>
        <p:txBody>
          <a:bodyPr>
            <a:normAutofit/>
          </a:bodyPr>
          <a:lstStyle/>
          <a:p>
            <a:pPr algn="just" defTabSz="914400">
              <a:lnSpc>
                <a:spcPct val="100000"/>
              </a:lnSpc>
              <a:spcBef>
                <a:spcPts val="360"/>
              </a:spcBef>
              <a:tabLst>
                <a:tab pos="0" algn="l"/>
              </a:tabLst>
            </a:pPr>
            <a:r>
              <a:rPr lang="ru-RU" sz="2800" dirty="0">
                <a:solidFill>
                  <a:schemeClr val="dk1"/>
                </a:solidFill>
              </a:rPr>
              <a:t>Чтобы объявить поток демоном, нужно перед запуском потока вызвать его метод </a:t>
            </a:r>
            <a:r>
              <a:rPr lang="ru-RU" sz="2800" b="1" dirty="0" err="1">
                <a:solidFill>
                  <a:schemeClr val="dk1"/>
                </a:solidFill>
              </a:rPr>
              <a:t>setDaemon</a:t>
            </a:r>
            <a:r>
              <a:rPr lang="ru-RU" sz="2800" b="1" dirty="0">
                <a:solidFill>
                  <a:schemeClr val="dk1"/>
                </a:solidFill>
              </a:rPr>
              <a:t>(</a:t>
            </a:r>
            <a:r>
              <a:rPr lang="ru-RU" sz="2800" b="1" dirty="0" err="1">
                <a:solidFill>
                  <a:schemeClr val="dk1"/>
                </a:solidFill>
              </a:rPr>
              <a:t>true</a:t>
            </a:r>
            <a:r>
              <a:rPr lang="ru-RU" sz="2800" b="1" dirty="0">
                <a:solidFill>
                  <a:schemeClr val="dk1"/>
                </a:solidFill>
              </a:rPr>
              <a:t>);</a:t>
            </a:r>
            <a:endParaRPr lang="ru-RU" sz="2800" b="1" dirty="0">
              <a:solidFill>
                <a:srgbClr val="000000"/>
              </a:solidFill>
              <a:latin typeface="Arial"/>
            </a:endParaRPr>
          </a:p>
          <a:p>
            <a:pPr algn="just" defTabSz="914400">
              <a:lnSpc>
                <a:spcPct val="100000"/>
              </a:lnSpc>
              <a:spcBef>
                <a:spcPts val="360"/>
              </a:spcBef>
              <a:tabLst>
                <a:tab pos="0" algn="l"/>
              </a:tabLst>
            </a:pPr>
            <a:r>
              <a:rPr lang="ru-RU" sz="2800" dirty="0">
                <a:solidFill>
                  <a:schemeClr val="dk1"/>
                </a:solidFill>
              </a:rPr>
              <a:t>Проверить, является ли поток демоном, можно вызвав его метод </a:t>
            </a:r>
            <a:r>
              <a:rPr lang="ru-RU" sz="2800" b="1" dirty="0" err="1">
                <a:solidFill>
                  <a:schemeClr val="dk1"/>
                </a:solidFill>
              </a:rPr>
              <a:t>boolean</a:t>
            </a:r>
            <a:r>
              <a:rPr lang="ru-RU" sz="2800" b="1" dirty="0">
                <a:solidFill>
                  <a:schemeClr val="dk1"/>
                </a:solidFill>
              </a:rPr>
              <a:t> </a:t>
            </a:r>
            <a:r>
              <a:rPr lang="ru-RU" sz="2800" b="1" dirty="0" err="1">
                <a:solidFill>
                  <a:schemeClr val="dk1"/>
                </a:solidFill>
              </a:rPr>
              <a:t>isDaemon</a:t>
            </a:r>
            <a:r>
              <a:rPr lang="ru-RU" sz="2800" b="1" dirty="0">
                <a:solidFill>
                  <a:schemeClr val="dk1"/>
                </a:solidFill>
              </a:rPr>
              <a:t>();</a:t>
            </a:r>
            <a:endParaRPr lang="ru-RU" sz="2800" b="1" dirty="0">
              <a:solidFill>
                <a:srgbClr val="000000"/>
              </a:solidFill>
              <a:latin typeface="Arial"/>
            </a:endParaRPr>
          </a:p>
        </p:txBody>
      </p:sp>
      <p:pic>
        <p:nvPicPr>
          <p:cNvPr id="10242" name="Picture 2" descr="Голова Демона | Каталог иллюстраций журнала &quot;ТРЕТЬЯКОВСКАЯ ГАЛЕРЕЯ&quot;">
            <a:extLst>
              <a:ext uri="{FF2B5EF4-FFF2-40B4-BE49-F238E27FC236}">
                <a16:creationId xmlns:a16="http://schemas.microsoft.com/office/drawing/2014/main" id="{6974C60B-E083-4FF2-8F73-E3FAC817546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7377"/>
          <a:stretch/>
        </p:blipFill>
        <p:spPr bwMode="auto">
          <a:xfrm>
            <a:off x="1066633" y="1953353"/>
            <a:ext cx="4468212" cy="360820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635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609600" y="666720"/>
            <a:ext cx="10972320" cy="1142400"/>
          </a:xfrm>
          <a:prstGeom prst="rect">
            <a:avLst/>
          </a:prstGeom>
          <a:noFill/>
          <a:ln w="0">
            <a:noFill/>
          </a:ln>
        </p:spPr>
        <p:txBody>
          <a:bodyPr vert="horz" lIns="121920" tIns="60960" rIns="121920" bIns="60960" rtlCol="0" anchor="ctr">
            <a:noAutofit/>
          </a:bodyPr>
          <a:lstStyle/>
          <a:p>
            <a:r>
              <a:rPr lang="ru-RU">
                <a:latin typeface="Calibri"/>
              </a:rPr>
              <a:t>Приоритеты потоков</a:t>
            </a:r>
            <a:endParaRPr lang="ru-RU">
              <a:solidFill>
                <a:schemeClr val="dk1"/>
              </a:solidFill>
              <a:latin typeface="Calibri"/>
            </a:endParaRPr>
          </a:p>
        </p:txBody>
      </p:sp>
      <p:sp>
        <p:nvSpPr>
          <p:cNvPr id="119" name="Подзаголовок 6"/>
          <p:cNvSpPr/>
          <p:nvPr/>
        </p:nvSpPr>
        <p:spPr>
          <a:xfrm>
            <a:off x="609600" y="1989360"/>
            <a:ext cx="10972320" cy="420192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just" defTabSz="1219170">
              <a:spcBef>
                <a:spcPts val="480"/>
              </a:spcBef>
              <a:tabLst>
                <a:tab pos="0" algn="l"/>
              </a:tabLst>
            </a:pPr>
            <a:r>
              <a:rPr lang="ru-RU" sz="2400" b="1" dirty="0" err="1">
                <a:solidFill>
                  <a:schemeClr val="dk1"/>
                </a:solidFill>
                <a:latin typeface="Calibri"/>
              </a:rPr>
              <a:t>void</a:t>
            </a:r>
            <a:r>
              <a:rPr lang="ru-RU" sz="2400" b="1" dirty="0">
                <a:solidFill>
                  <a:schemeClr val="dk1"/>
                </a:solidFill>
                <a:latin typeface="Calibri"/>
              </a:rPr>
              <a:t> </a:t>
            </a:r>
            <a:r>
              <a:rPr lang="ru-RU" sz="2400" b="1" dirty="0" err="1">
                <a:solidFill>
                  <a:schemeClr val="dk1"/>
                </a:solidFill>
                <a:latin typeface="Calibri"/>
              </a:rPr>
              <a:t>setPriority</a:t>
            </a:r>
            <a:r>
              <a:rPr lang="ru-RU" sz="2400" b="1" dirty="0">
                <a:solidFill>
                  <a:schemeClr val="dk1"/>
                </a:solidFill>
                <a:latin typeface="Calibri"/>
              </a:rPr>
              <a:t>(</a:t>
            </a:r>
            <a:r>
              <a:rPr lang="ru-RU" sz="2400" b="1" dirty="0" err="1">
                <a:solidFill>
                  <a:schemeClr val="dk1"/>
                </a:solidFill>
                <a:latin typeface="Calibri"/>
              </a:rPr>
              <a:t>int</a:t>
            </a:r>
            <a:r>
              <a:rPr lang="ru-RU" sz="2400" b="1" dirty="0">
                <a:solidFill>
                  <a:schemeClr val="dk1"/>
                </a:solidFill>
                <a:latin typeface="Calibri"/>
              </a:rPr>
              <a:t> </a:t>
            </a:r>
            <a:r>
              <a:rPr lang="ru-RU" sz="2400" b="1" dirty="0" err="1">
                <a:solidFill>
                  <a:schemeClr val="dk1"/>
                </a:solidFill>
                <a:latin typeface="Calibri"/>
              </a:rPr>
              <a:t>priority</a:t>
            </a:r>
            <a:r>
              <a:rPr lang="ru-RU" sz="2400" b="1" dirty="0">
                <a:solidFill>
                  <a:schemeClr val="dk1"/>
                </a:solidFill>
                <a:latin typeface="Calibri"/>
              </a:rPr>
              <a:t>) </a:t>
            </a:r>
            <a:r>
              <a:rPr lang="ru-RU" sz="2400" dirty="0">
                <a:solidFill>
                  <a:schemeClr val="dk1"/>
                </a:solidFill>
                <a:latin typeface="Calibri"/>
              </a:rPr>
              <a:t>– устанавливает приоритет потока.</a:t>
            </a:r>
            <a:endParaRPr lang="ru-RU" sz="2400" dirty="0">
              <a:solidFill>
                <a:srgbClr val="000000"/>
              </a:solidFill>
              <a:latin typeface="Arial"/>
            </a:endParaRPr>
          </a:p>
          <a:p>
            <a:pPr algn="just" defTabSz="1219170">
              <a:spcBef>
                <a:spcPts val="480"/>
              </a:spcBef>
              <a:tabLst>
                <a:tab pos="0" algn="l"/>
              </a:tabLst>
            </a:pPr>
            <a:r>
              <a:rPr lang="ru-RU" sz="2400" dirty="0">
                <a:solidFill>
                  <a:schemeClr val="dk1"/>
                </a:solidFill>
                <a:latin typeface="Calibri"/>
              </a:rPr>
              <a:t>Возможные значения </a:t>
            </a:r>
            <a:r>
              <a:rPr lang="ru-RU" sz="2400" dirty="0" err="1">
                <a:solidFill>
                  <a:schemeClr val="dk1"/>
                </a:solidFill>
                <a:latin typeface="Calibri"/>
              </a:rPr>
              <a:t>priority</a:t>
            </a:r>
            <a:r>
              <a:rPr lang="ru-RU" sz="2400" dirty="0">
                <a:solidFill>
                  <a:schemeClr val="dk1"/>
                </a:solidFill>
                <a:latin typeface="Calibri"/>
              </a:rPr>
              <a:t> — </a:t>
            </a:r>
            <a:r>
              <a:rPr lang="ru-RU" sz="2400" b="1" dirty="0">
                <a:solidFill>
                  <a:schemeClr val="dk1"/>
                </a:solidFill>
                <a:latin typeface="Calibri"/>
              </a:rPr>
              <a:t>MIN_PRIORITY</a:t>
            </a:r>
            <a:r>
              <a:rPr lang="en-US" sz="2400" b="1" dirty="0">
                <a:solidFill>
                  <a:schemeClr val="dk1"/>
                </a:solidFill>
                <a:latin typeface="Calibri"/>
              </a:rPr>
              <a:t> (1)</a:t>
            </a:r>
            <a:r>
              <a:rPr lang="ru-RU" sz="2400" b="1" dirty="0">
                <a:solidFill>
                  <a:schemeClr val="dk1"/>
                </a:solidFill>
                <a:latin typeface="Calibri"/>
              </a:rPr>
              <a:t>, NORM_PRIORITY</a:t>
            </a:r>
            <a:r>
              <a:rPr lang="en-US" sz="2400" b="1" dirty="0">
                <a:solidFill>
                  <a:schemeClr val="dk1"/>
                </a:solidFill>
                <a:latin typeface="Calibri"/>
              </a:rPr>
              <a:t> (5)</a:t>
            </a:r>
            <a:r>
              <a:rPr lang="ru-RU" sz="2400" b="1" dirty="0">
                <a:solidFill>
                  <a:schemeClr val="dk1"/>
                </a:solidFill>
                <a:latin typeface="Calibri"/>
              </a:rPr>
              <a:t> </a:t>
            </a:r>
            <a:r>
              <a:rPr lang="ru-RU" sz="2400" dirty="0">
                <a:solidFill>
                  <a:schemeClr val="dk1"/>
                </a:solidFill>
                <a:latin typeface="Calibri"/>
              </a:rPr>
              <a:t>и</a:t>
            </a:r>
            <a:r>
              <a:rPr lang="ru-RU" sz="2400" b="1" dirty="0">
                <a:solidFill>
                  <a:schemeClr val="dk1"/>
                </a:solidFill>
                <a:latin typeface="Calibri"/>
              </a:rPr>
              <a:t> MAX_PRIORITY</a:t>
            </a:r>
            <a:r>
              <a:rPr lang="en-US" sz="2400" b="1" dirty="0">
                <a:solidFill>
                  <a:schemeClr val="dk1"/>
                </a:solidFill>
                <a:latin typeface="Calibri"/>
              </a:rPr>
              <a:t> (10)</a:t>
            </a:r>
            <a:r>
              <a:rPr lang="ru-RU" sz="2400" dirty="0">
                <a:solidFill>
                  <a:schemeClr val="dk1"/>
                </a:solidFill>
                <a:latin typeface="Calibri"/>
              </a:rPr>
              <a:t>.</a:t>
            </a:r>
            <a:endParaRPr lang="ru-RU" sz="2400" dirty="0">
              <a:solidFill>
                <a:srgbClr val="000000"/>
              </a:solidFill>
              <a:latin typeface="Arial"/>
            </a:endParaRPr>
          </a:p>
          <a:p>
            <a:pPr algn="just" defTabSz="1219170">
              <a:spcBef>
                <a:spcPts val="480"/>
              </a:spcBef>
              <a:tabLst>
                <a:tab pos="0" algn="l"/>
              </a:tabLst>
            </a:pPr>
            <a:r>
              <a:rPr lang="ru-RU" sz="2400" b="1" dirty="0" err="1">
                <a:solidFill>
                  <a:schemeClr val="dk1"/>
                </a:solidFill>
                <a:latin typeface="Calibri"/>
              </a:rPr>
              <a:t>int</a:t>
            </a:r>
            <a:r>
              <a:rPr lang="ru-RU" sz="2400" b="1" dirty="0">
                <a:solidFill>
                  <a:schemeClr val="dk1"/>
                </a:solidFill>
                <a:latin typeface="Calibri"/>
              </a:rPr>
              <a:t> </a:t>
            </a:r>
            <a:r>
              <a:rPr lang="ru-RU" sz="2400" b="1" dirty="0" err="1">
                <a:solidFill>
                  <a:schemeClr val="dk1"/>
                </a:solidFill>
                <a:latin typeface="Calibri"/>
              </a:rPr>
              <a:t>getPriority</a:t>
            </a:r>
            <a:r>
              <a:rPr lang="ru-RU" sz="2400" b="1" dirty="0">
                <a:solidFill>
                  <a:schemeClr val="dk1"/>
                </a:solidFill>
                <a:latin typeface="Calibri"/>
              </a:rPr>
              <a:t>() </a:t>
            </a:r>
            <a:r>
              <a:rPr lang="ru-RU" sz="2400" dirty="0">
                <a:solidFill>
                  <a:schemeClr val="dk1"/>
                </a:solidFill>
                <a:latin typeface="Calibri"/>
              </a:rPr>
              <a:t>– получает приоритет потока.</a:t>
            </a:r>
            <a:endParaRPr lang="ru-RU" sz="2400" dirty="0">
              <a:solidFill>
                <a:srgbClr val="000000"/>
              </a:solidFill>
              <a:latin typeface="Arial"/>
            </a:endParaRPr>
          </a:p>
          <a:p>
            <a:pPr algn="just" defTabSz="1219170">
              <a:spcBef>
                <a:spcPts val="480"/>
              </a:spcBef>
              <a:tabLst>
                <a:tab pos="0" algn="l"/>
              </a:tabLst>
            </a:pPr>
            <a:endParaRPr lang="ru-RU" sz="2400" dirty="0">
              <a:solidFill>
                <a:srgbClr val="000000"/>
              </a:solidFill>
              <a:latin typeface="Arial"/>
            </a:endParaRPr>
          </a:p>
          <a:p>
            <a:pPr algn="just" defTabSz="1219170">
              <a:spcBef>
                <a:spcPts val="480"/>
              </a:spcBef>
              <a:tabLst>
                <a:tab pos="0" algn="l"/>
              </a:tabLst>
            </a:pPr>
            <a:endParaRPr lang="ru-RU" sz="2400" dirty="0">
              <a:solidFill>
                <a:srgbClr val="000000"/>
              </a:solidFill>
              <a:latin typeface="Arial"/>
            </a:endParaRPr>
          </a:p>
        </p:txBody>
      </p:sp>
      <p:sp>
        <p:nvSpPr>
          <p:cNvPr id="3" name="PlaceHolder 2"/>
          <p:cNvSpPr>
            <a:spLocks noGrp="1"/>
          </p:cNvSpPr>
          <p:nvPr>
            <p:ph type="sldNum" idx="12"/>
          </p:nvPr>
        </p:nvSpPr>
        <p:spPr/>
        <p:txBody>
          <a:bodyPr/>
          <a:lstStyle/>
          <a:p>
            <a:fld id="{0F404B96-002D-46AB-9528-C27B1ED9540D}" type="slidenum">
              <a:t>7</a:t>
            </a:fld>
            <a:endParaRPr/>
          </a:p>
        </p:txBody>
      </p:sp>
      <p:pic>
        <p:nvPicPr>
          <p:cNvPr id="6146" name="Picture 2" descr="What is Java 'thread priority'?">
            <a:extLst>
              <a:ext uri="{FF2B5EF4-FFF2-40B4-BE49-F238E27FC236}">
                <a16:creationId xmlns:a16="http://schemas.microsoft.com/office/drawing/2014/main" id="{27137F52-7CCF-43C0-894A-5FBA93D2F422}"/>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19246" y="3141546"/>
            <a:ext cx="4762674" cy="32148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53D6E6-A7B5-4CF9-9142-676A6DC6B178}"/>
              </a:ext>
            </a:extLst>
          </p:cNvPr>
          <p:cNvSpPr>
            <a:spLocks noGrp="1"/>
          </p:cNvSpPr>
          <p:nvPr>
            <p:ph type="title"/>
          </p:nvPr>
        </p:nvSpPr>
        <p:spPr/>
        <p:txBody>
          <a:bodyPr>
            <a:normAutofit/>
          </a:bodyPr>
          <a:lstStyle/>
          <a:p>
            <a:r>
              <a:rPr lang="ru-RU" dirty="0"/>
              <a:t>Управление потоком</a:t>
            </a:r>
          </a:p>
        </p:txBody>
      </p:sp>
      <p:sp>
        <p:nvSpPr>
          <p:cNvPr id="3" name="Текст 2"/>
          <p:cNvSpPr>
            <a:spLocks noGrp="1"/>
          </p:cNvSpPr>
          <p:nvPr>
            <p:ph type="body" sz="quarter" idx="4294967295"/>
          </p:nvPr>
        </p:nvSpPr>
        <p:spPr>
          <a:xfrm>
            <a:off x="609600" y="1809739"/>
            <a:ext cx="10706100" cy="4508500"/>
          </a:xfrm>
        </p:spPr>
        <p:txBody>
          <a:bodyPr>
            <a:normAutofit/>
          </a:bodyPr>
          <a:lstStyle/>
          <a:p>
            <a:pPr marL="0" indent="0" algn="just" defTabSz="914400">
              <a:lnSpc>
                <a:spcPct val="100000"/>
              </a:lnSpc>
              <a:spcBef>
                <a:spcPts val="360"/>
              </a:spcBef>
              <a:buNone/>
              <a:tabLst>
                <a:tab pos="0" algn="l"/>
              </a:tabLst>
            </a:pPr>
            <a:r>
              <a:rPr lang="ru-RU" sz="2400" dirty="0">
                <a:solidFill>
                  <a:schemeClr val="dk1"/>
                </a:solidFill>
              </a:rPr>
              <a:t>Класс </a:t>
            </a:r>
            <a:r>
              <a:rPr lang="ru-RU" sz="2400" dirty="0" err="1">
                <a:solidFill>
                  <a:schemeClr val="dk1"/>
                </a:solidFill>
              </a:rPr>
              <a:t>Thread</a:t>
            </a:r>
            <a:r>
              <a:rPr lang="ru-RU" sz="2400" dirty="0">
                <a:solidFill>
                  <a:schemeClr val="dk1"/>
                </a:solidFill>
              </a:rPr>
              <a:t> содержит несколько методов для управления потоками.</a:t>
            </a:r>
            <a:endParaRPr lang="ru-RU" sz="2400" dirty="0">
              <a:solidFill>
                <a:srgbClr val="000000"/>
              </a:solidFill>
              <a:latin typeface="Arial"/>
            </a:endParaRPr>
          </a:p>
          <a:p>
            <a:pPr marL="0" indent="0" algn="just" defTabSz="914400">
              <a:lnSpc>
                <a:spcPct val="100000"/>
              </a:lnSpc>
              <a:spcBef>
                <a:spcPts val="360"/>
              </a:spcBef>
              <a:buNone/>
              <a:tabLst>
                <a:tab pos="0" algn="l"/>
              </a:tabLst>
            </a:pPr>
            <a:r>
              <a:rPr lang="ru-RU" sz="2400" dirty="0">
                <a:solidFill>
                  <a:schemeClr val="dk1"/>
                </a:solidFill>
              </a:rPr>
              <a:t>•	</a:t>
            </a:r>
            <a:r>
              <a:rPr lang="ru-RU" sz="2400" dirty="0" err="1">
                <a:solidFill>
                  <a:schemeClr val="dk1"/>
                </a:solidFill>
              </a:rPr>
              <a:t>getName</a:t>
            </a:r>
            <a:r>
              <a:rPr lang="ru-RU" sz="2400" dirty="0">
                <a:solidFill>
                  <a:schemeClr val="dk1"/>
                </a:solidFill>
              </a:rPr>
              <a:t>() - получить имя потока</a:t>
            </a:r>
            <a:endParaRPr lang="ru-RU" sz="2400" dirty="0">
              <a:solidFill>
                <a:srgbClr val="000000"/>
              </a:solidFill>
              <a:latin typeface="Arial"/>
            </a:endParaRPr>
          </a:p>
          <a:p>
            <a:pPr marL="0" indent="0" algn="just" defTabSz="914400">
              <a:spcBef>
                <a:spcPts val="360"/>
              </a:spcBef>
              <a:buNone/>
              <a:tabLst>
                <a:tab pos="0" algn="l"/>
              </a:tabLst>
            </a:pPr>
            <a:r>
              <a:rPr lang="ru-RU" sz="2400" dirty="0">
                <a:solidFill>
                  <a:schemeClr val="dk1"/>
                </a:solidFill>
              </a:rPr>
              <a:t>•	</a:t>
            </a:r>
            <a:r>
              <a:rPr lang="ru-RU" sz="2400" dirty="0" err="1">
                <a:solidFill>
                  <a:schemeClr val="dk1"/>
                </a:solidFill>
              </a:rPr>
              <a:t>setName</a:t>
            </a:r>
            <a:r>
              <a:rPr lang="ru-RU" sz="2400" dirty="0">
                <a:solidFill>
                  <a:schemeClr val="dk1"/>
                </a:solidFill>
              </a:rPr>
              <a:t>() – задать потоку имя</a:t>
            </a:r>
            <a:endParaRPr lang="en-US" sz="2400" dirty="0">
              <a:solidFill>
                <a:schemeClr val="dk1"/>
              </a:solidFill>
            </a:endParaRPr>
          </a:p>
          <a:p>
            <a:pPr marL="0" indent="0" algn="just" defTabSz="914400">
              <a:lnSpc>
                <a:spcPct val="100000"/>
              </a:lnSpc>
              <a:spcBef>
                <a:spcPts val="360"/>
              </a:spcBef>
              <a:buNone/>
              <a:tabLst>
                <a:tab pos="0" algn="l"/>
              </a:tabLst>
            </a:pPr>
            <a:r>
              <a:rPr lang="ru-RU" sz="2400" dirty="0">
                <a:solidFill>
                  <a:schemeClr val="dk1"/>
                </a:solidFill>
              </a:rPr>
              <a:t>•	</a:t>
            </a:r>
            <a:r>
              <a:rPr lang="ru-RU" sz="2400" dirty="0" err="1">
                <a:solidFill>
                  <a:schemeClr val="dk1"/>
                </a:solidFill>
              </a:rPr>
              <a:t>getPriority</a:t>
            </a:r>
            <a:r>
              <a:rPr lang="ru-RU" sz="2400" dirty="0">
                <a:solidFill>
                  <a:schemeClr val="dk1"/>
                </a:solidFill>
              </a:rPr>
              <a:t>() - получить приоритет потока</a:t>
            </a:r>
          </a:p>
          <a:p>
            <a:pPr marL="0" indent="0" algn="just" defTabSz="914400">
              <a:spcBef>
                <a:spcPts val="360"/>
              </a:spcBef>
              <a:buNone/>
              <a:tabLst>
                <a:tab pos="0" algn="l"/>
              </a:tabLst>
            </a:pPr>
            <a:r>
              <a:rPr lang="ru-RU" sz="2400" dirty="0">
                <a:solidFill>
                  <a:schemeClr val="dk1"/>
                </a:solidFill>
              </a:rPr>
              <a:t>•	</a:t>
            </a:r>
            <a:r>
              <a:rPr lang="en-US" sz="2400" dirty="0">
                <a:solidFill>
                  <a:schemeClr val="dk1"/>
                </a:solidFill>
              </a:rPr>
              <a:t>s</a:t>
            </a:r>
            <a:r>
              <a:rPr lang="ru-RU" sz="2400" dirty="0" err="1">
                <a:solidFill>
                  <a:schemeClr val="dk1"/>
                </a:solidFill>
              </a:rPr>
              <a:t>etPriority</a:t>
            </a:r>
            <a:r>
              <a:rPr lang="ru-RU" sz="2400" dirty="0">
                <a:solidFill>
                  <a:schemeClr val="dk1"/>
                </a:solidFill>
              </a:rPr>
              <a:t>() - установить приоритет потока</a:t>
            </a:r>
          </a:p>
          <a:p>
            <a:pPr marL="0" indent="0" algn="just" defTabSz="914400">
              <a:spcBef>
                <a:spcPts val="360"/>
              </a:spcBef>
              <a:buNone/>
              <a:tabLst>
                <a:tab pos="0" algn="l"/>
              </a:tabLst>
            </a:pPr>
            <a:r>
              <a:rPr lang="ru-RU" sz="2400" dirty="0">
                <a:solidFill>
                  <a:schemeClr val="dk1"/>
                </a:solidFill>
              </a:rPr>
              <a:t>•	</a:t>
            </a:r>
            <a:r>
              <a:rPr lang="ru-RU" sz="2400" dirty="0" err="1">
                <a:solidFill>
                  <a:schemeClr val="dk1"/>
                </a:solidFill>
              </a:rPr>
              <a:t>start</a:t>
            </a:r>
            <a:r>
              <a:rPr lang="ru-RU" sz="2400" dirty="0">
                <a:solidFill>
                  <a:schemeClr val="dk1"/>
                </a:solidFill>
              </a:rPr>
              <a:t>() - запустить поток</a:t>
            </a:r>
            <a:endParaRPr lang="en-US" sz="2400" dirty="0">
              <a:solidFill>
                <a:schemeClr val="dk1"/>
              </a:solidFill>
            </a:endParaRPr>
          </a:p>
          <a:p>
            <a:pPr marL="0" indent="0" algn="just" defTabSz="914400">
              <a:spcBef>
                <a:spcPts val="360"/>
              </a:spcBef>
              <a:buNone/>
              <a:tabLst>
                <a:tab pos="0" algn="l"/>
              </a:tabLst>
            </a:pPr>
            <a:r>
              <a:rPr lang="ru-RU" sz="2400" dirty="0">
                <a:solidFill>
                  <a:schemeClr val="dk1"/>
                </a:solidFill>
              </a:rPr>
              <a:t>•	</a:t>
            </a:r>
            <a:r>
              <a:rPr lang="ru-RU" sz="2400" dirty="0" err="1">
                <a:solidFill>
                  <a:schemeClr val="bg1">
                    <a:lumMod val="25000"/>
                  </a:schemeClr>
                </a:solidFill>
              </a:rPr>
              <a:t>getState</a:t>
            </a:r>
            <a:r>
              <a:rPr lang="ru-RU" sz="2400" dirty="0">
                <a:solidFill>
                  <a:schemeClr val="dk1"/>
                </a:solidFill>
              </a:rPr>
              <a:t>() – получить состояние потока</a:t>
            </a:r>
            <a:endParaRPr lang="en-US" sz="2400" dirty="0">
              <a:solidFill>
                <a:schemeClr val="dk1"/>
              </a:solidFill>
            </a:endParaRPr>
          </a:p>
          <a:p>
            <a:pPr marL="0" indent="0" algn="just" defTabSz="914400">
              <a:lnSpc>
                <a:spcPct val="100000"/>
              </a:lnSpc>
              <a:spcBef>
                <a:spcPts val="360"/>
              </a:spcBef>
              <a:buNone/>
              <a:tabLst>
                <a:tab pos="0" algn="l"/>
              </a:tabLst>
            </a:pPr>
            <a:r>
              <a:rPr lang="ru-RU" sz="2400" dirty="0">
                <a:solidFill>
                  <a:schemeClr val="dk1"/>
                </a:solidFill>
              </a:rPr>
              <a:t>•	</a:t>
            </a:r>
            <a:r>
              <a:rPr lang="ru-RU" sz="2400" dirty="0" err="1">
                <a:solidFill>
                  <a:schemeClr val="dk1"/>
                </a:solidFill>
              </a:rPr>
              <a:t>isAlive</a:t>
            </a:r>
            <a:r>
              <a:rPr lang="ru-RU" sz="2400" dirty="0">
                <a:solidFill>
                  <a:schemeClr val="dk1"/>
                </a:solidFill>
              </a:rPr>
              <a:t>() - определить, выполняется ли поток</a:t>
            </a:r>
            <a:endParaRPr lang="ru-RU" sz="2400" dirty="0">
              <a:solidFill>
                <a:srgbClr val="000000"/>
              </a:solidFill>
              <a:latin typeface="Arial"/>
            </a:endParaRPr>
          </a:p>
          <a:p>
            <a:pPr marL="0" indent="0" algn="just" defTabSz="914400">
              <a:spcBef>
                <a:spcPts val="360"/>
              </a:spcBef>
              <a:buNone/>
              <a:tabLst>
                <a:tab pos="0" algn="l"/>
              </a:tabLst>
            </a:pPr>
            <a:r>
              <a:rPr lang="ru-RU" sz="2400" dirty="0">
                <a:solidFill>
                  <a:schemeClr val="dk1"/>
                </a:solidFill>
              </a:rPr>
              <a:t>•	</a:t>
            </a:r>
            <a:r>
              <a:rPr lang="en-US" sz="2400" dirty="0" err="1">
                <a:solidFill>
                  <a:schemeClr val="dk1"/>
                </a:solidFill>
              </a:rPr>
              <a:t>Thread.currentThread</a:t>
            </a:r>
            <a:r>
              <a:rPr lang="en-US" sz="2400" dirty="0">
                <a:solidFill>
                  <a:schemeClr val="dk1"/>
                </a:solidFill>
              </a:rPr>
              <a:t>()</a:t>
            </a:r>
            <a:r>
              <a:rPr lang="ru-RU" sz="2400" dirty="0">
                <a:solidFill>
                  <a:schemeClr val="dk1"/>
                </a:solidFill>
              </a:rPr>
              <a:t> – статический метод, возвращающий объект потока, в котором он был вызван</a:t>
            </a:r>
            <a:endParaRPr lang="ru-RU" sz="2400" dirty="0">
              <a:solidFill>
                <a:srgbClr val="000000"/>
              </a:solidFill>
              <a:latin typeface="Arial"/>
            </a:endParaRPr>
          </a:p>
          <a:p>
            <a:pPr marL="285750" indent="-285750">
              <a:buFont typeface="Arial" panose="020B0604020202020204" pitchFamily="34" charset="0"/>
              <a:buChar char="•"/>
            </a:pPr>
            <a:endParaRPr lang="en-US" sz="2400" dirty="0"/>
          </a:p>
          <a:p>
            <a:pPr marL="0" indent="0">
              <a:buNone/>
            </a:pPr>
            <a:endParaRPr lang="ru-RU" dirty="0"/>
          </a:p>
        </p:txBody>
      </p:sp>
      <p:cxnSp>
        <p:nvCxnSpPr>
          <p:cNvPr id="5" name="Прямая соединительная линия 4"/>
          <p:cNvCxnSpPr/>
          <p:nvPr/>
        </p:nvCxnSpPr>
        <p:spPr>
          <a:xfrm>
            <a:off x="7733654" y="6555784"/>
            <a:ext cx="3611103"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2019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9DFF87-D096-402F-8108-2039554A4EDC}"/>
              </a:ext>
            </a:extLst>
          </p:cNvPr>
          <p:cNvSpPr>
            <a:spLocks noGrp="1"/>
          </p:cNvSpPr>
          <p:nvPr>
            <p:ph type="title"/>
          </p:nvPr>
        </p:nvSpPr>
        <p:spPr/>
        <p:txBody>
          <a:bodyPr>
            <a:normAutofit/>
          </a:bodyPr>
          <a:lstStyle/>
          <a:p>
            <a:r>
              <a:rPr lang="ru-RU" dirty="0"/>
              <a:t>Создание и выполнение потоков</a:t>
            </a:r>
          </a:p>
        </p:txBody>
      </p:sp>
      <p:pic>
        <p:nvPicPr>
          <p:cNvPr id="7" name="Picture 6">
            <a:extLst>
              <a:ext uri="{FF2B5EF4-FFF2-40B4-BE49-F238E27FC236}">
                <a16:creationId xmlns:a16="http://schemas.microsoft.com/office/drawing/2014/main" id="{D7F3752F-431A-4FE9-8275-2E90B9605318}"/>
              </a:ext>
            </a:extLst>
          </p:cNvPr>
          <p:cNvPicPr>
            <a:picLocks noChangeAspect="1"/>
          </p:cNvPicPr>
          <p:nvPr/>
        </p:nvPicPr>
        <p:blipFill rotWithShape="1">
          <a:blip r:embed="rId3"/>
          <a:srcRect r="8425"/>
          <a:stretch/>
        </p:blipFill>
        <p:spPr>
          <a:xfrm>
            <a:off x="6467606" y="2739946"/>
            <a:ext cx="5582432" cy="2571750"/>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DEB86F0-AA65-4C51-9570-46D7A14B3CE4}"/>
              </a:ext>
            </a:extLst>
          </p:cNvPr>
          <p:cNvSpPr txBox="1"/>
          <p:nvPr/>
        </p:nvSpPr>
        <p:spPr>
          <a:xfrm>
            <a:off x="659704" y="2622495"/>
            <a:ext cx="5486400" cy="3447098"/>
          </a:xfrm>
          <a:prstGeom prst="rect">
            <a:avLst/>
          </a:prstGeom>
          <a:noFill/>
        </p:spPr>
        <p:txBody>
          <a:bodyPr wrap="square" rtlCol="0">
            <a:spAutoFit/>
          </a:bodyPr>
          <a:lstStyle/>
          <a:p>
            <a:pPr marL="285750" indent="-285750">
              <a:buFont typeface="Arial" panose="020B0604020202020204" pitchFamily="34" charset="0"/>
              <a:buChar char="•"/>
              <a:defRPr/>
            </a:pPr>
            <a:r>
              <a:rPr lang="ru-RU" sz="2000" dirty="0"/>
              <a:t>Переопределить метод </a:t>
            </a:r>
            <a:r>
              <a:rPr lang="ru-RU" sz="2000" b="1" dirty="0" err="1"/>
              <a:t>run</a:t>
            </a:r>
            <a:r>
              <a:rPr lang="ru-RU" sz="2000" b="1" dirty="0"/>
              <a:t>()</a:t>
            </a:r>
            <a:r>
              <a:rPr lang="ru-RU" sz="2000" dirty="0"/>
              <a:t>, код которого собственно и будет представлять весь тот код, который выполняется в потоке.</a:t>
            </a:r>
          </a:p>
          <a:p>
            <a:pPr marL="285750" indent="-285750">
              <a:buFont typeface="Arial" panose="020B0604020202020204" pitchFamily="34" charset="0"/>
              <a:buChar char="•"/>
              <a:defRPr/>
            </a:pPr>
            <a:r>
              <a:rPr lang="ru-RU" sz="2000" dirty="0"/>
              <a:t>После определения объекта </a:t>
            </a:r>
            <a:r>
              <a:rPr lang="ru-RU" sz="2000" dirty="0" err="1"/>
              <a:t>Runnable</a:t>
            </a:r>
            <a:r>
              <a:rPr lang="ru-RU" sz="2000" dirty="0"/>
              <a:t>  он передается в один из конструкторов класса </a:t>
            </a:r>
            <a:r>
              <a:rPr lang="ru-RU" sz="2000" dirty="0" err="1"/>
              <a:t>Thread</a:t>
            </a:r>
            <a:endParaRPr lang="en-US" sz="2000" dirty="0"/>
          </a:p>
          <a:p>
            <a:pPr marL="285750" indent="-285750">
              <a:buFont typeface="Arial" panose="020B0604020202020204" pitchFamily="34" charset="0"/>
              <a:buChar char="•"/>
            </a:pPr>
            <a:r>
              <a:rPr lang="ru-RU" sz="2000" dirty="0"/>
              <a:t>Для запуска потока у него необходимо вызвать метод  </a:t>
            </a:r>
            <a:r>
              <a:rPr lang="ru-RU" sz="2000" b="1" dirty="0" err="1"/>
              <a:t>start</a:t>
            </a:r>
            <a:r>
              <a:rPr lang="ru-RU" sz="2000" b="1" dirty="0"/>
              <a:t>()</a:t>
            </a:r>
            <a:r>
              <a:rPr lang="ru-RU" sz="2000" dirty="0"/>
              <a:t>, после чего начинается выполнение того кода, который определен в методе </a:t>
            </a:r>
            <a:r>
              <a:rPr lang="ru-RU" sz="2000" b="1" dirty="0" err="1"/>
              <a:t>run</a:t>
            </a:r>
            <a:r>
              <a:rPr lang="ru-RU" sz="2000" b="1" dirty="0"/>
              <a:t>()</a:t>
            </a:r>
            <a:endParaRPr lang="ru-RU" sz="2000" dirty="0"/>
          </a:p>
          <a:p>
            <a:endParaRPr lang="ru-RU" dirty="0"/>
          </a:p>
        </p:txBody>
      </p:sp>
      <p:sp>
        <p:nvSpPr>
          <p:cNvPr id="10" name="TextBox 9">
            <a:extLst>
              <a:ext uri="{FF2B5EF4-FFF2-40B4-BE49-F238E27FC236}">
                <a16:creationId xmlns:a16="http://schemas.microsoft.com/office/drawing/2014/main" id="{6B6C5ED7-1D69-4897-8C0A-EAE4393149DD}"/>
              </a:ext>
            </a:extLst>
          </p:cNvPr>
          <p:cNvSpPr txBox="1"/>
          <p:nvPr/>
        </p:nvSpPr>
        <p:spPr>
          <a:xfrm>
            <a:off x="659704" y="1650182"/>
            <a:ext cx="10922696" cy="646331"/>
          </a:xfrm>
          <a:prstGeom prst="rect">
            <a:avLst/>
          </a:prstGeom>
          <a:noFill/>
        </p:spPr>
        <p:txBody>
          <a:bodyPr wrap="square" rtlCol="0">
            <a:spAutoFit/>
          </a:bodyPr>
          <a:lstStyle/>
          <a:p>
            <a:r>
              <a:rPr lang="ru-RU" sz="3600" dirty="0"/>
              <a:t>Реализация интерфейса </a:t>
            </a:r>
            <a:r>
              <a:rPr lang="en-US" sz="3600" dirty="0"/>
              <a:t>Runnable</a:t>
            </a:r>
          </a:p>
        </p:txBody>
      </p:sp>
    </p:spTree>
    <p:extLst>
      <p:ext uri="{BB962C8B-B14F-4D97-AF65-F5344CB8AC3E}">
        <p14:creationId xmlns:p14="http://schemas.microsoft.com/office/powerpoint/2010/main" val="777494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9DFF87-D096-402F-8108-2039554A4EDC}"/>
              </a:ext>
            </a:extLst>
          </p:cNvPr>
          <p:cNvSpPr>
            <a:spLocks noGrp="1"/>
          </p:cNvSpPr>
          <p:nvPr>
            <p:ph type="title"/>
          </p:nvPr>
        </p:nvSpPr>
        <p:spPr/>
        <p:txBody>
          <a:bodyPr>
            <a:normAutofit/>
          </a:bodyPr>
          <a:lstStyle/>
          <a:p>
            <a:r>
              <a:rPr lang="ru-RU" dirty="0"/>
              <a:t>Создание и выполнение потоков</a:t>
            </a:r>
          </a:p>
        </p:txBody>
      </p:sp>
      <p:sp>
        <p:nvSpPr>
          <p:cNvPr id="9" name="TextBox 8">
            <a:extLst>
              <a:ext uri="{FF2B5EF4-FFF2-40B4-BE49-F238E27FC236}">
                <a16:creationId xmlns:a16="http://schemas.microsoft.com/office/drawing/2014/main" id="{0DEB86F0-AA65-4C51-9570-46D7A14B3CE4}"/>
              </a:ext>
            </a:extLst>
          </p:cNvPr>
          <p:cNvSpPr txBox="1"/>
          <p:nvPr/>
        </p:nvSpPr>
        <p:spPr>
          <a:xfrm>
            <a:off x="659704" y="2622495"/>
            <a:ext cx="5486400" cy="3447098"/>
          </a:xfrm>
          <a:prstGeom prst="rect">
            <a:avLst/>
          </a:prstGeom>
          <a:noFill/>
        </p:spPr>
        <p:txBody>
          <a:bodyPr wrap="square" rtlCol="0">
            <a:spAutoFit/>
          </a:bodyPr>
          <a:lstStyle/>
          <a:p>
            <a:pPr marL="285750" indent="-285750">
              <a:buFont typeface="Arial" panose="020B0604020202020204" pitchFamily="34" charset="0"/>
              <a:buChar char="•"/>
            </a:pPr>
            <a:r>
              <a:rPr lang="ru-RU" sz="2000" dirty="0"/>
              <a:t>В конструкторе класса потока необходимо вызывать конструктор базового класса </a:t>
            </a:r>
            <a:r>
              <a:rPr lang="ru-RU" sz="2000" dirty="0" err="1"/>
              <a:t>Thread</a:t>
            </a:r>
            <a:r>
              <a:rPr lang="ru-RU" sz="2000" dirty="0"/>
              <a:t>, в который передается имя потока.</a:t>
            </a:r>
          </a:p>
          <a:p>
            <a:pPr marL="285750" indent="-285750">
              <a:buFont typeface="Arial" panose="020B0604020202020204" pitchFamily="34" charset="0"/>
              <a:buChar char="•"/>
            </a:pPr>
            <a:r>
              <a:rPr lang="ru-RU" sz="2000" dirty="0"/>
              <a:t>Переопределить метод </a:t>
            </a:r>
            <a:r>
              <a:rPr lang="ru-RU" sz="2000" b="1" dirty="0" err="1"/>
              <a:t>run</a:t>
            </a:r>
            <a:r>
              <a:rPr lang="ru-RU" sz="2000" b="1" dirty="0"/>
              <a:t>()</a:t>
            </a:r>
            <a:r>
              <a:rPr lang="ru-RU" sz="2000" dirty="0"/>
              <a:t>, код которого собственно и будет представлять весь тот код, который выполняется в потоке.</a:t>
            </a:r>
          </a:p>
          <a:p>
            <a:pPr marL="285750" indent="-285750">
              <a:buFont typeface="Arial" panose="020B0604020202020204" pitchFamily="34" charset="0"/>
              <a:buChar char="•"/>
            </a:pPr>
            <a:r>
              <a:rPr lang="ru-RU" sz="2000" dirty="0"/>
              <a:t>Для запуска потока у него необходимо вызвать метод  </a:t>
            </a:r>
            <a:r>
              <a:rPr lang="ru-RU" sz="2000" b="1" dirty="0" err="1"/>
              <a:t>start</a:t>
            </a:r>
            <a:r>
              <a:rPr lang="ru-RU" sz="2000" b="1" dirty="0"/>
              <a:t>()</a:t>
            </a:r>
            <a:r>
              <a:rPr lang="ru-RU" sz="2000" dirty="0"/>
              <a:t>, после чего начинается выполнение того кода, который определен в методе </a:t>
            </a:r>
            <a:r>
              <a:rPr lang="ru-RU" sz="2000" b="1" dirty="0" err="1"/>
              <a:t>run</a:t>
            </a:r>
            <a:r>
              <a:rPr lang="ru-RU" sz="2000" b="1" dirty="0"/>
              <a:t>()</a:t>
            </a:r>
            <a:endParaRPr lang="ru-RU" sz="2000" dirty="0"/>
          </a:p>
          <a:p>
            <a:endParaRPr lang="ru-RU" dirty="0"/>
          </a:p>
        </p:txBody>
      </p:sp>
      <p:sp>
        <p:nvSpPr>
          <p:cNvPr id="10" name="TextBox 9">
            <a:extLst>
              <a:ext uri="{FF2B5EF4-FFF2-40B4-BE49-F238E27FC236}">
                <a16:creationId xmlns:a16="http://schemas.microsoft.com/office/drawing/2014/main" id="{6B6C5ED7-1D69-4897-8C0A-EAE4393149DD}"/>
              </a:ext>
            </a:extLst>
          </p:cNvPr>
          <p:cNvSpPr txBox="1"/>
          <p:nvPr/>
        </p:nvSpPr>
        <p:spPr>
          <a:xfrm>
            <a:off x="659704" y="1650182"/>
            <a:ext cx="10922696" cy="646331"/>
          </a:xfrm>
          <a:prstGeom prst="rect">
            <a:avLst/>
          </a:prstGeom>
          <a:noFill/>
        </p:spPr>
        <p:txBody>
          <a:bodyPr wrap="square" rtlCol="0">
            <a:spAutoFit/>
          </a:bodyPr>
          <a:lstStyle/>
          <a:p>
            <a:pPr>
              <a:defRPr/>
            </a:pPr>
            <a:r>
              <a:rPr lang="ru-RU" sz="3600" dirty="0"/>
              <a:t>Наследование от класса </a:t>
            </a:r>
            <a:r>
              <a:rPr lang="en-US" sz="3600" dirty="0"/>
              <a:t>Thread</a:t>
            </a:r>
            <a:endParaRPr lang="ru-RU" sz="3600" dirty="0"/>
          </a:p>
        </p:txBody>
      </p:sp>
      <p:pic>
        <p:nvPicPr>
          <p:cNvPr id="2" name="Picture 1">
            <a:extLst>
              <a:ext uri="{FF2B5EF4-FFF2-40B4-BE49-F238E27FC236}">
                <a16:creationId xmlns:a16="http://schemas.microsoft.com/office/drawing/2014/main" id="{E23FAD53-DE3A-401E-B10C-96D4A63991DE}"/>
              </a:ext>
            </a:extLst>
          </p:cNvPr>
          <p:cNvPicPr>
            <a:picLocks noChangeAspect="1"/>
          </p:cNvPicPr>
          <p:nvPr/>
        </p:nvPicPr>
        <p:blipFill>
          <a:blip r:embed="rId3"/>
          <a:stretch>
            <a:fillRect/>
          </a:stretch>
        </p:blipFill>
        <p:spPr>
          <a:xfrm>
            <a:off x="6337191" y="2771787"/>
            <a:ext cx="5705475" cy="22764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87598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ECDF9E-A534-424B-8E5A-33C05F71F14D}"/>
              </a:ext>
            </a:extLst>
          </p:cNvPr>
          <p:cNvSpPr>
            <a:spLocks noGrp="1"/>
          </p:cNvSpPr>
          <p:nvPr>
            <p:ph type="title"/>
          </p:nvPr>
        </p:nvSpPr>
        <p:spPr/>
        <p:txBody>
          <a:bodyPr>
            <a:normAutofit/>
          </a:bodyPr>
          <a:lstStyle/>
          <a:p>
            <a:r>
              <a:rPr lang="ru-RU" dirty="0"/>
              <a:t>Как остановить поток</a:t>
            </a:r>
            <a:r>
              <a:rPr lang="en-US" dirty="0"/>
              <a:t>?</a:t>
            </a:r>
            <a:endParaRPr lang="ru-RU" dirty="0"/>
          </a:p>
        </p:txBody>
      </p:sp>
      <p:pic>
        <p:nvPicPr>
          <p:cNvPr id="5122" name="Picture 2" descr="https://im0-tub-ru.yandex.net/i?id=c87a79f07169cb0c6baae82c0e4cac9f-l&amp;n=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909" y="1955632"/>
            <a:ext cx="6124973" cy="409352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01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944E4A-B01F-4679-B1B8-3C56B342D2D5}"/>
              </a:ext>
            </a:extLst>
          </p:cNvPr>
          <p:cNvSpPr>
            <a:spLocks noGrp="1"/>
          </p:cNvSpPr>
          <p:nvPr>
            <p:ph type="title"/>
          </p:nvPr>
        </p:nvSpPr>
        <p:spPr/>
        <p:txBody>
          <a:bodyPr>
            <a:normAutofit/>
          </a:bodyPr>
          <a:lstStyle/>
          <a:p>
            <a:r>
              <a:rPr lang="ru-RU" dirty="0"/>
              <a:t>Прерывание потока</a:t>
            </a:r>
          </a:p>
        </p:txBody>
      </p:sp>
      <p:sp>
        <p:nvSpPr>
          <p:cNvPr id="3" name="Текст 2"/>
          <p:cNvSpPr>
            <a:spLocks noGrp="1"/>
          </p:cNvSpPr>
          <p:nvPr>
            <p:ph type="body" sz="quarter" idx="4294967295"/>
          </p:nvPr>
        </p:nvSpPr>
        <p:spPr>
          <a:xfrm>
            <a:off x="609600" y="2332051"/>
            <a:ext cx="5841304" cy="3755597"/>
          </a:xfrm>
        </p:spPr>
        <p:txBody>
          <a:bodyPr>
            <a:noAutofit/>
          </a:bodyPr>
          <a:lstStyle/>
          <a:p>
            <a:r>
              <a:rPr lang="ru-RU" sz="2400" dirty="0"/>
              <a:t>Поток информируют о том, что ему следует прерваться. </a:t>
            </a:r>
          </a:p>
          <a:p>
            <a:r>
              <a:rPr lang="ru-RU" sz="2400" dirty="0"/>
              <a:t>Как на это реагировать — дело самого потока.</a:t>
            </a:r>
          </a:p>
          <a:p>
            <a:r>
              <a:rPr lang="ru-RU" sz="2400" dirty="0"/>
              <a:t>Распространенный способ завершения потока - опрос логической переменной. И если она поменяла значение, то поток завершает бесконечный цикл и заканчивает свое выполнение.</a:t>
            </a:r>
          </a:p>
          <a:p>
            <a:pPr marL="0" indent="0">
              <a:buNone/>
            </a:pPr>
            <a:endParaRPr lang="ru-RU" sz="2800" dirty="0"/>
          </a:p>
        </p:txBody>
      </p:sp>
      <p:pic>
        <p:nvPicPr>
          <p:cNvPr id="6" name="Picture 5">
            <a:extLst>
              <a:ext uri="{FF2B5EF4-FFF2-40B4-BE49-F238E27FC236}">
                <a16:creationId xmlns:a16="http://schemas.microsoft.com/office/drawing/2014/main" id="{B5B35A66-8500-4FBF-838E-7996DFE5E91B}"/>
              </a:ext>
            </a:extLst>
          </p:cNvPr>
          <p:cNvPicPr>
            <a:picLocks noChangeAspect="1"/>
          </p:cNvPicPr>
          <p:nvPr/>
        </p:nvPicPr>
        <p:blipFill rotWithShape="1">
          <a:blip r:embed="rId3"/>
          <a:srcRect l="3799" r="1816" b="6994"/>
          <a:stretch/>
        </p:blipFill>
        <p:spPr>
          <a:xfrm>
            <a:off x="6702458" y="2795605"/>
            <a:ext cx="5257192" cy="2828487"/>
          </a:xfrm>
          <a:prstGeom prst="rect">
            <a:avLst/>
          </a:prstGeom>
          <a:ln>
            <a:noFill/>
          </a:ln>
          <a:effectLst>
            <a:softEdge rad="112500"/>
          </a:effectLst>
        </p:spPr>
      </p:pic>
    </p:spTree>
    <p:extLst>
      <p:ext uri="{BB962C8B-B14F-4D97-AF65-F5344CB8AC3E}">
        <p14:creationId xmlns:p14="http://schemas.microsoft.com/office/powerpoint/2010/main" val="889669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944E4A-B01F-4679-B1B8-3C56B342D2D5}"/>
              </a:ext>
            </a:extLst>
          </p:cNvPr>
          <p:cNvSpPr>
            <a:spLocks noGrp="1"/>
          </p:cNvSpPr>
          <p:nvPr>
            <p:ph type="title"/>
          </p:nvPr>
        </p:nvSpPr>
        <p:spPr/>
        <p:txBody>
          <a:bodyPr>
            <a:normAutofit/>
          </a:bodyPr>
          <a:lstStyle/>
          <a:p>
            <a:r>
              <a:rPr lang="ru-RU" dirty="0"/>
              <a:t>Прерывание потока</a:t>
            </a:r>
          </a:p>
        </p:txBody>
      </p:sp>
      <p:sp>
        <p:nvSpPr>
          <p:cNvPr id="3" name="Текст 2"/>
          <p:cNvSpPr>
            <a:spLocks noGrp="1"/>
          </p:cNvSpPr>
          <p:nvPr>
            <p:ph type="body" sz="quarter" idx="4294967295"/>
          </p:nvPr>
        </p:nvSpPr>
        <p:spPr>
          <a:xfrm>
            <a:off x="609600" y="2276353"/>
            <a:ext cx="5486400" cy="3479479"/>
          </a:xfrm>
        </p:spPr>
        <p:txBody>
          <a:bodyPr>
            <a:noAutofit/>
          </a:bodyPr>
          <a:lstStyle/>
          <a:p>
            <a:pPr marL="0" indent="0">
              <a:buNone/>
            </a:pPr>
            <a:r>
              <a:rPr lang="ru-RU" sz="2200" dirty="0"/>
              <a:t>Вызов метода </a:t>
            </a:r>
            <a:r>
              <a:rPr lang="en-US" sz="2200" b="1" dirty="0"/>
              <a:t>interrupt()</a:t>
            </a:r>
            <a:r>
              <a:rPr lang="ru-RU" sz="2200" b="1" dirty="0"/>
              <a:t> </a:t>
            </a:r>
            <a:r>
              <a:rPr lang="ru-RU" sz="2200" dirty="0"/>
              <a:t>устанавливает у потока статус, что он прерван. Сам метод возвращает </a:t>
            </a:r>
            <a:r>
              <a:rPr lang="ru-RU" sz="2200" dirty="0" err="1"/>
              <a:t>true</a:t>
            </a:r>
            <a:r>
              <a:rPr lang="ru-RU" sz="2200" dirty="0"/>
              <a:t>, если поток может быть прерван, в ином случае возвращается </a:t>
            </a:r>
            <a:r>
              <a:rPr lang="ru-RU" sz="2200" dirty="0" err="1"/>
              <a:t>false</a:t>
            </a:r>
            <a:r>
              <a:rPr lang="ru-RU" sz="2200" dirty="0"/>
              <a:t>. При этом сам вызов этого метода НЕ завершает поток, он только устанавливает статус: в частности, метод </a:t>
            </a:r>
            <a:r>
              <a:rPr lang="ru-RU" sz="2200" b="1" dirty="0" err="1"/>
              <a:t>isInterrupted</a:t>
            </a:r>
            <a:r>
              <a:rPr lang="ru-RU" sz="2200" b="1" dirty="0"/>
              <a:t>()</a:t>
            </a:r>
            <a:r>
              <a:rPr lang="ru-RU" sz="2200" dirty="0"/>
              <a:t> класса </a:t>
            </a:r>
            <a:r>
              <a:rPr lang="ru-RU" sz="2200" dirty="0" err="1"/>
              <a:t>Thread</a:t>
            </a:r>
            <a:r>
              <a:rPr lang="ru-RU" sz="2200" dirty="0"/>
              <a:t> будет возвращать значение </a:t>
            </a:r>
            <a:r>
              <a:rPr lang="ru-RU" sz="2200" dirty="0" err="1"/>
              <a:t>true</a:t>
            </a:r>
            <a:r>
              <a:rPr lang="ru-RU" sz="2200" dirty="0"/>
              <a:t>.</a:t>
            </a:r>
          </a:p>
        </p:txBody>
      </p:sp>
      <p:pic>
        <p:nvPicPr>
          <p:cNvPr id="2" name="Picture 1">
            <a:extLst>
              <a:ext uri="{FF2B5EF4-FFF2-40B4-BE49-F238E27FC236}">
                <a16:creationId xmlns:a16="http://schemas.microsoft.com/office/drawing/2014/main" id="{2628CB42-BCBF-4F35-906B-D92881320280}"/>
              </a:ext>
            </a:extLst>
          </p:cNvPr>
          <p:cNvPicPr>
            <a:picLocks noChangeAspect="1"/>
          </p:cNvPicPr>
          <p:nvPr/>
        </p:nvPicPr>
        <p:blipFill>
          <a:blip r:embed="rId3"/>
          <a:stretch>
            <a:fillRect/>
          </a:stretch>
        </p:blipFill>
        <p:spPr>
          <a:xfrm>
            <a:off x="6712254" y="2421066"/>
            <a:ext cx="4870146" cy="319005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69139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0098E9-F32B-4489-8719-B2CCACE861B9}"/>
              </a:ext>
            </a:extLst>
          </p:cNvPr>
          <p:cNvSpPr>
            <a:spLocks noGrp="1"/>
          </p:cNvSpPr>
          <p:nvPr>
            <p:ph type="title"/>
          </p:nvPr>
        </p:nvSpPr>
        <p:spPr/>
        <p:txBody>
          <a:bodyPr>
            <a:normAutofit/>
          </a:bodyPr>
          <a:lstStyle/>
          <a:p>
            <a:r>
              <a:rPr lang="ru-RU" dirty="0"/>
              <a:t>Метод </a:t>
            </a:r>
            <a:r>
              <a:rPr lang="en-US" dirty="0"/>
              <a:t>yield</a:t>
            </a:r>
            <a:endParaRPr lang="ru-RU" dirty="0"/>
          </a:p>
        </p:txBody>
      </p:sp>
      <p:sp>
        <p:nvSpPr>
          <p:cNvPr id="3" name="Текст 2"/>
          <p:cNvSpPr>
            <a:spLocks noGrp="1"/>
          </p:cNvSpPr>
          <p:nvPr>
            <p:ph type="body" sz="quarter" idx="4294967295"/>
          </p:nvPr>
        </p:nvSpPr>
        <p:spPr>
          <a:xfrm>
            <a:off x="742950" y="2010155"/>
            <a:ext cx="10706100" cy="4508500"/>
          </a:xfrm>
        </p:spPr>
        <p:txBody>
          <a:bodyPr>
            <a:normAutofit/>
          </a:bodyPr>
          <a:lstStyle/>
          <a:p>
            <a:pPr marL="285750" indent="-285750"/>
            <a:r>
              <a:rPr lang="ru-RU" sz="3200" dirty="0" err="1"/>
              <a:t>Thread.yield</a:t>
            </a:r>
            <a:r>
              <a:rPr lang="ru-RU" sz="3200" dirty="0"/>
              <a:t>() досрочно завершить квант времени текущего потока </a:t>
            </a:r>
            <a:endParaRPr lang="en-US" sz="3200" b="1" dirty="0"/>
          </a:p>
        </p:txBody>
      </p:sp>
      <p:pic>
        <p:nvPicPr>
          <p:cNvPr id="5" name="Picture 4">
            <a:extLst>
              <a:ext uri="{FF2B5EF4-FFF2-40B4-BE49-F238E27FC236}">
                <a16:creationId xmlns:a16="http://schemas.microsoft.com/office/drawing/2014/main" id="{FA28A33B-8960-40AC-9896-F97CE788B90A}"/>
              </a:ext>
            </a:extLst>
          </p:cNvPr>
          <p:cNvPicPr>
            <a:picLocks noChangeAspect="1"/>
          </p:cNvPicPr>
          <p:nvPr/>
        </p:nvPicPr>
        <p:blipFill rotWithShape="1">
          <a:blip r:embed="rId3">
            <a:duotone>
              <a:schemeClr val="accent6">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t="28599" b="25731"/>
          <a:stretch/>
        </p:blipFill>
        <p:spPr>
          <a:xfrm>
            <a:off x="5473874" y="3011892"/>
            <a:ext cx="5072701" cy="2140357"/>
          </a:xfrm>
          <a:prstGeom prst="rect">
            <a:avLst/>
          </a:prstGeom>
        </p:spPr>
      </p:pic>
    </p:spTree>
    <p:extLst>
      <p:ext uri="{BB962C8B-B14F-4D97-AF65-F5344CB8AC3E}">
        <p14:creationId xmlns:p14="http://schemas.microsoft.com/office/powerpoint/2010/main" val="974410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0098E9-F32B-4489-8719-B2CCACE861B9}"/>
              </a:ext>
            </a:extLst>
          </p:cNvPr>
          <p:cNvSpPr>
            <a:spLocks noGrp="1"/>
          </p:cNvSpPr>
          <p:nvPr>
            <p:ph type="title"/>
          </p:nvPr>
        </p:nvSpPr>
        <p:spPr/>
        <p:txBody>
          <a:bodyPr>
            <a:normAutofit/>
          </a:bodyPr>
          <a:lstStyle/>
          <a:p>
            <a:r>
              <a:rPr lang="ru-RU" dirty="0"/>
              <a:t>Блокирующие операции</a:t>
            </a:r>
          </a:p>
        </p:txBody>
      </p:sp>
      <p:sp>
        <p:nvSpPr>
          <p:cNvPr id="3" name="Текст 2"/>
          <p:cNvSpPr>
            <a:spLocks noGrp="1"/>
          </p:cNvSpPr>
          <p:nvPr>
            <p:ph type="body" sz="quarter" idx="4294967295"/>
          </p:nvPr>
        </p:nvSpPr>
        <p:spPr>
          <a:xfrm>
            <a:off x="609600" y="1809739"/>
            <a:ext cx="7720208" cy="4227806"/>
          </a:xfrm>
        </p:spPr>
        <p:txBody>
          <a:bodyPr/>
          <a:lstStyle/>
          <a:p>
            <a:pPr marL="285750" indent="-285750"/>
            <a:r>
              <a:rPr lang="en-US" sz="2400" dirty="0"/>
              <a:t>sleep() </a:t>
            </a:r>
            <a:r>
              <a:rPr lang="ru-RU" sz="2400" dirty="0">
                <a:solidFill>
                  <a:schemeClr val="dk1"/>
                </a:solidFill>
              </a:rPr>
              <a:t>- приостановить поток на заданное время </a:t>
            </a:r>
            <a:endParaRPr lang="en-US" sz="2400" dirty="0">
              <a:solidFill>
                <a:schemeClr val="dk1"/>
              </a:solidFill>
            </a:endParaRPr>
          </a:p>
          <a:p>
            <a:pPr marL="285750" indent="-285750"/>
            <a:r>
              <a:rPr lang="en-US" sz="2400" dirty="0"/>
              <a:t>join() - </a:t>
            </a:r>
            <a:r>
              <a:rPr lang="ru-RU" sz="2400" dirty="0">
                <a:solidFill>
                  <a:schemeClr val="dk1"/>
                </a:solidFill>
              </a:rPr>
              <a:t> ожидать завершение другого потока</a:t>
            </a:r>
            <a:endParaRPr lang="en-US" sz="2400" dirty="0"/>
          </a:p>
          <a:p>
            <a:pPr marL="285750" indent="-285750">
              <a:buFont typeface="Arial" panose="020B0604020202020204" pitchFamily="34" charset="0"/>
              <a:buChar char="•"/>
            </a:pPr>
            <a:r>
              <a:rPr lang="en-US" sz="2400" dirty="0"/>
              <a:t>wait() – </a:t>
            </a:r>
            <a:r>
              <a:rPr lang="ru-RU" sz="2400" dirty="0"/>
              <a:t>ожидание вызова метода </a:t>
            </a:r>
            <a:r>
              <a:rPr lang="en-US" sz="2400" dirty="0"/>
              <a:t>notify()</a:t>
            </a:r>
            <a:r>
              <a:rPr lang="ru-RU" sz="2400" dirty="0"/>
              <a:t> другим потоком</a:t>
            </a:r>
            <a:endParaRPr lang="en-US" sz="2400" dirty="0"/>
          </a:p>
          <a:p>
            <a:endParaRPr lang="ru-RU" sz="2400" dirty="0"/>
          </a:p>
          <a:p>
            <a:r>
              <a:rPr lang="ru-RU" sz="2400" dirty="0"/>
              <a:t>До проверки флага </a:t>
            </a:r>
            <a:r>
              <a:rPr lang="en-US" sz="2400" b="1" dirty="0" err="1"/>
              <a:t>isInterrupted</a:t>
            </a:r>
            <a:r>
              <a:rPr lang="en-US" sz="2400" b="1" dirty="0"/>
              <a:t>()</a:t>
            </a:r>
            <a:r>
              <a:rPr lang="en-US" sz="2400" dirty="0"/>
              <a:t> </a:t>
            </a:r>
            <a:r>
              <a:rPr lang="ru-RU" sz="2400" dirty="0"/>
              <a:t>мы даже не доходим </a:t>
            </a:r>
          </a:p>
          <a:p>
            <a:r>
              <a:rPr lang="ru-RU" sz="2400" dirty="0"/>
              <a:t>Если поток будет остановлен методом </a:t>
            </a:r>
            <a:r>
              <a:rPr lang="en-US" sz="2400" b="1" dirty="0"/>
              <a:t>interrupt()</a:t>
            </a:r>
            <a:r>
              <a:rPr lang="ru-RU" sz="2400" dirty="0"/>
              <a:t>, то он просыпается и выкидывает </a:t>
            </a:r>
            <a:r>
              <a:rPr lang="en-US" sz="2400" b="1" dirty="0" err="1"/>
              <a:t>InterruptedException</a:t>
            </a:r>
            <a:r>
              <a:rPr lang="ru-RU" sz="2400" dirty="0"/>
              <a:t>.</a:t>
            </a:r>
          </a:p>
          <a:p>
            <a:pPr marL="285750" indent="-285750">
              <a:buFont typeface="Arial" panose="020B0604020202020204" pitchFamily="34" charset="0"/>
              <a:buChar char="•"/>
            </a:pPr>
            <a:endParaRPr lang="ru-RU" dirty="0"/>
          </a:p>
        </p:txBody>
      </p:sp>
      <p:pic>
        <p:nvPicPr>
          <p:cNvPr id="2" name="Picture 1">
            <a:extLst>
              <a:ext uri="{FF2B5EF4-FFF2-40B4-BE49-F238E27FC236}">
                <a16:creationId xmlns:a16="http://schemas.microsoft.com/office/drawing/2014/main" id="{3F4D4756-BE88-4A2A-A108-3FA944E08319}"/>
              </a:ext>
            </a:extLst>
          </p:cNvPr>
          <p:cNvPicPr>
            <a:picLocks noChangeAspect="1"/>
          </p:cNvPicPr>
          <p:nvPr/>
        </p:nvPicPr>
        <p:blipFill rotWithShape="1">
          <a:blip r:embed="rId3"/>
          <a:srcRect b="2584"/>
          <a:stretch/>
        </p:blipFill>
        <p:spPr>
          <a:xfrm>
            <a:off x="8222234" y="2044601"/>
            <a:ext cx="3669141" cy="3717372"/>
          </a:xfrm>
          <a:prstGeom prst="rect">
            <a:avLst/>
          </a:prstGeom>
          <a:ln>
            <a:noFill/>
          </a:ln>
          <a:effectLst>
            <a:softEdge rad="112500"/>
          </a:effectLst>
        </p:spPr>
      </p:pic>
    </p:spTree>
    <p:extLst>
      <p:ext uri="{BB962C8B-B14F-4D97-AF65-F5344CB8AC3E}">
        <p14:creationId xmlns:p14="http://schemas.microsoft.com/office/powerpoint/2010/main" val="189467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53D6E6-A7B5-4CF9-9142-676A6DC6B178}"/>
              </a:ext>
            </a:extLst>
          </p:cNvPr>
          <p:cNvSpPr>
            <a:spLocks noGrp="1"/>
          </p:cNvSpPr>
          <p:nvPr>
            <p:ph type="title"/>
          </p:nvPr>
        </p:nvSpPr>
        <p:spPr/>
        <p:txBody>
          <a:bodyPr>
            <a:normAutofit/>
          </a:bodyPr>
          <a:lstStyle/>
          <a:p>
            <a:r>
              <a:rPr lang="ru-RU" dirty="0"/>
              <a:t>Метод </a:t>
            </a:r>
            <a:r>
              <a:rPr lang="en-US" dirty="0"/>
              <a:t>sleep</a:t>
            </a:r>
            <a:endParaRPr lang="ru-RU" dirty="0"/>
          </a:p>
        </p:txBody>
      </p:sp>
      <p:sp>
        <p:nvSpPr>
          <p:cNvPr id="3" name="Текст 2"/>
          <p:cNvSpPr>
            <a:spLocks noGrp="1"/>
          </p:cNvSpPr>
          <p:nvPr>
            <p:ph type="body" sz="quarter" idx="4294967295"/>
          </p:nvPr>
        </p:nvSpPr>
        <p:spPr>
          <a:xfrm>
            <a:off x="609600" y="1809739"/>
            <a:ext cx="10706100" cy="4508500"/>
          </a:xfrm>
        </p:spPr>
        <p:txBody>
          <a:bodyPr/>
          <a:lstStyle/>
          <a:p>
            <a:pPr marL="0" indent="0">
              <a:buNone/>
            </a:pPr>
            <a:r>
              <a:rPr lang="ru-RU" sz="2400" dirty="0"/>
              <a:t>Приостановить выполнение потока на заданное время с помощью статического метода </a:t>
            </a:r>
            <a:r>
              <a:rPr lang="ru-RU" sz="2400" dirty="0" err="1"/>
              <a:t>Thread.sleep</a:t>
            </a:r>
            <a:r>
              <a:rPr lang="ru-RU" sz="2400" dirty="0"/>
              <a:t>()</a:t>
            </a:r>
            <a:endParaRPr lang="ru-RU" dirty="0"/>
          </a:p>
        </p:txBody>
      </p:sp>
      <p:cxnSp>
        <p:nvCxnSpPr>
          <p:cNvPr id="5" name="Прямая соединительная линия 4"/>
          <p:cNvCxnSpPr/>
          <p:nvPr/>
        </p:nvCxnSpPr>
        <p:spPr>
          <a:xfrm>
            <a:off x="7733654" y="6555784"/>
            <a:ext cx="3611103" cy="0"/>
          </a:xfrm>
          <a:prstGeom prst="line">
            <a:avLst/>
          </a:prstGeom>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8E68EF96-7698-4542-8FA6-9A15E61B1D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3604" y="3198598"/>
            <a:ext cx="3511202" cy="2266321"/>
          </a:xfrm>
          <a:prstGeom prst="rect">
            <a:avLst/>
          </a:prstGeom>
          <a:ln>
            <a:noFill/>
          </a:ln>
          <a:effectLst>
            <a:softEdge rad="112500"/>
          </a:effectLst>
        </p:spPr>
      </p:pic>
      <p:pic>
        <p:nvPicPr>
          <p:cNvPr id="2" name="Picture 1">
            <a:extLst>
              <a:ext uri="{FF2B5EF4-FFF2-40B4-BE49-F238E27FC236}">
                <a16:creationId xmlns:a16="http://schemas.microsoft.com/office/drawing/2014/main" id="{580EC4D3-D647-4C9B-B336-9D4EB19A5B8A}"/>
              </a:ext>
            </a:extLst>
          </p:cNvPr>
          <p:cNvPicPr>
            <a:picLocks noChangeAspect="1"/>
          </p:cNvPicPr>
          <p:nvPr/>
        </p:nvPicPr>
        <p:blipFill>
          <a:blip r:embed="rId4"/>
          <a:stretch>
            <a:fillRect/>
          </a:stretch>
        </p:blipFill>
        <p:spPr>
          <a:xfrm>
            <a:off x="609600" y="3198598"/>
            <a:ext cx="6308689" cy="24633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35325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53D6E6-A7B5-4CF9-9142-676A6DC6B178}"/>
              </a:ext>
            </a:extLst>
          </p:cNvPr>
          <p:cNvSpPr>
            <a:spLocks noGrp="1"/>
          </p:cNvSpPr>
          <p:nvPr>
            <p:ph type="title"/>
          </p:nvPr>
        </p:nvSpPr>
        <p:spPr/>
        <p:txBody>
          <a:bodyPr>
            <a:normAutofit/>
          </a:bodyPr>
          <a:lstStyle/>
          <a:p>
            <a:r>
              <a:rPr lang="ru-RU" dirty="0"/>
              <a:t>Метод </a:t>
            </a:r>
            <a:r>
              <a:rPr lang="en-US" dirty="0"/>
              <a:t>join</a:t>
            </a:r>
            <a:endParaRPr lang="ru-RU" dirty="0"/>
          </a:p>
        </p:txBody>
      </p:sp>
      <p:sp>
        <p:nvSpPr>
          <p:cNvPr id="3" name="Текст 2"/>
          <p:cNvSpPr>
            <a:spLocks noGrp="1"/>
          </p:cNvSpPr>
          <p:nvPr>
            <p:ph type="body" sz="quarter" idx="4294967295"/>
          </p:nvPr>
        </p:nvSpPr>
        <p:spPr>
          <a:xfrm>
            <a:off x="609600" y="1809739"/>
            <a:ext cx="10706100" cy="4508500"/>
          </a:xfrm>
        </p:spPr>
        <p:txBody>
          <a:bodyPr/>
          <a:lstStyle/>
          <a:p>
            <a:pPr marL="0" indent="0">
              <a:buNone/>
            </a:pPr>
            <a:r>
              <a:rPr lang="ru-RU" sz="2400" dirty="0"/>
              <a:t>Чтобы текущий поток  ожидал завершения порожденного потока,  необходимо вызвать метод  </a:t>
            </a:r>
            <a:r>
              <a:rPr lang="ru-RU" sz="2400" b="1" dirty="0" err="1"/>
              <a:t>join</a:t>
            </a:r>
            <a:r>
              <a:rPr lang="ru-RU" sz="2400" b="1" dirty="0"/>
              <a:t>()</a:t>
            </a:r>
          </a:p>
          <a:p>
            <a:pPr marL="285750" indent="-285750">
              <a:buFont typeface="Arial" panose="020B0604020202020204" pitchFamily="34" charset="0"/>
              <a:buChar char="•"/>
            </a:pPr>
            <a:endParaRPr lang="ru-RU" dirty="0"/>
          </a:p>
        </p:txBody>
      </p:sp>
      <p:cxnSp>
        <p:nvCxnSpPr>
          <p:cNvPr id="5" name="Прямая соединительная линия 4"/>
          <p:cNvCxnSpPr/>
          <p:nvPr/>
        </p:nvCxnSpPr>
        <p:spPr>
          <a:xfrm>
            <a:off x="7733654" y="6555784"/>
            <a:ext cx="3611103" cy="0"/>
          </a:xfrm>
          <a:prstGeom prst="line">
            <a:avLst/>
          </a:prstGeom>
        </p:spPr>
        <p:style>
          <a:lnRef idx="1">
            <a:schemeClr val="dk1"/>
          </a:lnRef>
          <a:fillRef idx="0">
            <a:schemeClr val="dk1"/>
          </a:fillRef>
          <a:effectRef idx="0">
            <a:schemeClr val="dk1"/>
          </a:effectRef>
          <a:fontRef idx="minor">
            <a:schemeClr val="tx1"/>
          </a:fontRef>
        </p:style>
      </p:cxnSp>
      <p:pic>
        <p:nvPicPr>
          <p:cNvPr id="2" name="Picture 1">
            <a:extLst>
              <a:ext uri="{FF2B5EF4-FFF2-40B4-BE49-F238E27FC236}">
                <a16:creationId xmlns:a16="http://schemas.microsoft.com/office/drawing/2014/main" id="{0534F9E9-441D-4F87-B802-0DD3F78E19B9}"/>
              </a:ext>
            </a:extLst>
          </p:cNvPr>
          <p:cNvPicPr>
            <a:picLocks noChangeAspect="1"/>
          </p:cNvPicPr>
          <p:nvPr/>
        </p:nvPicPr>
        <p:blipFill>
          <a:blip r:embed="rId3"/>
          <a:stretch>
            <a:fillRect/>
          </a:stretch>
        </p:blipFill>
        <p:spPr>
          <a:xfrm>
            <a:off x="3389335" y="2419361"/>
            <a:ext cx="3086621" cy="3055755"/>
          </a:xfrm>
          <a:prstGeom prst="rect">
            <a:avLst/>
          </a:prstGeom>
          <a:ln>
            <a:noFill/>
          </a:ln>
          <a:effectLst>
            <a:softEdge rad="112500"/>
          </a:effectLst>
        </p:spPr>
      </p:pic>
      <p:pic>
        <p:nvPicPr>
          <p:cNvPr id="8" name="Picture 7">
            <a:extLst>
              <a:ext uri="{FF2B5EF4-FFF2-40B4-BE49-F238E27FC236}">
                <a16:creationId xmlns:a16="http://schemas.microsoft.com/office/drawing/2014/main" id="{4A6EF29C-88E0-42BA-83B2-03A6B866545B}"/>
              </a:ext>
            </a:extLst>
          </p:cNvPr>
          <p:cNvPicPr>
            <a:picLocks noChangeAspect="1"/>
          </p:cNvPicPr>
          <p:nvPr/>
        </p:nvPicPr>
        <p:blipFill>
          <a:blip r:embed="rId4"/>
          <a:stretch>
            <a:fillRect/>
          </a:stretch>
        </p:blipFill>
        <p:spPr>
          <a:xfrm>
            <a:off x="7073775" y="3108543"/>
            <a:ext cx="4363832" cy="16773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99924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76560-1651-472E-9A92-B8697117BFA2}"/>
              </a:ext>
            </a:extLst>
          </p:cNvPr>
          <p:cNvSpPr>
            <a:spLocks noGrp="1"/>
          </p:cNvSpPr>
          <p:nvPr>
            <p:ph type="title"/>
          </p:nvPr>
        </p:nvSpPr>
        <p:spPr/>
        <p:txBody>
          <a:bodyPr>
            <a:normAutofit fontScale="90000"/>
          </a:bodyPr>
          <a:lstStyle/>
          <a:p>
            <a:r>
              <a:rPr lang="ru-RU" dirty="0"/>
              <a:t>Синхронизация потоков. Монитор</a:t>
            </a:r>
          </a:p>
        </p:txBody>
      </p:sp>
      <p:pic>
        <p:nvPicPr>
          <p:cNvPr id="16386" name="Picture 2" descr="Locking Mechanism in Java. Locking is a mechanism in Java that… | by Hiten  Pratap Singh | hprog99 | Medium">
            <a:extLst>
              <a:ext uri="{FF2B5EF4-FFF2-40B4-BE49-F238E27FC236}">
                <a16:creationId xmlns:a16="http://schemas.microsoft.com/office/drawing/2014/main" id="{DA932692-0428-4C7F-BCC0-137D34B91635}"/>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7876784" y="2747962"/>
            <a:ext cx="3352800" cy="13620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DF4C00-088F-4431-9E3C-A9BF70CD985A}"/>
              </a:ext>
            </a:extLst>
          </p:cNvPr>
          <p:cNvSpPr txBox="1"/>
          <p:nvPr/>
        </p:nvSpPr>
        <p:spPr>
          <a:xfrm>
            <a:off x="463463" y="2279737"/>
            <a:ext cx="7227518" cy="3323987"/>
          </a:xfrm>
          <a:prstGeom prst="rect">
            <a:avLst/>
          </a:prstGeom>
          <a:noFill/>
        </p:spPr>
        <p:txBody>
          <a:bodyPr wrap="square" rtlCol="0">
            <a:spAutoFit/>
          </a:bodyPr>
          <a:lstStyle/>
          <a:p>
            <a:pPr marL="457200" indent="-457200">
              <a:buFont typeface="Arial" panose="020B0604020202020204" pitchFamily="34" charset="0"/>
              <a:buChar char="•"/>
            </a:pPr>
            <a:r>
              <a:rPr lang="ru-RU" sz="3200" dirty="0"/>
              <a:t>Для синхронизации между потоками используется механизм «Монитор»</a:t>
            </a:r>
          </a:p>
          <a:p>
            <a:pPr marL="457200" indent="-457200">
              <a:buFont typeface="Arial" panose="020B0604020202020204" pitchFamily="34" charset="0"/>
              <a:buChar char="•"/>
            </a:pPr>
            <a:r>
              <a:rPr lang="ru-RU" sz="3200" dirty="0"/>
              <a:t>С каждым объектом (</a:t>
            </a:r>
            <a:r>
              <a:rPr lang="en-US" sz="3200" dirty="0"/>
              <a:t>class Object)</a:t>
            </a:r>
            <a:r>
              <a:rPr lang="ru-RU" sz="3200" dirty="0"/>
              <a:t> ассоциирован монитор, а потоки могут его захватить "</a:t>
            </a:r>
            <a:r>
              <a:rPr lang="ru-RU" sz="3200" dirty="0" err="1"/>
              <a:t>lock</a:t>
            </a:r>
            <a:r>
              <a:rPr lang="ru-RU" sz="3200" dirty="0"/>
              <a:t>" и отпустить "</a:t>
            </a:r>
            <a:r>
              <a:rPr lang="ru-RU" sz="3200" dirty="0" err="1"/>
              <a:t>unlock</a:t>
            </a:r>
            <a:r>
              <a:rPr lang="ru-RU" sz="3200" dirty="0"/>
              <a:t>"</a:t>
            </a:r>
          </a:p>
          <a:p>
            <a:endParaRPr lang="ru-RU" dirty="0"/>
          </a:p>
        </p:txBody>
      </p:sp>
    </p:spTree>
    <p:extLst>
      <p:ext uri="{BB962C8B-B14F-4D97-AF65-F5344CB8AC3E}">
        <p14:creationId xmlns:p14="http://schemas.microsoft.com/office/powerpoint/2010/main" val="2253071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99139-53B1-4634-BB6E-20CA73594869}"/>
              </a:ext>
            </a:extLst>
          </p:cNvPr>
          <p:cNvSpPr>
            <a:spLocks noGrp="1"/>
          </p:cNvSpPr>
          <p:nvPr>
            <p:ph type="title"/>
          </p:nvPr>
        </p:nvSpPr>
        <p:spPr/>
        <p:txBody>
          <a:bodyPr/>
          <a:lstStyle/>
          <a:p>
            <a:r>
              <a:rPr lang="ru-RU" dirty="0"/>
              <a:t>Критическая секция</a:t>
            </a:r>
          </a:p>
        </p:txBody>
      </p:sp>
      <p:sp>
        <p:nvSpPr>
          <p:cNvPr id="8" name="Rectangle 7">
            <a:extLst>
              <a:ext uri="{FF2B5EF4-FFF2-40B4-BE49-F238E27FC236}">
                <a16:creationId xmlns:a16="http://schemas.microsoft.com/office/drawing/2014/main" id="{E52735F4-3EF0-497A-89ED-511F83D8965D}"/>
              </a:ext>
            </a:extLst>
          </p:cNvPr>
          <p:cNvSpPr/>
          <p:nvPr/>
        </p:nvSpPr>
        <p:spPr>
          <a:xfrm>
            <a:off x="740229" y="1823721"/>
            <a:ext cx="10972800" cy="1200329"/>
          </a:xfrm>
          <a:prstGeom prst="rect">
            <a:avLst/>
          </a:prstGeom>
        </p:spPr>
        <p:txBody>
          <a:bodyPr wrap="square">
            <a:spAutoFit/>
          </a:bodyPr>
          <a:lstStyle/>
          <a:p>
            <a:r>
              <a:rPr lang="ru-RU" sz="2400" b="1" dirty="0">
                <a:solidFill>
                  <a:schemeClr val="tx1">
                    <a:lumMod val="75000"/>
                  </a:schemeClr>
                </a:solidFill>
              </a:rPr>
              <a:t>Критическая секция </a:t>
            </a:r>
            <a:r>
              <a:rPr lang="ru-RU" sz="2400" dirty="0">
                <a:solidFill>
                  <a:schemeClr val="tx1">
                    <a:lumMod val="75000"/>
                  </a:schemeClr>
                </a:solidFill>
              </a:rPr>
              <a:t> — набор операций, в которой происходит доступ к совместным ресурсам и который не должен выполняться одновременно несколькими потоками</a:t>
            </a:r>
          </a:p>
        </p:txBody>
      </p:sp>
      <p:pic>
        <p:nvPicPr>
          <p:cNvPr id="7" name="Picture 6">
            <a:extLst>
              <a:ext uri="{FF2B5EF4-FFF2-40B4-BE49-F238E27FC236}">
                <a16:creationId xmlns:a16="http://schemas.microsoft.com/office/drawing/2014/main" id="{49C3989F-03F0-4C0C-84C0-DC8A70DA5348}"/>
              </a:ext>
            </a:extLst>
          </p:cNvPr>
          <p:cNvPicPr>
            <a:picLocks noChangeAspect="1"/>
          </p:cNvPicPr>
          <p:nvPr/>
        </p:nvPicPr>
        <p:blipFill>
          <a:blip r:embed="rId3">
            <a:duotone>
              <a:schemeClr val="accent6">
                <a:shade val="45000"/>
                <a:satMod val="135000"/>
              </a:schemeClr>
              <a:prstClr val="white"/>
            </a:duotone>
          </a:blip>
          <a:stretch>
            <a:fillRect/>
          </a:stretch>
        </p:blipFill>
        <p:spPr>
          <a:xfrm>
            <a:off x="2568790" y="3248197"/>
            <a:ext cx="7054420" cy="2762261"/>
          </a:xfrm>
          <a:prstGeom prst="rect">
            <a:avLst/>
          </a:prstGeom>
        </p:spPr>
      </p:pic>
    </p:spTree>
    <p:extLst>
      <p:ext uri="{BB962C8B-B14F-4D97-AF65-F5344CB8AC3E}">
        <p14:creationId xmlns:p14="http://schemas.microsoft.com/office/powerpoint/2010/main" val="3349663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99139-53B1-4634-BB6E-20CA73594869}"/>
              </a:ext>
            </a:extLst>
          </p:cNvPr>
          <p:cNvSpPr>
            <a:spLocks noGrp="1"/>
          </p:cNvSpPr>
          <p:nvPr>
            <p:ph type="title"/>
          </p:nvPr>
        </p:nvSpPr>
        <p:spPr/>
        <p:txBody>
          <a:bodyPr/>
          <a:lstStyle/>
          <a:p>
            <a:r>
              <a:rPr lang="en-US" dirty="0"/>
              <a:t>Synchronized</a:t>
            </a:r>
            <a:endParaRPr lang="ru-RU" dirty="0"/>
          </a:p>
        </p:txBody>
      </p:sp>
      <p:pic>
        <p:nvPicPr>
          <p:cNvPr id="4" name="Picture 3">
            <a:extLst>
              <a:ext uri="{FF2B5EF4-FFF2-40B4-BE49-F238E27FC236}">
                <a16:creationId xmlns:a16="http://schemas.microsoft.com/office/drawing/2014/main" id="{99C50C92-2C8D-41BC-9652-7BF813BF8224}"/>
              </a:ext>
            </a:extLst>
          </p:cNvPr>
          <p:cNvPicPr>
            <a:picLocks noChangeAspect="1"/>
          </p:cNvPicPr>
          <p:nvPr/>
        </p:nvPicPr>
        <p:blipFill>
          <a:blip r:embed="rId3"/>
          <a:stretch>
            <a:fillRect/>
          </a:stretch>
        </p:blipFill>
        <p:spPr>
          <a:xfrm>
            <a:off x="6112021" y="2704685"/>
            <a:ext cx="5486400" cy="1448630"/>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23B9F124-62CD-473A-AFF9-92C38CFA09CE}"/>
              </a:ext>
            </a:extLst>
          </p:cNvPr>
          <p:cNvPicPr>
            <a:picLocks noChangeAspect="1"/>
          </p:cNvPicPr>
          <p:nvPr/>
        </p:nvPicPr>
        <p:blipFill>
          <a:blip r:embed="rId4"/>
          <a:stretch>
            <a:fillRect/>
          </a:stretch>
        </p:blipFill>
        <p:spPr>
          <a:xfrm>
            <a:off x="6096000" y="5301069"/>
            <a:ext cx="5502421" cy="605522"/>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0C8387DD-CE34-4608-8C37-354F637D3BB9}"/>
              </a:ext>
            </a:extLst>
          </p:cNvPr>
          <p:cNvSpPr txBox="1"/>
          <p:nvPr/>
        </p:nvSpPr>
        <p:spPr>
          <a:xfrm>
            <a:off x="609600" y="2112500"/>
            <a:ext cx="5219179" cy="4431983"/>
          </a:xfrm>
          <a:prstGeom prst="rect">
            <a:avLst/>
          </a:prstGeom>
          <a:noFill/>
        </p:spPr>
        <p:txBody>
          <a:bodyPr wrap="square" rtlCol="0">
            <a:spAutoFit/>
          </a:bodyPr>
          <a:lstStyle/>
          <a:p>
            <a:pPr marL="285750" indent="-285750">
              <a:buFont typeface="Arial" panose="020B0604020202020204" pitchFamily="34" charset="0"/>
              <a:buChar char="•"/>
            </a:pPr>
            <a:r>
              <a:rPr lang="ru-RU" sz="2400" dirty="0"/>
              <a:t>Для блокировки ресурса используется ключевое слово </a:t>
            </a:r>
            <a:r>
              <a:rPr lang="ru-RU" sz="2400" b="1" dirty="0" err="1"/>
              <a:t>synchronized</a:t>
            </a:r>
            <a:endParaRPr lang="ru-RU" sz="2400" b="1" dirty="0"/>
          </a:p>
          <a:p>
            <a:pPr marL="285750" indent="-285750">
              <a:buFont typeface="Arial" panose="020B0604020202020204" pitchFamily="34" charset="0"/>
              <a:buChar char="•"/>
            </a:pPr>
            <a:r>
              <a:rPr lang="ru-RU" sz="2400" dirty="0"/>
              <a:t>Синхронизированным может быть либо отдельный метод, либо блок кода</a:t>
            </a:r>
          </a:p>
          <a:p>
            <a:pPr marL="285750" indent="-285750">
              <a:buFont typeface="Arial" panose="020B0604020202020204" pitchFamily="34" charset="0"/>
              <a:buChar char="•"/>
            </a:pPr>
            <a:r>
              <a:rPr lang="ru-RU" sz="2400" dirty="0"/>
              <a:t>В случае синхронизации по методу, монитором будет выступать </a:t>
            </a:r>
            <a:r>
              <a:rPr lang="en-US" sz="2400" b="1" dirty="0"/>
              <a:t>this</a:t>
            </a:r>
            <a:endParaRPr lang="ru-RU" sz="2400" b="1" dirty="0"/>
          </a:p>
          <a:p>
            <a:pPr marL="285750" indent="-285750">
              <a:buFont typeface="Arial" panose="020B0604020202020204" pitchFamily="34" charset="0"/>
              <a:buChar char="•"/>
            </a:pPr>
            <a:r>
              <a:rPr lang="ru-RU" sz="2400" dirty="0"/>
              <a:t>Если метод статический, то синхронизация будет </a:t>
            </a:r>
            <a:r>
              <a:rPr lang="ru-RU" sz="2400" b="1" dirty="0"/>
              <a:t>по</a:t>
            </a:r>
            <a:r>
              <a:rPr lang="ru-RU" sz="2400" dirty="0"/>
              <a:t> </a:t>
            </a:r>
            <a:r>
              <a:rPr lang="ru-RU" sz="2400" b="1" dirty="0"/>
              <a:t>классу,</a:t>
            </a:r>
            <a:r>
              <a:rPr lang="ru-RU" sz="2400" dirty="0"/>
              <a:t> где этот метод объявлен</a:t>
            </a:r>
          </a:p>
          <a:p>
            <a:endParaRPr lang="ru-RU" dirty="0"/>
          </a:p>
        </p:txBody>
      </p:sp>
    </p:spTree>
    <p:extLst>
      <p:ext uri="{BB962C8B-B14F-4D97-AF65-F5344CB8AC3E}">
        <p14:creationId xmlns:p14="http://schemas.microsoft.com/office/powerpoint/2010/main" val="3225462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45B0C-A710-44C6-BFDE-F5B88EFD1866}"/>
              </a:ext>
            </a:extLst>
          </p:cNvPr>
          <p:cNvSpPr>
            <a:spLocks noGrp="1"/>
          </p:cNvSpPr>
          <p:nvPr>
            <p:ph type="title"/>
          </p:nvPr>
        </p:nvSpPr>
        <p:spPr/>
        <p:txBody>
          <a:bodyPr/>
          <a:lstStyle/>
          <a:p>
            <a:r>
              <a:rPr lang="en-US" dirty="0"/>
              <a:t>Synchronized</a:t>
            </a:r>
            <a:endParaRPr lang="ru-RU" dirty="0"/>
          </a:p>
        </p:txBody>
      </p:sp>
      <p:sp>
        <p:nvSpPr>
          <p:cNvPr id="3" name="Rectangle 2">
            <a:extLst>
              <a:ext uri="{FF2B5EF4-FFF2-40B4-BE49-F238E27FC236}">
                <a16:creationId xmlns:a16="http://schemas.microsoft.com/office/drawing/2014/main" id="{281BCBF8-AA1D-4B57-BEE6-9217941DB245}"/>
              </a:ext>
            </a:extLst>
          </p:cNvPr>
          <p:cNvSpPr/>
          <p:nvPr/>
        </p:nvSpPr>
        <p:spPr>
          <a:xfrm>
            <a:off x="755374" y="2370606"/>
            <a:ext cx="10827026" cy="2677656"/>
          </a:xfrm>
          <a:prstGeom prst="rect">
            <a:avLst/>
          </a:prstGeom>
        </p:spPr>
        <p:txBody>
          <a:bodyPr wrap="square">
            <a:spAutoFit/>
          </a:bodyPr>
          <a:lstStyle/>
          <a:p>
            <a:pPr marL="285750" indent="-285750">
              <a:buFont typeface="Arial" panose="020B0604020202020204" pitchFamily="34" charset="0"/>
              <a:buChar char="•"/>
            </a:pPr>
            <a:r>
              <a:rPr lang="ru-RU" sz="2800" dirty="0"/>
              <a:t>Минимизируйте время блокировки: используйте синхронизированные блоки как можно более короткими.</a:t>
            </a:r>
          </a:p>
          <a:p>
            <a:pPr marL="285750" indent="-285750">
              <a:buFont typeface="Arial" panose="020B0604020202020204" pitchFamily="34" charset="0"/>
              <a:buChar char="•"/>
            </a:pPr>
            <a:r>
              <a:rPr lang="ru-RU" sz="2800" dirty="0"/>
              <a:t>Избегайте вложенных блокировок: это может привести к взаимоблокировкам.</a:t>
            </a:r>
          </a:p>
          <a:p>
            <a:pPr marL="285750" indent="-285750">
              <a:buFont typeface="Arial" panose="020B0604020202020204" pitchFamily="34" charset="0"/>
              <a:buChar char="•"/>
            </a:pPr>
            <a:r>
              <a:rPr lang="ru-RU" sz="2800" dirty="0"/>
              <a:t>Используйте отдельные объекты блокировки: для управления доступом к различным частям данных.</a:t>
            </a:r>
          </a:p>
        </p:txBody>
      </p:sp>
    </p:spTree>
    <p:extLst>
      <p:ext uri="{BB962C8B-B14F-4D97-AF65-F5344CB8AC3E}">
        <p14:creationId xmlns:p14="http://schemas.microsoft.com/office/powerpoint/2010/main" val="3283151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652297-B441-4DCC-A825-4F3357DCE69E}"/>
              </a:ext>
            </a:extLst>
          </p:cNvPr>
          <p:cNvSpPr>
            <a:spLocks noGrp="1"/>
          </p:cNvSpPr>
          <p:nvPr>
            <p:ph type="title"/>
          </p:nvPr>
        </p:nvSpPr>
        <p:spPr/>
        <p:txBody>
          <a:bodyPr>
            <a:normAutofit/>
          </a:bodyPr>
          <a:lstStyle/>
          <a:p>
            <a:r>
              <a:rPr lang="en-US" dirty="0"/>
              <a:t>Wait </a:t>
            </a:r>
            <a:r>
              <a:rPr lang="ru-RU" sz="6000" dirty="0"/>
              <a:t>и ожидание по монитору</a:t>
            </a:r>
            <a:endParaRPr lang="ru-RU" dirty="0"/>
          </a:p>
        </p:txBody>
      </p:sp>
      <p:sp>
        <p:nvSpPr>
          <p:cNvPr id="3" name="TextBox 2"/>
          <p:cNvSpPr txBox="1"/>
          <p:nvPr/>
        </p:nvSpPr>
        <p:spPr>
          <a:xfrm>
            <a:off x="791049" y="2136338"/>
            <a:ext cx="11065789" cy="1631216"/>
          </a:xfrm>
          <a:prstGeom prst="rect">
            <a:avLst/>
          </a:prstGeom>
          <a:noFill/>
        </p:spPr>
        <p:txBody>
          <a:bodyPr wrap="square" rtlCol="0">
            <a:spAutoFit/>
          </a:bodyPr>
          <a:lstStyle/>
          <a:p>
            <a:r>
              <a:rPr lang="ru-RU" sz="2000" dirty="0"/>
              <a:t>Для синхронизации потоков у класса </a:t>
            </a:r>
            <a:r>
              <a:rPr lang="ru-RU" sz="2000" b="1" dirty="0" err="1"/>
              <a:t>Object</a:t>
            </a:r>
            <a:r>
              <a:rPr lang="ru-RU" sz="2000" dirty="0"/>
              <a:t> определено ряд методов:</a:t>
            </a:r>
          </a:p>
          <a:p>
            <a:r>
              <a:rPr lang="ru-RU" sz="2000" b="1" dirty="0" err="1"/>
              <a:t>wait</a:t>
            </a:r>
            <a:r>
              <a:rPr lang="ru-RU" sz="2000" b="1" dirty="0"/>
              <a:t>()</a:t>
            </a:r>
            <a:r>
              <a:rPr lang="ru-RU" sz="2000" dirty="0"/>
              <a:t>: переводит вызывающий поток в состояние ожидания до тех пор, пока другой поток не вызовет метод </a:t>
            </a:r>
            <a:r>
              <a:rPr lang="ru-RU" sz="2000" dirty="0" err="1"/>
              <a:t>notify</a:t>
            </a:r>
            <a:r>
              <a:rPr lang="ru-RU" sz="2000" dirty="0"/>
              <a:t>()</a:t>
            </a:r>
          </a:p>
          <a:p>
            <a:r>
              <a:rPr lang="ru-RU" sz="2000" b="1" dirty="0" err="1"/>
              <a:t>notify</a:t>
            </a:r>
            <a:r>
              <a:rPr lang="ru-RU" sz="2000" b="1" dirty="0"/>
              <a:t>()</a:t>
            </a:r>
            <a:r>
              <a:rPr lang="ru-RU" sz="2000" dirty="0"/>
              <a:t>: продолжает работу потока, у которого ранее был вызван метод </a:t>
            </a:r>
            <a:r>
              <a:rPr lang="ru-RU" sz="2000" dirty="0" err="1"/>
              <a:t>wait</a:t>
            </a:r>
            <a:r>
              <a:rPr lang="ru-RU" sz="2000" dirty="0"/>
              <a:t>()</a:t>
            </a:r>
          </a:p>
          <a:p>
            <a:r>
              <a:rPr lang="ru-RU" sz="2000" b="1" dirty="0" err="1"/>
              <a:t>notifyAll</a:t>
            </a:r>
            <a:r>
              <a:rPr lang="ru-RU" sz="2000" b="1" dirty="0"/>
              <a:t>()</a:t>
            </a:r>
            <a:r>
              <a:rPr lang="ru-RU" sz="2000" dirty="0"/>
              <a:t>: возобновляет работу всех потоков, у которых ранее был вызван метод </a:t>
            </a:r>
            <a:r>
              <a:rPr lang="ru-RU" sz="2000" dirty="0" err="1"/>
              <a:t>wait</a:t>
            </a:r>
            <a:r>
              <a:rPr lang="ru-RU" sz="2000" dirty="0"/>
              <a:t>()</a:t>
            </a:r>
            <a:endParaRPr lang="ru-RU" dirty="0"/>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895" t="56149" r="47287"/>
          <a:stretch/>
        </p:blipFill>
        <p:spPr bwMode="auto">
          <a:xfrm>
            <a:off x="6457821" y="4186435"/>
            <a:ext cx="3036851" cy="200482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197" t="18592" r="38119" b="43170"/>
          <a:stretch/>
        </p:blipFill>
        <p:spPr bwMode="auto">
          <a:xfrm>
            <a:off x="2156790" y="4186435"/>
            <a:ext cx="3577391" cy="17482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271731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002CA1-87BB-4843-B791-2218F9E296AB}"/>
              </a:ext>
            </a:extLst>
          </p:cNvPr>
          <p:cNvSpPr>
            <a:spLocks noGrp="1"/>
          </p:cNvSpPr>
          <p:nvPr>
            <p:ph type="title"/>
          </p:nvPr>
        </p:nvSpPr>
        <p:spPr>
          <a:xfrm>
            <a:off x="609600" y="666739"/>
            <a:ext cx="10972800" cy="1143000"/>
          </a:xfrm>
        </p:spPr>
        <p:txBody>
          <a:bodyPr>
            <a:normAutofit/>
          </a:bodyPr>
          <a:lstStyle/>
          <a:p>
            <a:r>
              <a:rPr lang="ru-RU" dirty="0"/>
              <a:t>Жизненный цикл потока</a:t>
            </a:r>
          </a:p>
        </p:txBody>
      </p:sp>
      <p:pic>
        <p:nvPicPr>
          <p:cNvPr id="3" name="Picture 2">
            <a:extLst>
              <a:ext uri="{FF2B5EF4-FFF2-40B4-BE49-F238E27FC236}">
                <a16:creationId xmlns:a16="http://schemas.microsoft.com/office/drawing/2014/main" id="{3002E299-CDB8-4C53-BE8B-A01F330EE235}"/>
              </a:ext>
            </a:extLst>
          </p:cNvPr>
          <p:cNvPicPr>
            <a:picLocks noChangeAspect="1"/>
          </p:cNvPicPr>
          <p:nvPr/>
        </p:nvPicPr>
        <p:blipFill>
          <a:blip r:embed="rId3"/>
          <a:stretch>
            <a:fillRect/>
          </a:stretch>
        </p:blipFill>
        <p:spPr>
          <a:xfrm>
            <a:off x="2813430" y="1809739"/>
            <a:ext cx="6565140" cy="4283749"/>
          </a:xfrm>
          <a:prstGeom prst="rect">
            <a:avLst/>
          </a:prstGeom>
        </p:spPr>
      </p:pic>
    </p:spTree>
    <p:extLst>
      <p:ext uri="{BB962C8B-B14F-4D97-AF65-F5344CB8AC3E}">
        <p14:creationId xmlns:p14="http://schemas.microsoft.com/office/powerpoint/2010/main" val="1443032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15AD917-B2BE-4289-A82C-F415BAA3A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2930" y="1560338"/>
            <a:ext cx="7266140" cy="3986285"/>
          </a:xfrm>
          <a:prstGeom prst="rect">
            <a:avLst/>
          </a:prstGeom>
          <a:ln>
            <a:noFill/>
          </a:ln>
          <a:effectLst>
            <a:softEdge rad="112500"/>
          </a:effectLst>
        </p:spPr>
      </p:pic>
    </p:spTree>
    <p:extLst>
      <p:ext uri="{BB962C8B-B14F-4D97-AF65-F5344CB8AC3E}">
        <p14:creationId xmlns:p14="http://schemas.microsoft.com/office/powerpoint/2010/main" val="2433841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FE71E-AD9E-4F3A-BDB2-D6D13D6F74B5}"/>
              </a:ext>
            </a:extLst>
          </p:cNvPr>
          <p:cNvSpPr>
            <a:spLocks noGrp="1"/>
          </p:cNvSpPr>
          <p:nvPr>
            <p:ph type="title"/>
          </p:nvPr>
        </p:nvSpPr>
        <p:spPr/>
        <p:txBody>
          <a:bodyPr/>
          <a:lstStyle/>
          <a:p>
            <a:r>
              <a:rPr lang="ru-RU" dirty="0"/>
              <a:t>Проблемы многопоточности</a:t>
            </a:r>
          </a:p>
        </p:txBody>
      </p:sp>
      <p:sp>
        <p:nvSpPr>
          <p:cNvPr id="3" name="TextBox 4">
            <a:extLst>
              <a:ext uri="{FF2B5EF4-FFF2-40B4-BE49-F238E27FC236}">
                <a16:creationId xmlns:a16="http://schemas.microsoft.com/office/drawing/2014/main" id="{A21B0005-DD79-4E93-8FB9-8F711BEB0AB9}"/>
              </a:ext>
            </a:extLst>
          </p:cNvPr>
          <p:cNvSpPr txBox="1"/>
          <p:nvPr/>
        </p:nvSpPr>
        <p:spPr>
          <a:xfrm>
            <a:off x="610754" y="2380580"/>
            <a:ext cx="3086408" cy="3477875"/>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ru-RU" sz="2000" b="1" dirty="0"/>
              <a:t>Состояние гонки</a:t>
            </a:r>
            <a:r>
              <a:rPr lang="en-US" sz="2000" dirty="0"/>
              <a:t>:</a:t>
            </a:r>
            <a:r>
              <a:rPr lang="ru-RU" sz="2000" dirty="0"/>
              <a:t> </a:t>
            </a:r>
            <a:r>
              <a:rPr lang="en-US" sz="2000" dirty="0"/>
              <a:t> </a:t>
            </a:r>
            <a:r>
              <a:rPr lang="ru-RU" sz="2000" dirty="0"/>
              <a:t>ошибка проектирования приложения, при которой работа системы или приложения зависит от того, в каком порядке выполняются части кода</a:t>
            </a:r>
          </a:p>
          <a:p>
            <a:endParaRPr lang="en-US" sz="2000" dirty="0"/>
          </a:p>
          <a:p>
            <a:r>
              <a:rPr lang="ru-RU" sz="2000" b="1" dirty="0"/>
              <a:t>Голод</a:t>
            </a:r>
            <a:r>
              <a:rPr lang="en-US" sz="2000" dirty="0"/>
              <a:t>: </a:t>
            </a:r>
            <a:r>
              <a:rPr lang="ru-RU" sz="2000" dirty="0"/>
              <a:t>потоку постоянно отказано в доступе к ресурсу</a:t>
            </a:r>
            <a:endParaRPr lang="en-US" sz="2000" dirty="0"/>
          </a:p>
        </p:txBody>
      </p:sp>
      <p:pic>
        <p:nvPicPr>
          <p:cNvPr id="4" name="Picture 3">
            <a:extLst>
              <a:ext uri="{FF2B5EF4-FFF2-40B4-BE49-F238E27FC236}">
                <a16:creationId xmlns:a16="http://schemas.microsoft.com/office/drawing/2014/main" id="{A99F5F1A-4EDA-449A-B690-BEF972A9D959}"/>
              </a:ext>
            </a:extLst>
          </p:cNvPr>
          <p:cNvPicPr>
            <a:picLocks noChangeAspect="1"/>
          </p:cNvPicPr>
          <p:nvPr/>
        </p:nvPicPr>
        <p:blipFill rotWithShape="1">
          <a:blip r:embed="rId3">
            <a:duotone>
              <a:schemeClr val="accent6">
                <a:shade val="45000"/>
                <a:satMod val="135000"/>
              </a:schemeClr>
              <a:prstClr val="white"/>
            </a:duotone>
            <a:extLst>
              <a:ext uri="{28A0092B-C50C-407E-A947-70E740481C1C}">
                <a14:useLocalDpi xmlns:a14="http://schemas.microsoft.com/office/drawing/2010/main" val="0"/>
              </a:ext>
            </a:extLst>
          </a:blip>
          <a:srcRect r="64953" b="53073"/>
          <a:stretch/>
        </p:blipFill>
        <p:spPr>
          <a:xfrm>
            <a:off x="3948186" y="2661327"/>
            <a:ext cx="2089858" cy="1620387"/>
          </a:xfrm>
          <a:prstGeom prst="rect">
            <a:avLst/>
          </a:prstGeom>
        </p:spPr>
      </p:pic>
      <p:sp>
        <p:nvSpPr>
          <p:cNvPr id="5" name="TextBox 7">
            <a:extLst>
              <a:ext uri="{FF2B5EF4-FFF2-40B4-BE49-F238E27FC236}">
                <a16:creationId xmlns:a16="http://schemas.microsoft.com/office/drawing/2014/main" id="{72120AB7-E46C-474D-BD25-422055CA9457}"/>
              </a:ext>
            </a:extLst>
          </p:cNvPr>
          <p:cNvSpPr txBox="1"/>
          <p:nvPr/>
        </p:nvSpPr>
        <p:spPr>
          <a:xfrm>
            <a:off x="9124452" y="2384328"/>
            <a:ext cx="2849282" cy="3785652"/>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ru-RU" sz="2000" b="1" dirty="0"/>
              <a:t>Взаимная блокировка</a:t>
            </a:r>
            <a:r>
              <a:rPr lang="en-US" sz="2000" dirty="0"/>
              <a:t>: </a:t>
            </a:r>
            <a:r>
              <a:rPr lang="ru-RU" sz="2000" dirty="0"/>
              <a:t>несколько потоков находятся в состоянии ожидания ресурсов, занятых друг другом</a:t>
            </a:r>
          </a:p>
          <a:p>
            <a:endParaRPr lang="en-US" sz="2000" dirty="0"/>
          </a:p>
          <a:p>
            <a:r>
              <a:rPr lang="en-US" sz="2000" b="1" dirty="0" err="1"/>
              <a:t>Livelock</a:t>
            </a:r>
            <a:r>
              <a:rPr lang="en-US" sz="2000" dirty="0"/>
              <a:t>: </a:t>
            </a:r>
            <a:r>
              <a:rPr lang="ru-RU" sz="2000" dirty="0"/>
              <a:t>два или несколько потоков блокируют друг друга, хотя они активны и пытаются закончит задачу</a:t>
            </a:r>
          </a:p>
        </p:txBody>
      </p:sp>
      <p:pic>
        <p:nvPicPr>
          <p:cNvPr id="6" name="Picture 5">
            <a:extLst>
              <a:ext uri="{FF2B5EF4-FFF2-40B4-BE49-F238E27FC236}">
                <a16:creationId xmlns:a16="http://schemas.microsoft.com/office/drawing/2014/main" id="{14BF846D-87E6-4F72-8D05-0F99EA4AF920}"/>
              </a:ext>
            </a:extLst>
          </p:cNvPr>
          <p:cNvPicPr>
            <a:picLocks noChangeAspect="1"/>
          </p:cNvPicPr>
          <p:nvPr/>
        </p:nvPicPr>
        <p:blipFill rotWithShape="1">
          <a:blip r:embed="rId4"/>
          <a:srcRect l="64937" b="53025"/>
          <a:stretch/>
        </p:blipFill>
        <p:spPr>
          <a:xfrm>
            <a:off x="3946677" y="4277154"/>
            <a:ext cx="2089858" cy="1620387"/>
          </a:xfrm>
          <a:prstGeom prst="rect">
            <a:avLst/>
          </a:prstGeom>
        </p:spPr>
      </p:pic>
      <p:pic>
        <p:nvPicPr>
          <p:cNvPr id="7" name="Picture 6">
            <a:extLst>
              <a:ext uri="{FF2B5EF4-FFF2-40B4-BE49-F238E27FC236}">
                <a16:creationId xmlns:a16="http://schemas.microsoft.com/office/drawing/2014/main" id="{74D2893D-E717-41D9-AA14-D5A050D71A39}"/>
              </a:ext>
            </a:extLst>
          </p:cNvPr>
          <p:cNvPicPr>
            <a:picLocks noChangeAspect="1"/>
          </p:cNvPicPr>
          <p:nvPr/>
        </p:nvPicPr>
        <p:blipFill rotWithShape="1">
          <a:blip r:embed="rId3">
            <a:duotone>
              <a:schemeClr val="accent6">
                <a:shade val="45000"/>
                <a:satMod val="135000"/>
              </a:schemeClr>
              <a:prstClr val="white"/>
            </a:duotone>
            <a:extLst>
              <a:ext uri="{28A0092B-C50C-407E-A947-70E740481C1C}">
                <a14:useLocalDpi xmlns:a14="http://schemas.microsoft.com/office/drawing/2010/main" val="0"/>
              </a:ext>
            </a:extLst>
          </a:blip>
          <a:srcRect t="49659" r="64953"/>
          <a:stretch/>
        </p:blipFill>
        <p:spPr>
          <a:xfrm>
            <a:off x="6535564" y="2679470"/>
            <a:ext cx="2089858" cy="1738260"/>
          </a:xfrm>
          <a:prstGeom prst="rect">
            <a:avLst/>
          </a:prstGeom>
        </p:spPr>
      </p:pic>
      <p:pic>
        <p:nvPicPr>
          <p:cNvPr id="8" name="Picture 7">
            <a:extLst>
              <a:ext uri="{FF2B5EF4-FFF2-40B4-BE49-F238E27FC236}">
                <a16:creationId xmlns:a16="http://schemas.microsoft.com/office/drawing/2014/main" id="{B68C9761-AFA7-4886-8044-410D291BA386}"/>
              </a:ext>
            </a:extLst>
          </p:cNvPr>
          <p:cNvPicPr>
            <a:picLocks noChangeAspect="1"/>
          </p:cNvPicPr>
          <p:nvPr/>
        </p:nvPicPr>
        <p:blipFill rotWithShape="1">
          <a:blip r:embed="rId4"/>
          <a:srcRect l="64937" t="53025"/>
          <a:stretch/>
        </p:blipFill>
        <p:spPr>
          <a:xfrm>
            <a:off x="6535564" y="4238068"/>
            <a:ext cx="2089858" cy="1620387"/>
          </a:xfrm>
          <a:prstGeom prst="rect">
            <a:avLst/>
          </a:prstGeom>
        </p:spPr>
      </p:pic>
    </p:spTree>
    <p:extLst>
      <p:ext uri="{BB962C8B-B14F-4D97-AF65-F5344CB8AC3E}">
        <p14:creationId xmlns:p14="http://schemas.microsoft.com/office/powerpoint/2010/main" val="4578574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9D096-F3FF-4EB2-8DDE-DD2BE75EE673}"/>
              </a:ext>
            </a:extLst>
          </p:cNvPr>
          <p:cNvSpPr>
            <a:spLocks noGrp="1"/>
          </p:cNvSpPr>
          <p:nvPr>
            <p:ph type="title"/>
          </p:nvPr>
        </p:nvSpPr>
        <p:spPr/>
        <p:txBody>
          <a:bodyPr>
            <a:normAutofit fontScale="90000"/>
          </a:bodyPr>
          <a:lstStyle/>
          <a:p>
            <a:r>
              <a:rPr lang="ru-RU" dirty="0"/>
              <a:t>Основных концепций параллелизма</a:t>
            </a:r>
          </a:p>
        </p:txBody>
      </p:sp>
      <p:sp>
        <p:nvSpPr>
          <p:cNvPr id="15" name="TextBox 14">
            <a:extLst>
              <a:ext uri="{FF2B5EF4-FFF2-40B4-BE49-F238E27FC236}">
                <a16:creationId xmlns:a16="http://schemas.microsoft.com/office/drawing/2014/main" id="{A8101481-535E-4BE7-A6B8-7B7C589DC7A7}"/>
              </a:ext>
            </a:extLst>
          </p:cNvPr>
          <p:cNvSpPr txBox="1"/>
          <p:nvPr/>
        </p:nvSpPr>
        <p:spPr>
          <a:xfrm>
            <a:off x="828807" y="1809739"/>
            <a:ext cx="6194846" cy="3939540"/>
          </a:xfrm>
          <a:prstGeom prst="rect">
            <a:avLst/>
          </a:prstGeom>
          <a:noFill/>
        </p:spPr>
        <p:txBody>
          <a:bodyPr wrap="square" rtlCol="0">
            <a:spAutoFit/>
          </a:bodyPr>
          <a:lstStyle/>
          <a:p>
            <a:pPr marL="457200" indent="-457200">
              <a:buFont typeface="Arial" panose="020B0604020202020204" pitchFamily="34" charset="0"/>
              <a:buChar char="•"/>
            </a:pPr>
            <a:r>
              <a:rPr lang="ru-RU" sz="2800" b="1" dirty="0"/>
              <a:t>Атомарность</a:t>
            </a:r>
            <a:r>
              <a:rPr lang="en-US" sz="2800" dirty="0"/>
              <a:t> - </a:t>
            </a:r>
            <a:r>
              <a:rPr lang="ru-RU" sz="2800" dirty="0"/>
              <a:t>набор действий, выполняемых как одна неделимая операция</a:t>
            </a:r>
            <a:endParaRPr lang="en-US" sz="2800" dirty="0"/>
          </a:p>
          <a:p>
            <a:pPr marL="457200" indent="-457200">
              <a:buFont typeface="Arial" panose="020B0604020202020204" pitchFamily="34" charset="0"/>
              <a:buChar char="•"/>
            </a:pPr>
            <a:r>
              <a:rPr lang="ru-RU" sz="2800" b="1" dirty="0"/>
              <a:t>Видимость</a:t>
            </a:r>
            <a:r>
              <a:rPr lang="en-US" sz="2800" b="1" dirty="0"/>
              <a:t> - </a:t>
            </a:r>
            <a:r>
              <a:rPr lang="ru-RU" sz="2800" dirty="0"/>
              <a:t>условия, при которых один поток видит изменения, сделанные другим потоком</a:t>
            </a:r>
            <a:endParaRPr lang="en-US" sz="2800" dirty="0"/>
          </a:p>
          <a:p>
            <a:pPr marL="457200" indent="-457200">
              <a:buFont typeface="Arial" panose="020B0604020202020204" pitchFamily="34" charset="0"/>
              <a:buChar char="•"/>
            </a:pPr>
            <a:r>
              <a:rPr lang="ru-RU" sz="2800" b="1" dirty="0"/>
              <a:t>Переупорядочивание</a:t>
            </a:r>
            <a:r>
              <a:rPr lang="ru-RU" sz="2800" dirty="0"/>
              <a:t> инструкций</a:t>
            </a:r>
          </a:p>
          <a:p>
            <a:endParaRPr lang="ru-RU" b="1" dirty="0"/>
          </a:p>
          <a:p>
            <a:endParaRPr lang="ru-RU" dirty="0"/>
          </a:p>
          <a:p>
            <a:endParaRPr lang="ru-RU" dirty="0"/>
          </a:p>
        </p:txBody>
      </p:sp>
      <p:pic>
        <p:nvPicPr>
          <p:cNvPr id="22" name="Picture 21">
            <a:extLst>
              <a:ext uri="{FF2B5EF4-FFF2-40B4-BE49-F238E27FC236}">
                <a16:creationId xmlns:a16="http://schemas.microsoft.com/office/drawing/2014/main" id="{46CBB5CC-FAA7-4950-8812-1FEAD29450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83877" y="2039851"/>
            <a:ext cx="3479316" cy="3479316"/>
          </a:xfrm>
          <a:prstGeom prst="rect">
            <a:avLst/>
          </a:prstGeom>
        </p:spPr>
      </p:pic>
    </p:spTree>
    <p:extLst>
      <p:ext uri="{BB962C8B-B14F-4D97-AF65-F5344CB8AC3E}">
        <p14:creationId xmlns:p14="http://schemas.microsoft.com/office/powerpoint/2010/main" val="180636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9D096-F3FF-4EB2-8DDE-DD2BE75EE673}"/>
              </a:ext>
            </a:extLst>
          </p:cNvPr>
          <p:cNvSpPr>
            <a:spLocks noGrp="1"/>
          </p:cNvSpPr>
          <p:nvPr>
            <p:ph type="title"/>
          </p:nvPr>
        </p:nvSpPr>
        <p:spPr/>
        <p:txBody>
          <a:bodyPr>
            <a:normAutofit/>
          </a:bodyPr>
          <a:lstStyle/>
          <a:p>
            <a:r>
              <a:rPr lang="ru-RU" dirty="0"/>
              <a:t>Атомарность</a:t>
            </a:r>
          </a:p>
        </p:txBody>
      </p:sp>
      <p:sp>
        <p:nvSpPr>
          <p:cNvPr id="5" name="Text Placeholder 2">
            <a:extLst>
              <a:ext uri="{FF2B5EF4-FFF2-40B4-BE49-F238E27FC236}">
                <a16:creationId xmlns:a16="http://schemas.microsoft.com/office/drawing/2014/main" id="{19481DF6-6A97-4B4C-9F2E-A2C0179E7ADC}"/>
              </a:ext>
            </a:extLst>
          </p:cNvPr>
          <p:cNvSpPr>
            <a:spLocks noGrp="1"/>
          </p:cNvSpPr>
          <p:nvPr/>
        </p:nvSpPr>
        <p:spPr>
          <a:xfrm>
            <a:off x="609600" y="1909601"/>
            <a:ext cx="10706098" cy="67923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006CB7"/>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tx1"/>
                </a:solidFill>
              </a:rPr>
              <a:t>Какие операции неделимые</a:t>
            </a:r>
            <a:r>
              <a:rPr lang="en-US" dirty="0">
                <a:solidFill>
                  <a:schemeClr val="tx1"/>
                </a:solidFill>
              </a:rPr>
              <a:t>?</a:t>
            </a:r>
            <a:endParaRPr lang="ru-RU" dirty="0">
              <a:solidFill>
                <a:schemeClr val="tx1"/>
              </a:solidFill>
            </a:endParaRPr>
          </a:p>
        </p:txBody>
      </p:sp>
      <p:sp>
        <p:nvSpPr>
          <p:cNvPr id="6" name="Text Placeholder 4">
            <a:extLst>
              <a:ext uri="{FF2B5EF4-FFF2-40B4-BE49-F238E27FC236}">
                <a16:creationId xmlns:a16="http://schemas.microsoft.com/office/drawing/2014/main" id="{2AC2DFB3-961E-44E2-AAB2-7570599B922C}"/>
              </a:ext>
            </a:extLst>
          </p:cNvPr>
          <p:cNvSpPr>
            <a:spLocks noGrp="1"/>
          </p:cNvSpPr>
          <p:nvPr/>
        </p:nvSpPr>
        <p:spPr>
          <a:xfrm>
            <a:off x="609600" y="2715736"/>
            <a:ext cx="3359976" cy="5603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err="1"/>
              <a:t>sharedVar</a:t>
            </a:r>
            <a:r>
              <a:rPr lang="en-US" dirty="0"/>
              <a:t> = 2L;</a:t>
            </a:r>
            <a:endParaRPr lang="ru-RU" dirty="0"/>
          </a:p>
        </p:txBody>
      </p:sp>
      <p:sp>
        <p:nvSpPr>
          <p:cNvPr id="7" name="Text Placeholder 6">
            <a:extLst>
              <a:ext uri="{FF2B5EF4-FFF2-40B4-BE49-F238E27FC236}">
                <a16:creationId xmlns:a16="http://schemas.microsoft.com/office/drawing/2014/main" id="{A0BB30A2-C7FE-49BD-B6F1-527BC8C2C895}"/>
              </a:ext>
            </a:extLst>
          </p:cNvPr>
          <p:cNvSpPr>
            <a:spLocks noGrp="1"/>
          </p:cNvSpPr>
          <p:nvPr/>
        </p:nvSpPr>
        <p:spPr>
          <a:xfrm>
            <a:off x="7518809" y="2717376"/>
            <a:ext cx="4233798" cy="56038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User u = new User(“name”, 23);</a:t>
            </a:r>
            <a:endParaRPr lang="ru-RU" sz="2400" dirty="0"/>
          </a:p>
        </p:txBody>
      </p:sp>
      <p:sp>
        <p:nvSpPr>
          <p:cNvPr id="8" name="Text Placeholder 7">
            <a:extLst>
              <a:ext uri="{FF2B5EF4-FFF2-40B4-BE49-F238E27FC236}">
                <a16:creationId xmlns:a16="http://schemas.microsoft.com/office/drawing/2014/main" id="{B52B9BA1-A5B8-49B7-AF6C-124473C61039}"/>
              </a:ext>
            </a:extLst>
          </p:cNvPr>
          <p:cNvSpPr>
            <a:spLocks noGrp="1"/>
          </p:cNvSpPr>
          <p:nvPr/>
        </p:nvSpPr>
        <p:spPr>
          <a:xfrm>
            <a:off x="7955720" y="3776663"/>
            <a:ext cx="3359976" cy="229846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solidFill>
                  <a:srgbClr val="000000"/>
                </a:solidFill>
                <a:latin typeface="Consolas" panose="020B0609020204030204" pitchFamily="49" charset="0"/>
              </a:rPr>
              <a:t>localVar</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calloc</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sizeof</a:t>
            </a:r>
            <a:r>
              <a:rPr lang="en-US" dirty="0">
                <a:solidFill>
                  <a:srgbClr val="000000"/>
                </a:solidFill>
                <a:latin typeface="Consolas" panose="020B0609020204030204" pitchFamily="49" charset="0"/>
              </a:rPr>
              <a:t>(User));</a:t>
            </a:r>
          </a:p>
          <a:p>
            <a:r>
              <a:rPr lang="en-US" dirty="0" err="1">
                <a:solidFill>
                  <a:srgbClr val="000000"/>
                </a:solidFill>
                <a:latin typeface="Consolas" panose="020B0609020204030204" pitchFamily="49" charset="0"/>
              </a:rPr>
              <a:t>localVar</a:t>
            </a:r>
            <a:r>
              <a:rPr lang="en-US" dirty="0">
                <a:solidFill>
                  <a:srgbClr val="000000"/>
                </a:solidFill>
                <a:latin typeface="Consolas" panose="020B0609020204030204" pitchFamily="49" charset="0"/>
              </a:rPr>
              <a:t>.&lt;</a:t>
            </a:r>
            <a:r>
              <a:rPr lang="en-US" dirty="0" err="1">
                <a:solidFill>
                  <a:srgbClr val="000000"/>
                </a:solidFill>
                <a:latin typeface="Consolas" panose="020B0609020204030204" pitchFamily="49" charset="0"/>
              </a:rPr>
              <a:t>init</a:t>
            </a:r>
            <a:r>
              <a:rPr lang="en-US" dirty="0">
                <a:solidFill>
                  <a:srgbClr val="000000"/>
                </a:solidFill>
                <a:latin typeface="Consolas" panose="020B0609020204030204" pitchFamily="49" charset="0"/>
              </a:rPr>
              <a:t>&gt;(“name”, 23);</a:t>
            </a:r>
          </a:p>
          <a:p>
            <a:r>
              <a:rPr lang="en-US" dirty="0">
                <a:solidFill>
                  <a:srgbClr val="000000"/>
                </a:solidFill>
                <a:latin typeface="Consolas" panose="020B0609020204030204" pitchFamily="49" charset="0"/>
              </a:rPr>
              <a:t>Object.&lt;</a:t>
            </a:r>
            <a:r>
              <a:rPr lang="en-US" dirty="0" err="1">
                <a:solidFill>
                  <a:srgbClr val="000000"/>
                </a:solidFill>
                <a:latin typeface="Consolas" panose="020B0609020204030204" pitchFamily="49" charset="0"/>
              </a:rPr>
              <a:t>init</a:t>
            </a:r>
            <a:r>
              <a:rPr lang="en-US" dirty="0">
                <a:solidFill>
                  <a:srgbClr val="000000"/>
                </a:solidFill>
                <a:latin typeface="Consolas" panose="020B0609020204030204" pitchFamily="49" charset="0"/>
              </a:rPr>
              <a:t>&gt;();</a:t>
            </a:r>
          </a:p>
          <a:p>
            <a:r>
              <a:rPr lang="en-US" dirty="0">
                <a:solidFill>
                  <a:srgbClr val="000000"/>
                </a:solidFill>
                <a:latin typeface="Consolas" panose="020B0609020204030204" pitchFamily="49" charset="0"/>
              </a:rPr>
              <a:t>this.name = “name”;</a:t>
            </a:r>
          </a:p>
          <a:p>
            <a:r>
              <a:rPr lang="en-US" dirty="0" err="1">
                <a:solidFill>
                  <a:srgbClr val="000000"/>
                </a:solidFill>
                <a:latin typeface="Consolas" panose="020B0609020204030204" pitchFamily="49" charset="0"/>
              </a:rPr>
              <a:t>this.age</a:t>
            </a:r>
            <a:r>
              <a:rPr lang="en-US" dirty="0">
                <a:solidFill>
                  <a:srgbClr val="000000"/>
                </a:solidFill>
                <a:latin typeface="Consolas" panose="020B0609020204030204" pitchFamily="49" charset="0"/>
              </a:rPr>
              <a:t> = 23;</a:t>
            </a:r>
          </a:p>
          <a:p>
            <a:r>
              <a:rPr lang="en-US" dirty="0">
                <a:solidFill>
                  <a:srgbClr val="000000"/>
                </a:solidFill>
                <a:latin typeface="Consolas" panose="020B0609020204030204" pitchFamily="49" charset="0"/>
              </a:rPr>
              <a:t>u=</a:t>
            </a:r>
            <a:r>
              <a:rPr lang="en-US" dirty="0" err="1">
                <a:solidFill>
                  <a:srgbClr val="000000"/>
                </a:solidFill>
                <a:latin typeface="Consolas" panose="020B0609020204030204" pitchFamily="49" charset="0"/>
              </a:rPr>
              <a:t>localVar</a:t>
            </a:r>
            <a:r>
              <a:rPr lang="en-US" dirty="0">
                <a:solidFill>
                  <a:srgbClr val="000000"/>
                </a:solidFill>
                <a:latin typeface="Consolas" panose="020B0609020204030204" pitchFamily="49" charset="0"/>
              </a:rPr>
              <a:t>;</a:t>
            </a:r>
            <a:endParaRPr lang="ru-RU" dirty="0">
              <a:solidFill>
                <a:srgbClr val="000000"/>
              </a:solidFill>
              <a:latin typeface="Consolas" panose="020B0609020204030204" pitchFamily="49" charset="0"/>
            </a:endParaRPr>
          </a:p>
        </p:txBody>
      </p:sp>
      <p:sp>
        <p:nvSpPr>
          <p:cNvPr id="9" name="Text Placeholder 8">
            <a:extLst>
              <a:ext uri="{FF2B5EF4-FFF2-40B4-BE49-F238E27FC236}">
                <a16:creationId xmlns:a16="http://schemas.microsoft.com/office/drawing/2014/main" id="{91D081DC-E261-44FB-86A1-7E22660F56E6}"/>
              </a:ext>
            </a:extLst>
          </p:cNvPr>
          <p:cNvSpPr>
            <a:spLocks noGrp="1"/>
          </p:cNvSpPr>
          <p:nvPr/>
        </p:nvSpPr>
        <p:spPr>
          <a:xfrm>
            <a:off x="4282264" y="2717376"/>
            <a:ext cx="3359976" cy="5603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err="1"/>
              <a:t>sharedVar</a:t>
            </a:r>
            <a:r>
              <a:rPr lang="en-US" dirty="0"/>
              <a:t> ++;</a:t>
            </a:r>
            <a:endParaRPr lang="ru-RU" dirty="0"/>
          </a:p>
        </p:txBody>
      </p:sp>
      <p:sp>
        <p:nvSpPr>
          <p:cNvPr id="10" name="Text Placeholder 9">
            <a:extLst>
              <a:ext uri="{FF2B5EF4-FFF2-40B4-BE49-F238E27FC236}">
                <a16:creationId xmlns:a16="http://schemas.microsoft.com/office/drawing/2014/main" id="{1D284E58-82C5-419E-BC7B-05B7C18BC5B9}"/>
              </a:ext>
            </a:extLst>
          </p:cNvPr>
          <p:cNvSpPr>
            <a:spLocks noGrp="1"/>
          </p:cNvSpPr>
          <p:nvPr/>
        </p:nvSpPr>
        <p:spPr>
          <a:xfrm>
            <a:off x="4282264" y="3776663"/>
            <a:ext cx="3359976" cy="19352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err="1">
                <a:solidFill>
                  <a:srgbClr val="000000"/>
                </a:solidFill>
                <a:latin typeface="Consolas" panose="020B0609020204030204" pitchFamily="49" charset="0"/>
              </a:rPr>
              <a:t>localVar</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sharedVar</a:t>
            </a:r>
            <a:r>
              <a:rPr lang="en-US" dirty="0">
                <a:solidFill>
                  <a:srgbClr val="000000"/>
                </a:solidFill>
                <a:latin typeface="Consolas" panose="020B0609020204030204" pitchFamily="49" charset="0"/>
              </a:rPr>
              <a:t>;</a:t>
            </a:r>
          </a:p>
          <a:p>
            <a:pPr algn="ct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localVar</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localVar</a:t>
            </a:r>
            <a:r>
              <a:rPr lang="en-US" dirty="0">
                <a:solidFill>
                  <a:srgbClr val="000000"/>
                </a:solidFill>
                <a:latin typeface="Consolas" panose="020B0609020204030204" pitchFamily="49" charset="0"/>
              </a:rPr>
              <a:t> + 1;</a:t>
            </a:r>
          </a:p>
          <a:p>
            <a:pPr algn="ctr"/>
            <a:r>
              <a:rPr lang="en-US" dirty="0" err="1">
                <a:solidFill>
                  <a:srgbClr val="000000"/>
                </a:solidFill>
                <a:latin typeface="Consolas" panose="020B0609020204030204" pitchFamily="49" charset="0"/>
              </a:rPr>
              <a:t>sharedVar</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localVar</a:t>
            </a:r>
            <a:r>
              <a:rPr lang="en-US" dirty="0">
                <a:solidFill>
                  <a:srgbClr val="000000"/>
                </a:solidFill>
                <a:latin typeface="Consolas" panose="020B0609020204030204" pitchFamily="49" charset="0"/>
              </a:rPr>
              <a:t>;</a:t>
            </a:r>
            <a:endParaRPr lang="ru-RU" dirty="0">
              <a:solidFill>
                <a:srgbClr val="000000"/>
              </a:solidFill>
              <a:latin typeface="Consolas" panose="020B0609020204030204" pitchFamily="49" charset="0"/>
            </a:endParaRPr>
          </a:p>
        </p:txBody>
      </p:sp>
      <p:pic>
        <p:nvPicPr>
          <p:cNvPr id="11" name="table">
            <a:extLst>
              <a:ext uri="{FF2B5EF4-FFF2-40B4-BE49-F238E27FC236}">
                <a16:creationId xmlns:a16="http://schemas.microsoft.com/office/drawing/2014/main" id="{04F95529-83C7-45E5-B8B9-772E62BCE14A}"/>
              </a:ext>
            </a:extLst>
          </p:cNvPr>
          <p:cNvPicPr>
            <a:picLocks noChangeAspect="1"/>
          </p:cNvPicPr>
          <p:nvPr/>
        </p:nvPicPr>
        <p:blipFill>
          <a:blip r:embed="rId3"/>
          <a:stretch>
            <a:fillRect/>
          </a:stretch>
        </p:blipFill>
        <p:spPr>
          <a:xfrm>
            <a:off x="765548" y="3662351"/>
            <a:ext cx="3359976" cy="1669198"/>
          </a:xfrm>
          <a:prstGeom prst="rect">
            <a:avLst/>
          </a:prstGeom>
        </p:spPr>
      </p:pic>
    </p:spTree>
    <p:extLst>
      <p:ext uri="{BB962C8B-B14F-4D97-AF65-F5344CB8AC3E}">
        <p14:creationId xmlns:p14="http://schemas.microsoft.com/office/powerpoint/2010/main" val="3743771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305F6-B433-4FB7-AE5C-9A4311E43058}"/>
              </a:ext>
            </a:extLst>
          </p:cNvPr>
          <p:cNvSpPr>
            <a:spLocks noGrp="1"/>
          </p:cNvSpPr>
          <p:nvPr>
            <p:ph type="title"/>
          </p:nvPr>
        </p:nvSpPr>
        <p:spPr/>
        <p:txBody>
          <a:bodyPr/>
          <a:lstStyle/>
          <a:p>
            <a:r>
              <a:rPr lang="ru-RU" dirty="0"/>
              <a:t>Атомарность</a:t>
            </a:r>
          </a:p>
        </p:txBody>
      </p:sp>
      <p:sp>
        <p:nvSpPr>
          <p:cNvPr id="3" name="Rectangle 2">
            <a:extLst>
              <a:ext uri="{FF2B5EF4-FFF2-40B4-BE49-F238E27FC236}">
                <a16:creationId xmlns:a16="http://schemas.microsoft.com/office/drawing/2014/main" id="{DD1C5420-660F-4484-A99E-14B7BDFA499F}"/>
              </a:ext>
            </a:extLst>
          </p:cNvPr>
          <p:cNvSpPr/>
          <p:nvPr/>
        </p:nvSpPr>
        <p:spPr>
          <a:xfrm>
            <a:off x="609600" y="1809739"/>
            <a:ext cx="10204174" cy="3539430"/>
          </a:xfrm>
          <a:prstGeom prst="rect">
            <a:avLst/>
          </a:prstGeom>
        </p:spPr>
        <p:txBody>
          <a:bodyPr wrap="square">
            <a:spAutoFit/>
          </a:bodyPr>
          <a:lstStyle/>
          <a:p>
            <a:r>
              <a:rPr lang="ru-RU" sz="3200" dirty="0" err="1"/>
              <a:t>Java</a:t>
            </a:r>
            <a:r>
              <a:rPr lang="ru-RU" sz="3200" dirty="0"/>
              <a:t> гарантирует, что следующие операции атомарные:</a:t>
            </a:r>
          </a:p>
          <a:p>
            <a:pPr marL="457200" indent="-457200">
              <a:buFont typeface="Arial" panose="020B0604020202020204" pitchFamily="34" charset="0"/>
              <a:buChar char="•"/>
            </a:pPr>
            <a:r>
              <a:rPr lang="ru-RU" sz="3200" dirty="0"/>
              <a:t>Чтение или запись переменной является атомарной операцией, за исключением переменных типа </a:t>
            </a:r>
            <a:r>
              <a:rPr lang="ru-RU" sz="3200" b="1" dirty="0" err="1"/>
              <a:t>long</a:t>
            </a:r>
            <a:r>
              <a:rPr lang="ru-RU" sz="3200" dirty="0"/>
              <a:t> или </a:t>
            </a:r>
            <a:r>
              <a:rPr lang="ru-RU" sz="3200" b="1" dirty="0" err="1"/>
              <a:t>double</a:t>
            </a:r>
            <a:endParaRPr lang="ru-RU" sz="3200" b="1" dirty="0"/>
          </a:p>
          <a:p>
            <a:pPr marL="457200" indent="-457200">
              <a:buFont typeface="Arial" panose="020B0604020202020204" pitchFamily="34" charset="0"/>
              <a:buChar char="•"/>
            </a:pPr>
            <a:r>
              <a:rPr lang="ru-RU" sz="3200" dirty="0"/>
              <a:t>Чтение или запись переменной с ключевым словом </a:t>
            </a:r>
            <a:r>
              <a:rPr lang="ru-RU" sz="3200" b="1" dirty="0" err="1"/>
              <a:t>volatile</a:t>
            </a:r>
            <a:endParaRPr lang="ru-RU" sz="3200" b="1" dirty="0"/>
          </a:p>
          <a:p>
            <a:pPr marL="457200" indent="-457200">
              <a:buFont typeface="Arial" panose="020B0604020202020204" pitchFamily="34" charset="0"/>
              <a:buChar char="•"/>
            </a:pPr>
            <a:r>
              <a:rPr lang="ru-RU" sz="3200" dirty="0"/>
              <a:t>Специальные атомарные операции</a:t>
            </a:r>
          </a:p>
        </p:txBody>
      </p:sp>
    </p:spTree>
    <p:extLst>
      <p:ext uri="{BB962C8B-B14F-4D97-AF65-F5344CB8AC3E}">
        <p14:creationId xmlns:p14="http://schemas.microsoft.com/office/powerpoint/2010/main" val="4108068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DDA61-6C6D-44BF-8863-BD53DC9F1A48}"/>
              </a:ext>
            </a:extLst>
          </p:cNvPr>
          <p:cNvSpPr>
            <a:spLocks noGrp="1"/>
          </p:cNvSpPr>
          <p:nvPr>
            <p:ph type="title"/>
          </p:nvPr>
        </p:nvSpPr>
        <p:spPr/>
        <p:txBody>
          <a:bodyPr>
            <a:normAutofit/>
          </a:bodyPr>
          <a:lstStyle/>
          <a:p>
            <a:r>
              <a:rPr lang="ru-RU" dirty="0"/>
              <a:t>Видимость. Модификатор </a:t>
            </a:r>
            <a:r>
              <a:rPr lang="en-US" dirty="0"/>
              <a:t>volatile</a:t>
            </a:r>
            <a:endParaRPr lang="ru-RU" dirty="0"/>
          </a:p>
        </p:txBody>
      </p:sp>
      <p:sp>
        <p:nvSpPr>
          <p:cNvPr id="4" name="Rectangle 3">
            <a:extLst>
              <a:ext uri="{FF2B5EF4-FFF2-40B4-BE49-F238E27FC236}">
                <a16:creationId xmlns:a16="http://schemas.microsoft.com/office/drawing/2014/main" id="{DF36F544-D136-4881-A6F7-95F3AEA2FFCC}"/>
              </a:ext>
            </a:extLst>
          </p:cNvPr>
          <p:cNvSpPr/>
          <p:nvPr/>
        </p:nvSpPr>
        <p:spPr>
          <a:xfrm>
            <a:off x="609600" y="2010736"/>
            <a:ext cx="6415314" cy="3416320"/>
          </a:xfrm>
          <a:prstGeom prst="rect">
            <a:avLst/>
          </a:prstGeom>
        </p:spPr>
        <p:txBody>
          <a:bodyPr wrap="square">
            <a:spAutoFit/>
          </a:bodyPr>
          <a:lstStyle/>
          <a:p>
            <a:pPr marL="285750" indent="-285750">
              <a:buFont typeface="Arial" panose="020B0604020202020204" pitchFamily="34" charset="0"/>
              <a:buChar char="•"/>
            </a:pPr>
            <a:r>
              <a:rPr lang="ru-RU" sz="2400" dirty="0"/>
              <a:t>Переменная не будет помещаться в кэш: результат записи значения в </a:t>
            </a:r>
            <a:r>
              <a:rPr lang="ru-RU" sz="2400" dirty="0" err="1"/>
              <a:t>volatile</a:t>
            </a:r>
            <a:r>
              <a:rPr lang="ru-RU" sz="2400" dirty="0"/>
              <a:t> переменную одним потоком будет виден всем другим потокам, которые используют эту переменную для чтения.</a:t>
            </a:r>
          </a:p>
          <a:p>
            <a:pPr marL="285750" indent="-285750">
              <a:buFont typeface="Arial" panose="020B0604020202020204" pitchFamily="34" charset="0"/>
              <a:buChar char="•"/>
            </a:pPr>
            <a:endParaRPr lang="ru-RU" sz="2400" dirty="0"/>
          </a:p>
          <a:p>
            <a:pPr marL="285750" indent="-285750">
              <a:buFont typeface="Arial" panose="020B0604020202020204" pitchFamily="34" charset="0"/>
              <a:buChar char="•"/>
            </a:pPr>
            <a:r>
              <a:rPr lang="ru-RU" sz="2400" dirty="0"/>
              <a:t>Операции чтения и записи </a:t>
            </a:r>
            <a:r>
              <a:rPr lang="ru-RU" sz="2400" dirty="0" err="1"/>
              <a:t>volatile</a:t>
            </a:r>
            <a:r>
              <a:rPr lang="ru-RU" sz="2400" dirty="0"/>
              <a:t> переменной являются атомарными.</a:t>
            </a:r>
          </a:p>
          <a:p>
            <a:pPr marL="285750" indent="-285750">
              <a:buFont typeface="Arial" panose="020B0604020202020204" pitchFamily="34" charset="0"/>
              <a:buChar char="•"/>
            </a:pPr>
            <a:endParaRPr lang="ru-RU" sz="2400" dirty="0"/>
          </a:p>
        </p:txBody>
      </p:sp>
      <p:pic>
        <p:nvPicPr>
          <p:cNvPr id="5" name="Picture 4">
            <a:extLst>
              <a:ext uri="{FF2B5EF4-FFF2-40B4-BE49-F238E27FC236}">
                <a16:creationId xmlns:a16="http://schemas.microsoft.com/office/drawing/2014/main" id="{A66ABF49-DEEA-4501-B781-A98D7451334D}"/>
              </a:ext>
            </a:extLst>
          </p:cNvPr>
          <p:cNvPicPr>
            <a:picLocks noChangeAspect="1"/>
          </p:cNvPicPr>
          <p:nvPr/>
        </p:nvPicPr>
        <p:blipFill>
          <a:blip r:embed="rId3"/>
          <a:stretch>
            <a:fillRect/>
          </a:stretch>
        </p:blipFill>
        <p:spPr>
          <a:xfrm>
            <a:off x="7157548" y="2671984"/>
            <a:ext cx="4744166" cy="15140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60464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6AA60-9549-4B54-A942-716846E6DF31}"/>
              </a:ext>
            </a:extLst>
          </p:cNvPr>
          <p:cNvSpPr>
            <a:spLocks noGrp="1"/>
          </p:cNvSpPr>
          <p:nvPr>
            <p:ph type="title"/>
          </p:nvPr>
        </p:nvSpPr>
        <p:spPr/>
        <p:txBody>
          <a:bodyPr>
            <a:normAutofit/>
          </a:bodyPr>
          <a:lstStyle/>
          <a:p>
            <a:r>
              <a:rPr lang="ru-RU" dirty="0" err="1"/>
              <a:t>Потокобезопасный</a:t>
            </a:r>
            <a:r>
              <a:rPr lang="ru-RU" dirty="0"/>
              <a:t> </a:t>
            </a:r>
            <a:r>
              <a:rPr lang="en-US" dirty="0"/>
              <a:t>Singleton</a:t>
            </a:r>
            <a:endParaRPr lang="ru-RU" dirty="0"/>
          </a:p>
        </p:txBody>
      </p:sp>
      <p:pic>
        <p:nvPicPr>
          <p:cNvPr id="6" name="Picture 5">
            <a:extLst>
              <a:ext uri="{FF2B5EF4-FFF2-40B4-BE49-F238E27FC236}">
                <a16:creationId xmlns:a16="http://schemas.microsoft.com/office/drawing/2014/main" id="{7228CFE1-AD32-4013-880F-368A0BC20CFB}"/>
              </a:ext>
            </a:extLst>
          </p:cNvPr>
          <p:cNvPicPr>
            <a:picLocks noChangeAspect="1"/>
          </p:cNvPicPr>
          <p:nvPr/>
        </p:nvPicPr>
        <p:blipFill>
          <a:blip r:embed="rId3">
            <a:duotone>
              <a:schemeClr val="accent3">
                <a:shade val="45000"/>
                <a:satMod val="135000"/>
              </a:schemeClr>
              <a:prstClr val="white"/>
            </a:duotone>
          </a:blip>
          <a:stretch>
            <a:fillRect/>
          </a:stretch>
        </p:blipFill>
        <p:spPr>
          <a:xfrm>
            <a:off x="8506239" y="3040617"/>
            <a:ext cx="2705100" cy="1685925"/>
          </a:xfrm>
          <a:prstGeom prst="rect">
            <a:avLst/>
          </a:prstGeom>
          <a:ln>
            <a:noFill/>
          </a:ln>
          <a:effectLst>
            <a:softEdge rad="112500"/>
          </a:effectLst>
        </p:spPr>
      </p:pic>
      <p:pic>
        <p:nvPicPr>
          <p:cNvPr id="3" name="Picture 2">
            <a:extLst>
              <a:ext uri="{FF2B5EF4-FFF2-40B4-BE49-F238E27FC236}">
                <a16:creationId xmlns:a16="http://schemas.microsoft.com/office/drawing/2014/main" id="{608700EE-7570-43EC-91F4-2AB876087CEE}"/>
              </a:ext>
            </a:extLst>
          </p:cNvPr>
          <p:cNvPicPr>
            <a:picLocks noChangeAspect="1"/>
          </p:cNvPicPr>
          <p:nvPr/>
        </p:nvPicPr>
        <p:blipFill>
          <a:blip r:embed="rId4"/>
          <a:stretch>
            <a:fillRect/>
          </a:stretch>
        </p:blipFill>
        <p:spPr>
          <a:xfrm>
            <a:off x="1100966" y="1852895"/>
            <a:ext cx="6172857" cy="41768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18645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7D56C-3E19-48E2-AB1F-E275C6309CE6}"/>
              </a:ext>
            </a:extLst>
          </p:cNvPr>
          <p:cNvSpPr>
            <a:spLocks noGrp="1"/>
          </p:cNvSpPr>
          <p:nvPr>
            <p:ph type="title"/>
          </p:nvPr>
        </p:nvSpPr>
        <p:spPr/>
        <p:txBody>
          <a:bodyPr>
            <a:normAutofit/>
          </a:bodyPr>
          <a:lstStyle/>
          <a:p>
            <a:r>
              <a:rPr lang="en-US" b="1" dirty="0"/>
              <a:t>Java Concurrent</a:t>
            </a:r>
          </a:p>
        </p:txBody>
      </p:sp>
      <p:sp>
        <p:nvSpPr>
          <p:cNvPr id="4" name="Rectangle 3">
            <a:extLst>
              <a:ext uri="{FF2B5EF4-FFF2-40B4-BE49-F238E27FC236}">
                <a16:creationId xmlns:a16="http://schemas.microsoft.com/office/drawing/2014/main" id="{16CD6AC9-1450-4A4F-B167-1F24224FB2B3}"/>
              </a:ext>
            </a:extLst>
          </p:cNvPr>
          <p:cNvSpPr/>
          <p:nvPr/>
        </p:nvSpPr>
        <p:spPr>
          <a:xfrm>
            <a:off x="609600" y="2097833"/>
            <a:ext cx="10972799" cy="830997"/>
          </a:xfrm>
          <a:prstGeom prst="rect">
            <a:avLst/>
          </a:prstGeom>
        </p:spPr>
        <p:txBody>
          <a:bodyPr wrap="square">
            <a:spAutoFit/>
          </a:bodyPr>
          <a:lstStyle/>
          <a:p>
            <a:r>
              <a:rPr lang="ru-RU" sz="2400" dirty="0"/>
              <a:t>Классы и интерфейсы пакета </a:t>
            </a:r>
            <a:r>
              <a:rPr lang="ru-RU" sz="2400" dirty="0" err="1"/>
              <a:t>java.util.concurrent</a:t>
            </a:r>
            <a:r>
              <a:rPr lang="ru-RU" sz="2400" dirty="0"/>
              <a:t> объединены в несколько групп по функциональному признаку:</a:t>
            </a:r>
          </a:p>
        </p:txBody>
      </p:sp>
      <p:pic>
        <p:nvPicPr>
          <p:cNvPr id="5" name="Picture 4">
            <a:extLst>
              <a:ext uri="{FF2B5EF4-FFF2-40B4-BE49-F238E27FC236}">
                <a16:creationId xmlns:a16="http://schemas.microsoft.com/office/drawing/2014/main" id="{FDF2796B-5501-41FE-A47D-398C83B11C12}"/>
              </a:ext>
            </a:extLst>
          </p:cNvPr>
          <p:cNvPicPr>
            <a:picLocks noChangeAspect="1"/>
          </p:cNvPicPr>
          <p:nvPr/>
        </p:nvPicPr>
        <p:blipFill>
          <a:blip r:embed="rId3">
            <a:duotone>
              <a:schemeClr val="accent3">
                <a:shade val="45000"/>
                <a:satMod val="135000"/>
              </a:schemeClr>
              <a:prstClr val="white"/>
            </a:duotone>
          </a:blip>
          <a:stretch>
            <a:fillRect/>
          </a:stretch>
        </p:blipFill>
        <p:spPr>
          <a:xfrm>
            <a:off x="943429" y="3093813"/>
            <a:ext cx="9753600" cy="2324100"/>
          </a:xfrm>
          <a:prstGeom prst="rect">
            <a:avLst/>
          </a:prstGeom>
          <a:ln>
            <a:noFill/>
          </a:ln>
          <a:effectLst>
            <a:softEdge rad="112500"/>
          </a:effectLst>
        </p:spPr>
      </p:pic>
    </p:spTree>
    <p:extLst>
      <p:ext uri="{BB962C8B-B14F-4D97-AF65-F5344CB8AC3E}">
        <p14:creationId xmlns:p14="http://schemas.microsoft.com/office/powerpoint/2010/main" val="780339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9D096-F3FF-4EB2-8DDE-DD2BE75EE673}"/>
              </a:ext>
            </a:extLst>
          </p:cNvPr>
          <p:cNvSpPr>
            <a:spLocks noGrp="1"/>
          </p:cNvSpPr>
          <p:nvPr>
            <p:ph type="title"/>
          </p:nvPr>
        </p:nvSpPr>
        <p:spPr/>
        <p:txBody>
          <a:bodyPr>
            <a:normAutofit/>
          </a:bodyPr>
          <a:lstStyle/>
          <a:p>
            <a:r>
              <a:rPr lang="ru-RU" sz="6000" dirty="0"/>
              <a:t>Атомарные классы</a:t>
            </a:r>
            <a:endParaRPr lang="ru-RU" dirty="0"/>
          </a:p>
        </p:txBody>
      </p:sp>
      <p:pic>
        <p:nvPicPr>
          <p:cNvPr id="11" name="Picture 10">
            <a:extLst>
              <a:ext uri="{FF2B5EF4-FFF2-40B4-BE49-F238E27FC236}">
                <a16:creationId xmlns:a16="http://schemas.microsoft.com/office/drawing/2014/main" id="{8B543E93-7B98-4974-9632-2053E8E2C470}"/>
              </a:ext>
            </a:extLst>
          </p:cNvPr>
          <p:cNvPicPr>
            <a:picLocks noChangeAspect="1"/>
          </p:cNvPicPr>
          <p:nvPr/>
        </p:nvPicPr>
        <p:blipFill>
          <a:blip r:embed="rId3">
            <a:duotone>
              <a:schemeClr val="accent3">
                <a:shade val="45000"/>
                <a:satMod val="135000"/>
              </a:schemeClr>
              <a:prstClr val="white"/>
            </a:duotone>
          </a:blip>
          <a:stretch>
            <a:fillRect/>
          </a:stretch>
        </p:blipFill>
        <p:spPr>
          <a:xfrm>
            <a:off x="1911490" y="2462647"/>
            <a:ext cx="8588019" cy="3623071"/>
          </a:xfrm>
          <a:prstGeom prst="rect">
            <a:avLst/>
          </a:prstGeom>
        </p:spPr>
      </p:pic>
      <p:sp>
        <p:nvSpPr>
          <p:cNvPr id="12" name="Rectangle 11">
            <a:extLst>
              <a:ext uri="{FF2B5EF4-FFF2-40B4-BE49-F238E27FC236}">
                <a16:creationId xmlns:a16="http://schemas.microsoft.com/office/drawing/2014/main" id="{154B173D-F1F8-48DB-BAA4-83FFAB306A19}"/>
              </a:ext>
            </a:extLst>
          </p:cNvPr>
          <p:cNvSpPr/>
          <p:nvPr/>
        </p:nvSpPr>
        <p:spPr>
          <a:xfrm>
            <a:off x="4278098" y="1905360"/>
            <a:ext cx="3635804" cy="461665"/>
          </a:xfrm>
          <a:prstGeom prst="rect">
            <a:avLst/>
          </a:prstGeom>
        </p:spPr>
        <p:txBody>
          <a:bodyPr wrap="none">
            <a:spAutoFit/>
          </a:bodyPr>
          <a:lstStyle/>
          <a:p>
            <a:r>
              <a:rPr lang="ru-RU" sz="2400" dirty="0" err="1">
                <a:hlinkClick r:id="rId4"/>
              </a:rPr>
              <a:t>java.util.concurrent.atomic</a:t>
            </a:r>
            <a:endParaRPr lang="ru-RU" sz="2400" dirty="0"/>
          </a:p>
        </p:txBody>
      </p:sp>
    </p:spTree>
    <p:extLst>
      <p:ext uri="{BB962C8B-B14F-4D97-AF65-F5344CB8AC3E}">
        <p14:creationId xmlns:p14="http://schemas.microsoft.com/office/powerpoint/2010/main" val="609289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9D096-F3FF-4EB2-8DDE-DD2BE75EE673}"/>
              </a:ext>
            </a:extLst>
          </p:cNvPr>
          <p:cNvSpPr>
            <a:spLocks noGrp="1"/>
          </p:cNvSpPr>
          <p:nvPr>
            <p:ph type="title"/>
          </p:nvPr>
        </p:nvSpPr>
        <p:spPr/>
        <p:txBody>
          <a:bodyPr>
            <a:normAutofit/>
          </a:bodyPr>
          <a:lstStyle/>
          <a:p>
            <a:r>
              <a:rPr lang="ru-RU" sz="6000" dirty="0"/>
              <a:t>Атомарные классы</a:t>
            </a:r>
            <a:endParaRPr lang="ru-RU" dirty="0"/>
          </a:p>
        </p:txBody>
      </p:sp>
      <p:sp>
        <p:nvSpPr>
          <p:cNvPr id="8" name="Arrow: Curved Up 7">
            <a:extLst>
              <a:ext uri="{FF2B5EF4-FFF2-40B4-BE49-F238E27FC236}">
                <a16:creationId xmlns:a16="http://schemas.microsoft.com/office/drawing/2014/main" id="{A9CDE0D9-8238-451C-A075-8C385F718D8C}"/>
              </a:ext>
            </a:extLst>
          </p:cNvPr>
          <p:cNvSpPr/>
          <p:nvPr/>
        </p:nvSpPr>
        <p:spPr>
          <a:xfrm>
            <a:off x="4361543" y="4905829"/>
            <a:ext cx="3468914" cy="82731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pic>
        <p:nvPicPr>
          <p:cNvPr id="3" name="Picture 2">
            <a:extLst>
              <a:ext uri="{FF2B5EF4-FFF2-40B4-BE49-F238E27FC236}">
                <a16:creationId xmlns:a16="http://schemas.microsoft.com/office/drawing/2014/main" id="{88A34CB4-3107-40FA-A740-64B5361270C6}"/>
              </a:ext>
            </a:extLst>
          </p:cNvPr>
          <p:cNvPicPr>
            <a:picLocks noChangeAspect="1"/>
          </p:cNvPicPr>
          <p:nvPr/>
        </p:nvPicPr>
        <p:blipFill rotWithShape="1">
          <a:blip r:embed="rId3"/>
          <a:srcRect r="5914" b="2569"/>
          <a:stretch/>
        </p:blipFill>
        <p:spPr>
          <a:xfrm>
            <a:off x="5983538" y="2228869"/>
            <a:ext cx="5830368" cy="2276475"/>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3757205C-F2F6-41DE-BD31-3301517FC563}"/>
              </a:ext>
            </a:extLst>
          </p:cNvPr>
          <p:cNvPicPr>
            <a:picLocks noChangeAspect="1"/>
          </p:cNvPicPr>
          <p:nvPr/>
        </p:nvPicPr>
        <p:blipFill>
          <a:blip r:embed="rId4"/>
          <a:stretch>
            <a:fillRect/>
          </a:stretch>
        </p:blipFill>
        <p:spPr>
          <a:xfrm>
            <a:off x="609600" y="2224108"/>
            <a:ext cx="4124325" cy="22764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04913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DCBC2-74D6-4D15-8B14-C0CDE1604B71}"/>
              </a:ext>
            </a:extLst>
          </p:cNvPr>
          <p:cNvSpPr>
            <a:spLocks noGrp="1"/>
          </p:cNvSpPr>
          <p:nvPr>
            <p:ph type="title"/>
          </p:nvPr>
        </p:nvSpPr>
        <p:spPr/>
        <p:txBody>
          <a:bodyPr>
            <a:normAutofit/>
          </a:bodyPr>
          <a:lstStyle/>
          <a:p>
            <a:r>
              <a:rPr lang="en-US" dirty="0"/>
              <a:t>Interface Lock</a:t>
            </a:r>
            <a:endParaRPr lang="ru-RU" dirty="0"/>
          </a:p>
        </p:txBody>
      </p:sp>
      <p:sp>
        <p:nvSpPr>
          <p:cNvPr id="3" name="Rectangle 2">
            <a:extLst>
              <a:ext uri="{FF2B5EF4-FFF2-40B4-BE49-F238E27FC236}">
                <a16:creationId xmlns:a16="http://schemas.microsoft.com/office/drawing/2014/main" id="{C50593ED-8102-4B92-8C3A-E77A30075204}"/>
              </a:ext>
            </a:extLst>
          </p:cNvPr>
          <p:cNvSpPr/>
          <p:nvPr/>
        </p:nvSpPr>
        <p:spPr>
          <a:xfrm>
            <a:off x="1146627" y="1809739"/>
            <a:ext cx="9884229" cy="4093428"/>
          </a:xfrm>
          <a:prstGeom prst="rect">
            <a:avLst/>
          </a:prstGeom>
        </p:spPr>
        <p:txBody>
          <a:bodyPr wrap="square">
            <a:spAutoFit/>
          </a:bodyPr>
          <a:lstStyle/>
          <a:p>
            <a:r>
              <a:rPr lang="ru-RU" sz="2000" dirty="0"/>
              <a:t>Методы в интерфейсе </a:t>
            </a:r>
            <a:r>
              <a:rPr lang="en-US" sz="2000" b="1" dirty="0"/>
              <a:t>Lock</a:t>
            </a:r>
            <a:r>
              <a:rPr lang="ru-RU" sz="2000" dirty="0"/>
              <a:t> :</a:t>
            </a:r>
          </a:p>
          <a:p>
            <a:endParaRPr lang="ru-RU" sz="2000" dirty="0"/>
          </a:p>
          <a:p>
            <a:pPr marL="285750" indent="-285750">
              <a:buFont typeface="Arial" panose="020B0604020202020204" pitchFamily="34" charset="0"/>
              <a:buChar char="•"/>
            </a:pPr>
            <a:r>
              <a:rPr lang="ru-RU" sz="2000" b="1" dirty="0" err="1"/>
              <a:t>void</a:t>
            </a:r>
            <a:r>
              <a:rPr lang="ru-RU" sz="2000" b="1" dirty="0"/>
              <a:t> </a:t>
            </a:r>
            <a:r>
              <a:rPr lang="ru-RU" sz="2000" b="1" dirty="0" err="1"/>
              <a:t>lock</a:t>
            </a:r>
            <a:r>
              <a:rPr lang="ru-RU" sz="2000" b="1" dirty="0"/>
              <a:t>() </a:t>
            </a:r>
            <a:r>
              <a:rPr lang="ru-RU" sz="2000" dirty="0"/>
              <a:t>— получить блокировку, если она доступна; если блокировка недоступна, поток блокируется до тех пор, пока блокировка не будет снята</a:t>
            </a:r>
          </a:p>
          <a:p>
            <a:pPr marL="285750" indent="-285750">
              <a:buFont typeface="Arial" panose="020B0604020202020204" pitchFamily="34" charset="0"/>
              <a:buChar char="•"/>
            </a:pPr>
            <a:r>
              <a:rPr lang="ru-RU" sz="2000" b="1" dirty="0" err="1"/>
              <a:t>void</a:t>
            </a:r>
            <a:r>
              <a:rPr lang="ru-RU" sz="2000" b="1" dirty="0"/>
              <a:t> </a:t>
            </a:r>
            <a:r>
              <a:rPr lang="ru-RU" sz="2000" b="1" dirty="0" err="1"/>
              <a:t>lockInterruptably</a:t>
            </a:r>
            <a:r>
              <a:rPr lang="ru-RU" sz="2000" b="1" dirty="0"/>
              <a:t>()</a:t>
            </a:r>
            <a:r>
              <a:rPr lang="ru-RU" sz="2000" dirty="0"/>
              <a:t> — аналогичен </a:t>
            </a:r>
            <a:r>
              <a:rPr lang="ru-RU" sz="2000" dirty="0" err="1"/>
              <a:t>lock</a:t>
            </a:r>
            <a:r>
              <a:rPr lang="ru-RU" sz="2000" dirty="0"/>
              <a:t>(), но позволяет прервать заблокированный поток и возобновить выполнение с помощью выброшенного исключения </a:t>
            </a:r>
            <a:r>
              <a:rPr lang="ru-RU" sz="2000" dirty="0" err="1"/>
              <a:t>java.lang.InterruptedException</a:t>
            </a:r>
            <a:r>
              <a:rPr lang="ru-RU" sz="2000" dirty="0"/>
              <a:t> .</a:t>
            </a:r>
          </a:p>
          <a:p>
            <a:pPr marL="285750" indent="-285750">
              <a:buFont typeface="Arial" panose="020B0604020202020204" pitchFamily="34" charset="0"/>
              <a:buChar char="•"/>
            </a:pPr>
            <a:r>
              <a:rPr lang="ru-RU" sz="2000" b="1" dirty="0" err="1"/>
              <a:t>boolean</a:t>
            </a:r>
            <a:r>
              <a:rPr lang="ru-RU" sz="2000" b="1" dirty="0"/>
              <a:t> </a:t>
            </a:r>
            <a:r>
              <a:rPr lang="ru-RU" sz="2000" b="1" dirty="0" err="1"/>
              <a:t>tryLock</a:t>
            </a:r>
            <a:r>
              <a:rPr lang="ru-RU" sz="2000" b="1" dirty="0"/>
              <a:t>() </a:t>
            </a:r>
            <a:r>
              <a:rPr lang="ru-RU" sz="2000" dirty="0"/>
              <a:t>– это неблокирующая версия метода </a:t>
            </a:r>
            <a:r>
              <a:rPr lang="ru-RU" sz="2000" dirty="0" err="1"/>
              <a:t>lock</a:t>
            </a:r>
            <a:r>
              <a:rPr lang="ru-RU" sz="2000" dirty="0"/>
              <a:t>() ; он пытается немедленно получить блокировку, возвращает </a:t>
            </a:r>
            <a:r>
              <a:rPr lang="ru-RU" sz="2000" dirty="0" err="1"/>
              <a:t>true</a:t>
            </a:r>
            <a:r>
              <a:rPr lang="ru-RU" sz="2000" dirty="0"/>
              <a:t>, если блокировка успешна</a:t>
            </a:r>
          </a:p>
          <a:p>
            <a:pPr marL="285750" indent="-285750">
              <a:buFont typeface="Arial" panose="020B0604020202020204" pitchFamily="34" charset="0"/>
              <a:buChar char="•"/>
            </a:pPr>
            <a:r>
              <a:rPr lang="ru-RU" sz="2000" b="1" dirty="0" err="1"/>
              <a:t>boolean</a:t>
            </a:r>
            <a:r>
              <a:rPr lang="ru-RU" sz="2000" b="1" dirty="0"/>
              <a:t> </a:t>
            </a:r>
            <a:r>
              <a:rPr lang="ru-RU" sz="2000" b="1" dirty="0" err="1"/>
              <a:t>tryLock</a:t>
            </a:r>
            <a:r>
              <a:rPr lang="ru-RU" sz="2000" b="1" dirty="0"/>
              <a:t>(</a:t>
            </a:r>
            <a:r>
              <a:rPr lang="ru-RU" sz="2000" b="1" dirty="0" err="1"/>
              <a:t>long</a:t>
            </a:r>
            <a:r>
              <a:rPr lang="ru-RU" sz="2000" b="1" dirty="0"/>
              <a:t> </a:t>
            </a:r>
            <a:r>
              <a:rPr lang="ru-RU" sz="2000" b="1" dirty="0" err="1"/>
              <a:t>timeout</a:t>
            </a:r>
            <a:r>
              <a:rPr lang="ru-RU" sz="2000" b="1" dirty="0"/>
              <a:t>, </a:t>
            </a:r>
            <a:r>
              <a:rPr lang="ru-RU" sz="2000" b="1" dirty="0" err="1"/>
              <a:t>TimeUnit</a:t>
            </a:r>
            <a:r>
              <a:rPr lang="ru-RU" sz="2000" b="1" dirty="0"/>
              <a:t> </a:t>
            </a:r>
            <a:r>
              <a:rPr lang="ru-RU" sz="2000" b="1" dirty="0" err="1"/>
              <a:t>timeUnit</a:t>
            </a:r>
            <a:r>
              <a:rPr lang="ru-RU" sz="2000" b="1" dirty="0"/>
              <a:t>)</a:t>
            </a:r>
            <a:r>
              <a:rPr lang="ru-RU" sz="2000" dirty="0"/>
              <a:t> — это похоже на </a:t>
            </a:r>
            <a:r>
              <a:rPr lang="ru-RU" sz="2000" dirty="0" err="1"/>
              <a:t>tryLock</a:t>
            </a:r>
            <a:r>
              <a:rPr lang="ru-RU" sz="2000" dirty="0"/>
              <a:t>(), за исключением того, что он ждет заданный тайм-аут, прежде чем отказаться от попытки получить блокировку .</a:t>
            </a:r>
          </a:p>
          <a:p>
            <a:pPr marL="285750" indent="-285750">
              <a:buFont typeface="Arial" panose="020B0604020202020204" pitchFamily="34" charset="0"/>
              <a:buChar char="•"/>
            </a:pPr>
            <a:r>
              <a:rPr lang="ru-RU" sz="2000" b="1" dirty="0" err="1"/>
              <a:t>void</a:t>
            </a:r>
            <a:r>
              <a:rPr lang="ru-RU" sz="2000" b="1" dirty="0"/>
              <a:t> </a:t>
            </a:r>
            <a:r>
              <a:rPr lang="ru-RU" sz="2000" b="1" dirty="0" err="1"/>
              <a:t>unlock</a:t>
            </a:r>
            <a:r>
              <a:rPr lang="ru-RU" sz="2000" b="1" dirty="0"/>
              <a:t>() </a:t>
            </a:r>
            <a:r>
              <a:rPr lang="ru-RU" sz="2000" dirty="0"/>
              <a:t>— разблокирует экземпляр </a:t>
            </a:r>
            <a:r>
              <a:rPr lang="ru-RU" sz="2000" dirty="0" err="1"/>
              <a:t>Lock</a:t>
            </a:r>
            <a:endParaRPr lang="ru-RU" sz="2000" dirty="0"/>
          </a:p>
        </p:txBody>
      </p:sp>
    </p:spTree>
    <p:extLst>
      <p:ext uri="{BB962C8B-B14F-4D97-AF65-F5344CB8AC3E}">
        <p14:creationId xmlns:p14="http://schemas.microsoft.com/office/powerpoint/2010/main" val="1549590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BC3C2-39C2-43CF-8AE5-CA3DB2FE0644}"/>
              </a:ext>
            </a:extLst>
          </p:cNvPr>
          <p:cNvSpPr>
            <a:spLocks noGrp="1"/>
          </p:cNvSpPr>
          <p:nvPr>
            <p:ph type="title"/>
          </p:nvPr>
        </p:nvSpPr>
        <p:spPr/>
        <p:txBody>
          <a:bodyPr/>
          <a:lstStyle/>
          <a:p>
            <a:r>
              <a:rPr lang="en-US" dirty="0" err="1"/>
              <a:t>ReentrantLock</a:t>
            </a:r>
            <a:endParaRPr lang="ru-RU" dirty="0"/>
          </a:p>
        </p:txBody>
      </p:sp>
      <p:graphicFrame>
        <p:nvGraphicFramePr>
          <p:cNvPr id="3" name="Table 2">
            <a:extLst>
              <a:ext uri="{FF2B5EF4-FFF2-40B4-BE49-F238E27FC236}">
                <a16:creationId xmlns:a16="http://schemas.microsoft.com/office/drawing/2014/main" id="{BCD9796A-BBF5-4F1A-9B44-239C5356CEEC}"/>
              </a:ext>
            </a:extLst>
          </p:cNvPr>
          <p:cNvGraphicFramePr>
            <a:graphicFrameLocks noGrp="1"/>
          </p:cNvGraphicFramePr>
          <p:nvPr>
            <p:extLst>
              <p:ext uri="{D42A27DB-BD31-4B8C-83A1-F6EECF244321}">
                <p14:modId xmlns:p14="http://schemas.microsoft.com/office/powerpoint/2010/main" val="383866173"/>
              </p:ext>
            </p:extLst>
          </p:nvPr>
        </p:nvGraphicFramePr>
        <p:xfrm>
          <a:off x="609600" y="1809739"/>
          <a:ext cx="10972800" cy="4419600"/>
        </p:xfrm>
        <a:graphic>
          <a:graphicData uri="http://schemas.openxmlformats.org/drawingml/2006/table">
            <a:tbl>
              <a:tblPr firstRow="1" bandRow="1">
                <a:tableStyleId>{72833802-FEF1-4C79-8D5D-14CF1EAF98D9}</a:tableStyleId>
              </a:tblPr>
              <a:tblGrid>
                <a:gridCol w="5486400">
                  <a:extLst>
                    <a:ext uri="{9D8B030D-6E8A-4147-A177-3AD203B41FA5}">
                      <a16:colId xmlns:a16="http://schemas.microsoft.com/office/drawing/2014/main" val="285457830"/>
                    </a:ext>
                  </a:extLst>
                </a:gridCol>
                <a:gridCol w="5486400">
                  <a:extLst>
                    <a:ext uri="{9D8B030D-6E8A-4147-A177-3AD203B41FA5}">
                      <a16:colId xmlns:a16="http://schemas.microsoft.com/office/drawing/2014/main" val="1548230444"/>
                    </a:ext>
                  </a:extLst>
                </a:gridCol>
              </a:tblGrid>
              <a:tr h="392826">
                <a:tc>
                  <a:txBody>
                    <a:bodyPr/>
                    <a:lstStyle/>
                    <a:p>
                      <a:r>
                        <a:rPr lang="en-US" sz="2000" dirty="0"/>
                        <a:t>synchronized</a:t>
                      </a:r>
                      <a:endParaRPr lang="ru-RU" sz="2000" dirty="0"/>
                    </a:p>
                  </a:txBody>
                  <a:tcPr/>
                </a:tc>
                <a:tc>
                  <a:txBody>
                    <a:bodyPr/>
                    <a:lstStyle/>
                    <a:p>
                      <a:r>
                        <a:rPr lang="en-US" sz="2000" dirty="0" err="1"/>
                        <a:t>ReentrantLock</a:t>
                      </a:r>
                      <a:endParaRPr lang="ru-RU" sz="2000" dirty="0"/>
                    </a:p>
                  </a:txBody>
                  <a:tcPr/>
                </a:tc>
                <a:extLst>
                  <a:ext uri="{0D108BD9-81ED-4DB2-BD59-A6C34878D82A}">
                    <a16:rowId xmlns:a16="http://schemas.microsoft.com/office/drawing/2014/main" val="2758346922"/>
                  </a:ext>
                </a:extLst>
              </a:tr>
              <a:tr h="695000">
                <a:tc>
                  <a:txBody>
                    <a:bodyPr/>
                    <a:lstStyle/>
                    <a:p>
                      <a:r>
                        <a:rPr lang="ru-RU" sz="2000" dirty="0"/>
                        <a:t>Полностью содержится в методе</a:t>
                      </a:r>
                    </a:p>
                    <a:p>
                      <a:endParaRPr lang="ru-RU" sz="2000" dirty="0"/>
                    </a:p>
                  </a:txBody>
                  <a:tcPr/>
                </a:tc>
                <a:tc>
                  <a:txBody>
                    <a:bodyPr/>
                    <a:lstStyle/>
                    <a:p>
                      <a:r>
                        <a:rPr lang="ru-RU" sz="2000" dirty="0"/>
                        <a:t>операции </a:t>
                      </a:r>
                      <a:r>
                        <a:rPr lang="ru-RU" sz="2000" dirty="0" err="1"/>
                        <a:t>lock</a:t>
                      </a:r>
                      <a:r>
                        <a:rPr lang="ru-RU" sz="2000" dirty="0"/>
                        <a:t>() и </a:t>
                      </a:r>
                      <a:r>
                        <a:rPr lang="ru-RU" sz="2000" dirty="0" err="1"/>
                        <a:t>unlock</a:t>
                      </a:r>
                      <a:r>
                        <a:rPr lang="ru-RU" sz="2000" dirty="0"/>
                        <a:t>() могут быть в отдельных методах </a:t>
                      </a:r>
                    </a:p>
                  </a:txBody>
                  <a:tcPr/>
                </a:tc>
                <a:extLst>
                  <a:ext uri="{0D108BD9-81ED-4DB2-BD59-A6C34878D82A}">
                    <a16:rowId xmlns:a16="http://schemas.microsoft.com/office/drawing/2014/main" val="3181882675"/>
                  </a:ext>
                </a:extLst>
              </a:tr>
              <a:tr h="1299348">
                <a:tc>
                  <a:txBody>
                    <a:bodyPr/>
                    <a:lstStyle/>
                    <a:p>
                      <a:r>
                        <a:rPr lang="ru-RU" sz="2000" dirty="0"/>
                        <a:t>Синхронизированный блок не поддерживает справедливость, любой поток может получить блокировку после освобождения, предпочтения не могут быть указаны</a:t>
                      </a:r>
                    </a:p>
                  </a:txBody>
                  <a:tcPr/>
                </a:tc>
                <a:tc>
                  <a:txBody>
                    <a:bodyPr/>
                    <a:lstStyle/>
                    <a:p>
                      <a:r>
                        <a:rPr lang="ru-RU" sz="2000" dirty="0"/>
                        <a:t>Мы можем добиться справедливости, указав свойство справедливости . Это гарантирует, что самому длинному ожидающему потоку будет предоставлен доступ к блокировке</a:t>
                      </a:r>
                    </a:p>
                  </a:txBody>
                  <a:tcPr/>
                </a:tc>
                <a:extLst>
                  <a:ext uri="{0D108BD9-81ED-4DB2-BD59-A6C34878D82A}">
                    <a16:rowId xmlns:a16="http://schemas.microsoft.com/office/drawing/2014/main" val="2210763101"/>
                  </a:ext>
                </a:extLst>
              </a:tr>
              <a:tr h="997174">
                <a:tc>
                  <a:txBody>
                    <a:bodyPr/>
                    <a:lstStyle/>
                    <a:p>
                      <a:r>
                        <a:rPr lang="ru-RU" sz="2000" dirty="0"/>
                        <a:t>Поток блокируется, если он не может получить доступ к синхронизированному блоку</a:t>
                      </a:r>
                    </a:p>
                  </a:txBody>
                  <a:tcPr/>
                </a:tc>
                <a:tc>
                  <a:txBody>
                    <a:bodyPr/>
                    <a:lstStyle/>
                    <a:p>
                      <a:r>
                        <a:rPr lang="ru-RU" sz="2000" dirty="0"/>
                        <a:t>Метод </a:t>
                      </a:r>
                      <a:r>
                        <a:rPr lang="ru-RU" sz="2000" dirty="0" err="1"/>
                        <a:t>tryLock</a:t>
                      </a:r>
                      <a:r>
                        <a:rPr lang="ru-RU" sz="2000" dirty="0"/>
                        <a:t>() позволяет получить блокировку только в том случае, если он доступен и не удерживается каким-либо другим потоком</a:t>
                      </a:r>
                    </a:p>
                  </a:txBody>
                  <a:tcPr/>
                </a:tc>
                <a:extLst>
                  <a:ext uri="{0D108BD9-81ED-4DB2-BD59-A6C34878D82A}">
                    <a16:rowId xmlns:a16="http://schemas.microsoft.com/office/drawing/2014/main" val="3369392069"/>
                  </a:ext>
                </a:extLst>
              </a:tr>
              <a:tr h="997174">
                <a:tc>
                  <a:txBody>
                    <a:bodyPr/>
                    <a:lstStyle/>
                    <a:p>
                      <a:r>
                        <a:rPr lang="ru-RU" sz="2000" dirty="0"/>
                        <a:t>Поток, находящийся в состоянии «ожидания» получения доступа к синхронизированному блоку , не может быть прерван</a:t>
                      </a:r>
                    </a:p>
                  </a:txBody>
                  <a:tcPr/>
                </a:tc>
                <a:tc>
                  <a:txBody>
                    <a:bodyPr/>
                    <a:lstStyle/>
                    <a:p>
                      <a:r>
                        <a:rPr lang="ru-RU" sz="2000" dirty="0"/>
                        <a:t>Метод </a:t>
                      </a:r>
                      <a:r>
                        <a:rPr lang="ru-RU" sz="2000" dirty="0" err="1"/>
                        <a:t>lockInterruptably</a:t>
                      </a:r>
                      <a:r>
                        <a:rPr lang="ru-RU" sz="2000" dirty="0"/>
                        <a:t>() позволяет прервать поток, когда он ожидает блокировки</a:t>
                      </a:r>
                    </a:p>
                  </a:txBody>
                  <a:tcPr/>
                </a:tc>
                <a:extLst>
                  <a:ext uri="{0D108BD9-81ED-4DB2-BD59-A6C34878D82A}">
                    <a16:rowId xmlns:a16="http://schemas.microsoft.com/office/drawing/2014/main" val="3684890071"/>
                  </a:ext>
                </a:extLst>
              </a:tr>
            </a:tbl>
          </a:graphicData>
        </a:graphic>
      </p:graphicFrame>
    </p:spTree>
    <p:extLst>
      <p:ext uri="{BB962C8B-B14F-4D97-AF65-F5344CB8AC3E}">
        <p14:creationId xmlns:p14="http://schemas.microsoft.com/office/powerpoint/2010/main" val="222356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DCBC2-74D6-4D15-8B14-C0CDE1604B71}"/>
              </a:ext>
            </a:extLst>
          </p:cNvPr>
          <p:cNvSpPr>
            <a:spLocks noGrp="1"/>
          </p:cNvSpPr>
          <p:nvPr>
            <p:ph type="title"/>
          </p:nvPr>
        </p:nvSpPr>
        <p:spPr/>
        <p:txBody>
          <a:bodyPr>
            <a:normAutofit/>
          </a:bodyPr>
          <a:lstStyle/>
          <a:p>
            <a:r>
              <a:rPr lang="ru-RU" dirty="0"/>
              <a:t>Интерфейс </a:t>
            </a:r>
            <a:r>
              <a:rPr lang="en-US" dirty="0" err="1"/>
              <a:t>ReadWriteLock</a:t>
            </a:r>
            <a:endParaRPr lang="ru-RU" dirty="0"/>
          </a:p>
        </p:txBody>
      </p:sp>
      <p:sp>
        <p:nvSpPr>
          <p:cNvPr id="3" name="Rectangle 2">
            <a:extLst>
              <a:ext uri="{FF2B5EF4-FFF2-40B4-BE49-F238E27FC236}">
                <a16:creationId xmlns:a16="http://schemas.microsoft.com/office/drawing/2014/main" id="{C50593ED-8102-4B92-8C3A-E77A30075204}"/>
              </a:ext>
            </a:extLst>
          </p:cNvPr>
          <p:cNvSpPr/>
          <p:nvPr/>
        </p:nvSpPr>
        <p:spPr>
          <a:xfrm>
            <a:off x="609601" y="1809739"/>
            <a:ext cx="6212114" cy="4093428"/>
          </a:xfrm>
          <a:prstGeom prst="rect">
            <a:avLst/>
          </a:prstGeom>
        </p:spPr>
        <p:txBody>
          <a:bodyPr wrap="square">
            <a:spAutoFit/>
          </a:bodyPr>
          <a:lstStyle/>
          <a:p>
            <a:pPr marL="342900" indent="-342900">
              <a:buFont typeface="Arial" panose="020B0604020202020204" pitchFamily="34" charset="0"/>
              <a:buChar char="•"/>
            </a:pPr>
            <a:r>
              <a:rPr lang="ru-RU" sz="2000" dirty="0"/>
              <a:t>Поддерживает пару блокировок: одну для операций только для чтения и одну для операции записи.</a:t>
            </a:r>
          </a:p>
          <a:p>
            <a:pPr marL="342900" indent="-342900">
              <a:buFont typeface="Arial" panose="020B0604020202020204" pitchFamily="34" charset="0"/>
              <a:buChar char="•"/>
            </a:pPr>
            <a:r>
              <a:rPr lang="ru-RU" sz="2000" dirty="0"/>
              <a:t>Блокировка чтения может одновременно удерживаться несколькими потоками, пока нет записи.</a:t>
            </a:r>
          </a:p>
          <a:p>
            <a:pPr marL="342900" indent="-342900">
              <a:buFont typeface="Arial" panose="020B0604020202020204" pitchFamily="34" charset="0"/>
              <a:buChar char="•"/>
            </a:pPr>
            <a:r>
              <a:rPr lang="ru-RU" sz="2000" b="1" dirty="0" err="1"/>
              <a:t>ReadWriteLock</a:t>
            </a:r>
            <a:r>
              <a:rPr lang="ru-RU" sz="2000" dirty="0"/>
              <a:t> объявляет методы для получения блокировки чтения или записи:</a:t>
            </a:r>
          </a:p>
          <a:p>
            <a:endParaRPr lang="ru-RU" sz="2000" dirty="0"/>
          </a:p>
          <a:p>
            <a:pPr lvl="1"/>
            <a:r>
              <a:rPr lang="ru-RU" sz="2000" b="1" dirty="0" err="1"/>
              <a:t>Lock</a:t>
            </a:r>
            <a:r>
              <a:rPr lang="ru-RU" sz="2000" b="1" dirty="0"/>
              <a:t> </a:t>
            </a:r>
            <a:r>
              <a:rPr lang="ru-RU" sz="2000" b="1" dirty="0" err="1"/>
              <a:t>readLock</a:t>
            </a:r>
            <a:r>
              <a:rPr lang="ru-RU" sz="2000" b="1" dirty="0"/>
              <a:t>() </a:t>
            </a:r>
            <a:r>
              <a:rPr lang="ru-RU" sz="2000" dirty="0"/>
              <a:t>— возвращает блокировку, которая использовалась для чтения</a:t>
            </a:r>
          </a:p>
          <a:p>
            <a:pPr lvl="1"/>
            <a:r>
              <a:rPr lang="ru-RU" sz="2000" b="1" dirty="0" err="1"/>
              <a:t>Lock</a:t>
            </a:r>
            <a:r>
              <a:rPr lang="ru-RU" sz="2000" b="1" dirty="0"/>
              <a:t> </a:t>
            </a:r>
            <a:r>
              <a:rPr lang="ru-RU" sz="2000" b="1" dirty="0" err="1"/>
              <a:t>writeLock</a:t>
            </a:r>
            <a:r>
              <a:rPr lang="ru-RU" sz="2000" b="1" dirty="0"/>
              <a:t>() </a:t>
            </a:r>
            <a:r>
              <a:rPr lang="ru-RU" sz="2000" dirty="0"/>
              <a:t>— возвращает блокировку, которая использовалась для записи.</a:t>
            </a:r>
          </a:p>
        </p:txBody>
      </p:sp>
      <p:pic>
        <p:nvPicPr>
          <p:cNvPr id="6" name="Picture 5">
            <a:extLst>
              <a:ext uri="{FF2B5EF4-FFF2-40B4-BE49-F238E27FC236}">
                <a16:creationId xmlns:a16="http://schemas.microsoft.com/office/drawing/2014/main" id="{52F078BD-BD62-431E-AD70-44FDD957ACE6}"/>
              </a:ext>
            </a:extLst>
          </p:cNvPr>
          <p:cNvPicPr>
            <a:picLocks noChangeAspect="1"/>
          </p:cNvPicPr>
          <p:nvPr/>
        </p:nvPicPr>
        <p:blipFill rotWithShape="1">
          <a:blip r:embed="rId3"/>
          <a:srcRect r="3031" b="7693"/>
          <a:stretch/>
        </p:blipFill>
        <p:spPr>
          <a:xfrm>
            <a:off x="6821715" y="2119722"/>
            <a:ext cx="5270764" cy="34734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63196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8E2F5-7491-4489-8EAF-413772D4DE8A}"/>
              </a:ext>
            </a:extLst>
          </p:cNvPr>
          <p:cNvSpPr>
            <a:spLocks noGrp="1"/>
          </p:cNvSpPr>
          <p:nvPr>
            <p:ph type="title"/>
          </p:nvPr>
        </p:nvSpPr>
        <p:spPr/>
        <p:txBody>
          <a:bodyPr/>
          <a:lstStyle/>
          <a:p>
            <a:r>
              <a:rPr lang="en-US" dirty="0" err="1"/>
              <a:t>ExecutorService</a:t>
            </a:r>
            <a:endParaRPr lang="ru-RU" dirty="0"/>
          </a:p>
        </p:txBody>
      </p:sp>
      <p:sp>
        <p:nvSpPr>
          <p:cNvPr id="4" name="Rectangle 3">
            <a:extLst>
              <a:ext uri="{FF2B5EF4-FFF2-40B4-BE49-F238E27FC236}">
                <a16:creationId xmlns:a16="http://schemas.microsoft.com/office/drawing/2014/main" id="{0096E241-EB5A-4884-9470-6D7AA7B30FCA}"/>
              </a:ext>
            </a:extLst>
          </p:cNvPr>
          <p:cNvSpPr/>
          <p:nvPr/>
        </p:nvSpPr>
        <p:spPr>
          <a:xfrm>
            <a:off x="609600" y="1809739"/>
            <a:ext cx="10972800" cy="3631763"/>
          </a:xfrm>
          <a:prstGeom prst="rect">
            <a:avLst/>
          </a:prstGeom>
        </p:spPr>
        <p:txBody>
          <a:bodyPr wrap="square">
            <a:spAutoFit/>
          </a:bodyPr>
          <a:lstStyle/>
          <a:p>
            <a:pPr marL="342900" indent="-342900">
              <a:buFont typeface="Arial" panose="020B0604020202020204" pitchFamily="34" charset="0"/>
              <a:buChar char="•"/>
            </a:pPr>
            <a:r>
              <a:rPr lang="ru-RU" sz="2300" b="1" dirty="0" err="1"/>
              <a:t>ExecutorService</a:t>
            </a:r>
            <a:r>
              <a:rPr lang="ru-RU" sz="2300" dirty="0"/>
              <a:t>: Расширяет интерфейс </a:t>
            </a:r>
            <a:r>
              <a:rPr lang="ru-RU" sz="2300" dirty="0" err="1"/>
              <a:t>Executor</a:t>
            </a:r>
            <a:r>
              <a:rPr lang="ru-RU" sz="2300" dirty="0"/>
              <a:t> и добавляет дополнительные возможности, такие как возвратные значения и завершение задач. Предоставляет методы для управления циклами выполнения и получения результатов задач.</a:t>
            </a:r>
          </a:p>
          <a:p>
            <a:pPr marL="342900" indent="-342900">
              <a:buFont typeface="Arial" panose="020B0604020202020204" pitchFamily="34" charset="0"/>
              <a:buChar char="•"/>
            </a:pPr>
            <a:r>
              <a:rPr lang="ru-RU" sz="2300" b="1" dirty="0" err="1"/>
              <a:t>ThreadPoolExecutor</a:t>
            </a:r>
            <a:r>
              <a:rPr lang="ru-RU" sz="2300" dirty="0"/>
              <a:t>: Реализация </a:t>
            </a:r>
            <a:r>
              <a:rPr lang="ru-RU" sz="2300" dirty="0" err="1"/>
              <a:t>ExecutorService</a:t>
            </a:r>
            <a:r>
              <a:rPr lang="ru-RU" sz="2300" dirty="0"/>
              <a:t>, которая создает и управляет пулом потоков для выполнения задач. Позволяет контролировать параметры пула потоков, такие как размер пула, очередь задач и политику отклонения задач.</a:t>
            </a:r>
          </a:p>
          <a:p>
            <a:pPr marL="342900" indent="-342900">
              <a:buFont typeface="Arial" panose="020B0604020202020204" pitchFamily="34" charset="0"/>
              <a:buChar char="•"/>
            </a:pPr>
            <a:r>
              <a:rPr lang="ru-RU" sz="2300" b="1" dirty="0" err="1"/>
              <a:t>ScheduledExecutorService</a:t>
            </a:r>
            <a:r>
              <a:rPr lang="ru-RU" sz="2300" dirty="0"/>
              <a:t>: Расширение </a:t>
            </a:r>
            <a:r>
              <a:rPr lang="ru-RU" sz="2300" dirty="0" err="1"/>
              <a:t>ExecutorService</a:t>
            </a:r>
            <a:r>
              <a:rPr lang="ru-RU" sz="2300" dirty="0"/>
              <a:t>, которое поддерживает планирование выполнения задач в определенное время или с определенной периодичностью. Позволяет создавать периодические задачи и запускать их с заданным интервалом.</a:t>
            </a:r>
          </a:p>
        </p:txBody>
      </p:sp>
    </p:spTree>
    <p:extLst>
      <p:ext uri="{BB962C8B-B14F-4D97-AF65-F5344CB8AC3E}">
        <p14:creationId xmlns:p14="http://schemas.microsoft.com/office/powerpoint/2010/main" val="3884281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497FE-75CE-4B5C-BC8D-EC2B8753EF07}"/>
              </a:ext>
            </a:extLst>
          </p:cNvPr>
          <p:cNvSpPr>
            <a:spLocks noGrp="1"/>
          </p:cNvSpPr>
          <p:nvPr>
            <p:ph type="title"/>
          </p:nvPr>
        </p:nvSpPr>
        <p:spPr/>
        <p:txBody>
          <a:bodyPr/>
          <a:lstStyle/>
          <a:p>
            <a:r>
              <a:rPr lang="ru-RU" dirty="0"/>
              <a:t>Интерфейс </a:t>
            </a:r>
            <a:r>
              <a:rPr lang="en-US" dirty="0"/>
              <a:t>Callable</a:t>
            </a:r>
            <a:endParaRPr lang="ru-RU" dirty="0"/>
          </a:p>
        </p:txBody>
      </p:sp>
      <p:sp>
        <p:nvSpPr>
          <p:cNvPr id="3" name="TextBox 2">
            <a:extLst>
              <a:ext uri="{FF2B5EF4-FFF2-40B4-BE49-F238E27FC236}">
                <a16:creationId xmlns:a16="http://schemas.microsoft.com/office/drawing/2014/main" id="{3D4AC975-C973-43E3-A350-832D559BEEAC}"/>
              </a:ext>
            </a:extLst>
          </p:cNvPr>
          <p:cNvSpPr txBox="1"/>
          <p:nvPr/>
        </p:nvSpPr>
        <p:spPr>
          <a:xfrm>
            <a:off x="609599" y="2214563"/>
            <a:ext cx="5570113" cy="4093428"/>
          </a:xfrm>
          <a:prstGeom prst="rect">
            <a:avLst/>
          </a:prstGeom>
          <a:noFill/>
        </p:spPr>
        <p:txBody>
          <a:bodyPr wrap="square" rtlCol="0">
            <a:spAutoFit/>
          </a:bodyPr>
          <a:lstStyle/>
          <a:p>
            <a:pPr marL="285750" indent="-285750">
              <a:buFont typeface="Arial" panose="020B0604020202020204" pitchFamily="34" charset="0"/>
              <a:buChar char="•"/>
            </a:pPr>
            <a:r>
              <a:rPr lang="ru-RU" sz="2000" dirty="0"/>
              <a:t>Еще один способ создать задачу для выполнения в отдельном потоке – реализовать интерфейс </a:t>
            </a:r>
            <a:r>
              <a:rPr lang="en-US" sz="2000" b="1" dirty="0"/>
              <a:t>Callable</a:t>
            </a:r>
            <a:r>
              <a:rPr lang="en-US" sz="2000" dirty="0"/>
              <a:t> </a:t>
            </a:r>
            <a:r>
              <a:rPr lang="ru-RU" sz="2000" dirty="0"/>
              <a:t>и переопределить его единственный метод </a:t>
            </a:r>
            <a:r>
              <a:rPr lang="en-US" sz="2000" b="1" dirty="0"/>
              <a:t>call()</a:t>
            </a:r>
          </a:p>
          <a:p>
            <a:pPr marL="285750" indent="-285750">
              <a:buFont typeface="Arial" panose="020B0604020202020204" pitchFamily="34" charset="0"/>
              <a:buChar char="•"/>
            </a:pPr>
            <a:r>
              <a:rPr lang="ru-RU" sz="2000" dirty="0"/>
              <a:t>Предоставляет возможность возвращать результат выполнения задачи</a:t>
            </a:r>
            <a:endParaRPr lang="en-US" sz="2000" dirty="0"/>
          </a:p>
          <a:p>
            <a:pPr marL="285750" indent="-285750">
              <a:buFont typeface="Arial" panose="020B0604020202020204" pitchFamily="34" charset="0"/>
              <a:buChar char="•"/>
            </a:pPr>
            <a:r>
              <a:rPr lang="ru-RU" sz="2000" dirty="0"/>
              <a:t>Позволяет бросать проверяемые исключения</a:t>
            </a:r>
          </a:p>
          <a:p>
            <a:pPr marL="285750" indent="-285750">
              <a:buFont typeface="Arial" panose="020B0604020202020204" pitchFamily="34" charset="0"/>
              <a:buChar char="•"/>
            </a:pPr>
            <a:r>
              <a:rPr lang="ru-RU" sz="2000" b="1" dirty="0" err="1"/>
              <a:t>Future</a:t>
            </a:r>
            <a:r>
              <a:rPr lang="ru-RU" sz="2000" dirty="0"/>
              <a:t> показывает результат выполнения асинхронной операции и предоставляет методы для проверки завершения операции, ожидания её завершения и извлечения результата</a:t>
            </a:r>
            <a:endParaRPr lang="en-US" sz="2000" dirty="0"/>
          </a:p>
        </p:txBody>
      </p:sp>
      <p:pic>
        <p:nvPicPr>
          <p:cNvPr id="7" name="Picture 6">
            <a:extLst>
              <a:ext uri="{FF2B5EF4-FFF2-40B4-BE49-F238E27FC236}">
                <a16:creationId xmlns:a16="http://schemas.microsoft.com/office/drawing/2014/main" id="{4BD6E4A7-863B-40DC-88B5-06BB32CB6075}"/>
              </a:ext>
            </a:extLst>
          </p:cNvPr>
          <p:cNvPicPr>
            <a:picLocks noChangeAspect="1"/>
          </p:cNvPicPr>
          <p:nvPr/>
        </p:nvPicPr>
        <p:blipFill>
          <a:blip r:embed="rId3"/>
          <a:stretch>
            <a:fillRect/>
          </a:stretch>
        </p:blipFill>
        <p:spPr>
          <a:xfrm>
            <a:off x="6208096" y="1809739"/>
            <a:ext cx="5771869" cy="2788802"/>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822A38C7-564D-4780-B463-600A868C5BD0}"/>
              </a:ext>
            </a:extLst>
          </p:cNvPr>
          <p:cNvPicPr>
            <a:picLocks noChangeAspect="1"/>
          </p:cNvPicPr>
          <p:nvPr/>
        </p:nvPicPr>
        <p:blipFill>
          <a:blip r:embed="rId4"/>
          <a:stretch>
            <a:fillRect/>
          </a:stretch>
        </p:blipFill>
        <p:spPr>
          <a:xfrm>
            <a:off x="7023668" y="4501157"/>
            <a:ext cx="4984681" cy="23568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659600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1623-2800-4EB7-BE9B-C166FD77F5B7}"/>
              </a:ext>
            </a:extLst>
          </p:cNvPr>
          <p:cNvSpPr>
            <a:spLocks noGrp="1"/>
          </p:cNvSpPr>
          <p:nvPr>
            <p:ph type="title"/>
          </p:nvPr>
        </p:nvSpPr>
        <p:spPr/>
        <p:txBody>
          <a:bodyPr/>
          <a:lstStyle/>
          <a:p>
            <a:r>
              <a:rPr lang="en-US" dirty="0" err="1"/>
              <a:t>FixedThreadPool</a:t>
            </a:r>
            <a:endParaRPr lang="ru-RU" dirty="0"/>
          </a:p>
        </p:txBody>
      </p:sp>
      <p:pic>
        <p:nvPicPr>
          <p:cNvPr id="4" name="Picture 3">
            <a:extLst>
              <a:ext uri="{FF2B5EF4-FFF2-40B4-BE49-F238E27FC236}">
                <a16:creationId xmlns:a16="http://schemas.microsoft.com/office/drawing/2014/main" id="{5D1A14AF-C729-429C-A62C-14A8A8F9B978}"/>
              </a:ext>
            </a:extLst>
          </p:cNvPr>
          <p:cNvPicPr>
            <a:picLocks noChangeAspect="1"/>
          </p:cNvPicPr>
          <p:nvPr/>
        </p:nvPicPr>
        <p:blipFill>
          <a:blip r:embed="rId3"/>
          <a:stretch>
            <a:fillRect/>
          </a:stretch>
        </p:blipFill>
        <p:spPr>
          <a:xfrm>
            <a:off x="638629" y="2211841"/>
            <a:ext cx="7366676" cy="2836421"/>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ADAAD4E2-B501-4500-84A3-D84EB348C746}"/>
              </a:ext>
            </a:extLst>
          </p:cNvPr>
          <p:cNvPicPr>
            <a:picLocks noChangeAspect="1"/>
          </p:cNvPicPr>
          <p:nvPr/>
        </p:nvPicPr>
        <p:blipFill>
          <a:blip r:embed="rId4">
            <a:duotone>
              <a:schemeClr val="accent3">
                <a:shade val="45000"/>
                <a:satMod val="135000"/>
              </a:schemeClr>
              <a:prstClr val="white"/>
            </a:duotone>
          </a:blip>
          <a:stretch>
            <a:fillRect/>
          </a:stretch>
        </p:blipFill>
        <p:spPr>
          <a:xfrm>
            <a:off x="7478499" y="3429000"/>
            <a:ext cx="4541223" cy="3002617"/>
          </a:xfrm>
          <a:prstGeom prst="rect">
            <a:avLst/>
          </a:prstGeom>
          <a:ln>
            <a:noFill/>
          </a:ln>
          <a:effectLst>
            <a:softEdge rad="112500"/>
          </a:effectLst>
        </p:spPr>
      </p:pic>
    </p:spTree>
    <p:extLst>
      <p:ext uri="{BB962C8B-B14F-4D97-AF65-F5344CB8AC3E}">
        <p14:creationId xmlns:p14="http://schemas.microsoft.com/office/powerpoint/2010/main" val="34195198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1623-2800-4EB7-BE9B-C166FD77F5B7}"/>
              </a:ext>
            </a:extLst>
          </p:cNvPr>
          <p:cNvSpPr>
            <a:spLocks noGrp="1"/>
          </p:cNvSpPr>
          <p:nvPr>
            <p:ph type="title"/>
          </p:nvPr>
        </p:nvSpPr>
        <p:spPr/>
        <p:txBody>
          <a:bodyPr/>
          <a:lstStyle/>
          <a:p>
            <a:r>
              <a:rPr lang="en-US" dirty="0" err="1"/>
              <a:t>ScheduledExecutorService</a:t>
            </a:r>
            <a:endParaRPr lang="ru-RU" dirty="0"/>
          </a:p>
        </p:txBody>
      </p:sp>
      <p:pic>
        <p:nvPicPr>
          <p:cNvPr id="3" name="Picture 2">
            <a:extLst>
              <a:ext uri="{FF2B5EF4-FFF2-40B4-BE49-F238E27FC236}">
                <a16:creationId xmlns:a16="http://schemas.microsoft.com/office/drawing/2014/main" id="{0140C7B7-89BE-465A-8645-263DFC0F7839}"/>
              </a:ext>
            </a:extLst>
          </p:cNvPr>
          <p:cNvPicPr>
            <a:picLocks noChangeAspect="1"/>
          </p:cNvPicPr>
          <p:nvPr/>
        </p:nvPicPr>
        <p:blipFill>
          <a:blip r:embed="rId3"/>
          <a:stretch>
            <a:fillRect/>
          </a:stretch>
        </p:blipFill>
        <p:spPr>
          <a:xfrm>
            <a:off x="796063" y="1991895"/>
            <a:ext cx="10342397" cy="1877739"/>
          </a:xfrm>
          <a:prstGeom prst="rect">
            <a:avLst/>
          </a:prstGeom>
        </p:spPr>
      </p:pic>
      <p:pic>
        <p:nvPicPr>
          <p:cNvPr id="7" name="Picture 6">
            <a:extLst>
              <a:ext uri="{FF2B5EF4-FFF2-40B4-BE49-F238E27FC236}">
                <a16:creationId xmlns:a16="http://schemas.microsoft.com/office/drawing/2014/main" id="{EC6A1CD0-CC89-4A56-97EA-09B5963FE5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4762" y="3165700"/>
            <a:ext cx="4177999" cy="3133499"/>
          </a:xfrm>
          <a:prstGeom prst="rect">
            <a:avLst/>
          </a:prstGeom>
          <a:ln>
            <a:noFill/>
          </a:ln>
          <a:effectLst>
            <a:softEdge rad="112500"/>
          </a:effectLst>
        </p:spPr>
      </p:pic>
    </p:spTree>
    <p:extLst>
      <p:ext uri="{BB962C8B-B14F-4D97-AF65-F5344CB8AC3E}">
        <p14:creationId xmlns:p14="http://schemas.microsoft.com/office/powerpoint/2010/main" val="1322708712"/>
      </p:ext>
    </p:extLst>
  </p:cSld>
  <p:clrMapOvr>
    <a:masterClrMapping/>
  </p:clrMapOvr>
</p:sld>
</file>

<file path=ppt/theme/theme1.xml><?xml version="1.0" encoding="utf-8"?>
<a:theme xmlns:a="http://schemas.openxmlformats.org/drawingml/2006/main" name="GIS_them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IS_theme" id="{BE02770F-7101-4688-B577-AD8DBBEE116F}" vid="{5F9EFAE2-465C-4993-93DD-21E424A23A92}"/>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Control xmlns="http://schemas.microsoft.com/VisualStudio/2011/storyboarding/control">
  <Id Name="d2655081-a077-4fd9-949e-2f5d59e70d7a" Revision="1" Stencil="System.MyShapes" StencilVersion="1.0"/>
</Control>
</file>

<file path=customXml/itemProps1.xml><?xml version="1.0" encoding="utf-8"?>
<ds:datastoreItem xmlns:ds="http://schemas.openxmlformats.org/officeDocument/2006/customXml" ds:itemID="{F55705B9-9ED4-469A-A231-549B6E50306E}">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GIS_theme</Template>
  <TotalTime>29413</TotalTime>
  <Words>5899</Words>
  <Application>Microsoft Office PowerPoint</Application>
  <PresentationFormat>Widescreen</PresentationFormat>
  <Paragraphs>345</Paragraphs>
  <Slides>40</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Consolas</vt:lpstr>
      <vt:lpstr>Times New Roman</vt:lpstr>
      <vt:lpstr>GIS_theme</vt:lpstr>
      <vt:lpstr>Программирование на Java</vt:lpstr>
      <vt:lpstr>Зачем?</vt:lpstr>
      <vt:lpstr>Процессы и потоки</vt:lpstr>
      <vt:lpstr>Псевдо-параллелизм</vt:lpstr>
      <vt:lpstr>Класс Thread</vt:lpstr>
      <vt:lpstr>Потоки демоны</vt:lpstr>
      <vt:lpstr>Приоритеты потоков</vt:lpstr>
      <vt:lpstr>Управление потоком</vt:lpstr>
      <vt:lpstr>Создание и выполнение потоков</vt:lpstr>
      <vt:lpstr>Создание и выполнение потоков</vt:lpstr>
      <vt:lpstr>Как остановить поток?</vt:lpstr>
      <vt:lpstr>Прерывание потока</vt:lpstr>
      <vt:lpstr>Прерывание потока</vt:lpstr>
      <vt:lpstr>Метод yield</vt:lpstr>
      <vt:lpstr>Блокирующие операции</vt:lpstr>
      <vt:lpstr>Метод sleep</vt:lpstr>
      <vt:lpstr>Метод join</vt:lpstr>
      <vt:lpstr>Синхронизация потоков. Монитор</vt:lpstr>
      <vt:lpstr>Критическая секция</vt:lpstr>
      <vt:lpstr>Synchronized</vt:lpstr>
      <vt:lpstr>Synchronized</vt:lpstr>
      <vt:lpstr>Wait и ожидание по монитору</vt:lpstr>
      <vt:lpstr>Жизненный цикл потока</vt:lpstr>
      <vt:lpstr>PowerPoint Presentation</vt:lpstr>
      <vt:lpstr>Проблемы многопоточности</vt:lpstr>
      <vt:lpstr>Основных концепций параллелизма</vt:lpstr>
      <vt:lpstr>Атомарность</vt:lpstr>
      <vt:lpstr>Атомарность</vt:lpstr>
      <vt:lpstr>Видимость. Модификатор volatile</vt:lpstr>
      <vt:lpstr>Потокобезопасный Singleton</vt:lpstr>
      <vt:lpstr>Java Concurrent</vt:lpstr>
      <vt:lpstr>Атомарные классы</vt:lpstr>
      <vt:lpstr>Атомарные классы</vt:lpstr>
      <vt:lpstr>Interface Lock</vt:lpstr>
      <vt:lpstr>ReentrantLock</vt:lpstr>
      <vt:lpstr>Интерфейс ReadWriteLock</vt:lpstr>
      <vt:lpstr>ExecutorService</vt:lpstr>
      <vt:lpstr>Интерфейс Callable</vt:lpstr>
      <vt:lpstr>FixedThreadPool</vt:lpstr>
      <vt:lpstr>ScheduledExecutorService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Filinskikh, Yulia</dc:creator>
  <cp:lastModifiedBy>Yulia Filinskikh</cp:lastModifiedBy>
  <cp:revision>202</cp:revision>
  <dcterms:created xsi:type="dcterms:W3CDTF">2019-02-08T07:13:25Z</dcterms:created>
  <dcterms:modified xsi:type="dcterms:W3CDTF">2025-02-18T14:30:27Z</dcterms:modified>
</cp:coreProperties>
</file>