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2"/>
  </p:sldMasterIdLst>
  <p:notesMasterIdLst>
    <p:notesMasterId r:id="rId17"/>
  </p:notesMasterIdLst>
  <p:handoutMasterIdLst>
    <p:handoutMasterId r:id="rId18"/>
  </p:handoutMasterIdLst>
  <p:sldIdLst>
    <p:sldId id="257" r:id="rId3"/>
    <p:sldId id="258" r:id="rId4"/>
    <p:sldId id="263" r:id="rId5"/>
    <p:sldId id="262" r:id="rId6"/>
    <p:sldId id="259" r:id="rId7"/>
    <p:sldId id="264" r:id="rId8"/>
    <p:sldId id="265" r:id="rId9"/>
    <p:sldId id="266" r:id="rId10"/>
    <p:sldId id="267" r:id="rId11"/>
    <p:sldId id="270" r:id="rId12"/>
    <p:sldId id="269" r:id="rId13"/>
    <p:sldId id="268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linskikh, Yulia" initials="FY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FBD"/>
    <a:srgbClr val="FF6600"/>
    <a:srgbClr val="006CB7"/>
    <a:srgbClr val="80C342"/>
    <a:srgbClr val="EE31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80699" autoAdjust="0"/>
  </p:normalViewPr>
  <p:slideViewPr>
    <p:cSldViewPr snapToGrid="0">
      <p:cViewPr varScale="1">
        <p:scale>
          <a:sx n="48" d="100"/>
          <a:sy n="48" d="100"/>
        </p:scale>
        <p:origin x="119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9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9496B1-60A9-4BB3-BE2E-CC35FFE8EFB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17620E0-7446-4744-9419-083AC22381AB}">
      <dgm:prSet phldrT="[Текст]"/>
      <dgm:spPr/>
      <dgm:t>
        <a:bodyPr/>
        <a:lstStyle/>
        <a:p>
          <a:r>
            <a:rPr lang="ru-RU" dirty="0" err="1"/>
            <a:t>Политех</a:t>
          </a:r>
          <a:endParaRPr lang="ru-RU" dirty="0"/>
        </a:p>
      </dgm:t>
    </dgm:pt>
    <dgm:pt modelId="{9F571345-2BD8-4219-A1CE-83545F412242}" type="parTrans" cxnId="{B9541036-2A52-4601-B62D-0FDCC522A377}">
      <dgm:prSet/>
      <dgm:spPr/>
      <dgm:t>
        <a:bodyPr/>
        <a:lstStyle/>
        <a:p>
          <a:endParaRPr lang="ru-RU"/>
        </a:p>
      </dgm:t>
    </dgm:pt>
    <dgm:pt modelId="{CB3C876E-EA9D-4716-A755-1C07957FEF47}" type="sibTrans" cxnId="{B9541036-2A52-4601-B62D-0FDCC522A377}">
      <dgm:prSet/>
      <dgm:spPr/>
      <dgm:t>
        <a:bodyPr/>
        <a:lstStyle/>
        <a:p>
          <a:endParaRPr lang="ru-RU"/>
        </a:p>
      </dgm:t>
    </dgm:pt>
    <dgm:pt modelId="{37175822-324A-4D5C-9ACC-E5FF16DBDC7C}">
      <dgm:prSet phldrT="[Текст]"/>
      <dgm:spPr/>
      <dgm:t>
        <a:bodyPr/>
        <a:lstStyle/>
        <a:p>
          <a:r>
            <a:rPr lang="ru-RU" dirty="0"/>
            <a:t>лучше</a:t>
          </a:r>
        </a:p>
      </dgm:t>
    </dgm:pt>
    <dgm:pt modelId="{3674B1A3-2614-4731-AAA3-DDCAD43167F2}" type="parTrans" cxnId="{D9D15573-EEE4-45FD-B50D-B243B9E8C0E9}">
      <dgm:prSet/>
      <dgm:spPr/>
      <dgm:t>
        <a:bodyPr/>
        <a:lstStyle/>
        <a:p>
          <a:endParaRPr lang="ru-RU"/>
        </a:p>
      </dgm:t>
    </dgm:pt>
    <dgm:pt modelId="{D814184B-31DB-47AC-8C39-AE0EB2A7B47E}" type="sibTrans" cxnId="{D9D15573-EEE4-45FD-B50D-B243B9E8C0E9}">
      <dgm:prSet/>
      <dgm:spPr/>
      <dgm:t>
        <a:bodyPr/>
        <a:lstStyle/>
        <a:p>
          <a:endParaRPr lang="ru-RU"/>
        </a:p>
      </dgm:t>
    </dgm:pt>
    <dgm:pt modelId="{1B542999-3E4F-4C45-A4D9-85C929505EF8}">
      <dgm:prSet phldrT="[Текст]"/>
      <dgm:spPr/>
      <dgm:t>
        <a:bodyPr/>
        <a:lstStyle/>
        <a:p>
          <a:r>
            <a:rPr lang="ru-RU" dirty="0"/>
            <a:t>всех</a:t>
          </a:r>
        </a:p>
      </dgm:t>
    </dgm:pt>
    <dgm:pt modelId="{59BC566D-B519-43A1-81E6-5F9CBBB6AF9C}" type="parTrans" cxnId="{9CDC400D-73E0-4F3A-B5EE-1406AB98ABB4}">
      <dgm:prSet/>
      <dgm:spPr/>
      <dgm:t>
        <a:bodyPr/>
        <a:lstStyle/>
        <a:p>
          <a:endParaRPr lang="ru-RU"/>
        </a:p>
      </dgm:t>
    </dgm:pt>
    <dgm:pt modelId="{73578FB0-9891-4B6A-9F65-62650BA8AF92}" type="sibTrans" cxnId="{9CDC400D-73E0-4F3A-B5EE-1406AB98ABB4}">
      <dgm:prSet/>
      <dgm:spPr/>
      <dgm:t>
        <a:bodyPr/>
        <a:lstStyle/>
        <a:p>
          <a:endParaRPr lang="ru-RU"/>
        </a:p>
      </dgm:t>
    </dgm:pt>
    <dgm:pt modelId="{1BD10A58-CFCF-4B2E-8570-74375B2EE689}" type="pres">
      <dgm:prSet presAssocID="{5B9496B1-60A9-4BB3-BE2E-CC35FFE8EFBC}" presName="CompostProcess" presStyleCnt="0">
        <dgm:presLayoutVars>
          <dgm:dir/>
          <dgm:resizeHandles val="exact"/>
        </dgm:presLayoutVars>
      </dgm:prSet>
      <dgm:spPr/>
    </dgm:pt>
    <dgm:pt modelId="{4054011A-08D9-4436-904C-ED088EE4E36F}" type="pres">
      <dgm:prSet presAssocID="{5B9496B1-60A9-4BB3-BE2E-CC35FFE8EFBC}" presName="arrow" presStyleLbl="bgShp" presStyleIdx="0" presStyleCnt="1"/>
      <dgm:spPr/>
    </dgm:pt>
    <dgm:pt modelId="{3273F40F-F825-4CA3-95C3-F902A243AEA6}" type="pres">
      <dgm:prSet presAssocID="{5B9496B1-60A9-4BB3-BE2E-CC35FFE8EFBC}" presName="linearProcess" presStyleCnt="0"/>
      <dgm:spPr/>
    </dgm:pt>
    <dgm:pt modelId="{48FF2217-976A-4A2B-8E87-8DFCF6CE3073}" type="pres">
      <dgm:prSet presAssocID="{B17620E0-7446-4744-9419-083AC22381AB}" presName="textNode" presStyleLbl="node1" presStyleIdx="0" presStyleCnt="3">
        <dgm:presLayoutVars>
          <dgm:bulletEnabled val="1"/>
        </dgm:presLayoutVars>
      </dgm:prSet>
      <dgm:spPr/>
    </dgm:pt>
    <dgm:pt modelId="{3A26FA3D-FF70-4326-8945-2805B4A29980}" type="pres">
      <dgm:prSet presAssocID="{CB3C876E-EA9D-4716-A755-1C07957FEF47}" presName="sibTrans" presStyleCnt="0"/>
      <dgm:spPr/>
    </dgm:pt>
    <dgm:pt modelId="{3DC25829-752A-4F8D-9613-A1A628E9A48D}" type="pres">
      <dgm:prSet presAssocID="{37175822-324A-4D5C-9ACC-E5FF16DBDC7C}" presName="textNode" presStyleLbl="node1" presStyleIdx="1" presStyleCnt="3">
        <dgm:presLayoutVars>
          <dgm:bulletEnabled val="1"/>
        </dgm:presLayoutVars>
      </dgm:prSet>
      <dgm:spPr/>
    </dgm:pt>
    <dgm:pt modelId="{1B3563A8-4F34-4997-B7EA-43E75833AFDC}" type="pres">
      <dgm:prSet presAssocID="{D814184B-31DB-47AC-8C39-AE0EB2A7B47E}" presName="sibTrans" presStyleCnt="0"/>
      <dgm:spPr/>
    </dgm:pt>
    <dgm:pt modelId="{48D3C4BD-4DFD-4F78-A923-D260702BF46B}" type="pres">
      <dgm:prSet presAssocID="{1B542999-3E4F-4C45-A4D9-85C929505EF8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CDC400D-73E0-4F3A-B5EE-1406AB98ABB4}" srcId="{5B9496B1-60A9-4BB3-BE2E-CC35FFE8EFBC}" destId="{1B542999-3E4F-4C45-A4D9-85C929505EF8}" srcOrd="2" destOrd="0" parTransId="{59BC566D-B519-43A1-81E6-5F9CBBB6AF9C}" sibTransId="{73578FB0-9891-4B6A-9F65-62650BA8AF92}"/>
    <dgm:cxn modelId="{1D6D2B27-37C9-4B42-B556-D0530A59E53F}" type="presOf" srcId="{5B9496B1-60A9-4BB3-BE2E-CC35FFE8EFBC}" destId="{1BD10A58-CFCF-4B2E-8570-74375B2EE689}" srcOrd="0" destOrd="0" presId="urn:microsoft.com/office/officeart/2005/8/layout/hProcess9"/>
    <dgm:cxn modelId="{B9541036-2A52-4601-B62D-0FDCC522A377}" srcId="{5B9496B1-60A9-4BB3-BE2E-CC35FFE8EFBC}" destId="{B17620E0-7446-4744-9419-083AC22381AB}" srcOrd="0" destOrd="0" parTransId="{9F571345-2BD8-4219-A1CE-83545F412242}" sibTransId="{CB3C876E-EA9D-4716-A755-1C07957FEF47}"/>
    <dgm:cxn modelId="{BACFC06B-A0AB-48D3-8D93-165B176A93E5}" type="presOf" srcId="{1B542999-3E4F-4C45-A4D9-85C929505EF8}" destId="{48D3C4BD-4DFD-4F78-A923-D260702BF46B}" srcOrd="0" destOrd="0" presId="urn:microsoft.com/office/officeart/2005/8/layout/hProcess9"/>
    <dgm:cxn modelId="{D9D15573-EEE4-45FD-B50D-B243B9E8C0E9}" srcId="{5B9496B1-60A9-4BB3-BE2E-CC35FFE8EFBC}" destId="{37175822-324A-4D5C-9ACC-E5FF16DBDC7C}" srcOrd="1" destOrd="0" parTransId="{3674B1A3-2614-4731-AAA3-DDCAD43167F2}" sibTransId="{D814184B-31DB-47AC-8C39-AE0EB2A7B47E}"/>
    <dgm:cxn modelId="{2F2F4059-D4BF-44F6-A243-21D33883FEA5}" type="presOf" srcId="{37175822-324A-4D5C-9ACC-E5FF16DBDC7C}" destId="{3DC25829-752A-4F8D-9613-A1A628E9A48D}" srcOrd="0" destOrd="0" presId="urn:microsoft.com/office/officeart/2005/8/layout/hProcess9"/>
    <dgm:cxn modelId="{2C1EDFF4-057E-4002-9930-E2C7137E2F8D}" type="presOf" srcId="{B17620E0-7446-4744-9419-083AC22381AB}" destId="{48FF2217-976A-4A2B-8E87-8DFCF6CE3073}" srcOrd="0" destOrd="0" presId="urn:microsoft.com/office/officeart/2005/8/layout/hProcess9"/>
    <dgm:cxn modelId="{4EBEC9F7-D3D6-4B47-BD70-05CB5D658AE4}" type="presParOf" srcId="{1BD10A58-CFCF-4B2E-8570-74375B2EE689}" destId="{4054011A-08D9-4436-904C-ED088EE4E36F}" srcOrd="0" destOrd="0" presId="urn:microsoft.com/office/officeart/2005/8/layout/hProcess9"/>
    <dgm:cxn modelId="{B87620DD-D81A-4350-AEDF-135C2BBDB55D}" type="presParOf" srcId="{1BD10A58-CFCF-4B2E-8570-74375B2EE689}" destId="{3273F40F-F825-4CA3-95C3-F902A243AEA6}" srcOrd="1" destOrd="0" presId="urn:microsoft.com/office/officeart/2005/8/layout/hProcess9"/>
    <dgm:cxn modelId="{36557869-5EC9-4FC0-8808-D293E965514B}" type="presParOf" srcId="{3273F40F-F825-4CA3-95C3-F902A243AEA6}" destId="{48FF2217-976A-4A2B-8E87-8DFCF6CE3073}" srcOrd="0" destOrd="0" presId="urn:microsoft.com/office/officeart/2005/8/layout/hProcess9"/>
    <dgm:cxn modelId="{690B2797-9D63-489A-910B-72B8BC6518CA}" type="presParOf" srcId="{3273F40F-F825-4CA3-95C3-F902A243AEA6}" destId="{3A26FA3D-FF70-4326-8945-2805B4A29980}" srcOrd="1" destOrd="0" presId="urn:microsoft.com/office/officeart/2005/8/layout/hProcess9"/>
    <dgm:cxn modelId="{12B546CF-A724-4E7B-9BD0-D408AE1653CE}" type="presParOf" srcId="{3273F40F-F825-4CA3-95C3-F902A243AEA6}" destId="{3DC25829-752A-4F8D-9613-A1A628E9A48D}" srcOrd="2" destOrd="0" presId="urn:microsoft.com/office/officeart/2005/8/layout/hProcess9"/>
    <dgm:cxn modelId="{77354B1C-8EC9-40A3-AF8F-6503C9DFA5CB}" type="presParOf" srcId="{3273F40F-F825-4CA3-95C3-F902A243AEA6}" destId="{1B3563A8-4F34-4997-B7EA-43E75833AFDC}" srcOrd="3" destOrd="0" presId="urn:microsoft.com/office/officeart/2005/8/layout/hProcess9"/>
    <dgm:cxn modelId="{A5F9DD05-B0EA-43ED-9149-2C46C651ADDA}" type="presParOf" srcId="{3273F40F-F825-4CA3-95C3-F902A243AEA6}" destId="{48D3C4BD-4DFD-4F78-A923-D260702BF46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9496B1-60A9-4BB3-BE2E-CC35FFE8EFB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17620E0-7446-4744-9419-083AC22381AB}">
      <dgm:prSet phldrT="[Текст]"/>
      <dgm:spPr/>
      <dgm:t>
        <a:bodyPr/>
        <a:lstStyle/>
        <a:p>
          <a:r>
            <a:rPr lang="en-US" b="0" i="0" dirty="0"/>
            <a:t>0E2E2F0E2E2E0E2E2B0E2E2</a:t>
          </a:r>
          <a:endParaRPr lang="ru-RU" dirty="0"/>
        </a:p>
      </dgm:t>
    </dgm:pt>
    <dgm:pt modelId="{9F571345-2BD8-4219-A1CE-83545F412242}" type="parTrans" cxnId="{B9541036-2A52-4601-B62D-0FDCC522A377}">
      <dgm:prSet/>
      <dgm:spPr/>
      <dgm:t>
        <a:bodyPr/>
        <a:lstStyle/>
        <a:p>
          <a:endParaRPr lang="ru-RU"/>
        </a:p>
      </dgm:t>
    </dgm:pt>
    <dgm:pt modelId="{CB3C876E-EA9D-4716-A755-1C07957FEF47}" type="sibTrans" cxnId="{B9541036-2A52-4601-B62D-0FDCC522A377}">
      <dgm:prSet/>
      <dgm:spPr/>
      <dgm:t>
        <a:bodyPr/>
        <a:lstStyle/>
        <a:p>
          <a:endParaRPr lang="ru-RU"/>
        </a:p>
      </dgm:t>
    </dgm:pt>
    <dgm:pt modelId="{37175822-324A-4D5C-9ACC-E5FF16DBDC7C}">
      <dgm:prSet phldrT="[Текст]"/>
      <dgm:spPr/>
      <dgm:t>
        <a:bodyPr/>
        <a:lstStyle/>
        <a:p>
          <a:r>
            <a:rPr lang="en-US" dirty="0"/>
            <a:t>0E2E2B0E2F1C0E2F200E2F2</a:t>
          </a:r>
          <a:endParaRPr lang="ru-RU" dirty="0"/>
        </a:p>
      </dgm:t>
    </dgm:pt>
    <dgm:pt modelId="{3674B1A3-2614-4731-AAA3-DDCAD43167F2}" type="parTrans" cxnId="{D9D15573-EEE4-45FD-B50D-B243B9E8C0E9}">
      <dgm:prSet/>
      <dgm:spPr/>
      <dgm:t>
        <a:bodyPr/>
        <a:lstStyle/>
        <a:p>
          <a:endParaRPr lang="ru-RU"/>
        </a:p>
      </dgm:t>
    </dgm:pt>
    <dgm:pt modelId="{D814184B-31DB-47AC-8C39-AE0EB2A7B47E}" type="sibTrans" cxnId="{D9D15573-EEE4-45FD-B50D-B243B9E8C0E9}">
      <dgm:prSet/>
      <dgm:spPr/>
      <dgm:t>
        <a:bodyPr/>
        <a:lstStyle/>
        <a:p>
          <a:endParaRPr lang="ru-RU"/>
        </a:p>
      </dgm:t>
    </dgm:pt>
    <dgm:pt modelId="{1B542999-3E4F-4C45-A4D9-85C929505EF8}">
      <dgm:prSet phldrT="[Текст]"/>
      <dgm:spPr/>
      <dgm:t>
        <a:bodyPr/>
        <a:lstStyle/>
        <a:p>
          <a:r>
            <a:rPr lang="en-US" b="0" i="0" dirty="0"/>
            <a:t>0E2E1B0E2F1A0E2E1E0E2F1E</a:t>
          </a:r>
          <a:endParaRPr lang="ru-RU" dirty="0"/>
        </a:p>
      </dgm:t>
    </dgm:pt>
    <dgm:pt modelId="{59BC566D-B519-43A1-81E6-5F9CBBB6AF9C}" type="parTrans" cxnId="{9CDC400D-73E0-4F3A-B5EE-1406AB98ABB4}">
      <dgm:prSet/>
      <dgm:spPr/>
      <dgm:t>
        <a:bodyPr/>
        <a:lstStyle/>
        <a:p>
          <a:endParaRPr lang="ru-RU"/>
        </a:p>
      </dgm:t>
    </dgm:pt>
    <dgm:pt modelId="{73578FB0-9891-4B6A-9F65-62650BA8AF92}" type="sibTrans" cxnId="{9CDC400D-73E0-4F3A-B5EE-1406AB98ABB4}">
      <dgm:prSet/>
      <dgm:spPr/>
      <dgm:t>
        <a:bodyPr/>
        <a:lstStyle/>
        <a:p>
          <a:endParaRPr lang="ru-RU"/>
        </a:p>
      </dgm:t>
    </dgm:pt>
    <dgm:pt modelId="{1BD10A58-CFCF-4B2E-8570-74375B2EE689}" type="pres">
      <dgm:prSet presAssocID="{5B9496B1-60A9-4BB3-BE2E-CC35FFE8EFBC}" presName="CompostProcess" presStyleCnt="0">
        <dgm:presLayoutVars>
          <dgm:dir/>
          <dgm:resizeHandles val="exact"/>
        </dgm:presLayoutVars>
      </dgm:prSet>
      <dgm:spPr/>
    </dgm:pt>
    <dgm:pt modelId="{4054011A-08D9-4436-904C-ED088EE4E36F}" type="pres">
      <dgm:prSet presAssocID="{5B9496B1-60A9-4BB3-BE2E-CC35FFE8EFBC}" presName="arrow" presStyleLbl="bgShp" presStyleIdx="0" presStyleCnt="1"/>
      <dgm:spPr/>
    </dgm:pt>
    <dgm:pt modelId="{3273F40F-F825-4CA3-95C3-F902A243AEA6}" type="pres">
      <dgm:prSet presAssocID="{5B9496B1-60A9-4BB3-BE2E-CC35FFE8EFBC}" presName="linearProcess" presStyleCnt="0"/>
      <dgm:spPr/>
    </dgm:pt>
    <dgm:pt modelId="{48FF2217-976A-4A2B-8E87-8DFCF6CE3073}" type="pres">
      <dgm:prSet presAssocID="{B17620E0-7446-4744-9419-083AC22381AB}" presName="textNode" presStyleLbl="node1" presStyleIdx="0" presStyleCnt="3">
        <dgm:presLayoutVars>
          <dgm:bulletEnabled val="1"/>
        </dgm:presLayoutVars>
      </dgm:prSet>
      <dgm:spPr/>
    </dgm:pt>
    <dgm:pt modelId="{3A26FA3D-FF70-4326-8945-2805B4A29980}" type="pres">
      <dgm:prSet presAssocID="{CB3C876E-EA9D-4716-A755-1C07957FEF47}" presName="sibTrans" presStyleCnt="0"/>
      <dgm:spPr/>
    </dgm:pt>
    <dgm:pt modelId="{3DC25829-752A-4F8D-9613-A1A628E9A48D}" type="pres">
      <dgm:prSet presAssocID="{37175822-324A-4D5C-9ACC-E5FF16DBDC7C}" presName="textNode" presStyleLbl="node1" presStyleIdx="1" presStyleCnt="3">
        <dgm:presLayoutVars>
          <dgm:bulletEnabled val="1"/>
        </dgm:presLayoutVars>
      </dgm:prSet>
      <dgm:spPr/>
    </dgm:pt>
    <dgm:pt modelId="{1B3563A8-4F34-4997-B7EA-43E75833AFDC}" type="pres">
      <dgm:prSet presAssocID="{D814184B-31DB-47AC-8C39-AE0EB2A7B47E}" presName="sibTrans" presStyleCnt="0"/>
      <dgm:spPr/>
    </dgm:pt>
    <dgm:pt modelId="{48D3C4BD-4DFD-4F78-A923-D260702BF46B}" type="pres">
      <dgm:prSet presAssocID="{1B542999-3E4F-4C45-A4D9-85C929505EF8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10E0E06-3EE7-48D4-89D6-7037555218C9}" type="presOf" srcId="{5B9496B1-60A9-4BB3-BE2E-CC35FFE8EFBC}" destId="{1BD10A58-CFCF-4B2E-8570-74375B2EE689}" srcOrd="0" destOrd="0" presId="urn:microsoft.com/office/officeart/2005/8/layout/hProcess9"/>
    <dgm:cxn modelId="{9CDC400D-73E0-4F3A-B5EE-1406AB98ABB4}" srcId="{5B9496B1-60A9-4BB3-BE2E-CC35FFE8EFBC}" destId="{1B542999-3E4F-4C45-A4D9-85C929505EF8}" srcOrd="2" destOrd="0" parTransId="{59BC566D-B519-43A1-81E6-5F9CBBB6AF9C}" sibTransId="{73578FB0-9891-4B6A-9F65-62650BA8AF92}"/>
    <dgm:cxn modelId="{B9541036-2A52-4601-B62D-0FDCC522A377}" srcId="{5B9496B1-60A9-4BB3-BE2E-CC35FFE8EFBC}" destId="{B17620E0-7446-4744-9419-083AC22381AB}" srcOrd="0" destOrd="0" parTransId="{9F571345-2BD8-4219-A1CE-83545F412242}" sibTransId="{CB3C876E-EA9D-4716-A755-1C07957FEF47}"/>
    <dgm:cxn modelId="{D9D15573-EEE4-45FD-B50D-B243B9E8C0E9}" srcId="{5B9496B1-60A9-4BB3-BE2E-CC35FFE8EFBC}" destId="{37175822-324A-4D5C-9ACC-E5FF16DBDC7C}" srcOrd="1" destOrd="0" parTransId="{3674B1A3-2614-4731-AAA3-DDCAD43167F2}" sibTransId="{D814184B-31DB-47AC-8C39-AE0EB2A7B47E}"/>
    <dgm:cxn modelId="{B0D36092-7E7C-4818-A949-C42A63CE0EBA}" type="presOf" srcId="{37175822-324A-4D5C-9ACC-E5FF16DBDC7C}" destId="{3DC25829-752A-4F8D-9613-A1A628E9A48D}" srcOrd="0" destOrd="0" presId="urn:microsoft.com/office/officeart/2005/8/layout/hProcess9"/>
    <dgm:cxn modelId="{751681AF-7B97-4C8F-9216-2419C5C286C6}" type="presOf" srcId="{B17620E0-7446-4744-9419-083AC22381AB}" destId="{48FF2217-976A-4A2B-8E87-8DFCF6CE3073}" srcOrd="0" destOrd="0" presId="urn:microsoft.com/office/officeart/2005/8/layout/hProcess9"/>
    <dgm:cxn modelId="{E2CADED1-2607-44AA-8B4F-C2AC86FD1FFC}" type="presOf" srcId="{1B542999-3E4F-4C45-A4D9-85C929505EF8}" destId="{48D3C4BD-4DFD-4F78-A923-D260702BF46B}" srcOrd="0" destOrd="0" presId="urn:microsoft.com/office/officeart/2005/8/layout/hProcess9"/>
    <dgm:cxn modelId="{B3C9EFC7-6B72-459C-ADBA-28738D3E7130}" type="presParOf" srcId="{1BD10A58-CFCF-4B2E-8570-74375B2EE689}" destId="{4054011A-08D9-4436-904C-ED088EE4E36F}" srcOrd="0" destOrd="0" presId="urn:microsoft.com/office/officeart/2005/8/layout/hProcess9"/>
    <dgm:cxn modelId="{DE8D0BBB-4D75-46D3-AC94-A6D844CD909D}" type="presParOf" srcId="{1BD10A58-CFCF-4B2E-8570-74375B2EE689}" destId="{3273F40F-F825-4CA3-95C3-F902A243AEA6}" srcOrd="1" destOrd="0" presId="urn:microsoft.com/office/officeart/2005/8/layout/hProcess9"/>
    <dgm:cxn modelId="{7489BB4C-CCDE-44C6-BFC6-8F3E540C2EEE}" type="presParOf" srcId="{3273F40F-F825-4CA3-95C3-F902A243AEA6}" destId="{48FF2217-976A-4A2B-8E87-8DFCF6CE3073}" srcOrd="0" destOrd="0" presId="urn:microsoft.com/office/officeart/2005/8/layout/hProcess9"/>
    <dgm:cxn modelId="{F2AD3095-9E06-4A3A-A5FB-6D30B4FDE60A}" type="presParOf" srcId="{3273F40F-F825-4CA3-95C3-F902A243AEA6}" destId="{3A26FA3D-FF70-4326-8945-2805B4A29980}" srcOrd="1" destOrd="0" presId="urn:microsoft.com/office/officeart/2005/8/layout/hProcess9"/>
    <dgm:cxn modelId="{56253FAF-58A7-4B0E-9F50-73A6B4A15062}" type="presParOf" srcId="{3273F40F-F825-4CA3-95C3-F902A243AEA6}" destId="{3DC25829-752A-4F8D-9613-A1A628E9A48D}" srcOrd="2" destOrd="0" presId="urn:microsoft.com/office/officeart/2005/8/layout/hProcess9"/>
    <dgm:cxn modelId="{74F0975D-785E-4A2C-9B72-08819F66FF2F}" type="presParOf" srcId="{3273F40F-F825-4CA3-95C3-F902A243AEA6}" destId="{1B3563A8-4F34-4997-B7EA-43E75833AFDC}" srcOrd="3" destOrd="0" presId="urn:microsoft.com/office/officeart/2005/8/layout/hProcess9"/>
    <dgm:cxn modelId="{48082D66-F6C3-485D-8FFB-6EE2BEE3F483}" type="presParOf" srcId="{3273F40F-F825-4CA3-95C3-F902A243AEA6}" destId="{48D3C4BD-4DFD-4F78-A923-D260702BF46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4011A-08D9-4436-904C-ED088EE4E36F}">
      <dsp:nvSpPr>
        <dsp:cNvPr id="0" name=""/>
        <dsp:cNvSpPr/>
      </dsp:nvSpPr>
      <dsp:spPr>
        <a:xfrm>
          <a:off x="280514" y="0"/>
          <a:ext cx="3179162" cy="148530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F2217-976A-4A2B-8E87-8DFCF6CE3073}">
      <dsp:nvSpPr>
        <dsp:cNvPr id="0" name=""/>
        <dsp:cNvSpPr/>
      </dsp:nvSpPr>
      <dsp:spPr>
        <a:xfrm>
          <a:off x="1184" y="445590"/>
          <a:ext cx="120302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 err="1"/>
            <a:t>Политех</a:t>
          </a:r>
          <a:endParaRPr lang="ru-RU" sz="2200" kern="1200" dirty="0"/>
        </a:p>
      </dsp:txBody>
      <dsp:txXfrm>
        <a:off x="30187" y="474593"/>
        <a:ext cx="1145017" cy="536115"/>
      </dsp:txXfrm>
    </dsp:sp>
    <dsp:sp modelId="{3DC25829-752A-4F8D-9613-A1A628E9A48D}">
      <dsp:nvSpPr>
        <dsp:cNvPr id="0" name=""/>
        <dsp:cNvSpPr/>
      </dsp:nvSpPr>
      <dsp:spPr>
        <a:xfrm>
          <a:off x="1268583" y="445590"/>
          <a:ext cx="120302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лучше</a:t>
          </a:r>
        </a:p>
      </dsp:txBody>
      <dsp:txXfrm>
        <a:off x="1297586" y="474593"/>
        <a:ext cx="1145017" cy="536115"/>
      </dsp:txXfrm>
    </dsp:sp>
    <dsp:sp modelId="{48D3C4BD-4DFD-4F78-A923-D260702BF46B}">
      <dsp:nvSpPr>
        <dsp:cNvPr id="0" name=""/>
        <dsp:cNvSpPr/>
      </dsp:nvSpPr>
      <dsp:spPr>
        <a:xfrm>
          <a:off x="2535983" y="445590"/>
          <a:ext cx="120302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всех</a:t>
          </a:r>
        </a:p>
      </dsp:txBody>
      <dsp:txXfrm>
        <a:off x="2564986" y="474593"/>
        <a:ext cx="1145017" cy="536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4011A-08D9-4436-904C-ED088EE4E36F}">
      <dsp:nvSpPr>
        <dsp:cNvPr id="0" name=""/>
        <dsp:cNvSpPr/>
      </dsp:nvSpPr>
      <dsp:spPr>
        <a:xfrm>
          <a:off x="280514" y="0"/>
          <a:ext cx="3179162" cy="148530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F2217-976A-4A2B-8E87-8DFCF6CE3073}">
      <dsp:nvSpPr>
        <dsp:cNvPr id="0" name=""/>
        <dsp:cNvSpPr/>
      </dsp:nvSpPr>
      <dsp:spPr>
        <a:xfrm>
          <a:off x="4017" y="445590"/>
          <a:ext cx="120387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 dirty="0"/>
            <a:t>0E2E2F0E2E2E0E2E2B0E2E2</a:t>
          </a:r>
          <a:endParaRPr lang="ru-RU" sz="700" kern="1200" dirty="0"/>
        </a:p>
      </dsp:txBody>
      <dsp:txXfrm>
        <a:off x="33020" y="474593"/>
        <a:ext cx="1145867" cy="536115"/>
      </dsp:txXfrm>
    </dsp:sp>
    <dsp:sp modelId="{3DC25829-752A-4F8D-9613-A1A628E9A48D}">
      <dsp:nvSpPr>
        <dsp:cNvPr id="0" name=""/>
        <dsp:cNvSpPr/>
      </dsp:nvSpPr>
      <dsp:spPr>
        <a:xfrm>
          <a:off x="1268158" y="445590"/>
          <a:ext cx="120387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0E2E2B0E2F1C0E2F200E2F2</a:t>
          </a:r>
          <a:endParaRPr lang="ru-RU" sz="700" kern="1200" dirty="0"/>
        </a:p>
      </dsp:txBody>
      <dsp:txXfrm>
        <a:off x="1297161" y="474593"/>
        <a:ext cx="1145867" cy="536115"/>
      </dsp:txXfrm>
    </dsp:sp>
    <dsp:sp modelId="{48D3C4BD-4DFD-4F78-A923-D260702BF46B}">
      <dsp:nvSpPr>
        <dsp:cNvPr id="0" name=""/>
        <dsp:cNvSpPr/>
      </dsp:nvSpPr>
      <dsp:spPr>
        <a:xfrm>
          <a:off x="2532299" y="445590"/>
          <a:ext cx="1203873" cy="5941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 dirty="0"/>
            <a:t>0E2E1B0E2F1A0E2E1E0E2F1E</a:t>
          </a:r>
          <a:endParaRPr lang="ru-RU" sz="700" kern="1200" dirty="0"/>
        </a:p>
      </dsp:txBody>
      <dsp:txXfrm>
        <a:off x="2561302" y="474593"/>
        <a:ext cx="1145867" cy="536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9A499-AB0E-41E7-8F43-0B644843E13C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7ACF0-1C88-4F3C-8A42-B66D78E86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95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F805E-4D42-4930-AF02-3208323ECEC0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03A2D-F27E-469C-ADB1-04668A9E2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4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Поток связан с реальным физическим устройством с помощью системы ввода-вывода </a:t>
            </a:r>
            <a:r>
              <a:rPr lang="ru-RU" dirty="0" err="1"/>
              <a:t>Java</a:t>
            </a:r>
            <a:r>
              <a:rPr lang="ru-RU" dirty="0"/>
              <a:t>. У нас может быть определен поток, который связан с файлом и через который мы можем вести чтение или запись файла. Это также может быть поток, связанный с сетевым сокетом, с помощью которого можно получить или отправить данные в сети. Все эти задачи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dirty="0" err="1"/>
              <a:t>Java</a:t>
            </a:r>
            <a:r>
              <a:rPr lang="ru-RU" dirty="0"/>
              <a:t> решаются с помощью 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347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ввода-вывода делятся на 4 категории: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 Потоки делятся по направлению: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ввода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вывода.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Объект, из которого можно считать данные, называется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потоком ввода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объект, в который можно записывать данные, -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потоком вывода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 Потоки делятся по типу данных: работают с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байтами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 работают с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символами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основе всех классов, управляющих потоками байтов, находятся два абстрактных класса: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(представляющий потоки ввода) и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(представляющий потоки вывода)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поскольку работать с байтами не очень удобно, то для работы с потоками символов были добавлены абстрактные классы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(для чтения потоков символов) и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(для записи потоков символов).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08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Java</a:t>
            </a:r>
            <a:r>
              <a:rPr lang="ru-RU" dirty="0"/>
              <a:t> основной функционал работы с потоками сосредоточен в классах из пакета java.io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классы, работающие с потоками, являются наследниками абстрактных классов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InputStream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OutputStream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Reader, Writer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Основные классы потоков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268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завершении работы с потоком его надо закрыть с помощью метода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определен в интерфейсе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Closeable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Этот интерфейс уже реализуется в классах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через них и во всех классах потоков.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закрытии потока освобождаются все выделенные для него ресурсы, например, файл. В случае, если поток окажется не закрыт, может происходить утечка памяти.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 два способа закрытия файла. Первый традиционный заключается в использовании блока </a:t>
            </a:r>
            <a:r>
              <a:rPr lang="ru-RU" dirty="0" err="1"/>
              <a:t>try</a:t>
            </a:r>
            <a:r>
              <a:rPr lang="ru-RU" dirty="0"/>
              <a:t>..</a:t>
            </a:r>
            <a:r>
              <a:rPr lang="ru-RU" dirty="0" err="1"/>
              <a:t>catch</a:t>
            </a:r>
            <a:r>
              <a:rPr lang="ru-RU" dirty="0"/>
              <a:t>..</a:t>
            </a:r>
            <a:r>
              <a:rPr lang="ru-RU" dirty="0" err="1"/>
              <a:t>finally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Начиная 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можно использовать еще один способ, который автоматически вызывает метод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Этот способ заключается в использовании конструкции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try-with-resources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-с-ресурсами). Данная конструкция как раз работает с объектами, которые реализуют интерфейс </a:t>
            </a:r>
            <a:r>
              <a:rPr lang="ru-RU" dirty="0" err="1"/>
              <a:t>Closeable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их также можно использовать в данной конструкции.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886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из самых простых способов — использовать сочетание </a:t>
            </a:r>
            <a:r>
              <a:rPr lang="ru-RU" dirty="0" err="1"/>
              <a:t>BufferedReader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dirty="0" err="1"/>
              <a:t>FileReader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dirty="0" err="1"/>
              <a:t>FileReader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открывает поток для чтения из файла, а </a:t>
            </a:r>
            <a:r>
              <a:rPr lang="ru-RU" dirty="0" err="1"/>
              <a:t>BufferedReader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считывает текст из этого потока. Это позволяет читать данные построчно, что удобно для большинства текстовых файлов.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216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окончания работы в блоке </a:t>
            </a:r>
            <a:r>
              <a:rPr lang="ru-RU" dirty="0" err="1"/>
              <a:t>try</a:t>
            </a:r>
            <a:r>
              <a:rPr lang="ru-RU" dirty="0"/>
              <a:t> у ресурса (в данном случае у объекта </a:t>
            </a:r>
            <a:r>
              <a:rPr lang="ru-RU" dirty="0" err="1"/>
              <a:t>File</a:t>
            </a:r>
            <a:r>
              <a:rPr lang="en-US" dirty="0"/>
              <a:t>Writer</a:t>
            </a:r>
            <a:r>
              <a:rPr lang="ru-RU" dirty="0"/>
              <a:t>) автоматически вызывается метод </a:t>
            </a:r>
            <a:r>
              <a:rPr lang="ru-RU" dirty="0" err="1"/>
              <a:t>close</a:t>
            </a:r>
            <a:r>
              <a:rPr lang="ru-RU" dirty="0"/>
              <a:t>().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76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39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1387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2590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4285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1364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7628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5599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827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950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7344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(with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28650" y="4800600"/>
            <a:ext cx="8810624" cy="909638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2100263" y="6271417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6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738191" y="1292252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" hasCustomPrompt="1"/>
          </p:nvPr>
        </p:nvSpPr>
        <p:spPr>
          <a:xfrm>
            <a:off x="6396038" y="1292225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3" hasCustomPrompt="1"/>
          </p:nvPr>
        </p:nvSpPr>
        <p:spPr>
          <a:xfrm>
            <a:off x="6396038" y="1633538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44" hasCustomPrompt="1"/>
          </p:nvPr>
        </p:nvSpPr>
        <p:spPr>
          <a:xfrm>
            <a:off x="6396038" y="2954839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5" hasCustomPrompt="1"/>
          </p:nvPr>
        </p:nvSpPr>
        <p:spPr>
          <a:xfrm>
            <a:off x="6396038" y="3296152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sz="quarter" idx="46" hasCustomPrompt="1"/>
          </p:nvPr>
        </p:nvSpPr>
        <p:spPr>
          <a:xfrm>
            <a:off x="6396036" y="4617763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7" hasCustomPrompt="1"/>
          </p:nvPr>
        </p:nvSpPr>
        <p:spPr>
          <a:xfrm>
            <a:off x="6396036" y="4959077"/>
            <a:ext cx="5048250" cy="97998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8281B-9721-4452-89E1-BA256ED96743}"/>
              </a:ext>
            </a:extLst>
          </p:cNvPr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50196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lumn slide 5 (tex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/>
          </p:nvPr>
        </p:nvSpPr>
        <p:spPr>
          <a:xfrm>
            <a:off x="738191" y="1282700"/>
            <a:ext cx="10706097" cy="45085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87C90-688B-4CC3-9467-714C8B6A6748}"/>
              </a:ext>
            </a:extLst>
          </p:cNvPr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96453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738188" y="1168400"/>
            <a:ext cx="10706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solidFill>
                  <a:srgbClr val="006CB7"/>
                </a:solidFill>
              </a:rPr>
              <a:t>Welcome to MERA Presentations template!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38188" y="1752600"/>
            <a:ext cx="10706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To fulfill your needs of creating a wonderful corporate presentation please follow these steps:</a:t>
            </a:r>
          </a:p>
          <a:p>
            <a:endParaRPr lang="ru-RU" sz="1800" b="1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738188" y="2184400"/>
            <a:ext cx="1070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Use the tab “New slide” to create slides from already structured layouts (or choose “Empty slide” 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Insert your information in the blocks (size, font and color has been set for you)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Resize, reorganize and use blocks the way it fits your content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Enjoy the beauty of your masterpiece!</a:t>
            </a:r>
          </a:p>
          <a:p>
            <a:pPr marL="0" lvl="0" indent="0">
              <a:buFont typeface="+mj-lt"/>
              <a:buNone/>
            </a:pPr>
            <a:endParaRPr lang="en-US" dirty="0"/>
          </a:p>
          <a:p>
            <a:pPr marL="0" lvl="0" indent="0">
              <a:buFont typeface="+mj-lt"/>
              <a:buNone/>
            </a:pPr>
            <a:r>
              <a:rPr lang="en-US" dirty="0"/>
              <a:t>With any suggestions, remarks and complains feel free to contact PR Team.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978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(with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28650" y="4800600"/>
            <a:ext cx="8810624" cy="909638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2100263" y="6271417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73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_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Name of the presentation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738188" y="2753574"/>
            <a:ext cx="10706100" cy="1098583"/>
          </a:xfrm>
        </p:spPr>
        <p:txBody>
          <a:bodyPr>
            <a:normAutofit/>
          </a:bodyPr>
          <a:lstStyle>
            <a:lvl1pPr marL="0" indent="0">
              <a:buNone/>
              <a:defRPr sz="6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1.</a:t>
            </a:r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19241" y="2882386"/>
            <a:ext cx="9925045" cy="957693"/>
          </a:xfrm>
        </p:spPr>
        <p:txBody>
          <a:bodyPr anchor="t">
            <a:normAutofit/>
          </a:bodyPr>
          <a:lstStyle>
            <a:lvl1pPr algn="l">
              <a:defRPr sz="5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Title of the section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4464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7107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2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5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88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1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3817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3817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9446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9446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855074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855074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2920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8856661" y="1339848"/>
            <a:ext cx="2587627" cy="463528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39849"/>
            <a:ext cx="7999409" cy="7254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2893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2893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838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838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90683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90" y="1576388"/>
            <a:ext cx="2587624" cy="20181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3444347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6150504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 hasCustomPrompt="1"/>
          </p:nvPr>
        </p:nvSpPr>
        <p:spPr>
          <a:xfrm>
            <a:off x="8856662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3442758" y="3846785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3442758" y="4407171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6148916" y="3846784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6148916" y="4407170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8855072" y="384678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8855072" y="4407169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41" hasCustomPrompt="1"/>
          </p:nvPr>
        </p:nvSpPr>
        <p:spPr>
          <a:xfrm>
            <a:off x="738189" y="3846783"/>
            <a:ext cx="2587623" cy="19396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309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49269"/>
            <a:ext cx="2586037" cy="37258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490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4" name="Текст 3"/>
          <p:cNvSpPr>
            <a:spLocks noGrp="1"/>
          </p:cNvSpPr>
          <p:nvPr>
            <p:ph type="body" sz="quarter" idx="32" hasCustomPrompt="1"/>
          </p:nvPr>
        </p:nvSpPr>
        <p:spPr>
          <a:xfrm>
            <a:off x="73700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5" name="Диаграмма 6"/>
          <p:cNvSpPr>
            <a:spLocks noGrp="1"/>
          </p:cNvSpPr>
          <p:nvPr>
            <p:ph type="chart" sz="quarter" idx="33" hasCustomPrompt="1"/>
          </p:nvPr>
        </p:nvSpPr>
        <p:spPr>
          <a:xfrm>
            <a:off x="73752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46" name="Объект 8"/>
          <p:cNvSpPr>
            <a:spLocks noGrp="1"/>
          </p:cNvSpPr>
          <p:nvPr>
            <p:ph sz="quarter" idx="34" hasCustomPrompt="1"/>
          </p:nvPr>
        </p:nvSpPr>
        <p:spPr>
          <a:xfrm>
            <a:off x="73700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7" name="Объект 8"/>
          <p:cNvSpPr>
            <a:spLocks noGrp="1"/>
          </p:cNvSpPr>
          <p:nvPr>
            <p:ph sz="quarter" idx="35" hasCustomPrompt="1"/>
          </p:nvPr>
        </p:nvSpPr>
        <p:spPr>
          <a:xfrm>
            <a:off x="73673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8" name="Объект 8"/>
          <p:cNvSpPr>
            <a:spLocks noGrp="1"/>
          </p:cNvSpPr>
          <p:nvPr>
            <p:ph sz="quarter" idx="36" hasCustomPrompt="1"/>
          </p:nvPr>
        </p:nvSpPr>
        <p:spPr>
          <a:xfrm>
            <a:off x="73673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2937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8084310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8084310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54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54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14479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89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4411645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8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8085101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2474584"/>
            <a:ext cx="335915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963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3452647"/>
            <a:ext cx="3359150" cy="256118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3925613"/>
            <a:ext cx="3359150" cy="2088221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4382814"/>
            <a:ext cx="3359150" cy="163102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7328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7328" y="2877916"/>
            <a:ext cx="3359976" cy="57473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19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19" y="2877916"/>
            <a:ext cx="3359976" cy="10476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084310" y="2317529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8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084310" y="2877915"/>
            <a:ext cx="3359976" cy="150489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7306773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737572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738189" y="2501024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737838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737573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737572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7870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4578488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457795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457769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457769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418169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418787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41807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41781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41781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676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8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819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1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40080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33075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11" name="Текст 24"/>
          <p:cNvSpPr>
            <a:spLocks noGrp="1"/>
          </p:cNvSpPr>
          <p:nvPr>
            <p:ph type="body" sz="quarter" idx="37" hasCustomPrompt="1"/>
          </p:nvPr>
        </p:nvSpPr>
        <p:spPr>
          <a:xfrm>
            <a:off x="6396038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86581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6369270" y="1339850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56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738191" y="1292252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" hasCustomPrompt="1"/>
          </p:nvPr>
        </p:nvSpPr>
        <p:spPr>
          <a:xfrm>
            <a:off x="6396038" y="1292225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3" hasCustomPrompt="1"/>
          </p:nvPr>
        </p:nvSpPr>
        <p:spPr>
          <a:xfrm>
            <a:off x="6396038" y="1633538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44" hasCustomPrompt="1"/>
          </p:nvPr>
        </p:nvSpPr>
        <p:spPr>
          <a:xfrm>
            <a:off x="6396038" y="2954839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5" hasCustomPrompt="1"/>
          </p:nvPr>
        </p:nvSpPr>
        <p:spPr>
          <a:xfrm>
            <a:off x="6396038" y="3296152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sz="quarter" idx="46" hasCustomPrompt="1"/>
          </p:nvPr>
        </p:nvSpPr>
        <p:spPr>
          <a:xfrm>
            <a:off x="6396036" y="4617763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7" hasCustomPrompt="1"/>
          </p:nvPr>
        </p:nvSpPr>
        <p:spPr>
          <a:xfrm>
            <a:off x="6396036" y="4959077"/>
            <a:ext cx="5048250" cy="97998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534463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10706096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3421116"/>
            <a:ext cx="5048247" cy="2554233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3421116"/>
            <a:ext cx="5048247" cy="2554232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7" hasCustomPrompt="1"/>
          </p:nvPr>
        </p:nvSpPr>
        <p:spPr>
          <a:xfrm>
            <a:off x="738188" y="2617789"/>
            <a:ext cx="5048250" cy="582612"/>
          </a:xfrm>
        </p:spPr>
        <p:txBody>
          <a:bodyPr>
            <a:normAutofit/>
          </a:bodyPr>
          <a:lstStyle>
            <a:lvl1pPr marL="0" indent="0">
              <a:buNone/>
              <a:defRPr sz="1800" b="1" baseline="0"/>
            </a:lvl1pPr>
          </a:lstStyle>
          <a:p>
            <a:pPr lvl="0"/>
            <a:r>
              <a:rPr lang="en-US" dirty="0"/>
              <a:t>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9100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0" y="2144713"/>
            <a:ext cx="10706096" cy="472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lvl1pPr>
          </a:lstStyle>
          <a:p>
            <a:r>
              <a:rPr lang="en-US" b="1" dirty="0"/>
              <a:t>Block title</a:t>
            </a:r>
            <a:endParaRPr lang="ru-RU" b="1" baseline="0" dirty="0"/>
          </a:p>
          <a:p>
            <a:endParaRPr lang="ru-RU" b="1" baseline="0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0" y="2806700"/>
            <a:ext cx="10706098" cy="31051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652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1182415" y="2144713"/>
            <a:ext cx="9747524" cy="3846512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aseline="0"/>
            </a:lvl2pPr>
          </a:lstStyle>
          <a:p>
            <a:pPr lvl="0"/>
            <a:r>
              <a:rPr lang="en-US" dirty="0"/>
              <a:t>Text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1182686" y="2538636"/>
            <a:ext cx="9747250" cy="6826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</a:lstStyle>
          <a:p>
            <a:pPr lvl="1"/>
            <a:r>
              <a:rPr lang="en-US" dirty="0"/>
              <a:t>Second level text</a:t>
            </a:r>
          </a:p>
        </p:txBody>
      </p:sp>
    </p:spTree>
    <p:extLst>
      <p:ext uri="{BB962C8B-B14F-4D97-AF65-F5344CB8AC3E}">
        <p14:creationId xmlns:p14="http://schemas.microsoft.com/office/powerpoint/2010/main" val="31161349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100" y="2144713"/>
            <a:ext cx="9621838" cy="38941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2983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88" y="4274234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098" y="1429490"/>
            <a:ext cx="9621838" cy="248035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4982349"/>
            <a:ext cx="10706098" cy="8508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</p:txBody>
      </p:sp>
    </p:spTree>
    <p:extLst>
      <p:ext uri="{BB962C8B-B14F-4D97-AF65-F5344CB8AC3E}">
        <p14:creationId xmlns:p14="http://schemas.microsoft.com/office/powerpoint/2010/main" val="26795315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5 (tex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/>
          </p:nvPr>
        </p:nvSpPr>
        <p:spPr>
          <a:xfrm>
            <a:off x="738191" y="1282700"/>
            <a:ext cx="10706097" cy="45085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43066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 slide 6 (tab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Таблица 3"/>
          <p:cNvSpPr>
            <a:spLocks noGrp="1"/>
          </p:cNvSpPr>
          <p:nvPr>
            <p:ph type="tbl" sz="quarter" idx="34" hasCustomPrompt="1"/>
          </p:nvPr>
        </p:nvSpPr>
        <p:spPr>
          <a:xfrm>
            <a:off x="738188" y="1292225"/>
            <a:ext cx="10706100" cy="45100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Table insert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061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_imag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3606800" y="1355725"/>
            <a:ext cx="7837488" cy="46196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0562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_diagram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4" name="Диаграмма 3"/>
          <p:cNvSpPr>
            <a:spLocks noGrp="1"/>
          </p:cNvSpPr>
          <p:nvPr>
            <p:ph type="chart" sz="quarter" idx="35" hasCustomPrompt="1"/>
          </p:nvPr>
        </p:nvSpPr>
        <p:spPr>
          <a:xfrm>
            <a:off x="3606800" y="1355725"/>
            <a:ext cx="7837488" cy="461940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Diagram</a:t>
            </a:r>
            <a:endParaRPr lang="ru-RU" dirty="0"/>
          </a:p>
        </p:txBody>
      </p:sp>
      <p:sp>
        <p:nvSpPr>
          <p:cNvPr id="7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13706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s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8" name="Овал 7"/>
          <p:cNvSpPr/>
          <p:nvPr userDrawn="1"/>
        </p:nvSpPr>
        <p:spPr>
          <a:xfrm>
            <a:off x="2837794" y="1813034"/>
            <a:ext cx="2443655" cy="24436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Your photo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9591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s slide (many contacts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60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904989"/>
            <a:ext cx="10972800" cy="422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58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01" r:id="rId13"/>
    <p:sldLayoutId id="2147483691" r:id="rId14"/>
    <p:sldLayoutId id="2147483662" r:id="rId15"/>
    <p:sldLayoutId id="2147483663" r:id="rId16"/>
    <p:sldLayoutId id="2147483664" r:id="rId17"/>
    <p:sldLayoutId id="2147483674" r:id="rId18"/>
    <p:sldLayoutId id="2147483675" r:id="rId19"/>
    <p:sldLayoutId id="2147483676" r:id="rId20"/>
    <p:sldLayoutId id="2147483677" r:id="rId21"/>
    <p:sldLayoutId id="2147483665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3" r:id="rId35"/>
    <p:sldLayoutId id="2147483690" r:id="rId36"/>
    <p:sldLayoutId id="2147483699" r:id="rId37"/>
    <p:sldLayoutId id="2147483700" r:id="rId38"/>
    <p:sldLayoutId id="2147483697" r:id="rId39"/>
    <p:sldLayoutId id="2147483702" r:id="rId40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10" name="Text Placeholder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Потоки ввода/вывода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6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2AFA7A-698E-46F3-A912-089BD647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294967295"/>
          </p:nvPr>
        </p:nvSpPr>
        <p:spPr>
          <a:xfrm>
            <a:off x="609599" y="1809739"/>
            <a:ext cx="9807615" cy="4362450"/>
          </a:xfrm>
        </p:spPr>
        <p:txBody>
          <a:bodyPr>
            <a:normAutofit/>
          </a:bodyPr>
          <a:lstStyle/>
          <a:p>
            <a:r>
              <a:rPr lang="ru-RU" sz="3600" dirty="0"/>
              <a:t>Потоки ввода-вывода. Пакет </a:t>
            </a:r>
            <a:r>
              <a:rPr lang="en-US" sz="3600" b="1" dirty="0"/>
              <a:t>java.io</a:t>
            </a:r>
            <a:endParaRPr lang="ru-RU" sz="3600" b="1" dirty="0"/>
          </a:p>
          <a:p>
            <a:r>
              <a:rPr lang="ru-RU" sz="3600" dirty="0"/>
              <a:t>Файловый ввод-вывод</a:t>
            </a:r>
          </a:p>
          <a:p>
            <a:r>
              <a:rPr lang="en-US" sz="3600" dirty="0"/>
              <a:t>I/O</a:t>
            </a:r>
            <a:r>
              <a:rPr lang="ru-RU" sz="3600" dirty="0"/>
              <a:t> с консоли</a:t>
            </a:r>
          </a:p>
        </p:txBody>
      </p:sp>
    </p:spTree>
    <p:extLst>
      <p:ext uri="{BB962C8B-B14F-4D97-AF65-F5344CB8AC3E}">
        <p14:creationId xmlns:p14="http://schemas.microsoft.com/office/powerpoint/2010/main" val="353141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F0FA-D886-4DA8-AAA8-D2615BD6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Потоки ввода-вывода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4294967295"/>
          </p:nvPr>
        </p:nvSpPr>
        <p:spPr>
          <a:xfrm>
            <a:off x="347240" y="1630051"/>
            <a:ext cx="10706100" cy="979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Поток </a:t>
            </a:r>
            <a:r>
              <a:rPr lang="en-US" b="1" dirty="0"/>
              <a:t>(stream) </a:t>
            </a:r>
            <a:r>
              <a:rPr lang="en-US" dirty="0"/>
              <a:t>– </a:t>
            </a:r>
            <a:r>
              <a:rPr lang="ru-RU" dirty="0"/>
              <a:t>последовательность данных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" t="8542" r="9948" b="20710"/>
          <a:stretch/>
        </p:blipFill>
        <p:spPr bwMode="auto">
          <a:xfrm>
            <a:off x="3335283" y="2540780"/>
            <a:ext cx="5521434" cy="3415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805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FACA0F-63C1-4FFB-A9E9-8100FF56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потоков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609600" y="1640173"/>
            <a:ext cx="10706100" cy="11792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Направление - ввод и 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Тип данных – символьный и байтовый</a:t>
            </a:r>
          </a:p>
          <a:p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79506695"/>
              </p:ext>
            </p:extLst>
          </p:nvPr>
        </p:nvGraphicFramePr>
        <p:xfrm>
          <a:off x="1122744" y="4591171"/>
          <a:ext cx="3740191" cy="1485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535633911"/>
              </p:ext>
            </p:extLst>
          </p:nvPr>
        </p:nvGraphicFramePr>
        <p:xfrm>
          <a:off x="1122744" y="3046425"/>
          <a:ext cx="3740191" cy="1485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2" t="29297" r="7910" b="16211"/>
          <a:stretch/>
        </p:blipFill>
        <p:spPr bwMode="auto">
          <a:xfrm>
            <a:off x="5857877" y="2757175"/>
            <a:ext cx="6068948" cy="29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060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8B1A0E-697E-4B0F-8F4B-9E10DEC1A9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2886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классы, работающие с потоками</a:t>
            </a:r>
          </a:p>
        </p:txBody>
      </p:sp>
      <p:sp>
        <p:nvSpPr>
          <p:cNvPr id="5" name="AutoShape 2" descr="Классы потоков в Ja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703" y="2530938"/>
            <a:ext cx="9194594" cy="365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73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05CDC-A19D-4990-ABA0-5C0F2BAE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InputStream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2029064"/>
            <a:ext cx="112677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 </a:t>
            </a:r>
            <a:r>
              <a:rPr lang="ru-RU" dirty="0" err="1"/>
              <a:t>InputStream</a:t>
            </a:r>
            <a:r>
              <a:rPr lang="ru-RU" dirty="0"/>
              <a:t> является базовым для всех классов, управляющих байтовыми потоками ввода. Рассмотрим его основные методы:</a:t>
            </a:r>
          </a:p>
          <a:p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available</a:t>
            </a:r>
            <a:r>
              <a:rPr lang="ru-RU" b="1" dirty="0"/>
              <a:t>(): </a:t>
            </a:r>
            <a:r>
              <a:rPr lang="ru-RU" dirty="0"/>
              <a:t>возвращает количество байтов, доступных для чтения в потоке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close</a:t>
            </a:r>
            <a:r>
              <a:rPr lang="ru-RU" b="1" dirty="0"/>
              <a:t>(</a:t>
            </a:r>
            <a:r>
              <a:rPr lang="ru-RU" dirty="0"/>
              <a:t>): закрывает поток</a:t>
            </a:r>
          </a:p>
          <a:p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()</a:t>
            </a:r>
            <a:r>
              <a:rPr lang="ru-RU" dirty="0"/>
              <a:t>: возвращает целочисленное представление следующего байта в потоке. Когда в потоке не останется доступных для чтения байтов, данный метод возвратит число -1</a:t>
            </a:r>
          </a:p>
          <a:p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</a:t>
            </a:r>
            <a:r>
              <a:rPr lang="ru-RU" b="1" dirty="0" err="1"/>
              <a:t>byte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): </a:t>
            </a:r>
            <a:r>
              <a:rPr lang="ru-RU" dirty="0"/>
              <a:t>считывает байты из потока в массив </a:t>
            </a:r>
            <a:r>
              <a:rPr lang="ru-RU" dirty="0" err="1"/>
              <a:t>buffer</a:t>
            </a:r>
            <a:r>
              <a:rPr lang="ru-RU" dirty="0"/>
              <a:t>. После чтения возвращает число считанных байтов. Если ни одного байта не было считано, то возвращается число -1</a:t>
            </a:r>
          </a:p>
          <a:p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</a:t>
            </a:r>
            <a:r>
              <a:rPr lang="ru-RU" b="1" dirty="0" err="1"/>
              <a:t>byte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offset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length</a:t>
            </a:r>
            <a:r>
              <a:rPr lang="ru-RU" b="1" dirty="0"/>
              <a:t>): </a:t>
            </a:r>
            <a:r>
              <a:rPr lang="ru-RU" dirty="0"/>
              <a:t>считывает некоторое количество байтов, равное </a:t>
            </a:r>
            <a:r>
              <a:rPr lang="ru-RU" dirty="0" err="1"/>
              <a:t>length</a:t>
            </a:r>
            <a:r>
              <a:rPr lang="ru-RU" dirty="0"/>
              <a:t>, из потока в массив </a:t>
            </a:r>
            <a:r>
              <a:rPr lang="ru-RU" dirty="0" err="1"/>
              <a:t>buffer</a:t>
            </a:r>
            <a:r>
              <a:rPr lang="ru-RU" dirty="0"/>
              <a:t>. При этом считанные байты помещаются в массиве, начиная со смещения </a:t>
            </a:r>
            <a:r>
              <a:rPr lang="ru-RU" dirty="0" err="1"/>
              <a:t>offset</a:t>
            </a:r>
            <a:r>
              <a:rPr lang="ru-RU" dirty="0"/>
              <a:t>, то есть с элемента </a:t>
            </a:r>
            <a:r>
              <a:rPr lang="ru-RU" dirty="0" err="1"/>
              <a:t>buffer</a:t>
            </a:r>
            <a:r>
              <a:rPr lang="ru-RU" dirty="0"/>
              <a:t>[</a:t>
            </a:r>
            <a:r>
              <a:rPr lang="ru-RU" dirty="0" err="1"/>
              <a:t>offset</a:t>
            </a:r>
            <a:r>
              <a:rPr lang="ru-RU" dirty="0"/>
              <a:t>]. Метод возвращает число успешно прочитанных байтов.</a:t>
            </a:r>
          </a:p>
          <a:p>
            <a:r>
              <a:rPr lang="ru-RU" b="1" dirty="0" err="1"/>
              <a:t>long</a:t>
            </a:r>
            <a:r>
              <a:rPr lang="ru-RU" b="1" dirty="0"/>
              <a:t> </a:t>
            </a:r>
            <a:r>
              <a:rPr lang="ru-RU" b="1" dirty="0" err="1"/>
              <a:t>skip</a:t>
            </a:r>
            <a:r>
              <a:rPr lang="ru-RU" b="1" dirty="0"/>
              <a:t>(</a:t>
            </a:r>
            <a:r>
              <a:rPr lang="ru-RU" b="1" dirty="0" err="1"/>
              <a:t>long</a:t>
            </a:r>
            <a:r>
              <a:rPr lang="ru-RU" b="1" dirty="0"/>
              <a:t> </a:t>
            </a:r>
            <a:r>
              <a:rPr lang="ru-RU" b="1" dirty="0" err="1"/>
              <a:t>number</a:t>
            </a:r>
            <a:r>
              <a:rPr lang="ru-RU" b="1" dirty="0"/>
              <a:t>): </a:t>
            </a:r>
            <a:r>
              <a:rPr lang="ru-RU" dirty="0"/>
              <a:t>пропускает в потоке при чтении некоторое количество байт, которое равно </a:t>
            </a:r>
            <a:r>
              <a:rPr lang="ru-RU" dirty="0" err="1"/>
              <a:t>number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058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A6026C-5102-4230-9C5E-9A7AD902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OutputStream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809739"/>
            <a:ext cx="10113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 </a:t>
            </a:r>
            <a:r>
              <a:rPr lang="ru-RU" dirty="0" err="1"/>
              <a:t>OutputStream</a:t>
            </a:r>
            <a:r>
              <a:rPr lang="ru-RU" dirty="0"/>
              <a:t> является базовым классом для всех классов, которые работают с бинарными потоками записи. Свою функциональность он реализует через следующие методы: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close</a:t>
            </a:r>
            <a:r>
              <a:rPr lang="ru-RU" b="1" dirty="0"/>
              <a:t>(): </a:t>
            </a:r>
            <a:r>
              <a:rPr lang="ru-RU" dirty="0"/>
              <a:t>закрывает поток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flush</a:t>
            </a:r>
            <a:r>
              <a:rPr lang="ru-RU" b="1" dirty="0"/>
              <a:t>(): </a:t>
            </a:r>
            <a:r>
              <a:rPr lang="ru-RU" dirty="0"/>
              <a:t>очищает буфер вывода, записывая все его содержимое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int</a:t>
            </a:r>
            <a:r>
              <a:rPr lang="ru-RU" b="1" dirty="0"/>
              <a:t> b): </a:t>
            </a:r>
            <a:r>
              <a:rPr lang="ru-RU" dirty="0"/>
              <a:t>записывает в выходной поток один байт, который представлен целочисленным параметром b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byte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): </a:t>
            </a:r>
            <a:r>
              <a:rPr lang="ru-RU" dirty="0"/>
              <a:t>записывает в выходной поток массив байтов </a:t>
            </a:r>
            <a:r>
              <a:rPr lang="ru-RU" dirty="0" err="1"/>
              <a:t>buffer</a:t>
            </a:r>
            <a:r>
              <a:rPr lang="ru-RU" dirty="0"/>
              <a:t>.</a:t>
            </a:r>
          </a:p>
          <a:p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byte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offset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length</a:t>
            </a:r>
            <a:r>
              <a:rPr lang="ru-RU" b="1" dirty="0"/>
              <a:t>)</a:t>
            </a:r>
            <a:r>
              <a:rPr lang="ru-RU" dirty="0"/>
              <a:t>: записывает в выходной поток некоторое число байтов, равное </a:t>
            </a:r>
            <a:r>
              <a:rPr lang="ru-RU" dirty="0" err="1"/>
              <a:t>length</a:t>
            </a:r>
            <a:r>
              <a:rPr lang="ru-RU" dirty="0"/>
              <a:t>, из массива </a:t>
            </a:r>
            <a:r>
              <a:rPr lang="ru-RU" dirty="0" err="1"/>
              <a:t>buffer</a:t>
            </a:r>
            <a:r>
              <a:rPr lang="ru-RU" dirty="0"/>
              <a:t>, начиная со смещения </a:t>
            </a:r>
            <a:r>
              <a:rPr lang="ru-RU" dirty="0" err="1"/>
              <a:t>offset</a:t>
            </a:r>
            <a:r>
              <a:rPr lang="ru-RU" dirty="0"/>
              <a:t>, то есть с элемента </a:t>
            </a:r>
            <a:r>
              <a:rPr lang="ru-RU" dirty="0" err="1"/>
              <a:t>buffer</a:t>
            </a:r>
            <a:r>
              <a:rPr lang="ru-RU" dirty="0"/>
              <a:t>[</a:t>
            </a:r>
            <a:r>
              <a:rPr lang="ru-RU" dirty="0" err="1"/>
              <a:t>offset</a:t>
            </a:r>
            <a:r>
              <a:rPr lang="ru-RU" dirty="0"/>
              <a:t>].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16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B3B3A2-8E96-4362-B28A-CD99A04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Reader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10706100" cy="45085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Абстрактный класс </a:t>
            </a:r>
            <a:r>
              <a:rPr lang="ru-RU" dirty="0" err="1"/>
              <a:t>Reader</a:t>
            </a:r>
            <a:r>
              <a:rPr lang="ru-RU" dirty="0"/>
              <a:t> предоставляет функционал для чтения текстовой информации. Рассмотрим его основные методы:</a:t>
            </a:r>
          </a:p>
          <a:p>
            <a:pPr marL="0" indent="0">
              <a:buNone/>
            </a:pPr>
            <a:r>
              <a:rPr lang="ru-RU" b="1" dirty="0" err="1"/>
              <a:t>absract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close</a:t>
            </a:r>
            <a:r>
              <a:rPr lang="ru-RU" b="1" dirty="0"/>
              <a:t>(): </a:t>
            </a:r>
            <a:r>
              <a:rPr lang="ru-RU" dirty="0"/>
              <a:t>закрывает поток ввода</a:t>
            </a:r>
          </a:p>
          <a:p>
            <a:pPr marL="0" indent="0">
              <a:buNone/>
            </a:pP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(): </a:t>
            </a:r>
            <a:r>
              <a:rPr lang="ru-RU" dirty="0"/>
              <a:t>возвращает целочисленное представление следующего символа в потоке. Если таких символов нет, и достигнут конец файла, то возвращается число -1</a:t>
            </a:r>
          </a:p>
          <a:p>
            <a:pPr marL="0" indent="0">
              <a:buNone/>
            </a:pP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</a:t>
            </a:r>
            <a:r>
              <a:rPr lang="ru-RU" b="1" dirty="0" err="1"/>
              <a:t>char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): </a:t>
            </a:r>
            <a:r>
              <a:rPr lang="ru-RU" dirty="0"/>
              <a:t>считывает в массив </a:t>
            </a:r>
            <a:r>
              <a:rPr lang="ru-RU" dirty="0" err="1"/>
              <a:t>buffer</a:t>
            </a:r>
            <a:r>
              <a:rPr lang="ru-RU" dirty="0"/>
              <a:t> из потока символы, количество которых равно длине массива </a:t>
            </a:r>
            <a:r>
              <a:rPr lang="ru-RU" dirty="0" err="1"/>
              <a:t>buffer</a:t>
            </a:r>
            <a:r>
              <a:rPr lang="ru-RU" dirty="0"/>
              <a:t>. Возвращает количество успешно считанных символов. При достижении конца файла возвращает -1</a:t>
            </a:r>
          </a:p>
          <a:p>
            <a:pPr marL="0" indent="0">
              <a:buNone/>
            </a:pP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</a:t>
            </a:r>
            <a:r>
              <a:rPr lang="ru-RU" b="1" dirty="0" err="1"/>
              <a:t>CharBuffer</a:t>
            </a:r>
            <a:r>
              <a:rPr lang="ru-RU" b="1" dirty="0"/>
              <a:t> </a:t>
            </a:r>
            <a:r>
              <a:rPr lang="ru-RU" b="1" dirty="0" err="1"/>
              <a:t>buffer</a:t>
            </a:r>
            <a:r>
              <a:rPr lang="ru-RU" b="1" dirty="0"/>
              <a:t>): </a:t>
            </a:r>
            <a:r>
              <a:rPr lang="ru-RU" dirty="0"/>
              <a:t>считывает в объект </a:t>
            </a:r>
            <a:r>
              <a:rPr lang="ru-RU" dirty="0" err="1"/>
              <a:t>CharBuffer</a:t>
            </a:r>
            <a:r>
              <a:rPr lang="ru-RU" dirty="0"/>
              <a:t> из потока символы. Возвращает количество успешно считанных символов. При достижении конца файла возвращает -1</a:t>
            </a:r>
          </a:p>
          <a:p>
            <a:pPr marL="0" indent="0">
              <a:buNone/>
            </a:pPr>
            <a:r>
              <a:rPr lang="ru-RU" b="1" dirty="0" err="1"/>
              <a:t>absract</a:t>
            </a:r>
            <a:r>
              <a:rPr lang="ru-RU" b="1" dirty="0"/>
              <a:t>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(</a:t>
            </a:r>
            <a:r>
              <a:rPr lang="ru-RU" b="1" dirty="0" err="1"/>
              <a:t>char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offset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count</a:t>
            </a:r>
            <a:r>
              <a:rPr lang="ru-RU" b="1" dirty="0"/>
              <a:t>):</a:t>
            </a:r>
            <a:r>
              <a:rPr lang="ru-RU" dirty="0"/>
              <a:t> считывает в массив </a:t>
            </a:r>
            <a:r>
              <a:rPr lang="ru-RU" dirty="0" err="1"/>
              <a:t>buffer</a:t>
            </a:r>
            <a:r>
              <a:rPr lang="ru-RU" dirty="0"/>
              <a:t>, начиная со смещения </a:t>
            </a:r>
            <a:r>
              <a:rPr lang="ru-RU" dirty="0" err="1"/>
              <a:t>offset</a:t>
            </a:r>
            <a:r>
              <a:rPr lang="ru-RU" dirty="0"/>
              <a:t>, из потока символы, количество которых равно </a:t>
            </a:r>
            <a:r>
              <a:rPr lang="ru-RU" dirty="0" err="1"/>
              <a:t>count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long</a:t>
            </a:r>
            <a:r>
              <a:rPr lang="ru-RU" b="1" dirty="0"/>
              <a:t> </a:t>
            </a:r>
            <a:r>
              <a:rPr lang="ru-RU" b="1" dirty="0" err="1"/>
              <a:t>skip</a:t>
            </a:r>
            <a:r>
              <a:rPr lang="ru-RU" b="1" dirty="0"/>
              <a:t>(</a:t>
            </a:r>
            <a:r>
              <a:rPr lang="ru-RU" b="1" dirty="0" err="1"/>
              <a:t>long</a:t>
            </a:r>
            <a:r>
              <a:rPr lang="ru-RU" b="1" dirty="0"/>
              <a:t> </a:t>
            </a:r>
            <a:r>
              <a:rPr lang="ru-RU" b="1" dirty="0" err="1"/>
              <a:t>count</a:t>
            </a:r>
            <a:r>
              <a:rPr lang="ru-RU" b="1" dirty="0"/>
              <a:t>): </a:t>
            </a:r>
            <a:r>
              <a:rPr lang="ru-RU" dirty="0"/>
              <a:t>пропускает количество символов, равное </a:t>
            </a:r>
            <a:r>
              <a:rPr lang="ru-RU" dirty="0" err="1"/>
              <a:t>count</a:t>
            </a:r>
            <a:r>
              <a:rPr lang="ru-RU" dirty="0"/>
              <a:t>. Возвращает число успешно пропущенных символов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13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8193C9-7E4A-48C2-88C9-F339033C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Writer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742950" y="1821314"/>
            <a:ext cx="10706100" cy="45085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Класс </a:t>
            </a:r>
            <a:r>
              <a:rPr lang="ru-RU" dirty="0" err="1"/>
              <a:t>Writer</a:t>
            </a:r>
            <a:r>
              <a:rPr lang="ru-RU" dirty="0"/>
              <a:t> определяет функционал для всех символьных потоков вывода. Его основные методы:</a:t>
            </a:r>
          </a:p>
          <a:p>
            <a:pPr marL="0" indent="0">
              <a:buNone/>
            </a:pPr>
            <a:r>
              <a:rPr lang="ru-RU" b="1" dirty="0" err="1"/>
              <a:t>Writer</a:t>
            </a:r>
            <a:r>
              <a:rPr lang="ru-RU" b="1" dirty="0"/>
              <a:t> </a:t>
            </a:r>
            <a:r>
              <a:rPr lang="ru-RU" b="1" dirty="0" err="1"/>
              <a:t>append</a:t>
            </a:r>
            <a:r>
              <a:rPr lang="ru-RU" b="1" dirty="0"/>
              <a:t>(</a:t>
            </a:r>
            <a:r>
              <a:rPr lang="ru-RU" b="1" dirty="0" err="1"/>
              <a:t>char</a:t>
            </a:r>
            <a:r>
              <a:rPr lang="ru-RU" b="1" dirty="0"/>
              <a:t> c): </a:t>
            </a:r>
            <a:r>
              <a:rPr lang="ru-RU" dirty="0"/>
              <a:t>добавляет в конец выходного потока символ c. Возвращает объект </a:t>
            </a:r>
            <a:r>
              <a:rPr lang="ru-RU" dirty="0" err="1"/>
              <a:t>Writer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Writer</a:t>
            </a:r>
            <a:r>
              <a:rPr lang="ru-RU" b="1" dirty="0"/>
              <a:t> </a:t>
            </a:r>
            <a:r>
              <a:rPr lang="ru-RU" b="1" dirty="0" err="1"/>
              <a:t>append</a:t>
            </a:r>
            <a:r>
              <a:rPr lang="ru-RU" b="1" dirty="0"/>
              <a:t>(</a:t>
            </a:r>
            <a:r>
              <a:rPr lang="ru-RU" b="1" dirty="0" err="1"/>
              <a:t>CharSequence</a:t>
            </a:r>
            <a:r>
              <a:rPr lang="ru-RU" b="1" dirty="0"/>
              <a:t> </a:t>
            </a:r>
            <a:r>
              <a:rPr lang="ru-RU" b="1" dirty="0" err="1"/>
              <a:t>chars</a:t>
            </a:r>
            <a:r>
              <a:rPr lang="ru-RU" b="1" dirty="0"/>
              <a:t>): </a:t>
            </a:r>
            <a:r>
              <a:rPr lang="ru-RU" dirty="0"/>
              <a:t>добавляет в конец выходного потока набор символов </a:t>
            </a:r>
            <a:r>
              <a:rPr lang="ru-RU" dirty="0" err="1"/>
              <a:t>chars</a:t>
            </a:r>
            <a:r>
              <a:rPr lang="ru-RU" dirty="0"/>
              <a:t>. Возвращает объект </a:t>
            </a:r>
            <a:r>
              <a:rPr lang="ru-RU" dirty="0" err="1"/>
              <a:t>Writer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abstract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close</a:t>
            </a:r>
            <a:r>
              <a:rPr lang="ru-RU" b="1" dirty="0"/>
              <a:t>(): </a:t>
            </a:r>
            <a:r>
              <a:rPr lang="ru-RU" dirty="0"/>
              <a:t>закрывает поток</a:t>
            </a:r>
          </a:p>
          <a:p>
            <a:pPr marL="0" indent="0">
              <a:buNone/>
            </a:pPr>
            <a:r>
              <a:rPr lang="ru-RU" b="1" dirty="0" err="1"/>
              <a:t>abstract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flush</a:t>
            </a:r>
            <a:r>
              <a:rPr lang="ru-RU" b="1" dirty="0"/>
              <a:t>(): </a:t>
            </a:r>
            <a:r>
              <a:rPr lang="ru-RU" dirty="0"/>
              <a:t>очищает буферы потока</a:t>
            </a:r>
          </a:p>
          <a:p>
            <a:pPr marL="0" indent="0">
              <a:buNone/>
            </a:pP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int</a:t>
            </a:r>
            <a:r>
              <a:rPr lang="ru-RU" b="1" dirty="0"/>
              <a:t> c): </a:t>
            </a:r>
            <a:r>
              <a:rPr lang="ru-RU" dirty="0"/>
              <a:t>записывает в поток один символ, который имеет целочисленное представление</a:t>
            </a:r>
          </a:p>
          <a:p>
            <a:pPr marL="0" indent="0">
              <a:buNone/>
            </a:pP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char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): </a:t>
            </a:r>
            <a:r>
              <a:rPr lang="ru-RU" dirty="0"/>
              <a:t>записывает в поток массив символов</a:t>
            </a:r>
          </a:p>
          <a:p>
            <a:pPr marL="0" indent="0">
              <a:buNone/>
            </a:pPr>
            <a:r>
              <a:rPr lang="ru-RU" b="1" dirty="0" err="1"/>
              <a:t>absract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char</a:t>
            </a:r>
            <a:r>
              <a:rPr lang="ru-RU" b="1" dirty="0"/>
              <a:t>[] </a:t>
            </a:r>
            <a:r>
              <a:rPr lang="ru-RU" b="1" dirty="0" err="1"/>
              <a:t>buffer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off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len</a:t>
            </a:r>
            <a:r>
              <a:rPr lang="ru-RU" b="1" dirty="0"/>
              <a:t>) : </a:t>
            </a:r>
            <a:r>
              <a:rPr lang="ru-RU" dirty="0"/>
              <a:t>записывает в поток только несколько символов из массива </a:t>
            </a:r>
            <a:r>
              <a:rPr lang="ru-RU" dirty="0" err="1"/>
              <a:t>buffer</a:t>
            </a:r>
            <a:r>
              <a:rPr lang="ru-RU" dirty="0"/>
              <a:t>. Причем количество символов равно </a:t>
            </a:r>
            <a:r>
              <a:rPr lang="ru-RU" dirty="0" err="1"/>
              <a:t>len</a:t>
            </a:r>
            <a:r>
              <a:rPr lang="ru-RU" dirty="0"/>
              <a:t>, а отбор символов из массива начинается с индекса </a:t>
            </a:r>
            <a:r>
              <a:rPr lang="ru-RU" dirty="0" err="1"/>
              <a:t>off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String</a:t>
            </a:r>
            <a:r>
              <a:rPr lang="ru-RU" b="1" dirty="0"/>
              <a:t> </a:t>
            </a:r>
            <a:r>
              <a:rPr lang="ru-RU" b="1" dirty="0" err="1"/>
              <a:t>str</a:t>
            </a:r>
            <a:r>
              <a:rPr lang="ru-RU" b="1" dirty="0"/>
              <a:t>): </a:t>
            </a:r>
            <a:r>
              <a:rPr lang="ru-RU" dirty="0"/>
              <a:t>записывает в поток строку</a:t>
            </a:r>
          </a:p>
          <a:p>
            <a:pPr marL="0" indent="0">
              <a:buNone/>
            </a:pP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</a:t>
            </a:r>
            <a:r>
              <a:rPr lang="ru-RU" b="1" dirty="0"/>
              <a:t>(</a:t>
            </a:r>
            <a:r>
              <a:rPr lang="ru-RU" b="1" dirty="0" err="1"/>
              <a:t>String</a:t>
            </a:r>
            <a:r>
              <a:rPr lang="ru-RU" b="1" dirty="0"/>
              <a:t> </a:t>
            </a:r>
            <a:r>
              <a:rPr lang="ru-RU" b="1" dirty="0" err="1"/>
              <a:t>str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off</a:t>
            </a:r>
            <a:r>
              <a:rPr lang="ru-RU" b="1" dirty="0"/>
              <a:t>, </a:t>
            </a:r>
            <a:r>
              <a:rPr lang="ru-RU" b="1" dirty="0" err="1"/>
              <a:t>int</a:t>
            </a:r>
            <a:r>
              <a:rPr lang="ru-RU" b="1" dirty="0"/>
              <a:t> </a:t>
            </a:r>
            <a:r>
              <a:rPr lang="ru-RU" b="1" dirty="0" err="1"/>
              <a:t>len</a:t>
            </a:r>
            <a:r>
              <a:rPr lang="ru-RU" b="1" dirty="0"/>
              <a:t>): </a:t>
            </a:r>
            <a:r>
              <a:rPr lang="ru-RU" dirty="0"/>
              <a:t>записывает в поток из строки некоторое количество символов, которое равно </a:t>
            </a:r>
            <a:r>
              <a:rPr lang="ru-RU" dirty="0" err="1"/>
              <a:t>len</a:t>
            </a:r>
            <a:r>
              <a:rPr lang="ru-RU" dirty="0"/>
              <a:t>, причем отбор символов из строки начинается с индекса </a:t>
            </a:r>
            <a:r>
              <a:rPr lang="ru-RU" dirty="0" err="1"/>
              <a:t>off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68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DF8E1F-9994-4257-A638-A3F026D8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Закрытие </a:t>
            </a:r>
            <a:r>
              <a:rPr lang="ru-RU" dirty="0" err="1"/>
              <a:t>стримов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609600" y="1919307"/>
            <a:ext cx="10706100" cy="4508500"/>
          </a:xfrm>
        </p:spPr>
        <p:txBody>
          <a:bodyPr>
            <a:normAutofit/>
          </a:bodyPr>
          <a:lstStyle/>
          <a:p>
            <a:pPr marL="285750" indent="-285750"/>
            <a:r>
              <a:rPr lang="ru-RU" sz="2800" dirty="0"/>
              <a:t>При завершении работы с потоком его надо закрыть с помощью метода </a:t>
            </a:r>
            <a:r>
              <a:rPr lang="ru-RU" sz="2800" b="1" dirty="0" err="1"/>
              <a:t>close</a:t>
            </a:r>
            <a:r>
              <a:rPr lang="ru-RU" sz="2800" b="1" dirty="0"/>
              <a:t>()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err="1"/>
              <a:t>Стрим</a:t>
            </a:r>
            <a:r>
              <a:rPr lang="ru-RU" sz="2800" dirty="0"/>
              <a:t> достаточно дорогой ресурс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Есть ограничения на количество одновременно открытых </a:t>
            </a:r>
            <a:r>
              <a:rPr lang="ru-RU" sz="2800" dirty="0" err="1"/>
              <a:t>стримов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Не нужно иметь более одного открытого </a:t>
            </a:r>
            <a:r>
              <a:rPr lang="ru-RU" sz="2800" dirty="0" err="1"/>
              <a:t>стрима</a:t>
            </a:r>
            <a:r>
              <a:rPr lang="ru-RU" sz="2800" dirty="0"/>
              <a:t> на один файл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0000"/>
                </a:solidFill>
              </a:rPr>
              <a:t>Всегда закрывайте </a:t>
            </a:r>
            <a:r>
              <a:rPr lang="ru-RU" sz="2800" dirty="0" err="1">
                <a:solidFill>
                  <a:srgbClr val="FF0000"/>
                </a:solidFill>
              </a:rPr>
              <a:t>стримы</a:t>
            </a:r>
            <a:r>
              <a:rPr lang="ru-RU" sz="28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9376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2EF2E7-A98F-4C00-9BA4-3A51788A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файлами. Чтение.</a:t>
            </a:r>
            <a:br>
              <a:rPr lang="ru-RU" dirty="0"/>
            </a:b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2" t="22718" r="19399" b="26804"/>
          <a:stretch/>
        </p:blipFill>
        <p:spPr bwMode="auto">
          <a:xfrm>
            <a:off x="1203767" y="1608881"/>
            <a:ext cx="10342914" cy="4664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01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277886-EFF2-497B-8DA2-73E5DB0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файлами. Запись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8" t="22735" r="19937" b="25708"/>
          <a:stretch/>
        </p:blipFill>
        <p:spPr bwMode="auto">
          <a:xfrm>
            <a:off x="1458410" y="1932972"/>
            <a:ext cx="9479666" cy="4398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13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AD8AC-EB14-4116-97DE-FFEE8F8B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Консольный ввод-вывод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10706100" cy="4508500"/>
          </a:xfrm>
        </p:spPr>
        <p:txBody>
          <a:bodyPr>
            <a:normAutofit fontScale="4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Специально для работы с консолью в </a:t>
            </a:r>
            <a:r>
              <a:rPr lang="ru-RU" dirty="0" err="1"/>
              <a:t>Java</a:t>
            </a:r>
            <a:r>
              <a:rPr lang="ru-RU" dirty="0"/>
              <a:t> определен класс </a:t>
            </a:r>
            <a:r>
              <a:rPr lang="ru-RU" b="1" dirty="0" err="1"/>
              <a:t>Console</a:t>
            </a:r>
            <a:r>
              <a:rPr lang="ru-RU" dirty="0"/>
              <a:t>, который хранится в пакете </a:t>
            </a:r>
            <a:r>
              <a:rPr lang="ru-RU" i="1" dirty="0"/>
              <a:t>java.io</a:t>
            </a:r>
            <a:r>
              <a:rPr lang="ru-RU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Он не получает консольный ввод-вывод сам по себе, а использует уже имеющиеся потоки System.in и </a:t>
            </a:r>
            <a:r>
              <a:rPr lang="ru-RU" dirty="0" err="1"/>
              <a:t>System.out</a:t>
            </a:r>
            <a:r>
              <a:rPr lang="ru-RU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Но в то же время </a:t>
            </a:r>
            <a:r>
              <a:rPr lang="ru-RU" dirty="0" err="1"/>
              <a:t>Console</a:t>
            </a:r>
            <a:r>
              <a:rPr lang="ru-RU" dirty="0"/>
              <a:t> значительно упрощает ряд операций, связанных с консолью.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Получить доступ к консоли: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класса </a:t>
            </a:r>
            <a:r>
              <a:rPr lang="ru-RU" dirty="0" err="1"/>
              <a:t>Console</a:t>
            </a:r>
            <a:r>
              <a:rPr lang="ru-RU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b="1" dirty="0" err="1"/>
              <a:t>flush</a:t>
            </a:r>
            <a:r>
              <a:rPr lang="ru-RU" b="1" dirty="0"/>
              <a:t>()</a:t>
            </a:r>
            <a:r>
              <a:rPr lang="ru-RU" dirty="0"/>
              <a:t>: выводит на консоль все данные из буфера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b="1" dirty="0" err="1"/>
              <a:t>format</a:t>
            </a:r>
            <a:r>
              <a:rPr lang="ru-RU" b="1" dirty="0"/>
              <a:t>()</a:t>
            </a:r>
            <a:r>
              <a:rPr lang="ru-RU" dirty="0"/>
              <a:t>: выводит на консоль строку с использованием форматирования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b="1" dirty="0" err="1"/>
              <a:t>printf</a:t>
            </a:r>
            <a:r>
              <a:rPr lang="ru-RU" b="1" dirty="0"/>
              <a:t>()</a:t>
            </a:r>
            <a:r>
              <a:rPr lang="ru-RU" dirty="0"/>
              <a:t>: выводит на консоль строку с использованием форматирования (фактически то же самое, что и предыдущий метод)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b="1" dirty="0" err="1"/>
              <a:t>String</a:t>
            </a:r>
            <a:r>
              <a:rPr lang="ru-RU" b="1" dirty="0"/>
              <a:t> </a:t>
            </a:r>
            <a:r>
              <a:rPr lang="ru-RU" b="1" dirty="0" err="1"/>
              <a:t>readLine</a:t>
            </a:r>
            <a:r>
              <a:rPr lang="ru-RU" b="1" dirty="0"/>
              <a:t>()</a:t>
            </a:r>
            <a:r>
              <a:rPr lang="ru-RU" dirty="0"/>
              <a:t>: считывает с консоли введенную пользователем строку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b="1" dirty="0" err="1"/>
              <a:t>char</a:t>
            </a:r>
            <a:r>
              <a:rPr lang="ru-RU" b="1" dirty="0"/>
              <a:t>[] </a:t>
            </a:r>
            <a:r>
              <a:rPr lang="ru-RU" b="1" dirty="0" err="1"/>
              <a:t>readPassword</a:t>
            </a:r>
            <a:r>
              <a:rPr lang="ru-RU" b="1" dirty="0"/>
              <a:t>()</a:t>
            </a:r>
            <a:r>
              <a:rPr lang="ru-RU" dirty="0"/>
              <a:t>: считывает с консоли введенную пользователем строку, при этом символы строки не отображаются на консоли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6" t="46094" r="18082" b="49804"/>
          <a:stretch/>
        </p:blipFill>
        <p:spPr bwMode="auto">
          <a:xfrm>
            <a:off x="1554956" y="3556057"/>
            <a:ext cx="88153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74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2A7A0D-CB7B-4690-845E-4562F1D8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Чтение из консоли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8" t="20312" r="3148" b="18693"/>
          <a:stretch/>
        </p:blipFill>
        <p:spPr bwMode="auto">
          <a:xfrm>
            <a:off x="609600" y="1809739"/>
            <a:ext cx="9571540" cy="4461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843297"/>
      </p:ext>
    </p:extLst>
  </p:cSld>
  <p:clrMapOvr>
    <a:masterClrMapping/>
  </p:clrMapOvr>
</p:sld>
</file>

<file path=ppt/theme/theme1.xml><?xml version="1.0" encoding="utf-8"?>
<a:theme xmlns:a="http://schemas.openxmlformats.org/drawingml/2006/main" name="GIS_them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S_theme" id="{4ABA2DA3-FC12-4F6D-A63F-F49808B2745D}" vid="{ED545FA1-F0DD-4A91-AB56-FB9C25E1D6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2655081-a077-4fd9-949e-2f5d59e70d7a" Revision="1" Stencil="System.MyShapes" StencilVersion="1.0"/>
</Control>
</file>

<file path=customXml/itemProps1.xml><?xml version="1.0" encoding="utf-8"?>
<ds:datastoreItem xmlns:ds="http://schemas.openxmlformats.org/officeDocument/2006/customXml" ds:itemID="{F55705B9-9ED4-469A-A231-549B6E50306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25174</TotalTime>
  <Words>1340</Words>
  <Application>Microsoft Office PowerPoint</Application>
  <PresentationFormat>Widescreen</PresentationFormat>
  <Paragraphs>96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GIS_theme</vt:lpstr>
      <vt:lpstr>Программирование на Java</vt:lpstr>
      <vt:lpstr>План лекции</vt:lpstr>
      <vt:lpstr>Потоки ввода-вывода</vt:lpstr>
      <vt:lpstr>Виды потоков</vt:lpstr>
      <vt:lpstr>Основные классы, работающие с потоками</vt:lpstr>
      <vt:lpstr>InputStream</vt:lpstr>
      <vt:lpstr>OutputStream</vt:lpstr>
      <vt:lpstr>Reader</vt:lpstr>
      <vt:lpstr>Writer</vt:lpstr>
      <vt:lpstr>Закрытие стримов</vt:lpstr>
      <vt:lpstr>Работа с файлами. Чтение. </vt:lpstr>
      <vt:lpstr>Работа с файлами. Запись</vt:lpstr>
      <vt:lpstr>Консольный ввод-вывод</vt:lpstr>
      <vt:lpstr>Чтение из консоли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Filinskikh, Yulia</dc:creator>
  <cp:lastModifiedBy>Yulia Filinskikh</cp:lastModifiedBy>
  <cp:revision>110</cp:revision>
  <dcterms:created xsi:type="dcterms:W3CDTF">2019-02-08T07:13:25Z</dcterms:created>
  <dcterms:modified xsi:type="dcterms:W3CDTF">2025-02-20T18:04:51Z</dcterms:modified>
</cp:coreProperties>
</file>