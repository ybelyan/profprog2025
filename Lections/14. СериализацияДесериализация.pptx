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1" r:id="rId7"/>
    <p:sldId id="263" r:id="rId8"/>
    <p:sldId id="260" r:id="rId9"/>
    <p:sldId id="264" r:id="rId10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086" autoAdjust="0"/>
  </p:normalViewPr>
  <p:slideViewPr>
    <p:cSldViewPr>
      <p:cViewPr varScale="1">
        <p:scale>
          <a:sx n="84" d="100"/>
          <a:sy n="84" d="100"/>
        </p:scale>
        <p:origin x="634" y="6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FED33-D328-45C2-B91A-83B438B4C415}" type="datetimeFigureOut">
              <a:rPr lang="ru-RU" smtClean="0"/>
              <a:t>09.03.2025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50DF4-E479-4FC1-BAC7-78E3D4666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3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Сериализация</a:t>
            </a:r>
            <a:r>
              <a:rPr lang="ru-RU" dirty="0"/>
              <a:t> и </a:t>
            </a:r>
            <a:r>
              <a:rPr lang="ru-RU" dirty="0" err="1"/>
              <a:t>десериализация</a:t>
            </a:r>
            <a:r>
              <a:rPr lang="ru-RU" dirty="0"/>
              <a:t> являются важными аспектами программирования, особенно в контексте сохранения и передачи объектов между разными системами и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хранения данных в программировании</a:t>
            </a:r>
            <a:r>
              <a:rPr lang="ru-RU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989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Передача данных по сети: </a:t>
            </a:r>
            <a:r>
              <a:rPr lang="ru-RU" dirty="0" err="1"/>
              <a:t>Сериализация</a:t>
            </a:r>
            <a:r>
              <a:rPr lang="ru-RU" dirty="0"/>
              <a:t> позволяет передавать сложные структуры данных, такие как объекты, через сеть в удобном формате. Это особенно полезно при клиент-серверных взаимодействиях и в распределенных системах.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Хранение данных: </a:t>
            </a:r>
            <a:r>
              <a:rPr lang="ru-RU" dirty="0" err="1"/>
              <a:t>Сериализация</a:t>
            </a:r>
            <a:r>
              <a:rPr lang="ru-RU" dirty="0"/>
              <a:t> позволяет сохранять состояние объектов в файлы или базы данных. Это полезно, когда необходимо сохранять промежуточное состояние программы, чтобы возобновить работу позже.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Интеграция разных систем: Множество программ взаимодействуют между собой, и они могут быть написаны на разных языках программирования. </a:t>
            </a:r>
            <a:r>
              <a:rPr lang="ru-RU" dirty="0" err="1"/>
              <a:t>Сериализация</a:t>
            </a:r>
            <a:r>
              <a:rPr lang="ru-RU" dirty="0"/>
              <a:t> позволяет преобразовывать данные в общие форматы, такие как JSON или XML, что упрощает интеграцию.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Производительность: В некоторых случаях бинарные форматы </a:t>
            </a:r>
            <a:r>
              <a:rPr lang="ru-RU" dirty="0" err="1"/>
              <a:t>сериализации</a:t>
            </a:r>
            <a:r>
              <a:rPr lang="ru-RU" dirty="0"/>
              <a:t> могут быть более компактными и быстрыми для передачи по сети, чем текстовые форматы.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Сохранение совместимости: При использовании </a:t>
            </a:r>
            <a:r>
              <a:rPr lang="ru-RU" dirty="0" err="1"/>
              <a:t>версионирования</a:t>
            </a:r>
            <a:r>
              <a:rPr lang="ru-RU" dirty="0"/>
              <a:t> данных, можно сохранить совместимость между разными версиями программ, </a:t>
            </a:r>
            <a:r>
              <a:rPr lang="ru-RU" dirty="0" err="1"/>
              <a:t>десериализуя</a:t>
            </a:r>
            <a:r>
              <a:rPr lang="ru-RU" dirty="0"/>
              <a:t> старые данные в новой версии приложения.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Расширяемость: Многие форматы </a:t>
            </a:r>
            <a:r>
              <a:rPr lang="ru-RU" dirty="0" err="1"/>
              <a:t>сериализации</a:t>
            </a:r>
            <a:r>
              <a:rPr lang="ru-RU" dirty="0"/>
              <a:t> позволяют встраивать пользовательские типы данных, что делает их более гибкими для разных приложений.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739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</a:t>
            </a:r>
            <a:r>
              <a:rPr lang="ru-RU" dirty="0" err="1"/>
              <a:t>ava</a:t>
            </a:r>
            <a:r>
              <a:rPr lang="ru-RU" dirty="0"/>
              <a:t> </a:t>
            </a:r>
            <a:r>
              <a:rPr lang="ru-RU" dirty="0" err="1"/>
              <a:t>Serialization</a:t>
            </a:r>
            <a:r>
              <a:rPr lang="ru-RU" dirty="0"/>
              <a:t> API предоставляет стандартный механизм для создания </a:t>
            </a:r>
            <a:r>
              <a:rPr lang="ru-RU" dirty="0" err="1"/>
              <a:t>сериализуемых</a:t>
            </a:r>
            <a:r>
              <a:rPr lang="ru-RU" dirty="0"/>
              <a:t> объектов. Процесс </a:t>
            </a:r>
            <a:r>
              <a:rPr lang="ru-RU" dirty="0" err="1"/>
              <a:t>сериализации</a:t>
            </a:r>
            <a:r>
              <a:rPr lang="ru-RU" dirty="0"/>
              <a:t> заключается в </a:t>
            </a:r>
            <a:r>
              <a:rPr lang="ru-RU" dirty="0" err="1"/>
              <a:t>сериализации</a:t>
            </a:r>
            <a:r>
              <a:rPr lang="ru-RU" dirty="0"/>
              <a:t> каждого поля объекта, но только в том случае, если это поле не имеет спецификатора </a:t>
            </a:r>
            <a:r>
              <a:rPr lang="ru-RU" dirty="0" err="1"/>
              <a:t>static</a:t>
            </a:r>
            <a:r>
              <a:rPr lang="ru-RU" dirty="0"/>
              <a:t> или </a:t>
            </a:r>
            <a:r>
              <a:rPr lang="ru-RU" dirty="0" err="1"/>
              <a:t>transient</a:t>
            </a:r>
            <a:r>
              <a:rPr lang="ru-RU" dirty="0"/>
              <a:t>. Поля, помеченные ими не могут быть предметом </a:t>
            </a:r>
            <a:r>
              <a:rPr lang="ru-RU" dirty="0" err="1"/>
              <a:t>сериализации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Модификатор </a:t>
            </a:r>
            <a:r>
              <a:rPr lang="ru-RU" dirty="0" err="1"/>
              <a:t>transient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используется для переменных экземпляра, которые не должны участвовать в процессе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сериализации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объекта. Если переменная помечена как </a:t>
            </a:r>
            <a:r>
              <a:rPr lang="ru-RU" dirty="0" err="1"/>
              <a:t>transient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(JVM) пропустит её 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сериализации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её значение не будет записано в поток данных.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057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017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того как объект был </a:t>
            </a:r>
            <a:r>
              <a:rPr lang="ru-RU" dirty="0" err="1"/>
              <a:t>сериализован</a:t>
            </a:r>
            <a:r>
              <a:rPr lang="ru-RU" dirty="0"/>
              <a:t> (превращен в последовательность байт), его можно восстановить, при этом восстановление можно проводить на любой машине (вне зависимости от того, где проводилась </a:t>
            </a:r>
            <a:r>
              <a:rPr lang="ru-RU" dirty="0" err="1"/>
              <a:t>сериализация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Десериализация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происходит следующим образом: под объект выделяется память, после чего его поля заполняются значениями из потока. КОНСТРУКТОР объекта при этом НЕ ВЫЗЫВАЕТСЯ.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dirty="0"/>
              <a:t>При </a:t>
            </a:r>
            <a:r>
              <a:rPr lang="ru-RU" dirty="0" err="1"/>
              <a:t>десериализации</a:t>
            </a:r>
            <a:r>
              <a:rPr lang="ru-RU" dirty="0"/>
              <a:t> с </a:t>
            </a:r>
            <a:r>
              <a:rPr lang="en-US" dirty="0"/>
              <a:t>Externalizable </a:t>
            </a:r>
            <a:r>
              <a:rPr lang="ru-RU" dirty="0"/>
              <a:t>Сначала вызывается конструктор без параметров, а потом уже на созданном объекте вызывается метод </a:t>
            </a:r>
            <a:r>
              <a:rPr lang="ru-RU" dirty="0" err="1"/>
              <a:t>readExternal</a:t>
            </a:r>
            <a:r>
              <a:rPr lang="ru-RU" dirty="0"/>
              <a:t>, который и вычитывает, собственно, все свои данные. Потому – любой реализующий интерфейс </a:t>
            </a:r>
            <a:r>
              <a:rPr lang="ru-RU" dirty="0" err="1"/>
              <a:t>Externalizable</a:t>
            </a:r>
            <a:r>
              <a:rPr lang="ru-RU" dirty="0"/>
              <a:t> класс обязан иметь </a:t>
            </a:r>
            <a:r>
              <a:rPr lang="ru-RU" dirty="0" err="1"/>
              <a:t>public</a:t>
            </a:r>
            <a:r>
              <a:rPr lang="ru-RU" dirty="0"/>
              <a:t> конструктор без параметров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351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938B-0DA2-4448-9396-E3D6B6592B57}" type="datetime1">
              <a:rPr lang="ru-RU" smtClean="0"/>
              <a:t>09.03.2025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938B-0DA2-4448-9396-E3D6B6592B57}" type="datetime1">
              <a:rPr lang="ru-RU" smtClean="0"/>
              <a:t>09.03.2025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8473-29C1-4E38-9693-78112B8E8A00}" type="datetime1">
              <a:rPr lang="ru-RU" smtClean="0"/>
              <a:t>09.03.2025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43326F-15DF-455F-B9E6-C0CE4A481B5D}" type="datetime1">
              <a:rPr lang="ru-RU" smtClean="0"/>
              <a:pPr/>
              <a:t>09.03.2025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69F336-2DD4-44CE-8205-AE3F61CEB7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04C6E-9B24-454D-9475-909125905394}" type="datetime1">
              <a:rPr lang="ru-RU" smtClean="0"/>
              <a:t>09.03.2025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E23A4-FFB4-4197-8E90-81B496FF21F2}" type="datetime1">
              <a:rPr lang="ru-RU" smtClean="0"/>
              <a:t>09.03.2025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6EA0-727C-425F-9DC7-DF28038F580D}" type="datetime1">
              <a:rPr lang="ru-RU" smtClean="0"/>
              <a:t>09.03.2025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5BD2C-6379-4ADB-895E-EA14E58B08BD}" type="datetime1">
              <a:rPr lang="ru-RU" smtClean="0"/>
              <a:t>09.03.2025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02FBE-660B-4788-93E5-23F80C221E14}" type="datetime1">
              <a:rPr lang="ru-RU" smtClean="0"/>
              <a:t>09.03.2025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28741"/>
            <a:ext cx="8229600" cy="3165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88AE213-E076-4E30-856F-02825387B9E6}" type="datetime1">
              <a:rPr lang="ru-RU" smtClean="0"/>
              <a:pPr/>
              <a:t>09.03.2025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A69F336-2DD4-44CE-8205-AE3F61CEB7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0" r:id="rId4"/>
    <p:sldLayoutId id="2147483652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685800" y="2499742"/>
            <a:ext cx="7772400" cy="1314450"/>
          </a:xfrm>
        </p:spPr>
        <p:txBody>
          <a:bodyPr>
            <a:normAutofit/>
          </a:bodyPr>
          <a:lstStyle/>
          <a:p>
            <a:r>
              <a:rPr lang="ru-RU" dirty="0" err="1"/>
              <a:t>Сериализация</a:t>
            </a:r>
            <a:r>
              <a:rPr lang="ru-RU" dirty="0"/>
              <a:t> и </a:t>
            </a:r>
            <a:r>
              <a:rPr lang="ru-RU" dirty="0" err="1"/>
              <a:t>десериализация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E3EA24-45C9-4079-A48E-8E35DAFD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Сериализация</a:t>
            </a:r>
            <a:r>
              <a:rPr lang="ru-RU" dirty="0"/>
              <a:t> и </a:t>
            </a:r>
            <a:r>
              <a:rPr lang="ru-RU" dirty="0" err="1"/>
              <a:t>десериализация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D36A3-39C9-4B5F-B6B4-CB83D1E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2</a:t>
            </a:fld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94C0C5-7AFF-4EAC-9737-5C25C06ACB58}"/>
              </a:ext>
            </a:extLst>
          </p:cNvPr>
          <p:cNvSpPr/>
          <p:nvPr/>
        </p:nvSpPr>
        <p:spPr>
          <a:xfrm>
            <a:off x="457200" y="1519833"/>
            <a:ext cx="822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172B53"/>
                </a:solidFill>
                <a:latin typeface="Arial" panose="020B0604020202020204" pitchFamily="34" charset="0"/>
              </a:rPr>
              <a:t>Сериализация</a:t>
            </a:r>
            <a:r>
              <a:rPr lang="ru-RU" dirty="0">
                <a:solidFill>
                  <a:srgbClr val="172B53"/>
                </a:solidFill>
                <a:latin typeface="Arial" panose="020B0604020202020204" pitchFamily="34" charset="0"/>
              </a:rPr>
              <a:t> — это процесс сохранения состояния объекта в последовательность байт.</a:t>
            </a:r>
            <a:endParaRPr lang="en-US" dirty="0">
              <a:solidFill>
                <a:srgbClr val="172B53"/>
              </a:solidFill>
              <a:latin typeface="Arial" panose="020B0604020202020204" pitchFamily="34" charset="0"/>
            </a:endParaRPr>
          </a:p>
          <a:p>
            <a:r>
              <a:rPr lang="ru-RU" b="1" dirty="0" err="1">
                <a:solidFill>
                  <a:srgbClr val="172B53"/>
                </a:solidFill>
                <a:latin typeface="Arial" panose="020B0604020202020204" pitchFamily="34" charset="0"/>
              </a:rPr>
              <a:t>Десериализация</a:t>
            </a:r>
            <a:r>
              <a:rPr lang="ru-RU" dirty="0">
                <a:solidFill>
                  <a:srgbClr val="172B53"/>
                </a:solidFill>
                <a:latin typeface="Arial" panose="020B0604020202020204" pitchFamily="34" charset="0"/>
              </a:rPr>
              <a:t> — это процесс восстановления объекта из этих байт.</a:t>
            </a:r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945389-F25F-4857-B57B-BEDDFEA22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043" y="2502893"/>
            <a:ext cx="5129913" cy="215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4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8084-54B2-4F32-B055-631821AF2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46D92D-EC19-4C27-839C-BFD0B3A0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3</a:t>
            </a:fld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5C2772-6E3E-4C20-9E2C-5068F2BB5202}"/>
              </a:ext>
            </a:extLst>
          </p:cNvPr>
          <p:cNvSpPr/>
          <p:nvPr/>
        </p:nvSpPr>
        <p:spPr>
          <a:xfrm>
            <a:off x="457200" y="1357304"/>
            <a:ext cx="8229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Передача данных по сети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Хранение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Интеграция разных систем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Производительность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Сохранение совместимости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Расширяемость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C777CE-9B18-4A6E-8654-76BF41D8F0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65768" y="2024530"/>
            <a:ext cx="2893560" cy="156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EB8C08-1CF9-4346-8CEF-9D6E0DCE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Сериализация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E9CBC7-7878-44D4-91C4-F67BBF954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5770984" cy="3165881"/>
          </a:xfrm>
        </p:spPr>
        <p:txBody>
          <a:bodyPr>
            <a:normAutofit fontScale="70000" lnSpcReduction="20000"/>
          </a:bodyPr>
          <a:lstStyle/>
          <a:p>
            <a:r>
              <a:rPr lang="ru-RU" dirty="0" err="1"/>
              <a:t>Java</a:t>
            </a:r>
            <a:r>
              <a:rPr lang="ru-RU" dirty="0"/>
              <a:t> </a:t>
            </a:r>
            <a:r>
              <a:rPr lang="ru-RU" dirty="0" err="1"/>
              <a:t>Serialization</a:t>
            </a:r>
            <a:r>
              <a:rPr lang="ru-RU" dirty="0"/>
              <a:t> API предоставляет стандартный механизм для создания </a:t>
            </a:r>
            <a:r>
              <a:rPr lang="ru-RU" dirty="0" err="1"/>
              <a:t>сериализуемых</a:t>
            </a:r>
            <a:r>
              <a:rPr lang="ru-RU" dirty="0"/>
              <a:t> объектов</a:t>
            </a:r>
            <a:endParaRPr lang="en-US" dirty="0"/>
          </a:p>
          <a:p>
            <a:r>
              <a:rPr lang="ru-RU" dirty="0"/>
              <a:t>Процесс </a:t>
            </a:r>
            <a:r>
              <a:rPr lang="ru-RU" dirty="0" err="1"/>
              <a:t>сериализации</a:t>
            </a:r>
            <a:r>
              <a:rPr lang="ru-RU" dirty="0"/>
              <a:t> заключается в </a:t>
            </a:r>
            <a:r>
              <a:rPr lang="ru-RU" dirty="0" err="1"/>
              <a:t>сериализации</a:t>
            </a:r>
            <a:r>
              <a:rPr lang="ru-RU" dirty="0"/>
              <a:t> каждого поля объекта, за исключением полей </a:t>
            </a:r>
            <a:r>
              <a:rPr lang="ru-RU" b="1" dirty="0" err="1"/>
              <a:t>static</a:t>
            </a:r>
            <a:r>
              <a:rPr lang="ru-RU" dirty="0"/>
              <a:t> или </a:t>
            </a:r>
            <a:r>
              <a:rPr lang="ru-RU" b="1" dirty="0" err="1"/>
              <a:t>transient</a:t>
            </a:r>
            <a:endParaRPr lang="ru-RU" b="1" dirty="0"/>
          </a:p>
          <a:p>
            <a:r>
              <a:rPr lang="ru-RU" dirty="0"/>
              <a:t>Модификатор </a:t>
            </a:r>
            <a:r>
              <a:rPr lang="ru-RU" b="1" dirty="0" err="1"/>
              <a:t>transient</a:t>
            </a:r>
            <a:r>
              <a:rPr lang="ru-RU" dirty="0"/>
              <a:t> используется для переменных экземпляра, которые не должны участвовать в процессе </a:t>
            </a:r>
            <a:r>
              <a:rPr lang="ru-RU" dirty="0" err="1"/>
              <a:t>сериализации</a:t>
            </a:r>
            <a:r>
              <a:rPr lang="ru-RU" dirty="0"/>
              <a:t> объекта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B38C18-26B8-48F4-983C-015B7B64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4</a:t>
            </a:fld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F3D2C7-9E77-4B68-AFF0-6FAA9D65F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1707654"/>
            <a:ext cx="2672809" cy="26728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336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B51D-64CC-4B31-837C-8DBB400B3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 </a:t>
            </a:r>
            <a:r>
              <a:rPr lang="en-US" i="1" dirty="0" err="1"/>
              <a:t>java.io.Serializable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72B8-5D90-4CCC-ABF1-57447880C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i="1" dirty="0" err="1"/>
              <a:t>Serializable</a:t>
            </a:r>
            <a:r>
              <a:rPr lang="ru-RU" dirty="0"/>
              <a:t> - интерфейс-маркер, не определяет никаких методов</a:t>
            </a:r>
            <a:r>
              <a:rPr lang="en-US" dirty="0"/>
              <a:t> </a:t>
            </a:r>
            <a:r>
              <a:rPr lang="ru-RU" dirty="0"/>
              <a:t>и полей, но указывает, что объекты этого класса разрешено </a:t>
            </a:r>
            <a:r>
              <a:rPr lang="ru-RU" dirty="0" err="1"/>
              <a:t>сериализовывать</a:t>
            </a:r>
            <a:r>
              <a:rPr lang="ru-RU" dirty="0"/>
              <a:t>.</a:t>
            </a:r>
          </a:p>
          <a:p>
            <a:r>
              <a:rPr lang="ru-RU" dirty="0"/>
              <a:t>Для того, что бы объект мог быть </a:t>
            </a:r>
            <a:r>
              <a:rPr lang="ru-RU" dirty="0" err="1"/>
              <a:t>сериализован</a:t>
            </a:r>
            <a:r>
              <a:rPr lang="ru-RU" dirty="0"/>
              <a:t>, он должен реализовать интерфейс </a:t>
            </a:r>
            <a:r>
              <a:rPr lang="ru-RU" b="1" dirty="0" err="1"/>
              <a:t>Serializable</a:t>
            </a:r>
            <a:r>
              <a:rPr lang="ru-RU" dirty="0"/>
              <a:t>, иначе будет брошено</a:t>
            </a:r>
            <a:r>
              <a:rPr lang="ru-RU" i="1" dirty="0"/>
              <a:t> </a:t>
            </a:r>
            <a:r>
              <a:rPr lang="en-US" i="1" dirty="0" err="1"/>
              <a:t>java.io.NotSerializableException</a:t>
            </a:r>
            <a:r>
              <a:rPr lang="ru-RU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52550-35A4-4386-9AA8-CC359616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15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445E-31D2-4DD9-9183-C271C08E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 err="1"/>
              <a:t>java.io.Externalizable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0DDAE-8696-4EFB-AD91-175E37414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Еще один способ сделать объект </a:t>
            </a:r>
            <a:r>
              <a:rPr lang="ru-RU" dirty="0" err="1"/>
              <a:t>сериализуемым</a:t>
            </a:r>
            <a:r>
              <a:rPr lang="ru-RU" dirty="0"/>
              <a:t>  - это реализовать интерфейс </a:t>
            </a:r>
            <a:r>
              <a:rPr lang="en-US" b="1" dirty="0"/>
              <a:t>Externalizable</a:t>
            </a:r>
            <a:r>
              <a:rPr lang="ru-RU" b="1" dirty="0"/>
              <a:t> </a:t>
            </a:r>
            <a:r>
              <a:rPr lang="ru-RU" dirty="0"/>
              <a:t>и два его метода </a:t>
            </a:r>
            <a:r>
              <a:rPr lang="en-US" b="1" dirty="0" err="1"/>
              <a:t>writeExternal</a:t>
            </a:r>
            <a:r>
              <a:rPr lang="en-US" b="1" dirty="0"/>
              <a:t>(</a:t>
            </a:r>
            <a:r>
              <a:rPr lang="en-US" b="1" dirty="0" err="1"/>
              <a:t>ObjectOutput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 err="1"/>
              <a:t>readExternal</a:t>
            </a:r>
            <a:r>
              <a:rPr lang="en-US" b="1" dirty="0"/>
              <a:t>(</a:t>
            </a:r>
            <a:r>
              <a:rPr lang="en-US" b="1" dirty="0" err="1"/>
              <a:t>ObjectInput</a:t>
            </a:r>
            <a:r>
              <a:rPr lang="en-US" b="1" dirty="0"/>
              <a:t>)</a:t>
            </a:r>
            <a:endParaRPr lang="ru-RU" b="1" dirty="0"/>
          </a:p>
          <a:p>
            <a:r>
              <a:rPr lang="ru-RU" dirty="0"/>
              <a:t>В этих методах как раз и находится логика </a:t>
            </a:r>
            <a:r>
              <a:rPr lang="ru-RU" dirty="0" err="1"/>
              <a:t>сериализации</a:t>
            </a:r>
            <a:r>
              <a:rPr lang="ru-RU" dirty="0"/>
              <a:t>/</a:t>
            </a:r>
            <a:r>
              <a:rPr lang="ru-RU" dirty="0" err="1"/>
              <a:t>десериализации</a:t>
            </a:r>
            <a:endParaRPr lang="ru-RU" dirty="0"/>
          </a:p>
          <a:p>
            <a:r>
              <a:rPr lang="ru-RU" dirty="0"/>
              <a:t>Класс обязан иметь </a:t>
            </a:r>
            <a:r>
              <a:rPr lang="ru-RU" b="1" i="1" dirty="0" err="1"/>
              <a:t>public</a:t>
            </a:r>
            <a:r>
              <a:rPr lang="ru-RU" dirty="0"/>
              <a:t> конструктор без параметров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0B19B-DFA8-42F9-93A0-EB6248DE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39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A711-D98D-490C-B764-4459D8E0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Сериализация</a:t>
            </a:r>
            <a:r>
              <a:rPr lang="ru-RU" dirty="0"/>
              <a:t>. Класс </a:t>
            </a:r>
            <a:r>
              <a:rPr lang="en-US" dirty="0" err="1"/>
              <a:t>ObjectOutputStream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4577C-B009-443F-949E-6E6D463C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</a:t>
            </a:r>
            <a:r>
              <a:rPr lang="ru-RU" dirty="0" err="1"/>
              <a:t>сериализации</a:t>
            </a:r>
            <a:r>
              <a:rPr lang="ru-RU" dirty="0"/>
              <a:t> объектов в поток используется класс </a:t>
            </a:r>
            <a:r>
              <a:rPr lang="ru-RU" b="1" dirty="0" err="1"/>
              <a:t>ObjectOutputStream</a:t>
            </a:r>
            <a:endParaRPr lang="ru-RU" b="1" dirty="0"/>
          </a:p>
          <a:p>
            <a:r>
              <a:rPr lang="ru-RU" dirty="0"/>
              <a:t>Для создания объекта </a:t>
            </a:r>
            <a:r>
              <a:rPr lang="ru-RU" dirty="0" err="1"/>
              <a:t>ObjectOutputStream</a:t>
            </a:r>
            <a:r>
              <a:rPr lang="ru-RU" dirty="0"/>
              <a:t> в конструктор передается поток, в который производится запись</a:t>
            </a:r>
          </a:p>
          <a:p>
            <a:r>
              <a:rPr lang="ru-RU" dirty="0"/>
              <a:t>Его метод </a:t>
            </a:r>
            <a:r>
              <a:rPr lang="ru-RU" b="1" dirty="0" err="1"/>
              <a:t>void</a:t>
            </a:r>
            <a:r>
              <a:rPr lang="ru-RU" b="1" dirty="0"/>
              <a:t> </a:t>
            </a:r>
            <a:r>
              <a:rPr lang="ru-RU" b="1" dirty="0" err="1"/>
              <a:t>writeObject</a:t>
            </a:r>
            <a:r>
              <a:rPr lang="ru-RU" b="1" dirty="0"/>
              <a:t>(</a:t>
            </a:r>
            <a:r>
              <a:rPr lang="ru-RU" b="1" dirty="0" err="1"/>
              <a:t>Object</a:t>
            </a:r>
            <a:r>
              <a:rPr lang="ru-RU" b="1" dirty="0"/>
              <a:t> </a:t>
            </a:r>
            <a:r>
              <a:rPr lang="ru-RU" b="1" dirty="0" err="1"/>
              <a:t>obj</a:t>
            </a:r>
            <a:r>
              <a:rPr lang="ru-RU" b="1" dirty="0"/>
              <a:t>)</a:t>
            </a:r>
            <a:r>
              <a:rPr lang="ru-RU" dirty="0"/>
              <a:t>: записывает в поток отдельный объект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2020B-BAED-4EAA-AAFB-DBA501B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96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E22B-2688-4D00-9CE6-DAC3475A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Десериализация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A9498-A672-4CA5-99EE-53DB48F9D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 </a:t>
            </a:r>
            <a:r>
              <a:rPr lang="ru-RU" b="1" dirty="0" err="1"/>
              <a:t>десериализации</a:t>
            </a:r>
            <a:r>
              <a:rPr lang="ru-RU" b="1" dirty="0"/>
              <a:t> </a:t>
            </a:r>
            <a:r>
              <a:rPr lang="ru-RU" dirty="0"/>
              <a:t>поле со спецификатором </a:t>
            </a:r>
            <a:r>
              <a:rPr lang="ru-RU" b="1" dirty="0" err="1"/>
              <a:t>transient</a:t>
            </a:r>
            <a:r>
              <a:rPr lang="ru-RU" b="1" dirty="0"/>
              <a:t> </a:t>
            </a:r>
            <a:r>
              <a:rPr lang="ru-RU" dirty="0"/>
              <a:t>получает значение по умолчанию, соответствующее его типу.</a:t>
            </a:r>
          </a:p>
          <a:p>
            <a:r>
              <a:rPr lang="ru-RU" dirty="0"/>
              <a:t>Поле со спецификатором </a:t>
            </a:r>
            <a:r>
              <a:rPr lang="ru-RU" i="1" dirty="0" err="1"/>
              <a:t>static</a:t>
            </a:r>
            <a:r>
              <a:rPr lang="ru-RU" dirty="0"/>
              <a:t> не изменяется</a:t>
            </a:r>
          </a:p>
          <a:p>
            <a:r>
              <a:rPr lang="ru-RU" dirty="0"/>
              <a:t>КОНСТРУКТОР объекта при этом НЕ ВЫЗЫВАЕТСЯ, поля заполняются значениями из потока байтов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DAB6F-B992-4B47-AB9F-4E3139C8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2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56326-3C05-478B-BE89-B542F546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Десериализация</a:t>
            </a:r>
            <a:r>
              <a:rPr lang="ru-RU" dirty="0"/>
              <a:t>. Класс </a:t>
            </a:r>
            <a:r>
              <a:rPr lang="en-US" dirty="0" err="1"/>
              <a:t>ObjectInputStream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657F7-86EE-4B1C-A47E-D24284EB5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Класс </a:t>
            </a:r>
            <a:r>
              <a:rPr lang="ru-RU" dirty="0" err="1"/>
              <a:t>ObjectInputStream</a:t>
            </a:r>
            <a:r>
              <a:rPr lang="ru-RU" dirty="0"/>
              <a:t> отвечает за чтение ранее </a:t>
            </a:r>
            <a:r>
              <a:rPr lang="ru-RU" dirty="0" err="1"/>
              <a:t>сериализованных</a:t>
            </a:r>
            <a:r>
              <a:rPr lang="ru-RU" dirty="0"/>
              <a:t> данных из потока.</a:t>
            </a:r>
          </a:p>
          <a:p>
            <a:r>
              <a:rPr lang="ru-RU" dirty="0"/>
              <a:t> В конструкторе он принимает ссылку на поток ввода.</a:t>
            </a:r>
          </a:p>
          <a:p>
            <a:r>
              <a:rPr lang="ru-RU" dirty="0"/>
              <a:t>Его метод </a:t>
            </a:r>
            <a:r>
              <a:rPr lang="ru-RU" b="1" dirty="0" err="1"/>
              <a:t>Object</a:t>
            </a:r>
            <a:r>
              <a:rPr lang="ru-RU" b="1" dirty="0"/>
              <a:t> </a:t>
            </a:r>
            <a:r>
              <a:rPr lang="ru-RU" b="1" dirty="0" err="1"/>
              <a:t>readObject</a:t>
            </a:r>
            <a:r>
              <a:rPr lang="ru-RU" b="1" dirty="0"/>
              <a:t>()</a:t>
            </a:r>
            <a:r>
              <a:rPr lang="ru-RU" dirty="0"/>
              <a:t>: считывает из потока объект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0763D-B751-408A-A0D2-E871A177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4293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6097</TotalTime>
  <Words>705</Words>
  <Application>Microsoft Office PowerPoint</Application>
  <PresentationFormat>On-screen Show (16:9)</PresentationFormat>
  <Paragraphs>65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Программирование на Java</vt:lpstr>
      <vt:lpstr>Сериализация и десериализация</vt:lpstr>
      <vt:lpstr>Зачем?</vt:lpstr>
      <vt:lpstr>Сериализация</vt:lpstr>
      <vt:lpstr>Интерфейс java.io.Serializable</vt:lpstr>
      <vt:lpstr>Интерфейс java.io.Externalizable</vt:lpstr>
      <vt:lpstr>Сериализация. Класс ObjectOutputStream</vt:lpstr>
      <vt:lpstr>Десериализация</vt:lpstr>
      <vt:lpstr>Десериализация. Класс ObjectInputStream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HP</dc:creator>
  <cp:lastModifiedBy>Yulia Filinskikh</cp:lastModifiedBy>
  <cp:revision>174</cp:revision>
  <dcterms:created xsi:type="dcterms:W3CDTF">2020-04-22T07:05:13Z</dcterms:created>
  <dcterms:modified xsi:type="dcterms:W3CDTF">2025-03-12T15:23:33Z</dcterms:modified>
</cp:coreProperties>
</file>