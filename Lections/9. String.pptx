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2"/>
  </p:sldMasterIdLst>
  <p:notesMasterIdLst>
    <p:notesMasterId r:id="rId25"/>
  </p:notesMasterIdLst>
  <p:handoutMasterIdLst>
    <p:handoutMasterId r:id="rId26"/>
  </p:handoutMasterIdLst>
  <p:sldIdLst>
    <p:sldId id="257" r:id="rId3"/>
    <p:sldId id="258" r:id="rId4"/>
    <p:sldId id="263" r:id="rId5"/>
    <p:sldId id="262" r:id="rId6"/>
    <p:sldId id="264" r:id="rId7"/>
    <p:sldId id="279" r:id="rId8"/>
    <p:sldId id="261" r:id="rId9"/>
    <p:sldId id="266" r:id="rId10"/>
    <p:sldId id="267" r:id="rId11"/>
    <p:sldId id="265" r:id="rId12"/>
    <p:sldId id="268" r:id="rId13"/>
    <p:sldId id="260" r:id="rId14"/>
    <p:sldId id="269" r:id="rId15"/>
    <p:sldId id="270" r:id="rId16"/>
    <p:sldId id="272" r:id="rId17"/>
    <p:sldId id="273" r:id="rId18"/>
    <p:sldId id="259" r:id="rId19"/>
    <p:sldId id="274" r:id="rId20"/>
    <p:sldId id="276" r:id="rId21"/>
    <p:sldId id="275" r:id="rId22"/>
    <p:sldId id="277" r:id="rId23"/>
    <p:sldId id="278" r:id="rId2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linskikh, Yulia" initials="FY"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4FBD"/>
    <a:srgbClr val="FF6600"/>
    <a:srgbClr val="006CB7"/>
    <a:srgbClr val="80C342"/>
    <a:srgbClr val="EE3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3" autoAdjust="0"/>
    <p:restoredTop sz="86395" autoAdjust="0"/>
  </p:normalViewPr>
  <p:slideViewPr>
    <p:cSldViewPr snapToGrid="0">
      <p:cViewPr varScale="1">
        <p:scale>
          <a:sx n="95" d="100"/>
          <a:sy n="95" d="100"/>
        </p:scale>
        <p:origin x="1152" y="9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57" d="100"/>
          <a:sy n="57" d="100"/>
        </p:scale>
        <p:origin x="190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69A499-AB0E-41E7-8F43-0B644843E13C}" type="datetimeFigureOut">
              <a:rPr lang="ru-RU" smtClean="0"/>
              <a:t>18.07.2025</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C7ACF0-1C88-4F3C-8A42-B66D78E86B2D}" type="slidenum">
              <a:rPr lang="ru-RU" smtClean="0"/>
              <a:t>‹#›</a:t>
            </a:fld>
            <a:endParaRPr lang="ru-RU"/>
          </a:p>
        </p:txBody>
      </p:sp>
    </p:spTree>
    <p:extLst>
      <p:ext uri="{BB962C8B-B14F-4D97-AF65-F5344CB8AC3E}">
        <p14:creationId xmlns:p14="http://schemas.microsoft.com/office/powerpoint/2010/main" val="3213195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DF805E-4D42-4930-AF02-3208323ECEC0}" type="datetimeFigureOut">
              <a:rPr lang="ru-RU" smtClean="0"/>
              <a:t>18.07.2025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03A2D-F27E-469C-ADB1-04668A9E28C3}" type="slidenum">
              <a:rPr lang="ru-RU" smtClean="0"/>
              <a:t>‹#›</a:t>
            </a:fld>
            <a:endParaRPr lang="ru-RU"/>
          </a:p>
        </p:txBody>
      </p:sp>
    </p:spTree>
    <p:extLst>
      <p:ext uri="{BB962C8B-B14F-4D97-AF65-F5344CB8AC3E}">
        <p14:creationId xmlns:p14="http://schemas.microsoft.com/office/powerpoint/2010/main" val="1900985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2</a:t>
            </a:fld>
            <a:endParaRPr lang="ru-RU"/>
          </a:p>
        </p:txBody>
      </p:sp>
    </p:spTree>
    <p:extLst>
      <p:ext uri="{BB962C8B-B14F-4D97-AF65-F5344CB8AC3E}">
        <p14:creationId xmlns:p14="http://schemas.microsoft.com/office/powerpoint/2010/main" val="1672645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4</a:t>
            </a:fld>
            <a:endParaRPr lang="ru-RU"/>
          </a:p>
        </p:txBody>
      </p:sp>
    </p:spTree>
    <p:extLst>
      <p:ext uri="{BB962C8B-B14F-4D97-AF65-F5344CB8AC3E}">
        <p14:creationId xmlns:p14="http://schemas.microsoft.com/office/powerpoint/2010/main" val="3173088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Для создания новой строки мы можем использовать один из конструкторов класса </a:t>
            </a:r>
            <a:r>
              <a:rPr lang="ru-RU" dirty="0" err="1"/>
              <a:t>String</a:t>
            </a:r>
            <a:r>
              <a:rPr lang="ru-RU" dirty="0"/>
              <a:t>, либо напрямую присвоить строку в двойных кавычках.</a:t>
            </a: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5</a:t>
            </a:fld>
            <a:endParaRPr lang="ru-RU"/>
          </a:p>
        </p:txBody>
      </p:sp>
    </p:spTree>
    <p:extLst>
      <p:ext uri="{BB962C8B-B14F-4D97-AF65-F5344CB8AC3E}">
        <p14:creationId xmlns:p14="http://schemas.microsoft.com/office/powerpoint/2010/main" val="3624091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Экземпляр класса </a:t>
            </a:r>
            <a:r>
              <a:rPr lang="ru-RU" dirty="0" err="1"/>
              <a:t>String</a:t>
            </a:r>
            <a:r>
              <a:rPr lang="ru-RU" dirty="0"/>
              <a:t> хранится в памяти, именуемой куча (</a:t>
            </a:r>
            <a:r>
              <a:rPr lang="ru-RU" dirty="0" err="1"/>
              <a:t>heap</a:t>
            </a:r>
            <a:r>
              <a:rPr lang="ru-RU" dirty="0"/>
              <a:t>), но есть некоторые нюансы. Если строка, созданная при помощи конструктора хранится непосредственно в куче, то строка, созданная как строковый литерал, уже хранится в специальном месте кучи — в так называемом пуле строк (</a:t>
            </a:r>
            <a:r>
              <a:rPr lang="ru-RU" dirty="0" err="1"/>
              <a:t>string</a:t>
            </a:r>
            <a:r>
              <a:rPr lang="ru-RU" dirty="0"/>
              <a:t> </a:t>
            </a:r>
            <a:r>
              <a:rPr lang="ru-RU" dirty="0" err="1"/>
              <a:t>pool</a:t>
            </a:r>
            <a:r>
              <a:rPr lang="ru-RU" dirty="0"/>
              <a:t>). В нем сохраняются исключительно уникальные значения строковых литералов, а не все строки подряд. Процесс помещения строк в пул называется интернирование (от англ. </a:t>
            </a:r>
            <a:r>
              <a:rPr lang="ru-RU" dirty="0" err="1"/>
              <a:t>interning</a:t>
            </a:r>
            <a:r>
              <a:rPr lang="ru-RU" dirty="0"/>
              <a:t>).</a:t>
            </a:r>
          </a:p>
          <a:p>
            <a:r>
              <a:rPr lang="ru-RU" dirty="0"/>
              <a:t>Когда мы объявляем переменную типа </a:t>
            </a:r>
            <a:r>
              <a:rPr lang="ru-RU" dirty="0" err="1"/>
              <a:t>String</a:t>
            </a:r>
            <a:r>
              <a:rPr lang="ru-RU" dirty="0"/>
              <a:t> и присваиваем ей строковый литерал, то JVM обращается в пул строк и ищет там такое же значение. Если пул содержит необходимое значение, то компилятор просто возвращает ссылку на соответствующий адрес строки без выделения дополнительной памяти. Если значение не найдено, то новая строка будет интернирована, а ссылка на нее возвращена и присвоена переменной.</a:t>
            </a:r>
            <a:endParaRPr lang="en-US" dirty="0"/>
          </a:p>
          <a:p>
            <a:endParaRPr lang="en-US" dirty="0"/>
          </a:p>
          <a:p>
            <a:r>
              <a:rPr lang="ru-RU" sz="1200" b="0" i="0" kern="1200" dirty="0">
                <a:solidFill>
                  <a:schemeClr val="tx1"/>
                </a:solidFill>
                <a:effectLst/>
                <a:latin typeface="+mn-lt"/>
                <a:ea typeface="+mn-ea"/>
                <a:cs typeface="+mn-cs"/>
              </a:rPr>
              <a:t>Напомним, что знак «==» сравнивает ссылки на объекты, а не их значения. Результат выполнения программы подтверждает, что строки str1 и str2 ссылаются на одно и то же место в памяти в пуле строк.</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6</a:t>
            </a:fld>
            <a:endParaRPr lang="ru-RU"/>
          </a:p>
        </p:txBody>
      </p:sp>
    </p:spTree>
    <p:extLst>
      <p:ext uri="{BB962C8B-B14F-4D97-AF65-F5344CB8AC3E}">
        <p14:creationId xmlns:p14="http://schemas.microsoft.com/office/powerpoint/2010/main" val="523412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7</a:t>
            </a:fld>
            <a:endParaRPr lang="ru-RU"/>
          </a:p>
        </p:txBody>
      </p:sp>
    </p:spTree>
    <p:extLst>
      <p:ext uri="{BB962C8B-B14F-4D97-AF65-F5344CB8AC3E}">
        <p14:creationId xmlns:p14="http://schemas.microsoft.com/office/powerpoint/2010/main" val="2717604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абсолютно все переменные, объекты, выражения в </a:t>
            </a:r>
            <a:r>
              <a:rPr lang="ru-RU" dirty="0" err="1"/>
              <a:t>Java</a:t>
            </a:r>
            <a:r>
              <a:rPr lang="ru-RU" dirty="0"/>
              <a:t> можно преобразовать к типу </a:t>
            </a:r>
            <a:r>
              <a:rPr lang="ru-RU" dirty="0" err="1"/>
              <a:t>String</a:t>
            </a:r>
            <a:endParaRPr lang="en-US" dirty="0"/>
          </a:p>
          <a:p>
            <a:r>
              <a:rPr lang="ru-RU" sz="1200" b="0" i="0" kern="1200" dirty="0">
                <a:solidFill>
                  <a:schemeClr val="tx1"/>
                </a:solidFill>
                <a:effectLst/>
                <a:latin typeface="+mn-lt"/>
                <a:ea typeface="+mn-ea"/>
                <a:cs typeface="+mn-cs"/>
              </a:rPr>
              <a:t>Более того, это автоматически происходит, когда мы складываем тип </a:t>
            </a:r>
            <a:r>
              <a:rPr lang="ru-RU" dirty="0" err="1"/>
              <a:t>String</a:t>
            </a:r>
            <a:r>
              <a:rPr lang="ru-RU" sz="1200" b="0" i="0" kern="1200" dirty="0">
                <a:solidFill>
                  <a:schemeClr val="tx1"/>
                </a:solidFill>
                <a:effectLst/>
                <a:latin typeface="+mn-lt"/>
                <a:ea typeface="+mn-ea"/>
                <a:cs typeface="+mn-cs"/>
              </a:rPr>
              <a:t> с каким-нибудь </a:t>
            </a:r>
            <a:r>
              <a:rPr lang="ru-RU" sz="1200" b="0" i="1" kern="1200" dirty="0">
                <a:solidFill>
                  <a:schemeClr val="tx1"/>
                </a:solidFill>
                <a:effectLst/>
                <a:latin typeface="+mn-lt"/>
                <a:ea typeface="+mn-ea"/>
                <a:cs typeface="+mn-cs"/>
              </a:rPr>
              <a:t>другим типом</a:t>
            </a:r>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8</a:t>
            </a:fld>
            <a:endParaRPr lang="ru-RU"/>
          </a:p>
        </p:txBody>
      </p:sp>
    </p:spTree>
    <p:extLst>
      <p:ext uri="{BB962C8B-B14F-4D97-AF65-F5344CB8AC3E}">
        <p14:creationId xmlns:p14="http://schemas.microsoft.com/office/powerpoint/2010/main" val="3469587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любую строку в число преобразовать нельзя. Но вот если строка состоит только из цифр, то все-таки можно.</a:t>
            </a:r>
            <a:endParaRPr lang="en-US" sz="1200" dirty="0">
              <a:cs typeface="Times New Roman" panose="02020603050405020304" pitchFamily="18" charset="0"/>
            </a:endParaRPr>
          </a:p>
          <a:p>
            <a:r>
              <a:rPr lang="ru-RU" sz="1200" dirty="0">
                <a:cs typeface="Times New Roman" panose="02020603050405020304" pitchFamily="18" charset="0"/>
              </a:rPr>
              <a:t>Рассмотрим ниже перевод строки в целочисленное (</a:t>
            </a:r>
            <a:r>
              <a:rPr lang="en-US" sz="1200" dirty="0">
                <a:cs typeface="Times New Roman" panose="02020603050405020304" pitchFamily="18" charset="0"/>
              </a:rPr>
              <a:t>Integer) </a:t>
            </a:r>
            <a:r>
              <a:rPr lang="ru-RU" sz="1200" dirty="0">
                <a:cs typeface="Times New Roman" panose="02020603050405020304" pitchFamily="18" charset="0"/>
              </a:rPr>
              <a:t>и дробное (</a:t>
            </a:r>
            <a:r>
              <a:rPr lang="en-US" sz="1200" dirty="0">
                <a:cs typeface="Times New Roman" panose="02020603050405020304" pitchFamily="18" charset="0"/>
              </a:rPr>
              <a:t>Double) </a:t>
            </a:r>
            <a:r>
              <a:rPr lang="ru-RU" sz="1200" dirty="0">
                <a:cs typeface="Times New Roman" panose="02020603050405020304" pitchFamily="18" charset="0"/>
              </a:rPr>
              <a:t>числа</a:t>
            </a:r>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9</a:t>
            </a:fld>
            <a:endParaRPr lang="ru-RU"/>
          </a:p>
        </p:txBody>
      </p:sp>
    </p:spTree>
    <p:extLst>
      <p:ext uri="{BB962C8B-B14F-4D97-AF65-F5344CB8AC3E}">
        <p14:creationId xmlns:p14="http://schemas.microsoft.com/office/powerpoint/2010/main" val="111277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оператор == сравнивает ссылки!</a:t>
            </a:r>
            <a:endParaRPr lang="en-US" dirty="0"/>
          </a:p>
          <a:p>
            <a:r>
              <a:rPr lang="ru-RU" sz="1200" dirty="0">
                <a:cs typeface="Times New Roman" panose="02020603050405020304" pitchFamily="18" charset="0"/>
              </a:rPr>
              <a:t>Когда при сравнении строк нам не важен регистр, нужно использовать метод </a:t>
            </a:r>
            <a:r>
              <a:rPr lang="en-US" sz="1200" dirty="0" err="1">
                <a:cs typeface="Times New Roman" panose="02020603050405020304" pitchFamily="18" charset="0"/>
              </a:rPr>
              <a:t>equalsIgnoreCase</a:t>
            </a:r>
            <a:r>
              <a:rPr lang="en-US" sz="1200" dirty="0">
                <a:cs typeface="Times New Roman" panose="02020603050405020304" pitchFamily="18" charset="0"/>
              </a:rPr>
              <a:t>()</a:t>
            </a:r>
          </a:p>
          <a:p>
            <a:endParaRPr lang="en-US" sz="1200" dirty="0">
              <a:cs typeface="Times New Roman" panose="02020603050405020304" pitchFamily="18" charset="0"/>
            </a:endParaRPr>
          </a:p>
          <a:p>
            <a:r>
              <a:rPr lang="en-US" dirty="0"/>
              <a:t>the value 0 if the argument string is equal to this string; a value less than 0 if this string is lexicographically less than the string argument; and a value greater than 0 if this string is lexicographically greater than the string argument.</a:t>
            </a:r>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10</a:t>
            </a:fld>
            <a:endParaRPr lang="ru-RU"/>
          </a:p>
        </p:txBody>
      </p:sp>
    </p:spTree>
    <p:extLst>
      <p:ext uri="{BB962C8B-B14F-4D97-AF65-F5344CB8AC3E}">
        <p14:creationId xmlns:p14="http://schemas.microsoft.com/office/powerpoint/2010/main" val="722146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11</a:t>
            </a:fld>
            <a:endParaRPr lang="ru-RU"/>
          </a:p>
        </p:txBody>
      </p:sp>
    </p:spTree>
    <p:extLst>
      <p:ext uri="{BB962C8B-B14F-4D97-AF65-F5344CB8AC3E}">
        <p14:creationId xmlns:p14="http://schemas.microsoft.com/office/powerpoint/2010/main" val="2073809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12</a:t>
            </a:fld>
            <a:endParaRPr lang="ru-RU"/>
          </a:p>
        </p:txBody>
      </p:sp>
    </p:spTree>
    <p:extLst>
      <p:ext uri="{BB962C8B-B14F-4D97-AF65-F5344CB8AC3E}">
        <p14:creationId xmlns:p14="http://schemas.microsoft.com/office/powerpoint/2010/main" val="1463588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13</a:t>
            </a:fld>
            <a:endParaRPr lang="ru-RU"/>
          </a:p>
        </p:txBody>
      </p:sp>
    </p:spTree>
    <p:extLst>
      <p:ext uri="{BB962C8B-B14F-4D97-AF65-F5344CB8AC3E}">
        <p14:creationId xmlns:p14="http://schemas.microsoft.com/office/powerpoint/2010/main" val="3424341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14</a:t>
            </a:fld>
            <a:endParaRPr lang="ru-RU"/>
          </a:p>
        </p:txBody>
      </p:sp>
    </p:spTree>
    <p:extLst>
      <p:ext uri="{BB962C8B-B14F-4D97-AF65-F5344CB8AC3E}">
        <p14:creationId xmlns:p14="http://schemas.microsoft.com/office/powerpoint/2010/main" val="4195205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cs typeface="Times New Roman" panose="02020603050405020304" pitchFamily="18" charset="0"/>
              </a:rPr>
              <a:t>Рассмотрим, как с помощью методов определения позиции элемента и извлечения подстроки мы можем получить имя файла из его пути: </a:t>
            </a:r>
          </a:p>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15</a:t>
            </a:fld>
            <a:endParaRPr lang="ru-RU"/>
          </a:p>
        </p:txBody>
      </p:sp>
    </p:spTree>
    <p:extLst>
      <p:ext uri="{BB962C8B-B14F-4D97-AF65-F5344CB8AC3E}">
        <p14:creationId xmlns:p14="http://schemas.microsoft.com/office/powerpoint/2010/main" val="2182634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7550DF4-E479-4FC1-BAC7-78E3D466646B}" type="slidenum">
              <a:rPr lang="ru-RU" smtClean="0"/>
              <a:t>16</a:t>
            </a:fld>
            <a:endParaRPr lang="ru-RU"/>
          </a:p>
        </p:txBody>
      </p:sp>
    </p:spTree>
    <p:extLst>
      <p:ext uri="{BB962C8B-B14F-4D97-AF65-F5344CB8AC3E}">
        <p14:creationId xmlns:p14="http://schemas.microsoft.com/office/powerpoint/2010/main" val="2486258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То есть класс </a:t>
            </a:r>
            <a:r>
              <a:rPr lang="ru-RU" dirty="0" err="1"/>
              <a:t>StringBuffer</a:t>
            </a:r>
            <a:r>
              <a:rPr lang="ru-RU" dirty="0"/>
              <a:t> удобнее использовать в многопоточных приложениях, где объект данного класса может меняться в различных потоках. Если же речь о многопоточных приложениях не идет, то лучше использовать класс </a:t>
            </a:r>
            <a:r>
              <a:rPr lang="ru-RU" dirty="0" err="1"/>
              <a:t>StringBuilder</a:t>
            </a:r>
            <a:r>
              <a:rPr lang="ru-RU" dirty="0"/>
              <a:t>, который не </a:t>
            </a:r>
            <a:r>
              <a:rPr lang="ru-RU" dirty="0" err="1"/>
              <a:t>потокобезопасный</a:t>
            </a:r>
            <a:r>
              <a:rPr lang="ru-RU" dirty="0"/>
              <a:t>, </a:t>
            </a:r>
            <a:r>
              <a:rPr lang="ru-RU" sz="1200" dirty="0"/>
              <a:t>но при этом работает быстрее, чем </a:t>
            </a:r>
            <a:r>
              <a:rPr lang="ru-RU" sz="1200" dirty="0" err="1"/>
              <a:t>StringBuffer</a:t>
            </a:r>
            <a:r>
              <a:rPr lang="ru-RU" sz="1200" dirty="0"/>
              <a:t> в однопоточных приложениях</a:t>
            </a:r>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17</a:t>
            </a:fld>
            <a:endParaRPr lang="ru-RU"/>
          </a:p>
        </p:txBody>
      </p:sp>
    </p:spTree>
    <p:extLst>
      <p:ext uri="{BB962C8B-B14F-4D97-AF65-F5344CB8AC3E}">
        <p14:creationId xmlns:p14="http://schemas.microsoft.com/office/powerpoint/2010/main" val="1960268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dirty="0">
                <a:cs typeface="Times New Roman" panose="02020603050405020304" pitchFamily="18" charset="0"/>
              </a:rPr>
              <a:t>Обработка текста зачастую предполагает синтаксический анализ или разбор форматированной входной строки. Синтаксический анализ подразумевает разделе­ние текста на ряд отдельных частей, так называемых лексем, которые способны пе­редать в определенной последовательности некоторое семантическое значение.</a:t>
            </a:r>
            <a:endParaRPr lang="en-US" sz="1200">
              <a:cs typeface="Times New Roman" panose="02020603050405020304" pitchFamily="18" charset="0"/>
            </a:endParaRPr>
          </a:p>
          <a:p>
            <a:endParaRPr lang="en-US" sz="1200" b="0" i="0" kern="120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Мы уже разделяли строку, используя метод </a:t>
            </a:r>
            <a:r>
              <a:rPr lang="en-US" sz="1200" b="0" i="0" kern="1200" dirty="0">
                <a:solidFill>
                  <a:schemeClr val="tx1"/>
                </a:solidFill>
                <a:effectLst/>
                <a:latin typeface="+mn-lt"/>
                <a:ea typeface="+mn-ea"/>
                <a:cs typeface="+mn-cs"/>
              </a:rPr>
              <a:t>split</a:t>
            </a:r>
            <a:r>
              <a:rPr lang="ru-RU" sz="1200" b="0" i="0" kern="1200" dirty="0">
                <a:solidFill>
                  <a:schemeClr val="tx1"/>
                </a:solidFill>
                <a:effectLst/>
                <a:latin typeface="+mn-lt"/>
                <a:ea typeface="+mn-ea"/>
                <a:cs typeface="+mn-cs"/>
              </a:rPr>
              <a:t>, указывая регулярное выражение. Но есть еще один способ с помощью </a:t>
            </a:r>
            <a:r>
              <a:rPr lang="en-US" sz="1200" b="0" i="0" kern="1200" dirty="0" err="1">
                <a:solidFill>
                  <a:schemeClr val="tx1"/>
                </a:solidFill>
                <a:effectLst/>
                <a:latin typeface="+mn-lt"/>
                <a:ea typeface="+mn-ea"/>
                <a:cs typeface="+mn-cs"/>
              </a:rPr>
              <a:t>StringTokenizer</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Этот класс не использует регулярные выражения, вместо этого в него просто передается строка, состоящая из символов-разделителей. Преимущества этого подхода в том, что он не разбивает сразу всю строку на кусочки, а потихоньку идет от начала к концу.</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ru-RU" sz="1200" dirty="0" err="1">
                <a:cs typeface="Times New Roman" panose="02020603050405020304" pitchFamily="18" charset="0"/>
              </a:rPr>
              <a:t>StringTokenizer</a:t>
            </a:r>
            <a:r>
              <a:rPr lang="ru-RU" sz="1200" dirty="0">
                <a:cs typeface="Times New Roman" panose="02020603050405020304" pitchFamily="18" charset="0"/>
              </a:rPr>
              <a:t> имеет серьезные функциональные ограничения. Так </a:t>
            </a:r>
            <a:r>
              <a:rPr lang="ru-RU" sz="1200" dirty="0" err="1">
                <a:cs typeface="Times New Roman" panose="02020603050405020304" pitchFamily="18" charset="0"/>
              </a:rPr>
              <a:t>StringTokenizer</a:t>
            </a:r>
            <a:r>
              <a:rPr lang="ru-RU" sz="1200" dirty="0">
                <a:cs typeface="Times New Roman" panose="02020603050405020304" pitchFamily="18" charset="0"/>
              </a:rPr>
              <a:t> раскладывает входную строку на части согласно переданным ему данных списком разделителей. Он не выполняет проверку на наличие разделителя внутри подстроки и не возвращает пустую строку нулевой длины, если во входном потоке обнаружена последовательность разделителей.</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21</a:t>
            </a:fld>
            <a:endParaRPr lang="ru-RU"/>
          </a:p>
        </p:txBody>
      </p:sp>
    </p:spTree>
    <p:extLst>
      <p:ext uri="{BB962C8B-B14F-4D97-AF65-F5344CB8AC3E}">
        <p14:creationId xmlns:p14="http://schemas.microsoft.com/office/powerpoint/2010/main" val="951679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Класс называется "оболочкой" потому, что он, по сути, копирует то, что уже существует, </a:t>
            </a:r>
            <a:r>
              <a:rPr lang="ru-RU" sz="1200" b="1" i="0" kern="1200" dirty="0">
                <a:solidFill>
                  <a:schemeClr val="tx1"/>
                </a:solidFill>
                <a:effectLst/>
                <a:latin typeface="+mn-lt"/>
                <a:ea typeface="+mn-ea"/>
                <a:cs typeface="+mn-cs"/>
              </a:rPr>
              <a:t>но добавляет новые возможности</a:t>
            </a:r>
          </a:p>
          <a:p>
            <a:pPr fontAlgn="base"/>
            <a:r>
              <a:rPr lang="ru-RU" sz="1200" b="0" i="0" kern="1200" dirty="0">
                <a:solidFill>
                  <a:schemeClr val="tx1"/>
                </a:solidFill>
                <a:effectLst/>
                <a:latin typeface="+mn-lt"/>
                <a:ea typeface="+mn-ea"/>
                <a:cs typeface="+mn-cs"/>
              </a:rPr>
              <a:t>Например, обычный </a:t>
            </a:r>
            <a:r>
              <a:rPr lang="ru-RU" sz="1200" b="1" i="0" kern="1200" dirty="0" err="1">
                <a:solidFill>
                  <a:schemeClr val="tx1"/>
                </a:solidFill>
                <a:effectLst/>
                <a:latin typeface="+mn-lt"/>
                <a:ea typeface="+mn-ea"/>
                <a:cs typeface="+mn-cs"/>
              </a:rPr>
              <a:t>int</a:t>
            </a:r>
            <a:r>
              <a:rPr lang="ru-RU" sz="1200" b="1"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занимает меньше места, и если нет необходимости проводить над ним особые операции, Ваш компьютер будет работать быстрее.</a:t>
            </a:r>
          </a:p>
          <a:p>
            <a:pPr fontAlgn="base"/>
            <a:r>
              <a:rPr lang="ru-RU" sz="1200" b="0" i="0" kern="1200" dirty="0">
                <a:solidFill>
                  <a:schemeClr val="tx1"/>
                </a:solidFill>
                <a:effectLst/>
                <a:latin typeface="+mn-lt"/>
                <a:ea typeface="+mn-ea"/>
                <a:cs typeface="+mn-cs"/>
              </a:rPr>
              <a:t>В свою очередь, с помощью класса-оболочки </a:t>
            </a:r>
            <a:r>
              <a:rPr lang="ru-RU" sz="1200" b="1" i="0" kern="1200" dirty="0" err="1">
                <a:solidFill>
                  <a:schemeClr val="tx1"/>
                </a:solidFill>
                <a:effectLst/>
                <a:latin typeface="+mn-lt"/>
                <a:ea typeface="+mn-ea"/>
                <a:cs typeface="+mn-cs"/>
              </a:rPr>
              <a:t>Integer</a:t>
            </a:r>
            <a:r>
              <a:rPr lang="ru-RU" sz="1200" b="0" i="0" kern="1200" dirty="0">
                <a:solidFill>
                  <a:schemeClr val="tx1"/>
                </a:solidFill>
                <a:effectLst/>
                <a:latin typeface="+mn-lt"/>
                <a:ea typeface="+mn-ea"/>
                <a:cs typeface="+mn-cs"/>
              </a:rPr>
              <a:t> можно выполнять специальные операции - например, перевести текст в число (с помощью метода </a:t>
            </a:r>
            <a:r>
              <a:rPr lang="ru-RU" sz="1200" b="1" i="0" kern="1200" dirty="0">
                <a:solidFill>
                  <a:schemeClr val="tx1"/>
                </a:solidFill>
                <a:effectLst/>
                <a:latin typeface="+mn-lt"/>
                <a:ea typeface="+mn-ea"/>
                <a:cs typeface="+mn-cs"/>
              </a:rPr>
              <a:t>.</a:t>
            </a:r>
            <a:r>
              <a:rPr lang="ru-RU" sz="1200" b="1" i="0" kern="1200" dirty="0" err="1">
                <a:solidFill>
                  <a:schemeClr val="tx1"/>
                </a:solidFill>
                <a:effectLst/>
                <a:latin typeface="+mn-lt"/>
                <a:ea typeface="+mn-ea"/>
                <a:cs typeface="+mn-cs"/>
              </a:rPr>
              <a:t>parseInt</a:t>
            </a:r>
            <a:r>
              <a:rPr lang="ru-RU" sz="1200" b="1"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для </a:t>
            </a:r>
            <a:r>
              <a:rPr lang="ru-RU" sz="1200" b="0" i="0" kern="1200" dirty="0" err="1">
                <a:solidFill>
                  <a:schemeClr val="tx1"/>
                </a:solidFill>
                <a:effectLst/>
                <a:latin typeface="+mn-lt"/>
                <a:ea typeface="+mn-ea"/>
                <a:cs typeface="+mn-cs"/>
              </a:rPr>
              <a:t>Integer</a:t>
            </a:r>
            <a:r>
              <a:rPr lang="ru-RU" sz="1200" b="0" i="0" kern="1200" dirty="0">
                <a:solidFill>
                  <a:schemeClr val="tx1"/>
                </a:solidFill>
                <a:effectLst/>
                <a:latin typeface="+mn-lt"/>
                <a:ea typeface="+mn-ea"/>
                <a:cs typeface="+mn-cs"/>
              </a:rPr>
              <a:t>-а ). Если попробовать сделать это с помощью кода самому придется изрядно повозиться.</a:t>
            </a:r>
          </a:p>
          <a:p>
            <a:r>
              <a:rPr lang="ru-RU" sz="1200" b="1" i="0" kern="1200" dirty="0">
                <a:solidFill>
                  <a:schemeClr val="tx1"/>
                </a:solidFill>
                <a:effectLst/>
                <a:latin typeface="+mn-lt"/>
                <a:ea typeface="+mn-ea"/>
                <a:cs typeface="+mn-cs"/>
              </a:rPr>
              <a:t>я работы с привычными типами</a:t>
            </a:r>
            <a:r>
              <a:rPr lang="ru-RU" sz="1200" b="0" i="0" kern="1200" dirty="0">
                <a:solidFill>
                  <a:schemeClr val="tx1"/>
                </a:solidFill>
                <a:effectLst/>
                <a:latin typeface="+mn-lt"/>
                <a:ea typeface="+mn-ea"/>
                <a:cs typeface="+mn-cs"/>
              </a:rPr>
              <a:t>.</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22</a:t>
            </a:fld>
            <a:endParaRPr lang="ru-RU"/>
          </a:p>
        </p:txBody>
      </p:sp>
    </p:spTree>
    <p:extLst>
      <p:ext uri="{BB962C8B-B14F-4D97-AF65-F5344CB8AC3E}">
        <p14:creationId xmlns:p14="http://schemas.microsoft.com/office/powerpoint/2010/main" val="40636091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Дата 3"/>
          <p:cNvSpPr>
            <a:spLocks noGrp="1"/>
          </p:cNvSpPr>
          <p:nvPr>
            <p:ph type="dt" sz="half" idx="10"/>
          </p:nvPr>
        </p:nvSpPr>
        <p:spPr/>
        <p:txBody>
          <a:bodyPr/>
          <a:lstStyle/>
          <a:p>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11806015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lvl1pPr>
              <a:defRPr b="1">
                <a:solidFill>
                  <a:schemeClr val="accent6"/>
                </a:solidFill>
              </a:defRPr>
            </a:lvl1pPr>
          </a:lstStyle>
          <a:p>
            <a:r>
              <a:rPr lang="en-US"/>
              <a:t>Click to edit Master title style</a:t>
            </a:r>
            <a:endParaRPr lang="ru-RU" dirty="0"/>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accent1">
                    <a:lumMod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ru-RU" dirty="0"/>
          </a:p>
        </p:txBody>
      </p:sp>
      <p:sp>
        <p:nvSpPr>
          <p:cNvPr id="4" name="Дата 3"/>
          <p:cNvSpPr>
            <a:spLocks noGrp="1"/>
          </p:cNvSpPr>
          <p:nvPr>
            <p:ph type="dt" sz="half" idx="10"/>
          </p:nvPr>
        </p:nvSpPr>
        <p:spPr/>
        <p:txBody>
          <a:bodyPr/>
          <a:lstStyle/>
          <a:p>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3043052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endParaRPr lang="ru-RU"/>
          </a:p>
        </p:txBody>
      </p:sp>
      <p:sp>
        <p:nvSpPr>
          <p:cNvPr id="3" name="Текст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Дата 3"/>
          <p:cNvSpPr>
            <a:spLocks noGrp="1"/>
          </p:cNvSpPr>
          <p:nvPr>
            <p:ph type="dt" sz="half" idx="10"/>
          </p:nvPr>
        </p:nvSpPr>
        <p:spPr/>
        <p:txBody>
          <a:bodyPr/>
          <a:lstStyle/>
          <a:p>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20012932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Содержимое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Дата 3"/>
          <p:cNvSpPr>
            <a:spLocks noGrp="1"/>
          </p:cNvSpPr>
          <p:nvPr>
            <p:ph type="dt" sz="half" idx="10"/>
          </p:nvPr>
        </p:nvSpPr>
        <p:spPr/>
        <p:txBody>
          <a:bodyPr/>
          <a:lstStyle>
            <a:lvl1pPr>
              <a:defRPr>
                <a:solidFill>
                  <a:schemeClr val="bg1"/>
                </a:solidFill>
              </a:defRPr>
            </a:lvl1pPr>
          </a:lstStyle>
          <a:p>
            <a:endParaRPr lang="ru-RU"/>
          </a:p>
        </p:txBody>
      </p:sp>
      <p:sp>
        <p:nvSpPr>
          <p:cNvPr id="5" name="Нижний колонтитул 4"/>
          <p:cNvSpPr>
            <a:spLocks noGrp="1"/>
          </p:cNvSpPr>
          <p:nvPr>
            <p:ph type="ftr" sz="quarter" idx="11"/>
          </p:nvPr>
        </p:nvSpPr>
        <p:spPr/>
        <p:txBody>
          <a:bodyPr/>
          <a:lstStyle>
            <a:lvl1pPr>
              <a:defRPr>
                <a:solidFill>
                  <a:schemeClr val="bg1"/>
                </a:solidFill>
              </a:defRPr>
            </a:lvl1pPr>
          </a:lstStyle>
          <a:p>
            <a:endParaRPr lang="ru-RU"/>
          </a:p>
        </p:txBody>
      </p:sp>
      <p:sp>
        <p:nvSpPr>
          <p:cNvPr id="6" name="Номер слайда 5"/>
          <p:cNvSpPr>
            <a:spLocks noGrp="1"/>
          </p:cNvSpPr>
          <p:nvPr>
            <p:ph type="sldNum" sz="quarter" idx="12"/>
          </p:nvPr>
        </p:nvSpPr>
        <p:spPr/>
        <p:txBody>
          <a:bodyPr/>
          <a:lstStyle>
            <a:lvl1pPr>
              <a:defRPr>
                <a:solidFill>
                  <a:schemeClr val="bg1"/>
                </a:solidFill>
              </a:defRPr>
            </a:lvl1pPr>
          </a:lstStyle>
          <a:p>
            <a:fld id="{2559BB7A-F704-4182-B16A-69B3F5ADA7F7}" type="slidenum">
              <a:rPr lang="ru-RU" smtClean="0"/>
              <a:t>‹#›</a:t>
            </a:fld>
            <a:endParaRPr lang="ru-RU"/>
          </a:p>
        </p:txBody>
      </p:sp>
    </p:spTree>
    <p:extLst>
      <p:ext uri="{BB962C8B-B14F-4D97-AF65-F5344CB8AC3E}">
        <p14:creationId xmlns:p14="http://schemas.microsoft.com/office/powerpoint/2010/main" val="269673611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Содержимое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Содержимое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Дата 4"/>
          <p:cNvSpPr>
            <a:spLocks noGrp="1"/>
          </p:cNvSpPr>
          <p:nvPr>
            <p:ph type="dt" sz="half" idx="10"/>
          </p:nvPr>
        </p:nvSpPr>
        <p:spPr/>
        <p:txBody>
          <a:bodyPr/>
          <a:lstStyle/>
          <a:p>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15552918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Дата 2"/>
          <p:cNvSpPr>
            <a:spLocks noGrp="1"/>
          </p:cNvSpPr>
          <p:nvPr>
            <p:ph type="dt" sz="half" idx="10"/>
          </p:nvPr>
        </p:nvSpPr>
        <p:spPr/>
        <p:txBody>
          <a:bodyPr/>
          <a:lstStyle/>
          <a:p>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25196987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34600889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endParaRPr lang="ru-RU"/>
          </a:p>
        </p:txBody>
      </p:sp>
      <p:sp>
        <p:nvSpPr>
          <p:cNvPr id="3" name="Содержимое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Текст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168251175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endParaRPr lang="ru-RU"/>
          </a:p>
        </p:txBody>
      </p:sp>
      <p:sp>
        <p:nvSpPr>
          <p:cNvPr id="3" name="Рисунок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ru-RU"/>
          </a:p>
        </p:txBody>
      </p:sp>
      <p:sp>
        <p:nvSpPr>
          <p:cNvPr id="4" name="Текст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559BB7A-F704-4182-B16A-69B3F5ADA7F7}" type="slidenum">
              <a:rPr lang="ru-RU" smtClean="0"/>
              <a:t>‹#›</a:t>
            </a:fld>
            <a:endParaRPr lang="ru-RU"/>
          </a:p>
        </p:txBody>
      </p:sp>
    </p:spTree>
    <p:extLst>
      <p:ext uri="{BB962C8B-B14F-4D97-AF65-F5344CB8AC3E}">
        <p14:creationId xmlns:p14="http://schemas.microsoft.com/office/powerpoint/2010/main" val="144898456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slid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hasCustomPrompt="1"/>
          </p:nvPr>
        </p:nvSpPr>
        <p:spPr>
          <a:xfrm>
            <a:off x="628650" y="4800600"/>
            <a:ext cx="8810624" cy="909638"/>
          </a:xfrm>
        </p:spPr>
        <p:txBody>
          <a:bodyPr anchor="b">
            <a:normAutofit/>
          </a:bodyPr>
          <a:lstStyle>
            <a:lvl1pPr algn="l">
              <a:defRPr sz="3600" b="1">
                <a:solidFill>
                  <a:schemeClr val="bg1"/>
                </a:solidFill>
                <a:latin typeface="+mj-lt"/>
              </a:defRPr>
            </a:lvl1pPr>
          </a:lstStyle>
          <a:p>
            <a:r>
              <a:rPr lang="en-US" dirty="0"/>
              <a:t>Title</a:t>
            </a:r>
            <a:endParaRPr lang="ru-RU" dirty="0"/>
          </a:p>
        </p:txBody>
      </p:sp>
      <p:cxnSp>
        <p:nvCxnSpPr>
          <p:cNvPr id="8" name="Прямая соединительная линия 7"/>
          <p:cNvCxnSpPr/>
          <p:nvPr/>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Текст 4"/>
          <p:cNvSpPr>
            <a:spLocks noGrp="1"/>
          </p:cNvSpPr>
          <p:nvPr>
            <p:ph type="body" sz="quarter" idx="10" hasCustomPrompt="1"/>
          </p:nvPr>
        </p:nvSpPr>
        <p:spPr>
          <a:xfrm>
            <a:off x="2100263" y="6271417"/>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Tree>
    <p:extLst>
      <p:ext uri="{BB962C8B-B14F-4D97-AF65-F5344CB8AC3E}">
        <p14:creationId xmlns:p14="http://schemas.microsoft.com/office/powerpoint/2010/main" val="479284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4" name="Рисунок 3"/>
          <p:cNvSpPr>
            <a:spLocks noGrp="1"/>
          </p:cNvSpPr>
          <p:nvPr>
            <p:ph type="pic" sz="quarter" idx="38" hasCustomPrompt="1"/>
          </p:nvPr>
        </p:nvSpPr>
        <p:spPr>
          <a:xfrm>
            <a:off x="738191" y="1292252"/>
            <a:ext cx="5075018" cy="4635500"/>
          </a:xfrm>
        </p:spPr>
        <p:txBody>
          <a:bodyPr/>
          <a:lstStyle>
            <a:lvl1pPr>
              <a:defRPr/>
            </a:lvl1pPr>
          </a:lstStyle>
          <a:p>
            <a:r>
              <a:rPr lang="en-US" dirty="0"/>
              <a:t>Insert a picture</a:t>
            </a:r>
            <a:endParaRPr lang="ru-RU" dirty="0"/>
          </a:p>
        </p:txBody>
      </p:sp>
      <p:sp>
        <p:nvSpPr>
          <p:cNvPr id="3" name="Текст 2"/>
          <p:cNvSpPr>
            <a:spLocks noGrp="1"/>
          </p:cNvSpPr>
          <p:nvPr>
            <p:ph type="body" sz="quarter" idx="42" hasCustomPrompt="1"/>
          </p:nvPr>
        </p:nvSpPr>
        <p:spPr>
          <a:xfrm>
            <a:off x="6396038" y="1292225"/>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6" name="Текст 5"/>
          <p:cNvSpPr>
            <a:spLocks noGrp="1"/>
          </p:cNvSpPr>
          <p:nvPr>
            <p:ph type="body" sz="quarter" idx="43" hasCustomPrompt="1"/>
          </p:nvPr>
        </p:nvSpPr>
        <p:spPr>
          <a:xfrm>
            <a:off x="6396038" y="1633538"/>
            <a:ext cx="5048250" cy="1298849"/>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
        <p:nvSpPr>
          <p:cNvPr id="13" name="Текст 2"/>
          <p:cNvSpPr>
            <a:spLocks noGrp="1"/>
          </p:cNvSpPr>
          <p:nvPr>
            <p:ph type="body" sz="quarter" idx="44" hasCustomPrompt="1"/>
          </p:nvPr>
        </p:nvSpPr>
        <p:spPr>
          <a:xfrm>
            <a:off x="6396038" y="2954839"/>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14" name="Текст 5"/>
          <p:cNvSpPr>
            <a:spLocks noGrp="1"/>
          </p:cNvSpPr>
          <p:nvPr>
            <p:ph type="body" sz="quarter" idx="45" hasCustomPrompt="1"/>
          </p:nvPr>
        </p:nvSpPr>
        <p:spPr>
          <a:xfrm>
            <a:off x="6396038" y="3296152"/>
            <a:ext cx="5048250" cy="1298849"/>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
        <p:nvSpPr>
          <p:cNvPr id="15" name="Текст 2"/>
          <p:cNvSpPr>
            <a:spLocks noGrp="1"/>
          </p:cNvSpPr>
          <p:nvPr>
            <p:ph type="body" sz="quarter" idx="46" hasCustomPrompt="1"/>
          </p:nvPr>
        </p:nvSpPr>
        <p:spPr>
          <a:xfrm>
            <a:off x="6396036" y="4617763"/>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16" name="Текст 5"/>
          <p:cNvSpPr>
            <a:spLocks noGrp="1"/>
          </p:cNvSpPr>
          <p:nvPr>
            <p:ph type="body" sz="quarter" idx="47" hasCustomPrompt="1"/>
          </p:nvPr>
        </p:nvSpPr>
        <p:spPr>
          <a:xfrm>
            <a:off x="6396036" y="4959077"/>
            <a:ext cx="5048250" cy="979988"/>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Tree>
    <p:extLst>
      <p:ext uri="{BB962C8B-B14F-4D97-AF65-F5344CB8AC3E}">
        <p14:creationId xmlns:p14="http://schemas.microsoft.com/office/powerpoint/2010/main" val="1186664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lumn slide 5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3" name="Текст 2"/>
          <p:cNvSpPr>
            <a:spLocks noGrp="1"/>
          </p:cNvSpPr>
          <p:nvPr>
            <p:ph type="body" sz="quarter" idx="35"/>
          </p:nvPr>
        </p:nvSpPr>
        <p:spPr>
          <a:xfrm>
            <a:off x="738191" y="1282700"/>
            <a:ext cx="10706097" cy="4508500"/>
          </a:xfrm>
        </p:spPr>
        <p:txBody>
          <a:bodyPr>
            <a:normAutofit/>
          </a:bodyPr>
          <a:lstStyle>
            <a:lvl1pPr marL="0" indent="0">
              <a:buFont typeface="Arial" panose="020B0604020202020204" pitchFamily="34" charse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Tree>
    <p:extLst>
      <p:ext uri="{BB962C8B-B14F-4D97-AF65-F5344CB8AC3E}">
        <p14:creationId xmlns:p14="http://schemas.microsoft.com/office/powerpoint/2010/main" val="3785563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Introduction</a:t>
            </a:r>
            <a:endParaRPr lang="ru-RU" dirty="0"/>
          </a:p>
        </p:txBody>
      </p:sp>
      <p:sp>
        <p:nvSpPr>
          <p:cNvPr id="16" name="TextBox 15"/>
          <p:cNvSpPr txBox="1"/>
          <p:nvPr userDrawn="1"/>
        </p:nvSpPr>
        <p:spPr>
          <a:xfrm>
            <a:off x="738188" y="1168400"/>
            <a:ext cx="10706098" cy="461665"/>
          </a:xfrm>
          <a:prstGeom prst="rect">
            <a:avLst/>
          </a:prstGeom>
          <a:noFill/>
        </p:spPr>
        <p:txBody>
          <a:bodyPr wrap="square" rtlCol="0">
            <a:spAutoFit/>
          </a:bodyPr>
          <a:lstStyle/>
          <a:p>
            <a:pPr lvl="0"/>
            <a:r>
              <a:rPr lang="en-US" sz="2400" dirty="0">
                <a:solidFill>
                  <a:srgbClr val="006CB7"/>
                </a:solidFill>
              </a:rPr>
              <a:t>Welcome to MERA Presentations template!</a:t>
            </a:r>
          </a:p>
        </p:txBody>
      </p:sp>
      <p:sp>
        <p:nvSpPr>
          <p:cNvPr id="17" name="TextBox 16"/>
          <p:cNvSpPr txBox="1"/>
          <p:nvPr userDrawn="1"/>
        </p:nvSpPr>
        <p:spPr>
          <a:xfrm>
            <a:off x="738188" y="1752600"/>
            <a:ext cx="1070609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To fulfill your needs of creating a wonderful corporate presentation please follow these steps:</a:t>
            </a:r>
          </a:p>
          <a:p>
            <a:endParaRPr lang="ru-RU" sz="1800" b="1" dirty="0"/>
          </a:p>
        </p:txBody>
      </p:sp>
      <p:sp>
        <p:nvSpPr>
          <p:cNvPr id="19" name="TextBox 18"/>
          <p:cNvSpPr txBox="1"/>
          <p:nvPr userDrawn="1"/>
        </p:nvSpPr>
        <p:spPr>
          <a:xfrm>
            <a:off x="738188" y="2184400"/>
            <a:ext cx="10706098" cy="1754326"/>
          </a:xfrm>
          <a:prstGeom prst="rect">
            <a:avLst/>
          </a:prstGeom>
          <a:noFill/>
        </p:spPr>
        <p:txBody>
          <a:bodyPr wrap="square" rtlCol="0">
            <a:spAutoFit/>
          </a:bodyPr>
          <a:lstStyle/>
          <a:p>
            <a:pPr marL="342900" lvl="0" indent="-342900">
              <a:buFont typeface="+mj-lt"/>
              <a:buAutoNum type="arabicPeriod"/>
            </a:pPr>
            <a:r>
              <a:rPr lang="en-US" dirty="0"/>
              <a:t>Use the tab “New slide” to create slides from already structured layouts (or choose “Empty slide” )</a:t>
            </a:r>
          </a:p>
          <a:p>
            <a:pPr marL="342900" lvl="0" indent="-342900">
              <a:buFont typeface="+mj-lt"/>
              <a:buAutoNum type="arabicPeriod"/>
            </a:pPr>
            <a:r>
              <a:rPr lang="en-US" dirty="0"/>
              <a:t>Insert your information in the blocks (size, font and color has been set for you)</a:t>
            </a:r>
          </a:p>
          <a:p>
            <a:pPr marL="342900" lvl="0" indent="-342900">
              <a:buFont typeface="+mj-lt"/>
              <a:buAutoNum type="arabicPeriod"/>
            </a:pPr>
            <a:r>
              <a:rPr lang="en-US" dirty="0"/>
              <a:t>Resize, reorganize and use blocks the way it fits your content</a:t>
            </a:r>
          </a:p>
          <a:p>
            <a:pPr marL="342900" lvl="0" indent="-342900">
              <a:buFont typeface="+mj-lt"/>
              <a:buAutoNum type="arabicPeriod"/>
            </a:pPr>
            <a:r>
              <a:rPr lang="en-US" dirty="0"/>
              <a:t>Enjoy the beauty of your masterpiece!</a:t>
            </a:r>
          </a:p>
          <a:p>
            <a:pPr marL="0" lvl="0" indent="0">
              <a:buFont typeface="+mj-lt"/>
              <a:buNone/>
            </a:pPr>
            <a:endParaRPr lang="en-US" dirty="0"/>
          </a:p>
          <a:p>
            <a:pPr marL="0" lvl="0" indent="0">
              <a:buFont typeface="+mj-lt"/>
              <a:buNone/>
            </a:pPr>
            <a:r>
              <a:rPr lang="en-US" dirty="0"/>
              <a:t>With any suggestions, remarks and complains feel free to contact PR Team.</a:t>
            </a:r>
            <a:endParaRPr lang="ru-RU" dirty="0"/>
          </a:p>
        </p:txBody>
      </p:sp>
    </p:spTree>
    <p:extLst>
      <p:ext uri="{BB962C8B-B14F-4D97-AF65-F5344CB8AC3E}">
        <p14:creationId xmlns:p14="http://schemas.microsoft.com/office/powerpoint/2010/main" val="3965978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_titl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rmAutofit/>
          </a:bodyPr>
          <a:lstStyle>
            <a:lvl1pPr marL="0" indent="0">
              <a:buNone/>
              <a:defRPr sz="1800">
                <a:solidFill>
                  <a:schemeClr val="bg1"/>
                </a:solidFill>
              </a:defRPr>
            </a:lvl1pPr>
          </a:lstStyle>
          <a:p>
            <a:r>
              <a:rPr lang="en-US" dirty="0">
                <a:solidFill>
                  <a:schemeClr val="bg1"/>
                </a:solidFill>
              </a:rPr>
              <a:t>Name of the presentation</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5" name="Текст 4"/>
          <p:cNvSpPr>
            <a:spLocks noGrp="1"/>
          </p:cNvSpPr>
          <p:nvPr>
            <p:ph type="body" sz="quarter" idx="11" hasCustomPrompt="1"/>
          </p:nvPr>
        </p:nvSpPr>
        <p:spPr>
          <a:xfrm>
            <a:off x="738188" y="2753574"/>
            <a:ext cx="10706100" cy="1098583"/>
          </a:xfrm>
        </p:spPr>
        <p:txBody>
          <a:bodyPr>
            <a:normAutofit/>
          </a:bodyPr>
          <a:lstStyle>
            <a:lvl1pPr marL="0" indent="0">
              <a:buNone/>
              <a:defRPr sz="6600" baseline="0">
                <a:solidFill>
                  <a:schemeClr val="bg1"/>
                </a:solidFill>
                <a:latin typeface="+mj-lt"/>
              </a:defRPr>
            </a:lvl1pPr>
          </a:lstStyle>
          <a:p>
            <a:pPr lvl="0"/>
            <a:r>
              <a:rPr lang="en-US" dirty="0"/>
              <a:t>1.</a:t>
            </a:r>
            <a:endParaRPr lang="ru-RU" dirty="0"/>
          </a:p>
        </p:txBody>
      </p:sp>
      <p:sp>
        <p:nvSpPr>
          <p:cNvPr id="8" name="Заголовок 1"/>
          <p:cNvSpPr>
            <a:spLocks noGrp="1"/>
          </p:cNvSpPr>
          <p:nvPr>
            <p:ph type="title" hasCustomPrompt="1"/>
          </p:nvPr>
        </p:nvSpPr>
        <p:spPr>
          <a:xfrm>
            <a:off x="1519241" y="2882386"/>
            <a:ext cx="9925045" cy="957693"/>
          </a:xfrm>
        </p:spPr>
        <p:txBody>
          <a:bodyPr anchor="t">
            <a:normAutofit/>
          </a:bodyPr>
          <a:lstStyle>
            <a:lvl1pPr algn="l">
              <a:defRPr sz="5400" baseline="0">
                <a:solidFill>
                  <a:schemeClr val="bg1"/>
                </a:solidFill>
                <a:latin typeface="+mn-lt"/>
              </a:defRPr>
            </a:lvl1pPr>
          </a:lstStyle>
          <a:p>
            <a:r>
              <a:rPr lang="en-US" dirty="0"/>
              <a:t>Title of the section</a:t>
            </a:r>
            <a:endParaRPr lang="ru-RU" dirty="0"/>
          </a:p>
        </p:txBody>
      </p:sp>
    </p:spTree>
    <p:extLst>
      <p:ext uri="{BB962C8B-B14F-4D97-AF65-F5344CB8AC3E}">
        <p14:creationId xmlns:p14="http://schemas.microsoft.com/office/powerpoint/2010/main" val="2814464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mpty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37171074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2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5"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p>
        </p:txBody>
      </p:sp>
      <p:sp>
        <p:nvSpPr>
          <p:cNvPr id="3" name="Текст 2"/>
          <p:cNvSpPr>
            <a:spLocks noGrp="1"/>
          </p:cNvSpPr>
          <p:nvPr>
            <p:ph type="body" sz="quarter" idx="35" hasCustomPrompt="1"/>
          </p:nvPr>
        </p:nvSpPr>
        <p:spPr>
          <a:xfrm>
            <a:off x="738188" y="2170113"/>
            <a:ext cx="2589212" cy="560387"/>
          </a:xfrm>
        </p:spPr>
        <p:txBody>
          <a:bodyPr>
            <a:normAutofit/>
          </a:bodyPr>
          <a:lstStyle>
            <a:lvl1pPr marL="0" indent="0" algn="l">
              <a:buFont typeface="Arial" panose="020B0604020202020204" pitchFamily="34" charset="0"/>
              <a:buNone/>
              <a:defRPr sz="1800" b="1"/>
            </a:lvl1pPr>
            <a:lvl2pPr>
              <a:defRPr/>
            </a:lvl2pPr>
            <a:lvl3pPr>
              <a:defRPr/>
            </a:lvl3pPr>
          </a:lstStyle>
          <a:p>
            <a:pPr lvl="0"/>
            <a:r>
              <a:rPr lang="en-US" dirty="0"/>
              <a:t>Block title</a:t>
            </a:r>
            <a:endParaRPr lang="ru-RU" dirty="0"/>
          </a:p>
        </p:txBody>
      </p:sp>
      <p:sp>
        <p:nvSpPr>
          <p:cNvPr id="6" name="Текст 5"/>
          <p:cNvSpPr>
            <a:spLocks noGrp="1"/>
          </p:cNvSpPr>
          <p:nvPr>
            <p:ph type="body" sz="quarter" idx="36" hasCustomPrompt="1"/>
          </p:nvPr>
        </p:nvSpPr>
        <p:spPr>
          <a:xfrm>
            <a:off x="738188"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a:p>
            <a:pPr lvl="0"/>
            <a:endParaRPr lang="en-US" dirty="0"/>
          </a:p>
        </p:txBody>
      </p:sp>
      <p:sp>
        <p:nvSpPr>
          <p:cNvPr id="13" name="Текст 2"/>
          <p:cNvSpPr>
            <a:spLocks noGrp="1"/>
          </p:cNvSpPr>
          <p:nvPr>
            <p:ph type="body" sz="quarter" idx="37" hasCustomPrompt="1"/>
          </p:nvPr>
        </p:nvSpPr>
        <p:spPr>
          <a:xfrm>
            <a:off x="3443817"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15" name="Текст 5"/>
          <p:cNvSpPr>
            <a:spLocks noGrp="1"/>
          </p:cNvSpPr>
          <p:nvPr>
            <p:ph type="body" sz="quarter" idx="38" hasCustomPrompt="1"/>
          </p:nvPr>
        </p:nvSpPr>
        <p:spPr>
          <a:xfrm>
            <a:off x="3443817"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6" name="Текст 2"/>
          <p:cNvSpPr>
            <a:spLocks noGrp="1"/>
          </p:cNvSpPr>
          <p:nvPr>
            <p:ph type="body" sz="quarter" idx="39" hasCustomPrompt="1"/>
          </p:nvPr>
        </p:nvSpPr>
        <p:spPr>
          <a:xfrm>
            <a:off x="6149446"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0" name="Текст 5"/>
          <p:cNvSpPr>
            <a:spLocks noGrp="1"/>
          </p:cNvSpPr>
          <p:nvPr>
            <p:ph type="body" sz="quarter" idx="40" hasCustomPrompt="1"/>
          </p:nvPr>
        </p:nvSpPr>
        <p:spPr>
          <a:xfrm>
            <a:off x="6149446"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1" name="Текст 2"/>
          <p:cNvSpPr>
            <a:spLocks noGrp="1"/>
          </p:cNvSpPr>
          <p:nvPr>
            <p:ph type="body" sz="quarter" idx="41" hasCustomPrompt="1"/>
          </p:nvPr>
        </p:nvSpPr>
        <p:spPr>
          <a:xfrm>
            <a:off x="8855074"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2" name="Текст 5"/>
          <p:cNvSpPr>
            <a:spLocks noGrp="1"/>
          </p:cNvSpPr>
          <p:nvPr>
            <p:ph type="body" sz="quarter" idx="42" hasCustomPrompt="1"/>
          </p:nvPr>
        </p:nvSpPr>
        <p:spPr>
          <a:xfrm>
            <a:off x="8855074"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4102920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8856661" y="1339848"/>
            <a:ext cx="2587627" cy="4635283"/>
          </a:xfrm>
        </p:spPr>
        <p:txBody>
          <a:bodyPr/>
          <a:lstStyle>
            <a:lvl1pPr>
              <a:defRPr/>
            </a:lvl1pPr>
          </a:lstStyle>
          <a:p>
            <a:r>
              <a:rPr lang="en-US" dirty="0"/>
              <a:t>Insert a picture</a:t>
            </a:r>
            <a:endParaRPr lang="ru-RU" dirty="0"/>
          </a:p>
        </p:txBody>
      </p:sp>
      <p:sp>
        <p:nvSpPr>
          <p:cNvPr id="15"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8" name="Текст 7"/>
          <p:cNvSpPr>
            <a:spLocks noGrp="1"/>
          </p:cNvSpPr>
          <p:nvPr>
            <p:ph type="body" sz="quarter" idx="34" hasCustomPrompt="1"/>
          </p:nvPr>
        </p:nvSpPr>
        <p:spPr>
          <a:xfrm>
            <a:off x="738191" y="1339849"/>
            <a:ext cx="7999409" cy="725433"/>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9" name="Текст 2"/>
          <p:cNvSpPr>
            <a:spLocks noGrp="1"/>
          </p:cNvSpPr>
          <p:nvPr>
            <p:ph type="body" sz="quarter" idx="35" hasCustomPrompt="1"/>
          </p:nvPr>
        </p:nvSpPr>
        <p:spPr>
          <a:xfrm>
            <a:off x="737398"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0" name="Текст 5"/>
          <p:cNvSpPr>
            <a:spLocks noGrp="1"/>
          </p:cNvSpPr>
          <p:nvPr>
            <p:ph type="body" sz="quarter" idx="36" hasCustomPrompt="1"/>
          </p:nvPr>
        </p:nvSpPr>
        <p:spPr>
          <a:xfrm>
            <a:off x="737398"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1" name="Текст 2"/>
          <p:cNvSpPr>
            <a:spLocks noGrp="1"/>
          </p:cNvSpPr>
          <p:nvPr>
            <p:ph type="body" sz="quarter" idx="37" hasCustomPrompt="1"/>
          </p:nvPr>
        </p:nvSpPr>
        <p:spPr>
          <a:xfrm>
            <a:off x="3442893"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2" name="Текст 5"/>
          <p:cNvSpPr>
            <a:spLocks noGrp="1"/>
          </p:cNvSpPr>
          <p:nvPr>
            <p:ph type="body" sz="quarter" idx="38" hasCustomPrompt="1"/>
          </p:nvPr>
        </p:nvSpPr>
        <p:spPr>
          <a:xfrm>
            <a:off x="3442893"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3" name="Текст 2"/>
          <p:cNvSpPr>
            <a:spLocks noGrp="1"/>
          </p:cNvSpPr>
          <p:nvPr>
            <p:ph type="body" sz="quarter" idx="39" hasCustomPrompt="1"/>
          </p:nvPr>
        </p:nvSpPr>
        <p:spPr>
          <a:xfrm>
            <a:off x="6148388"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6" name="Текст 5"/>
          <p:cNvSpPr>
            <a:spLocks noGrp="1"/>
          </p:cNvSpPr>
          <p:nvPr>
            <p:ph type="body" sz="quarter" idx="40" hasCustomPrompt="1"/>
          </p:nvPr>
        </p:nvSpPr>
        <p:spPr>
          <a:xfrm>
            <a:off x="6148388"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21906833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738190" y="1576388"/>
            <a:ext cx="2587624" cy="2018150"/>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3444347" y="1576388"/>
            <a:ext cx="2587624" cy="2018150"/>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6150504" y="1576388"/>
            <a:ext cx="2587624" cy="2018150"/>
          </a:xfrm>
        </p:spPr>
        <p:txBody>
          <a:bodyPr/>
          <a:lstStyle/>
          <a:p>
            <a:r>
              <a:rPr lang="en-US" dirty="0"/>
              <a:t>Insert a picture</a:t>
            </a:r>
            <a:endParaRPr lang="ru-RU" dirty="0"/>
          </a:p>
        </p:txBody>
      </p:sp>
      <p:sp>
        <p:nvSpPr>
          <p:cNvPr id="13" name="Рисунок 2"/>
          <p:cNvSpPr>
            <a:spLocks noGrp="1"/>
          </p:cNvSpPr>
          <p:nvPr>
            <p:ph type="pic" sz="quarter" idx="19" hasCustomPrompt="1"/>
          </p:nvPr>
        </p:nvSpPr>
        <p:spPr>
          <a:xfrm>
            <a:off x="8856662" y="1576388"/>
            <a:ext cx="2587624" cy="2018150"/>
          </a:xfrm>
        </p:spPr>
        <p:txBody>
          <a:bodyPr/>
          <a:lstStyle/>
          <a:p>
            <a:r>
              <a:rPr lang="en-US" dirty="0"/>
              <a:t>Insert a picture</a:t>
            </a:r>
            <a:endParaRPr lang="ru-RU" dirty="0"/>
          </a:p>
        </p:txBody>
      </p:sp>
      <p:sp>
        <p:nvSpPr>
          <p:cNvPr id="15"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6" name="Текст 2"/>
          <p:cNvSpPr>
            <a:spLocks noGrp="1"/>
          </p:cNvSpPr>
          <p:nvPr>
            <p:ph type="body" sz="quarter" idx="35" hasCustomPrompt="1"/>
          </p:nvPr>
        </p:nvSpPr>
        <p:spPr>
          <a:xfrm>
            <a:off x="3442758" y="3846785"/>
            <a:ext cx="2589212" cy="560387"/>
          </a:xfrm>
        </p:spPr>
        <p:txBody>
          <a:bodyPr>
            <a:normAutofit/>
          </a:bodyPr>
          <a:lstStyle>
            <a:lvl1pPr marL="0" indent="0" algn="l">
              <a:buNone/>
              <a:defRPr sz="1800" b="1"/>
            </a:lvl1pPr>
          </a:lstStyle>
          <a:p>
            <a:pPr lvl="0"/>
            <a:r>
              <a:rPr lang="en-US" dirty="0"/>
              <a:t>Block title</a:t>
            </a:r>
            <a:endParaRPr lang="ru-RU" dirty="0"/>
          </a:p>
        </p:txBody>
      </p:sp>
      <p:sp>
        <p:nvSpPr>
          <p:cNvPr id="20" name="Текст 5"/>
          <p:cNvSpPr>
            <a:spLocks noGrp="1"/>
          </p:cNvSpPr>
          <p:nvPr>
            <p:ph type="body" sz="quarter" idx="36" hasCustomPrompt="1"/>
          </p:nvPr>
        </p:nvSpPr>
        <p:spPr>
          <a:xfrm>
            <a:off x="3442758" y="4407171"/>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1" name="Текст 2"/>
          <p:cNvSpPr>
            <a:spLocks noGrp="1"/>
          </p:cNvSpPr>
          <p:nvPr>
            <p:ph type="body" sz="quarter" idx="37" hasCustomPrompt="1"/>
          </p:nvPr>
        </p:nvSpPr>
        <p:spPr>
          <a:xfrm>
            <a:off x="6148916" y="3846784"/>
            <a:ext cx="2589212" cy="560387"/>
          </a:xfrm>
        </p:spPr>
        <p:txBody>
          <a:bodyPr>
            <a:normAutofit/>
          </a:bodyPr>
          <a:lstStyle>
            <a:lvl1pPr marL="0" indent="0" algn="l">
              <a:buNone/>
              <a:defRPr sz="1800" b="1"/>
            </a:lvl1pPr>
          </a:lstStyle>
          <a:p>
            <a:pPr lvl="0"/>
            <a:r>
              <a:rPr lang="en-US" dirty="0"/>
              <a:t>Block title</a:t>
            </a:r>
            <a:endParaRPr lang="ru-RU" dirty="0"/>
          </a:p>
        </p:txBody>
      </p:sp>
      <p:sp>
        <p:nvSpPr>
          <p:cNvPr id="22" name="Текст 5"/>
          <p:cNvSpPr>
            <a:spLocks noGrp="1"/>
          </p:cNvSpPr>
          <p:nvPr>
            <p:ph type="body" sz="quarter" idx="38" hasCustomPrompt="1"/>
          </p:nvPr>
        </p:nvSpPr>
        <p:spPr>
          <a:xfrm>
            <a:off x="6148916" y="4407170"/>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3" name="Текст 2"/>
          <p:cNvSpPr>
            <a:spLocks noGrp="1"/>
          </p:cNvSpPr>
          <p:nvPr>
            <p:ph type="body" sz="quarter" idx="39" hasCustomPrompt="1"/>
          </p:nvPr>
        </p:nvSpPr>
        <p:spPr>
          <a:xfrm>
            <a:off x="8855072" y="384678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4" name="Текст 5"/>
          <p:cNvSpPr>
            <a:spLocks noGrp="1"/>
          </p:cNvSpPr>
          <p:nvPr>
            <p:ph type="body" sz="quarter" idx="40" hasCustomPrompt="1"/>
          </p:nvPr>
        </p:nvSpPr>
        <p:spPr>
          <a:xfrm>
            <a:off x="8855072" y="4407169"/>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4" name="Текст 3"/>
          <p:cNvSpPr>
            <a:spLocks noGrp="1"/>
          </p:cNvSpPr>
          <p:nvPr>
            <p:ph type="body" sz="quarter" idx="41" hasCustomPrompt="1"/>
          </p:nvPr>
        </p:nvSpPr>
        <p:spPr>
          <a:xfrm>
            <a:off x="738189" y="3846783"/>
            <a:ext cx="2587623" cy="193965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p>
          <a:p>
            <a:pPr lvl="0"/>
            <a:endParaRPr lang="ru-RU" dirty="0"/>
          </a:p>
        </p:txBody>
      </p:sp>
    </p:spTree>
    <p:extLst>
      <p:ext uri="{BB962C8B-B14F-4D97-AF65-F5344CB8AC3E}">
        <p14:creationId xmlns:p14="http://schemas.microsoft.com/office/powerpoint/2010/main" val="31483095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3444347"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3444875"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3444347"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3444082"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3444081"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6150109"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6150637"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6150109"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6149844"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6149843"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856661"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857189"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85666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85639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85639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8" name="Текст 7"/>
          <p:cNvSpPr>
            <a:spLocks noGrp="1"/>
          </p:cNvSpPr>
          <p:nvPr>
            <p:ph type="body" sz="quarter" idx="36" hasCustomPrompt="1"/>
          </p:nvPr>
        </p:nvSpPr>
        <p:spPr>
          <a:xfrm>
            <a:off x="738191" y="2249269"/>
            <a:ext cx="2586037" cy="3725862"/>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1834906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olumns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3444347"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3444875"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3444347"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3444082"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3444081"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6150109"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6150637"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6150109"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6149844"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6149843"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856661"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857189"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85666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85639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85639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Объект 19"/>
          <p:cNvSpPr>
            <a:spLocks noGrp="1"/>
          </p:cNvSpPr>
          <p:nvPr>
            <p:ph sz="quarter" idx="14" hasCustomPrompt="1"/>
          </p:nvPr>
        </p:nvSpPr>
        <p:spPr>
          <a:xfrm>
            <a:off x="738189" y="1214002"/>
            <a:ext cx="10706099" cy="449262"/>
          </a:xfrm>
        </p:spPr>
        <p:txBody>
          <a:bodyPr/>
          <a:lstStyle>
            <a:lvl1pPr marL="0" indent="0">
              <a:buNone/>
              <a:defRPr sz="2800"/>
            </a:lvl1pPr>
          </a:lstStyle>
          <a:p>
            <a:r>
              <a:rPr lang="en-US" sz="2000" dirty="0">
                <a:solidFill>
                  <a:srgbClr val="006CB7"/>
                </a:solidFill>
              </a:rPr>
              <a:t>Long subtitle or descriptive text on one or two lines</a:t>
            </a:r>
          </a:p>
        </p:txBody>
      </p:sp>
      <p:sp>
        <p:nvSpPr>
          <p:cNvPr id="44" name="Текст 3"/>
          <p:cNvSpPr>
            <a:spLocks noGrp="1"/>
          </p:cNvSpPr>
          <p:nvPr>
            <p:ph type="body" sz="quarter" idx="32" hasCustomPrompt="1"/>
          </p:nvPr>
        </p:nvSpPr>
        <p:spPr>
          <a:xfrm>
            <a:off x="737001"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45" name="Диаграмма 6"/>
          <p:cNvSpPr>
            <a:spLocks noGrp="1"/>
          </p:cNvSpPr>
          <p:nvPr>
            <p:ph type="chart" sz="quarter" idx="33" hasCustomPrompt="1"/>
          </p:nvPr>
        </p:nvSpPr>
        <p:spPr>
          <a:xfrm>
            <a:off x="737529"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46" name="Объект 8"/>
          <p:cNvSpPr>
            <a:spLocks noGrp="1"/>
          </p:cNvSpPr>
          <p:nvPr>
            <p:ph sz="quarter" idx="34" hasCustomPrompt="1"/>
          </p:nvPr>
        </p:nvSpPr>
        <p:spPr>
          <a:xfrm>
            <a:off x="73700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47" name="Объект 8"/>
          <p:cNvSpPr>
            <a:spLocks noGrp="1"/>
          </p:cNvSpPr>
          <p:nvPr>
            <p:ph sz="quarter" idx="35" hasCustomPrompt="1"/>
          </p:nvPr>
        </p:nvSpPr>
        <p:spPr>
          <a:xfrm>
            <a:off x="73673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48" name="Объект 8"/>
          <p:cNvSpPr>
            <a:spLocks noGrp="1"/>
          </p:cNvSpPr>
          <p:nvPr>
            <p:ph sz="quarter" idx="36" hasCustomPrompt="1"/>
          </p:nvPr>
        </p:nvSpPr>
        <p:spPr>
          <a:xfrm>
            <a:off x="73673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49" name="Текст 5"/>
          <p:cNvSpPr>
            <a:spLocks noGrp="1"/>
          </p:cNvSpPr>
          <p:nvPr>
            <p:ph type="body" sz="quarter" idx="37"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23629377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8" name="Текст 2"/>
          <p:cNvSpPr>
            <a:spLocks noGrp="1"/>
          </p:cNvSpPr>
          <p:nvPr>
            <p:ph type="body" sz="quarter" idx="35" hasCustomPrompt="1"/>
          </p:nvPr>
        </p:nvSpPr>
        <p:spPr>
          <a:xfrm>
            <a:off x="737398"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9" name="Текст 5"/>
          <p:cNvSpPr>
            <a:spLocks noGrp="1"/>
          </p:cNvSpPr>
          <p:nvPr>
            <p:ph type="body" sz="quarter" idx="36" hasCustomPrompt="1"/>
          </p:nvPr>
        </p:nvSpPr>
        <p:spPr>
          <a:xfrm>
            <a:off x="737398"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1" name="Текст 2"/>
          <p:cNvSpPr>
            <a:spLocks noGrp="1"/>
          </p:cNvSpPr>
          <p:nvPr>
            <p:ph type="body" sz="quarter" idx="37" hasCustomPrompt="1"/>
          </p:nvPr>
        </p:nvSpPr>
        <p:spPr>
          <a:xfrm>
            <a:off x="8084310"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12" name="Текст 5"/>
          <p:cNvSpPr>
            <a:spLocks noGrp="1"/>
          </p:cNvSpPr>
          <p:nvPr>
            <p:ph type="body" sz="quarter" idx="38" hasCustomPrompt="1"/>
          </p:nvPr>
        </p:nvSpPr>
        <p:spPr>
          <a:xfrm>
            <a:off x="8084310"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3" name="Текст 2"/>
          <p:cNvSpPr>
            <a:spLocks noGrp="1"/>
          </p:cNvSpPr>
          <p:nvPr>
            <p:ph type="body" sz="quarter" idx="39" hasCustomPrompt="1"/>
          </p:nvPr>
        </p:nvSpPr>
        <p:spPr>
          <a:xfrm>
            <a:off x="4410854"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14" name="Текст 5"/>
          <p:cNvSpPr>
            <a:spLocks noGrp="1"/>
          </p:cNvSpPr>
          <p:nvPr>
            <p:ph type="body" sz="quarter" idx="40" hasCustomPrompt="1"/>
          </p:nvPr>
        </p:nvSpPr>
        <p:spPr>
          <a:xfrm>
            <a:off x="4410854"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531447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6" name="Текст 4"/>
          <p:cNvSpPr>
            <a:spLocks noGrp="1"/>
          </p:cNvSpPr>
          <p:nvPr>
            <p:ph type="body" sz="quarter" idx="10" hasCustomPrompt="1"/>
          </p:nvPr>
        </p:nvSpPr>
        <p:spPr>
          <a:xfrm>
            <a:off x="738189"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17" name="Текст 4"/>
          <p:cNvSpPr>
            <a:spLocks noGrp="1"/>
          </p:cNvSpPr>
          <p:nvPr>
            <p:ph type="body" sz="quarter" idx="12" hasCustomPrompt="1"/>
          </p:nvPr>
        </p:nvSpPr>
        <p:spPr>
          <a:xfrm>
            <a:off x="4411645"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18" name="Текст 4"/>
          <p:cNvSpPr>
            <a:spLocks noGrp="1"/>
          </p:cNvSpPr>
          <p:nvPr>
            <p:ph type="body" sz="quarter" idx="13" hasCustomPrompt="1"/>
          </p:nvPr>
        </p:nvSpPr>
        <p:spPr>
          <a:xfrm>
            <a:off x="8085101"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3" name="Рисунок 2"/>
          <p:cNvSpPr>
            <a:spLocks noGrp="1"/>
          </p:cNvSpPr>
          <p:nvPr>
            <p:ph type="pic" sz="quarter" idx="16" hasCustomPrompt="1"/>
          </p:nvPr>
        </p:nvSpPr>
        <p:spPr>
          <a:xfrm>
            <a:off x="738188" y="2474584"/>
            <a:ext cx="3359150" cy="2286000"/>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4411645" y="2474584"/>
            <a:ext cx="3359150" cy="2286000"/>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8085136" y="2474584"/>
            <a:ext cx="3359150" cy="2286000"/>
          </a:xfrm>
        </p:spPr>
        <p:txBody>
          <a:bodyPr/>
          <a:lstStyle/>
          <a:p>
            <a:r>
              <a:rPr lang="en-US" dirty="0"/>
              <a:t>Insert a picture</a:t>
            </a:r>
            <a:endParaRPr lang="ru-RU" dirty="0"/>
          </a:p>
        </p:txBody>
      </p:sp>
      <p:sp>
        <p:nvSpPr>
          <p:cNvPr id="5" name="Текст 4"/>
          <p:cNvSpPr>
            <a:spLocks noGrp="1"/>
          </p:cNvSpPr>
          <p:nvPr>
            <p:ph type="body" sz="quarter" idx="33" hasCustomPrompt="1"/>
          </p:nvPr>
        </p:nvSpPr>
        <p:spPr>
          <a:xfrm>
            <a:off x="738188" y="1339849"/>
            <a:ext cx="10706100" cy="772729"/>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20" name="Текст 5"/>
          <p:cNvSpPr>
            <a:spLocks noGrp="1"/>
          </p:cNvSpPr>
          <p:nvPr>
            <p:ph type="body" sz="quarter" idx="34"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2714963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738188" y="3452647"/>
            <a:ext cx="3359150" cy="2561187"/>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4411645" y="3925613"/>
            <a:ext cx="3359150" cy="2088221"/>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8085136" y="4382814"/>
            <a:ext cx="3359150" cy="1631020"/>
          </a:xfrm>
        </p:spPr>
        <p:txBody>
          <a:bodyPr/>
          <a:lstStyle/>
          <a:p>
            <a:r>
              <a:rPr lang="en-US" dirty="0"/>
              <a:t>Insert a picture</a:t>
            </a:r>
            <a:endParaRPr lang="ru-RU" dirty="0"/>
          </a:p>
        </p:txBody>
      </p:sp>
      <p:sp>
        <p:nvSpPr>
          <p:cNvPr id="5" name="Текст 4"/>
          <p:cNvSpPr>
            <a:spLocks noGrp="1"/>
          </p:cNvSpPr>
          <p:nvPr>
            <p:ph type="body" sz="quarter" idx="33" hasCustomPrompt="1"/>
          </p:nvPr>
        </p:nvSpPr>
        <p:spPr>
          <a:xfrm>
            <a:off x="738188" y="1339849"/>
            <a:ext cx="10706100" cy="772729"/>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20" name="Текст 5"/>
          <p:cNvSpPr>
            <a:spLocks noGrp="1"/>
          </p:cNvSpPr>
          <p:nvPr>
            <p:ph type="body" sz="quarter" idx="34"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3" name="Текст 2"/>
          <p:cNvSpPr>
            <a:spLocks noGrp="1"/>
          </p:cNvSpPr>
          <p:nvPr>
            <p:ph type="body" sz="quarter" idx="37" hasCustomPrompt="1"/>
          </p:nvPr>
        </p:nvSpPr>
        <p:spPr>
          <a:xfrm>
            <a:off x="737328" y="2317530"/>
            <a:ext cx="3359976" cy="560387"/>
          </a:xfrm>
        </p:spPr>
        <p:txBody>
          <a:bodyPr>
            <a:normAutofit/>
          </a:bodyPr>
          <a:lstStyle>
            <a:lvl1pPr marL="0" indent="0" algn="l">
              <a:buNone/>
              <a:defRPr sz="1800" b="1"/>
            </a:lvl1pPr>
          </a:lstStyle>
          <a:p>
            <a:pPr lvl="0"/>
            <a:r>
              <a:rPr lang="en-US" dirty="0"/>
              <a:t>Block title</a:t>
            </a:r>
            <a:endParaRPr lang="ru-RU" dirty="0"/>
          </a:p>
        </p:txBody>
      </p:sp>
      <p:sp>
        <p:nvSpPr>
          <p:cNvPr id="24" name="Текст 5"/>
          <p:cNvSpPr>
            <a:spLocks noGrp="1"/>
          </p:cNvSpPr>
          <p:nvPr>
            <p:ph type="body" sz="quarter" idx="38" hasCustomPrompt="1"/>
          </p:nvPr>
        </p:nvSpPr>
        <p:spPr>
          <a:xfrm>
            <a:off x="737328" y="2877916"/>
            <a:ext cx="3359976" cy="574731"/>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25" name="Текст 2"/>
          <p:cNvSpPr>
            <a:spLocks noGrp="1"/>
          </p:cNvSpPr>
          <p:nvPr>
            <p:ph type="body" sz="quarter" idx="39" hasCustomPrompt="1"/>
          </p:nvPr>
        </p:nvSpPr>
        <p:spPr>
          <a:xfrm>
            <a:off x="4410819" y="2317530"/>
            <a:ext cx="3359976" cy="560387"/>
          </a:xfrm>
        </p:spPr>
        <p:txBody>
          <a:bodyPr>
            <a:normAutofit/>
          </a:bodyPr>
          <a:lstStyle>
            <a:lvl1pPr marL="0" indent="0" algn="l">
              <a:buNone/>
              <a:defRPr sz="1800" b="1"/>
            </a:lvl1pPr>
          </a:lstStyle>
          <a:p>
            <a:pPr lvl="0"/>
            <a:r>
              <a:rPr lang="en-US" dirty="0"/>
              <a:t>Block title</a:t>
            </a:r>
            <a:endParaRPr lang="ru-RU" dirty="0"/>
          </a:p>
        </p:txBody>
      </p:sp>
      <p:sp>
        <p:nvSpPr>
          <p:cNvPr id="26" name="Текст 5"/>
          <p:cNvSpPr>
            <a:spLocks noGrp="1"/>
          </p:cNvSpPr>
          <p:nvPr>
            <p:ph type="body" sz="quarter" idx="40" hasCustomPrompt="1"/>
          </p:nvPr>
        </p:nvSpPr>
        <p:spPr>
          <a:xfrm>
            <a:off x="4410819" y="2877916"/>
            <a:ext cx="3359976" cy="1047697"/>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27" name="Текст 2"/>
          <p:cNvSpPr>
            <a:spLocks noGrp="1"/>
          </p:cNvSpPr>
          <p:nvPr>
            <p:ph type="body" sz="quarter" idx="41" hasCustomPrompt="1"/>
          </p:nvPr>
        </p:nvSpPr>
        <p:spPr>
          <a:xfrm>
            <a:off x="8084310" y="2317529"/>
            <a:ext cx="3359976" cy="560387"/>
          </a:xfrm>
        </p:spPr>
        <p:txBody>
          <a:bodyPr>
            <a:normAutofit/>
          </a:bodyPr>
          <a:lstStyle>
            <a:lvl1pPr marL="0" indent="0" algn="l">
              <a:buNone/>
              <a:defRPr sz="1800" b="1"/>
            </a:lvl1pPr>
          </a:lstStyle>
          <a:p>
            <a:pPr lvl="0"/>
            <a:r>
              <a:rPr lang="en-US" dirty="0"/>
              <a:t>Block title</a:t>
            </a:r>
            <a:endParaRPr lang="ru-RU" dirty="0"/>
          </a:p>
        </p:txBody>
      </p:sp>
      <p:sp>
        <p:nvSpPr>
          <p:cNvPr id="28" name="Текст 5"/>
          <p:cNvSpPr>
            <a:spLocks noGrp="1"/>
          </p:cNvSpPr>
          <p:nvPr>
            <p:ph type="body" sz="quarter" idx="42" hasCustomPrompt="1"/>
          </p:nvPr>
        </p:nvSpPr>
        <p:spPr>
          <a:xfrm>
            <a:off x="8084310" y="2877915"/>
            <a:ext cx="3359976" cy="1504899"/>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Tree>
    <p:extLst>
      <p:ext uri="{BB962C8B-B14F-4D97-AF65-F5344CB8AC3E}">
        <p14:creationId xmlns:p14="http://schemas.microsoft.com/office/powerpoint/2010/main" val="730677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737572"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738189" y="2501024"/>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737838"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737573"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737572"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4577870"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4578488" y="2501025"/>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4577959"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4577694"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4577693"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418169"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418787" y="2501025"/>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418079"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417814"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417813"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Объект 19"/>
          <p:cNvSpPr>
            <a:spLocks noGrp="1"/>
          </p:cNvSpPr>
          <p:nvPr>
            <p:ph sz="quarter" idx="14" hasCustomPrompt="1"/>
          </p:nvPr>
        </p:nvSpPr>
        <p:spPr>
          <a:xfrm>
            <a:off x="738189" y="1214002"/>
            <a:ext cx="10706099" cy="449262"/>
          </a:xfrm>
        </p:spPr>
        <p:txBody>
          <a:bodyPr/>
          <a:lstStyle>
            <a:lvl1pPr marL="0" indent="0">
              <a:buNone/>
              <a:defRPr sz="2800"/>
            </a:lvl1pPr>
          </a:lstStyle>
          <a:p>
            <a:r>
              <a:rPr lang="en-US" sz="2000" dirty="0">
                <a:solidFill>
                  <a:srgbClr val="006CB7"/>
                </a:solidFill>
              </a:rPr>
              <a:t>Long subtitle or descriptive text on one or two lines</a:t>
            </a:r>
          </a:p>
        </p:txBody>
      </p:sp>
      <p:sp>
        <p:nvSpPr>
          <p:cNvPr id="49" name="Текст 5"/>
          <p:cNvSpPr>
            <a:spLocks noGrp="1"/>
          </p:cNvSpPr>
          <p:nvPr>
            <p:ph type="body" sz="quarter" idx="37"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38166769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7" name="Текст 2"/>
          <p:cNvSpPr>
            <a:spLocks noGrp="1"/>
          </p:cNvSpPr>
          <p:nvPr>
            <p:ph type="body" sz="quarter" idx="37" hasCustomPrompt="1"/>
          </p:nvPr>
        </p:nvSpPr>
        <p:spPr>
          <a:xfrm>
            <a:off x="738190" y="2175641"/>
            <a:ext cx="5043486" cy="560387"/>
          </a:xfrm>
        </p:spPr>
        <p:txBody>
          <a:bodyPr>
            <a:normAutofit/>
          </a:bodyPr>
          <a:lstStyle>
            <a:lvl1pPr marL="0" indent="0" algn="l">
              <a:buNone/>
              <a:defRPr sz="1800" b="1"/>
            </a:lvl1pPr>
          </a:lstStyle>
          <a:p>
            <a:pPr lvl="0"/>
            <a:r>
              <a:rPr lang="en-US" dirty="0"/>
              <a:t>Block title</a:t>
            </a:r>
            <a:endParaRPr lang="ru-RU" dirty="0"/>
          </a:p>
        </p:txBody>
      </p:sp>
      <p:sp>
        <p:nvSpPr>
          <p:cNvPr id="8" name="Текст 5"/>
          <p:cNvSpPr>
            <a:spLocks noGrp="1"/>
          </p:cNvSpPr>
          <p:nvPr>
            <p:ph type="body" sz="quarter" idx="38" hasCustomPrompt="1"/>
          </p:nvPr>
        </p:nvSpPr>
        <p:spPr>
          <a:xfrm>
            <a:off x="738190" y="2736027"/>
            <a:ext cx="504348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9" name="Текст 2"/>
          <p:cNvSpPr>
            <a:spLocks noGrp="1"/>
          </p:cNvSpPr>
          <p:nvPr>
            <p:ph type="body" sz="quarter" idx="39" hasCustomPrompt="1"/>
          </p:nvPr>
        </p:nvSpPr>
        <p:spPr>
          <a:xfrm>
            <a:off x="6400800" y="2175641"/>
            <a:ext cx="5043486" cy="560387"/>
          </a:xfrm>
        </p:spPr>
        <p:txBody>
          <a:bodyPr>
            <a:normAutofit/>
          </a:bodyPr>
          <a:lstStyle>
            <a:lvl1pPr marL="0" indent="0" algn="l">
              <a:buNone/>
              <a:defRPr sz="1800" b="1"/>
            </a:lvl1pPr>
          </a:lstStyle>
          <a:p>
            <a:pPr lvl="0"/>
            <a:r>
              <a:rPr lang="en-US" dirty="0"/>
              <a:t>Block title</a:t>
            </a:r>
            <a:endParaRPr lang="ru-RU" dirty="0"/>
          </a:p>
        </p:txBody>
      </p:sp>
      <p:sp>
        <p:nvSpPr>
          <p:cNvPr id="11" name="Текст 5"/>
          <p:cNvSpPr>
            <a:spLocks noGrp="1"/>
          </p:cNvSpPr>
          <p:nvPr>
            <p:ph type="body" sz="quarter" idx="40" hasCustomPrompt="1"/>
          </p:nvPr>
        </p:nvSpPr>
        <p:spPr>
          <a:xfrm>
            <a:off x="6400800" y="2736027"/>
            <a:ext cx="504348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Tree>
    <p:extLst>
      <p:ext uri="{BB962C8B-B14F-4D97-AF65-F5344CB8AC3E}">
        <p14:creationId xmlns:p14="http://schemas.microsoft.com/office/powerpoint/2010/main" val="3307552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
        <p:nvSpPr>
          <p:cNvPr id="3" name="Текст 2"/>
          <p:cNvSpPr>
            <a:spLocks noGrp="1"/>
          </p:cNvSpPr>
          <p:nvPr>
            <p:ph type="body" sz="quarter" idx="35" hasCustomPrompt="1"/>
          </p:nvPr>
        </p:nvSpPr>
        <p:spPr>
          <a:xfrm>
            <a:off x="738190"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9" name="Текст 2"/>
          <p:cNvSpPr>
            <a:spLocks noGrp="1"/>
          </p:cNvSpPr>
          <p:nvPr>
            <p:ph type="body" sz="quarter" idx="36" hasCustomPrompt="1"/>
          </p:nvPr>
        </p:nvSpPr>
        <p:spPr>
          <a:xfrm>
            <a:off x="6396039"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11" name="Текст 24"/>
          <p:cNvSpPr>
            <a:spLocks noGrp="1"/>
          </p:cNvSpPr>
          <p:nvPr>
            <p:ph type="body" sz="quarter" idx="37" hasCustomPrompt="1"/>
          </p:nvPr>
        </p:nvSpPr>
        <p:spPr>
          <a:xfrm>
            <a:off x="6396038"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Tree>
    <p:extLst>
      <p:ext uri="{BB962C8B-B14F-4D97-AF65-F5344CB8AC3E}">
        <p14:creationId xmlns:p14="http://schemas.microsoft.com/office/powerpoint/2010/main" val="2688658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
        <p:nvSpPr>
          <p:cNvPr id="3" name="Текст 2"/>
          <p:cNvSpPr>
            <a:spLocks noGrp="1"/>
          </p:cNvSpPr>
          <p:nvPr>
            <p:ph type="body" sz="quarter" idx="35" hasCustomPrompt="1"/>
          </p:nvPr>
        </p:nvSpPr>
        <p:spPr>
          <a:xfrm>
            <a:off x="738190"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4" name="Рисунок 3"/>
          <p:cNvSpPr>
            <a:spLocks noGrp="1"/>
          </p:cNvSpPr>
          <p:nvPr>
            <p:ph type="pic" sz="quarter" idx="38" hasCustomPrompt="1"/>
          </p:nvPr>
        </p:nvSpPr>
        <p:spPr>
          <a:xfrm>
            <a:off x="6369270" y="1339850"/>
            <a:ext cx="5075018" cy="4635500"/>
          </a:xfrm>
        </p:spPr>
        <p:txBody>
          <a:bodyPr/>
          <a:lstStyle>
            <a:lvl1pPr>
              <a:defRPr/>
            </a:lvl1pPr>
          </a:lstStyle>
          <a:p>
            <a:r>
              <a:rPr lang="en-US" dirty="0"/>
              <a:t>Insert a picture</a:t>
            </a:r>
            <a:endParaRPr lang="ru-RU" dirty="0"/>
          </a:p>
        </p:txBody>
      </p:sp>
    </p:spTree>
    <p:extLst>
      <p:ext uri="{BB962C8B-B14F-4D97-AF65-F5344CB8AC3E}">
        <p14:creationId xmlns:p14="http://schemas.microsoft.com/office/powerpoint/2010/main" val="1959560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olumns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10706096"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Текст 2"/>
          <p:cNvSpPr>
            <a:spLocks noGrp="1"/>
          </p:cNvSpPr>
          <p:nvPr>
            <p:ph type="body" sz="quarter" idx="35" hasCustomPrompt="1"/>
          </p:nvPr>
        </p:nvSpPr>
        <p:spPr>
          <a:xfrm>
            <a:off x="738190" y="3421116"/>
            <a:ext cx="5048247" cy="2554233"/>
          </a:xfrm>
        </p:spPr>
        <p:txBody>
          <a:bodyPr>
            <a:normAutofit/>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4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ru-RU"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8" name="Текст 2"/>
          <p:cNvSpPr>
            <a:spLocks noGrp="1"/>
          </p:cNvSpPr>
          <p:nvPr>
            <p:ph type="body" sz="quarter" idx="36" hasCustomPrompt="1"/>
          </p:nvPr>
        </p:nvSpPr>
        <p:spPr>
          <a:xfrm>
            <a:off x="6396039" y="3421116"/>
            <a:ext cx="5048247" cy="2554232"/>
          </a:xfrm>
        </p:spPr>
        <p:txBody>
          <a:bodyPr>
            <a:normAutofit/>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4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ru-RU"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4" name="Текст 3"/>
          <p:cNvSpPr>
            <a:spLocks noGrp="1"/>
          </p:cNvSpPr>
          <p:nvPr>
            <p:ph type="body" sz="quarter" idx="37" hasCustomPrompt="1"/>
          </p:nvPr>
        </p:nvSpPr>
        <p:spPr>
          <a:xfrm>
            <a:off x="738188" y="2617789"/>
            <a:ext cx="5048250" cy="582612"/>
          </a:xfrm>
        </p:spPr>
        <p:txBody>
          <a:bodyPr>
            <a:normAutofit/>
          </a:bodyPr>
          <a:lstStyle>
            <a:lvl1pPr marL="0" indent="0">
              <a:buNone/>
              <a:defRPr sz="1800" b="1" baseline="0"/>
            </a:lvl1pPr>
          </a:lstStyle>
          <a:p>
            <a:pPr lvl="0"/>
            <a:r>
              <a:rPr lang="en-US" dirty="0"/>
              <a:t>Subtitle (can be longer and longer and longer and longer and longer and longer)</a:t>
            </a:r>
            <a:endParaRPr lang="ru-RU" dirty="0"/>
          </a:p>
        </p:txBody>
      </p:sp>
    </p:spTree>
    <p:extLst>
      <p:ext uri="{BB962C8B-B14F-4D97-AF65-F5344CB8AC3E}">
        <p14:creationId xmlns:p14="http://schemas.microsoft.com/office/powerpoint/2010/main" val="33499100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lumn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9" name="Текст 4"/>
          <p:cNvSpPr>
            <a:spLocks noGrp="1"/>
          </p:cNvSpPr>
          <p:nvPr>
            <p:ph type="body" sz="quarter" idx="10" hasCustomPrompt="1"/>
          </p:nvPr>
        </p:nvSpPr>
        <p:spPr>
          <a:xfrm>
            <a:off x="738190" y="2144713"/>
            <a:ext cx="10706096" cy="472363"/>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000"/>
            </a:lvl1pPr>
          </a:lstStyle>
          <a:p>
            <a:r>
              <a:rPr lang="en-US" b="1" dirty="0"/>
              <a:t>Block title</a:t>
            </a:r>
            <a:endParaRPr lang="ru-RU" b="1" baseline="0" dirty="0"/>
          </a:p>
          <a:p>
            <a:endParaRPr lang="ru-RU" b="1" baseline="0" dirty="0"/>
          </a:p>
        </p:txBody>
      </p:sp>
      <p:sp>
        <p:nvSpPr>
          <p:cNvPr id="7" name="Текст 6"/>
          <p:cNvSpPr>
            <a:spLocks noGrp="1"/>
          </p:cNvSpPr>
          <p:nvPr>
            <p:ph type="body" sz="quarter" idx="36" hasCustomPrompt="1"/>
          </p:nvPr>
        </p:nvSpPr>
        <p:spPr>
          <a:xfrm>
            <a:off x="738190" y="2806700"/>
            <a:ext cx="10706098" cy="3105150"/>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Tree>
    <p:extLst>
      <p:ext uri="{BB962C8B-B14F-4D97-AF65-F5344CB8AC3E}">
        <p14:creationId xmlns:p14="http://schemas.microsoft.com/office/powerpoint/2010/main" val="2450965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lum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Текст 2"/>
          <p:cNvSpPr>
            <a:spLocks noGrp="1"/>
          </p:cNvSpPr>
          <p:nvPr>
            <p:ph type="body" sz="quarter" idx="35" hasCustomPrompt="1"/>
          </p:nvPr>
        </p:nvSpPr>
        <p:spPr>
          <a:xfrm>
            <a:off x="1182415" y="2144713"/>
            <a:ext cx="9747524" cy="3846512"/>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800" b="1"/>
            </a:lvl1pPr>
            <a:lvl2pPr marL="4572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1800" baseline="0"/>
            </a:lvl2pPr>
          </a:lstStyle>
          <a:p>
            <a:pPr lvl="0"/>
            <a:r>
              <a:rPr lang="en-US" dirty="0"/>
              <a:t>Text</a:t>
            </a:r>
            <a:endParaRPr lang="ru-RU" dirty="0"/>
          </a:p>
          <a:p>
            <a:pPr lvl="1"/>
            <a:endParaRPr lang="ru-RU" dirty="0"/>
          </a:p>
          <a:p>
            <a:pPr lvl="1"/>
            <a:endParaRPr lang="ru-RU" dirty="0"/>
          </a:p>
        </p:txBody>
      </p:sp>
      <p:sp>
        <p:nvSpPr>
          <p:cNvPr id="6" name="Текст 5"/>
          <p:cNvSpPr>
            <a:spLocks noGrp="1"/>
          </p:cNvSpPr>
          <p:nvPr>
            <p:ph type="body" sz="quarter" idx="37" hasCustomPrompt="1"/>
          </p:nvPr>
        </p:nvSpPr>
        <p:spPr>
          <a:xfrm>
            <a:off x="1182686" y="2538636"/>
            <a:ext cx="9747250" cy="682625"/>
          </a:xfrm>
        </p:spPr>
        <p:txBody>
          <a:bodyPr>
            <a:noAutofit/>
          </a:bodyPr>
          <a:lstStyle>
            <a:lvl1pPr marL="0" indent="0">
              <a:buNone/>
              <a:defRPr sz="1800"/>
            </a:lvl1pPr>
            <a:lvl2pPr marL="457200" indent="0">
              <a:buNone/>
              <a:defRPr sz="1800"/>
            </a:lvl2pPr>
          </a:lstStyle>
          <a:p>
            <a:pPr lvl="1"/>
            <a:r>
              <a:rPr lang="en-US" dirty="0"/>
              <a:t>Second level text</a:t>
            </a:r>
          </a:p>
        </p:txBody>
      </p:sp>
    </p:spTree>
    <p:extLst>
      <p:ext uri="{BB962C8B-B14F-4D97-AF65-F5344CB8AC3E}">
        <p14:creationId xmlns:p14="http://schemas.microsoft.com/office/powerpoint/2010/main" val="31161349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olumn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Рисунок 2"/>
          <p:cNvSpPr>
            <a:spLocks noGrp="1"/>
          </p:cNvSpPr>
          <p:nvPr>
            <p:ph type="pic" sz="quarter" idx="35" hasCustomPrompt="1"/>
          </p:nvPr>
        </p:nvSpPr>
        <p:spPr>
          <a:xfrm>
            <a:off x="1308100" y="2144713"/>
            <a:ext cx="9621838" cy="3894137"/>
          </a:xfrm>
        </p:spPr>
        <p:txBody>
          <a:bodyPr/>
          <a:lstStyle>
            <a:lvl1pPr>
              <a:defRPr/>
            </a:lvl1pPr>
          </a:lstStyle>
          <a:p>
            <a:r>
              <a:rPr lang="en-US" dirty="0"/>
              <a:t>Insert a picture</a:t>
            </a:r>
            <a:endParaRPr lang="ru-RU" dirty="0"/>
          </a:p>
        </p:txBody>
      </p:sp>
    </p:spTree>
    <p:extLst>
      <p:ext uri="{BB962C8B-B14F-4D97-AF65-F5344CB8AC3E}">
        <p14:creationId xmlns:p14="http://schemas.microsoft.com/office/powerpoint/2010/main" val="26522983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lumn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88" y="4274234"/>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Рисунок 2"/>
          <p:cNvSpPr>
            <a:spLocks noGrp="1"/>
          </p:cNvSpPr>
          <p:nvPr>
            <p:ph type="pic" sz="quarter" idx="35" hasCustomPrompt="1"/>
          </p:nvPr>
        </p:nvSpPr>
        <p:spPr>
          <a:xfrm>
            <a:off x="1308098" y="1429490"/>
            <a:ext cx="9621838" cy="2480358"/>
          </a:xfrm>
        </p:spPr>
        <p:txBody>
          <a:bodyPr/>
          <a:lstStyle>
            <a:lvl1pPr>
              <a:defRPr/>
            </a:lvl1pPr>
          </a:lstStyle>
          <a:p>
            <a:r>
              <a:rPr lang="en-US" dirty="0"/>
              <a:t>Insert a picture</a:t>
            </a:r>
            <a:endParaRPr lang="ru-RU" dirty="0"/>
          </a:p>
        </p:txBody>
      </p:sp>
      <p:sp>
        <p:nvSpPr>
          <p:cNvPr id="6" name="Текст 6"/>
          <p:cNvSpPr>
            <a:spLocks noGrp="1"/>
          </p:cNvSpPr>
          <p:nvPr>
            <p:ph type="body" sz="quarter" idx="36" hasCustomPrompt="1"/>
          </p:nvPr>
        </p:nvSpPr>
        <p:spPr>
          <a:xfrm>
            <a:off x="738188" y="4982349"/>
            <a:ext cx="10706098" cy="850892"/>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p:txBody>
      </p:sp>
    </p:spTree>
    <p:extLst>
      <p:ext uri="{BB962C8B-B14F-4D97-AF65-F5344CB8AC3E}">
        <p14:creationId xmlns:p14="http://schemas.microsoft.com/office/powerpoint/2010/main" val="2679531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lumn slide 6 (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4" name="Таблица 3"/>
          <p:cNvSpPr>
            <a:spLocks noGrp="1"/>
          </p:cNvSpPr>
          <p:nvPr>
            <p:ph type="tbl" sz="quarter" idx="34" hasCustomPrompt="1"/>
          </p:nvPr>
        </p:nvSpPr>
        <p:spPr>
          <a:xfrm>
            <a:off x="738188" y="1292225"/>
            <a:ext cx="10706100" cy="4510088"/>
          </a:xfrm>
        </p:spPr>
        <p:txBody>
          <a:bodyPr/>
          <a:lstStyle>
            <a:lvl1pPr>
              <a:defRPr/>
            </a:lvl1pPr>
          </a:lstStyle>
          <a:p>
            <a:r>
              <a:rPr lang="en-US" dirty="0"/>
              <a:t>Table insert</a:t>
            </a:r>
            <a:endParaRPr lang="ru-RU" dirty="0"/>
          </a:p>
        </p:txBody>
      </p:sp>
    </p:spTree>
    <p:extLst>
      <p:ext uri="{BB962C8B-B14F-4D97-AF65-F5344CB8AC3E}">
        <p14:creationId xmlns:p14="http://schemas.microsoft.com/office/powerpoint/2010/main" val="14110061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_image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3" name="Рисунок 2"/>
          <p:cNvSpPr>
            <a:spLocks noGrp="1"/>
          </p:cNvSpPr>
          <p:nvPr>
            <p:ph type="pic" sz="quarter" idx="35" hasCustomPrompt="1"/>
          </p:nvPr>
        </p:nvSpPr>
        <p:spPr>
          <a:xfrm>
            <a:off x="3606800" y="1355725"/>
            <a:ext cx="7837488" cy="4619625"/>
          </a:xfrm>
        </p:spPr>
        <p:txBody>
          <a:bodyPr/>
          <a:lstStyle>
            <a:lvl1pPr>
              <a:defRPr/>
            </a:lvl1pPr>
          </a:lstStyle>
          <a:p>
            <a:r>
              <a:rPr lang="en-US" dirty="0"/>
              <a:t>Insert a picture</a:t>
            </a:r>
            <a:endParaRPr lang="ru-RU" dirty="0"/>
          </a:p>
        </p:txBody>
      </p:sp>
      <p:sp>
        <p:nvSpPr>
          <p:cNvPr id="4" name="Текст 3"/>
          <p:cNvSpPr>
            <a:spLocks noGrp="1"/>
          </p:cNvSpPr>
          <p:nvPr>
            <p:ph type="body" sz="quarter" idx="36" hasCustomPrompt="1"/>
          </p:nvPr>
        </p:nvSpPr>
        <p:spPr>
          <a:xfrm>
            <a:off x="738191" y="2263775"/>
            <a:ext cx="2587622" cy="3711575"/>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9505621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_diagram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4" name="Диаграмма 3"/>
          <p:cNvSpPr>
            <a:spLocks noGrp="1"/>
          </p:cNvSpPr>
          <p:nvPr>
            <p:ph type="chart" sz="quarter" idx="35" hasCustomPrompt="1"/>
          </p:nvPr>
        </p:nvSpPr>
        <p:spPr>
          <a:xfrm>
            <a:off x="3606800" y="1355725"/>
            <a:ext cx="7837488" cy="4619407"/>
          </a:xfrm>
        </p:spPr>
        <p:txBody>
          <a:bodyPr/>
          <a:lstStyle>
            <a:lvl1pPr>
              <a:defRPr/>
            </a:lvl1pPr>
          </a:lstStyle>
          <a:p>
            <a:r>
              <a:rPr lang="en-US" dirty="0"/>
              <a:t>Diagram</a:t>
            </a:r>
            <a:endParaRPr lang="ru-RU" dirty="0"/>
          </a:p>
        </p:txBody>
      </p:sp>
      <p:sp>
        <p:nvSpPr>
          <p:cNvPr id="7" name="Текст 3"/>
          <p:cNvSpPr>
            <a:spLocks noGrp="1"/>
          </p:cNvSpPr>
          <p:nvPr>
            <p:ph type="body" sz="quarter" idx="36" hasCustomPrompt="1"/>
          </p:nvPr>
        </p:nvSpPr>
        <p:spPr>
          <a:xfrm>
            <a:off x="738191" y="2263775"/>
            <a:ext cx="2587622" cy="3711575"/>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8913706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acts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Autofit/>
          </a:bodyPr>
          <a:lstStyle>
            <a:lvl1pPr marL="0" indent="0">
              <a:buNone/>
              <a:defRPr sz="2800">
                <a:solidFill>
                  <a:schemeClr val="bg1"/>
                </a:solidFill>
              </a:defRPr>
            </a:lvl1pPr>
          </a:lstStyle>
          <a:p>
            <a:r>
              <a:rPr lang="en-US" dirty="0">
                <a:solidFill>
                  <a:schemeClr val="bg1"/>
                </a:solidFill>
              </a:rPr>
              <a:t>Contacts</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8" name="Овал 7"/>
          <p:cNvSpPr/>
          <p:nvPr userDrawn="1"/>
        </p:nvSpPr>
        <p:spPr>
          <a:xfrm>
            <a:off x="2837794" y="1813034"/>
            <a:ext cx="2443655" cy="244365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Your photo</a:t>
            </a:r>
            <a:endParaRPr lang="ru-RU" dirty="0">
              <a:solidFill>
                <a:schemeClr val="tx1"/>
              </a:solidFill>
            </a:endParaRPr>
          </a:p>
        </p:txBody>
      </p:sp>
      <p:cxnSp>
        <p:nvCxnSpPr>
          <p:cNvPr id="14" name="Прямая соединительная линия 13"/>
          <p:cNvCxnSpPr/>
          <p:nvPr userDrawn="1"/>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Текст 4"/>
          <p:cNvSpPr>
            <a:spLocks noGrp="1"/>
          </p:cNvSpPr>
          <p:nvPr>
            <p:ph type="body" sz="quarter" idx="11" hasCustomPrompt="1"/>
          </p:nvPr>
        </p:nvSpPr>
        <p:spPr>
          <a:xfrm>
            <a:off x="2100263" y="6273231"/>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
        <p:nvSpPr>
          <p:cNvPr id="21" name="Текст 20"/>
          <p:cNvSpPr>
            <a:spLocks noGrp="1"/>
          </p:cNvSpPr>
          <p:nvPr>
            <p:ph type="body" sz="quarter" idx="12" hasCustomPrompt="1"/>
          </p:nvPr>
        </p:nvSpPr>
        <p:spPr>
          <a:xfrm>
            <a:off x="5675585" y="1813034"/>
            <a:ext cx="5768700" cy="425778"/>
          </a:xfrm>
        </p:spPr>
        <p:txBody>
          <a:bodyPr>
            <a:normAutofit/>
          </a:bodyPr>
          <a:lstStyle>
            <a:lvl1pPr marL="0" indent="0">
              <a:buNone/>
              <a:defRPr sz="2400" baseline="0">
                <a:solidFill>
                  <a:schemeClr val="bg1"/>
                </a:solidFill>
              </a:defRPr>
            </a:lvl1pPr>
            <a:lvl2pPr marL="457200" indent="0">
              <a:buNone/>
              <a:defRPr/>
            </a:lvl2pPr>
          </a:lstStyle>
          <a:p>
            <a:pPr lvl="0"/>
            <a:r>
              <a:rPr lang="en-US" dirty="0"/>
              <a:t>Name</a:t>
            </a:r>
            <a:endParaRPr lang="ru-RU" dirty="0"/>
          </a:p>
        </p:txBody>
      </p:sp>
      <p:sp>
        <p:nvSpPr>
          <p:cNvPr id="23" name="Текст 22"/>
          <p:cNvSpPr>
            <a:spLocks noGrp="1"/>
          </p:cNvSpPr>
          <p:nvPr>
            <p:ph type="body" sz="quarter" idx="13" hasCustomPrompt="1"/>
          </p:nvPr>
        </p:nvSpPr>
        <p:spPr>
          <a:xfrm>
            <a:off x="5675585" y="2270125"/>
            <a:ext cx="5768701" cy="457418"/>
          </a:xfrm>
        </p:spPr>
        <p:txBody>
          <a:bodyPr>
            <a:normAutofit/>
          </a:bodyPr>
          <a:lstStyle>
            <a:lvl1pPr marL="0" indent="0">
              <a:buNone/>
              <a:defRPr sz="2000" b="1"/>
            </a:lvl1pPr>
          </a:lstStyle>
          <a:p>
            <a:pPr lvl="0"/>
            <a:r>
              <a:rPr lang="en-US" dirty="0"/>
              <a:t>Position</a:t>
            </a:r>
            <a:endParaRPr lang="ru-RU" dirty="0"/>
          </a:p>
        </p:txBody>
      </p:sp>
      <p:sp>
        <p:nvSpPr>
          <p:cNvPr id="24" name="Текст 22"/>
          <p:cNvSpPr>
            <a:spLocks noGrp="1"/>
          </p:cNvSpPr>
          <p:nvPr>
            <p:ph type="body" sz="quarter" idx="14" hasCustomPrompt="1"/>
          </p:nvPr>
        </p:nvSpPr>
        <p:spPr>
          <a:xfrm>
            <a:off x="5675583" y="2727542"/>
            <a:ext cx="5768701" cy="1970581"/>
          </a:xfrm>
        </p:spPr>
        <p:txBody>
          <a:bodyPr>
            <a:normAutofit/>
          </a:bodyPr>
          <a:lstStyle>
            <a:lvl1pPr marL="0" indent="0">
              <a:buNone/>
              <a:defRPr sz="1800" baseline="0">
                <a:solidFill>
                  <a:schemeClr val="bg1"/>
                </a:solidFill>
              </a:defRPr>
            </a:lvl1pPr>
          </a:lstStyle>
          <a:p>
            <a:pPr lvl="0"/>
            <a:r>
              <a:rPr lang="en-US" dirty="0"/>
              <a:t>Working place, address, telephone, email and any other contact information</a:t>
            </a:r>
            <a:endParaRPr lang="ru-RU" dirty="0"/>
          </a:p>
        </p:txBody>
      </p:sp>
    </p:spTree>
    <p:extLst>
      <p:ext uri="{BB962C8B-B14F-4D97-AF65-F5344CB8AC3E}">
        <p14:creationId xmlns:p14="http://schemas.microsoft.com/office/powerpoint/2010/main" val="12349591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acts slide (many contact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Autofit/>
          </a:bodyPr>
          <a:lstStyle>
            <a:lvl1pPr marL="0" indent="0">
              <a:buNone/>
              <a:defRPr sz="2800">
                <a:solidFill>
                  <a:schemeClr val="bg1"/>
                </a:solidFill>
              </a:defRPr>
            </a:lvl1pPr>
          </a:lstStyle>
          <a:p>
            <a:r>
              <a:rPr lang="en-US" dirty="0">
                <a:solidFill>
                  <a:schemeClr val="bg1"/>
                </a:solidFill>
              </a:rPr>
              <a:t>Contacts</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cxnSp>
        <p:nvCxnSpPr>
          <p:cNvPr id="14" name="Прямая соединительная линия 13"/>
          <p:cNvCxnSpPr/>
          <p:nvPr userDrawn="1"/>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Текст 4"/>
          <p:cNvSpPr>
            <a:spLocks noGrp="1"/>
          </p:cNvSpPr>
          <p:nvPr>
            <p:ph type="body" sz="quarter" idx="11" hasCustomPrompt="1"/>
          </p:nvPr>
        </p:nvSpPr>
        <p:spPr>
          <a:xfrm>
            <a:off x="2100263" y="6273231"/>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
        <p:nvSpPr>
          <p:cNvPr id="21" name="Текст 20"/>
          <p:cNvSpPr>
            <a:spLocks noGrp="1"/>
          </p:cNvSpPr>
          <p:nvPr>
            <p:ph type="body" sz="quarter" idx="12" hasCustomPrompt="1"/>
          </p:nvPr>
        </p:nvSpPr>
        <p:spPr>
          <a:xfrm>
            <a:off x="5675585" y="1813034"/>
            <a:ext cx="5768700" cy="425778"/>
          </a:xfrm>
        </p:spPr>
        <p:txBody>
          <a:bodyPr>
            <a:normAutofit/>
          </a:bodyPr>
          <a:lstStyle>
            <a:lvl1pPr marL="0" indent="0">
              <a:buNone/>
              <a:defRPr sz="2400" baseline="0">
                <a:solidFill>
                  <a:schemeClr val="bg1"/>
                </a:solidFill>
              </a:defRPr>
            </a:lvl1pPr>
            <a:lvl2pPr marL="457200" indent="0">
              <a:buNone/>
              <a:defRPr/>
            </a:lvl2pPr>
          </a:lstStyle>
          <a:p>
            <a:pPr lvl="0"/>
            <a:r>
              <a:rPr lang="en-US" dirty="0"/>
              <a:t>Name</a:t>
            </a:r>
            <a:endParaRPr lang="ru-RU" dirty="0"/>
          </a:p>
        </p:txBody>
      </p:sp>
      <p:sp>
        <p:nvSpPr>
          <p:cNvPr id="23" name="Текст 22"/>
          <p:cNvSpPr>
            <a:spLocks noGrp="1"/>
          </p:cNvSpPr>
          <p:nvPr>
            <p:ph type="body" sz="quarter" idx="13" hasCustomPrompt="1"/>
          </p:nvPr>
        </p:nvSpPr>
        <p:spPr>
          <a:xfrm>
            <a:off x="5675585" y="2270125"/>
            <a:ext cx="5768701" cy="457418"/>
          </a:xfrm>
        </p:spPr>
        <p:txBody>
          <a:bodyPr>
            <a:normAutofit/>
          </a:bodyPr>
          <a:lstStyle>
            <a:lvl1pPr marL="0" indent="0">
              <a:buNone/>
              <a:defRPr sz="2000" b="1"/>
            </a:lvl1pPr>
          </a:lstStyle>
          <a:p>
            <a:pPr lvl="0"/>
            <a:r>
              <a:rPr lang="en-US" dirty="0"/>
              <a:t>Position</a:t>
            </a:r>
            <a:endParaRPr lang="ru-RU" dirty="0"/>
          </a:p>
        </p:txBody>
      </p:sp>
      <p:sp>
        <p:nvSpPr>
          <p:cNvPr id="24" name="Текст 22"/>
          <p:cNvSpPr>
            <a:spLocks noGrp="1"/>
          </p:cNvSpPr>
          <p:nvPr>
            <p:ph type="body" sz="quarter" idx="14" hasCustomPrompt="1"/>
          </p:nvPr>
        </p:nvSpPr>
        <p:spPr>
          <a:xfrm>
            <a:off x="5675583" y="2727542"/>
            <a:ext cx="5768701" cy="1970581"/>
          </a:xfrm>
        </p:spPr>
        <p:txBody>
          <a:bodyPr>
            <a:normAutofit/>
          </a:bodyPr>
          <a:lstStyle>
            <a:lvl1pPr marL="0" indent="0">
              <a:buNone/>
              <a:defRPr sz="1800" baseline="0">
                <a:solidFill>
                  <a:schemeClr val="bg1"/>
                </a:solidFill>
              </a:defRPr>
            </a:lvl1pPr>
          </a:lstStyle>
          <a:p>
            <a:pPr lvl="0"/>
            <a:r>
              <a:rPr lang="en-US" dirty="0"/>
              <a:t>Working place, address, telephone, email and any other contact information</a:t>
            </a:r>
            <a:endParaRPr lang="ru-RU" dirty="0"/>
          </a:p>
        </p:txBody>
      </p:sp>
    </p:spTree>
    <p:extLst>
      <p:ext uri="{BB962C8B-B14F-4D97-AF65-F5344CB8AC3E}">
        <p14:creationId xmlns:p14="http://schemas.microsoft.com/office/powerpoint/2010/main" val="40236072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jp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9">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609600" y="1904989"/>
            <a:ext cx="10972800" cy="4221175"/>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bg1"/>
                </a:solidFill>
              </a:defRPr>
            </a:lvl1pPr>
          </a:lstStyle>
          <a:p>
            <a:endParaRPr lang="ru-RU"/>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bg1"/>
                </a:solidFill>
              </a:defRPr>
            </a:lvl1pPr>
          </a:lstStyle>
          <a:p>
            <a:endParaRPr lang="ru-RU"/>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bg1"/>
                </a:solidFill>
              </a:defRPr>
            </a:lvl1pPr>
          </a:lstStyle>
          <a:p>
            <a:fld id="{2559BB7A-F704-4182-B16A-69B3F5ADA7F7}" type="slidenum">
              <a:rPr lang="ru-RU" smtClean="0"/>
              <a:t>‹#›</a:t>
            </a:fld>
            <a:endParaRPr lang="ru-RU"/>
          </a:p>
        </p:txBody>
      </p:sp>
    </p:spTree>
    <p:extLst>
      <p:ext uri="{BB962C8B-B14F-4D97-AF65-F5344CB8AC3E}">
        <p14:creationId xmlns:p14="http://schemas.microsoft.com/office/powerpoint/2010/main" val="111302521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01" r:id="rId13"/>
    <p:sldLayoutId id="2147483662" r:id="rId14"/>
    <p:sldLayoutId id="2147483663" r:id="rId15"/>
    <p:sldLayoutId id="2147483664" r:id="rId16"/>
    <p:sldLayoutId id="2147483674" r:id="rId17"/>
    <p:sldLayoutId id="2147483675" r:id="rId18"/>
    <p:sldLayoutId id="2147483676" r:id="rId19"/>
    <p:sldLayoutId id="2147483677" r:id="rId20"/>
    <p:sldLayoutId id="2147483665" r:id="rId21"/>
    <p:sldLayoutId id="2147483678" r:id="rId22"/>
    <p:sldLayoutId id="2147483679" r:id="rId23"/>
    <p:sldLayoutId id="2147483680" r:id="rId24"/>
    <p:sldLayoutId id="2147483681" r:id="rId25"/>
    <p:sldLayoutId id="2147483682" r:id="rId26"/>
    <p:sldLayoutId id="2147483683" r:id="rId27"/>
    <p:sldLayoutId id="2147483685" r:id="rId28"/>
    <p:sldLayoutId id="2147483686" r:id="rId29"/>
    <p:sldLayoutId id="2147483687" r:id="rId30"/>
    <p:sldLayoutId id="2147483688" r:id="rId31"/>
    <p:sldLayoutId id="2147483689" r:id="rId32"/>
    <p:sldLayoutId id="2147483690" r:id="rId33"/>
    <p:sldLayoutId id="2147483699" r:id="rId34"/>
    <p:sldLayoutId id="2147483700" r:id="rId35"/>
    <p:sldLayoutId id="2147483697" r:id="rId36"/>
    <p:sldLayoutId id="2147483702" r:id="rId37"/>
  </p:sldLayoutIdLst>
  <p:hf sldNum="0" hdr="0" ftr="0" dt="0"/>
  <p:txStyles>
    <p:titleStyle>
      <a:lvl1pPr algn="ctr" defTabSz="1219170" rtl="0" eaLnBrk="1" latinLnBrk="0" hangingPunct="1">
        <a:spcBef>
          <a:spcPct val="0"/>
        </a:spcBef>
        <a:buNone/>
        <a:defRPr sz="5867" kern="1200">
          <a:solidFill>
            <a:schemeClr val="accent6"/>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ru-RU"/>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p:txBody>
          <a:bodyPr/>
          <a:lstStyle/>
          <a:p>
            <a:r>
              <a:rPr lang="ru-RU" dirty="0"/>
              <a:t>Программирование на </a:t>
            </a:r>
            <a:r>
              <a:rPr lang="en-US" dirty="0"/>
              <a:t>Java</a:t>
            </a:r>
            <a:endParaRPr lang="ru-RU" dirty="0"/>
          </a:p>
        </p:txBody>
      </p:sp>
      <p:sp>
        <p:nvSpPr>
          <p:cNvPr id="10" name="Text Placeholder 9"/>
          <p:cNvSpPr>
            <a:spLocks noGrp="1"/>
          </p:cNvSpPr>
          <p:nvPr>
            <p:ph type="subTitle" idx="1"/>
          </p:nvPr>
        </p:nvSpPr>
        <p:spPr/>
        <p:txBody>
          <a:bodyPr/>
          <a:lstStyle/>
          <a:p>
            <a:r>
              <a:rPr lang="ru-RU" dirty="0"/>
              <a:t>Классы </a:t>
            </a:r>
            <a:r>
              <a:rPr lang="en-US" dirty="0"/>
              <a:t>String</a:t>
            </a:r>
            <a:r>
              <a:rPr lang="ru-RU" dirty="0"/>
              <a:t>, </a:t>
            </a:r>
            <a:r>
              <a:rPr lang="en-US" dirty="0"/>
              <a:t>StringBuilder</a:t>
            </a:r>
            <a:r>
              <a:rPr lang="ru-RU" dirty="0"/>
              <a:t>, </a:t>
            </a:r>
            <a:r>
              <a:rPr lang="en-US" dirty="0" err="1">
                <a:cs typeface="CS Standard" panose="020B0604020202020204" pitchFamily="34" charset="0"/>
              </a:rPr>
              <a:t>StringTokenizer</a:t>
            </a:r>
            <a:endParaRPr lang="en-US" dirty="0"/>
          </a:p>
        </p:txBody>
      </p:sp>
    </p:spTree>
    <p:extLst>
      <p:ext uri="{BB962C8B-B14F-4D97-AF65-F5344CB8AC3E}">
        <p14:creationId xmlns:p14="http://schemas.microsoft.com/office/powerpoint/2010/main" val="3213764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4294967295"/>
          </p:nvPr>
        </p:nvSpPr>
        <p:spPr>
          <a:xfrm>
            <a:off x="633046" y="1809750"/>
            <a:ext cx="7210425" cy="3998913"/>
          </a:xfrm>
        </p:spPr>
        <p:txBody>
          <a:bodyPr>
            <a:normAutofit/>
          </a:bodyPr>
          <a:lstStyle/>
          <a:p>
            <a:r>
              <a:rPr lang="ru-RU" sz="2400" dirty="0"/>
              <a:t>Строка представляет собой последовательность символов.</a:t>
            </a:r>
            <a:endParaRPr lang="en-US" sz="2400" dirty="0"/>
          </a:p>
          <a:p>
            <a:r>
              <a:rPr lang="ru-RU" sz="2400" dirty="0"/>
              <a:t>Для работы со строками в </a:t>
            </a:r>
            <a:r>
              <a:rPr lang="ru-RU" sz="2400" dirty="0" err="1"/>
              <a:t>Java</a:t>
            </a:r>
            <a:r>
              <a:rPr lang="ru-RU" sz="2400" dirty="0"/>
              <a:t> определен класс </a:t>
            </a:r>
            <a:r>
              <a:rPr lang="ru-RU" sz="24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400" dirty="0"/>
              <a:t>, который предоставляет ряд методов для манипуляции строками.</a:t>
            </a:r>
            <a:endParaRPr lang="en-US" sz="2400" dirty="0"/>
          </a:p>
          <a:p>
            <a:r>
              <a:rPr lang="ru-RU" sz="2400" dirty="0"/>
              <a:t>Физически объект </a:t>
            </a:r>
            <a:r>
              <a:rPr lang="ru-RU" sz="24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400" dirty="0"/>
              <a:t> представляет собой ссылку на область в памяти, в которой размещены символы.</a:t>
            </a:r>
            <a:endParaRPr lang="en-US" sz="2400" dirty="0"/>
          </a:p>
        </p:txBody>
      </p:sp>
      <p:sp>
        <p:nvSpPr>
          <p:cNvPr id="4" name="Title 3">
            <a:extLst>
              <a:ext uri="{FF2B5EF4-FFF2-40B4-BE49-F238E27FC236}">
                <a16:creationId xmlns:a16="http://schemas.microsoft.com/office/drawing/2014/main" id="{056FF194-2D18-4FEB-B4B3-4E0439313788}"/>
              </a:ext>
            </a:extLst>
          </p:cNvPr>
          <p:cNvSpPr>
            <a:spLocks noGrp="1"/>
          </p:cNvSpPr>
          <p:nvPr>
            <p:ph type="title" idx="4294967295"/>
          </p:nvPr>
        </p:nvSpPr>
        <p:spPr>
          <a:xfrm>
            <a:off x="0" y="666750"/>
            <a:ext cx="10972800" cy="1143000"/>
          </a:xfrm>
        </p:spPr>
        <p:txBody>
          <a:bodyPr>
            <a:normAutofit/>
          </a:bodyPr>
          <a:lstStyle/>
          <a:p>
            <a:r>
              <a:rPr lang="ru-RU" dirty="0"/>
              <a:t>Введение в строки. Класс </a:t>
            </a:r>
            <a:r>
              <a:rPr lang="ru-RU" dirty="0" err="1"/>
              <a:t>String</a:t>
            </a:r>
            <a:endParaRPr lang="ru-RU" dirty="0"/>
          </a:p>
        </p:txBody>
      </p:sp>
      <p:pic>
        <p:nvPicPr>
          <p:cNvPr id="3" name="Picture 2" descr="https://im0-tub-ru.yandex.net/i?id=e2b5ff8d94f85198e34add332ca87c40-l&amp;n=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5061" y="2265853"/>
            <a:ext cx="3490825" cy="261811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1413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EABBA-A91F-409E-80EA-81121B6AC47B}"/>
              </a:ext>
            </a:extLst>
          </p:cNvPr>
          <p:cNvSpPr>
            <a:spLocks noGrp="1"/>
          </p:cNvSpPr>
          <p:nvPr>
            <p:ph type="title"/>
          </p:nvPr>
        </p:nvSpPr>
        <p:spPr/>
        <p:txBody>
          <a:bodyPr/>
          <a:lstStyle/>
          <a:p>
            <a:r>
              <a:rPr lang="ru-RU" dirty="0"/>
              <a:t>Свойства класса </a:t>
            </a:r>
            <a:r>
              <a:rPr lang="en-US" dirty="0"/>
              <a:t>String</a:t>
            </a:r>
            <a:endParaRPr lang="ru-RU" dirty="0"/>
          </a:p>
        </p:txBody>
      </p:sp>
      <p:sp>
        <p:nvSpPr>
          <p:cNvPr id="3" name="TextBox 2">
            <a:extLst>
              <a:ext uri="{FF2B5EF4-FFF2-40B4-BE49-F238E27FC236}">
                <a16:creationId xmlns:a16="http://schemas.microsoft.com/office/drawing/2014/main" id="{71513F1C-ED0D-4351-8EF3-FD2BD3A7C313}"/>
              </a:ext>
            </a:extLst>
          </p:cNvPr>
          <p:cNvSpPr txBox="1"/>
          <p:nvPr/>
        </p:nvSpPr>
        <p:spPr>
          <a:xfrm>
            <a:off x="935915" y="1809739"/>
            <a:ext cx="9940066" cy="3754874"/>
          </a:xfrm>
          <a:prstGeom prst="rect">
            <a:avLst/>
          </a:prstGeom>
          <a:noFill/>
        </p:spPr>
        <p:txBody>
          <a:bodyPr wrap="square" rtlCol="0">
            <a:spAutoFit/>
          </a:bodyPr>
          <a:lstStyle/>
          <a:p>
            <a:pPr marL="285750" indent="-285750">
              <a:buFont typeface="Arial" panose="020B0604020202020204" pitchFamily="34" charset="0"/>
              <a:buChar char="•"/>
            </a:pPr>
            <a:r>
              <a:rPr lang="ru-RU" sz="2000" dirty="0"/>
              <a:t>Класс </a:t>
            </a:r>
            <a:r>
              <a:rPr lang="ru-RU" sz="20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000" dirty="0"/>
              <a:t> в </a:t>
            </a:r>
            <a:r>
              <a:rPr lang="ru-RU" sz="2000" dirty="0" err="1"/>
              <a:t>Java</a:t>
            </a:r>
            <a:r>
              <a:rPr lang="ru-RU" sz="2000" dirty="0"/>
              <a:t> — это </a:t>
            </a:r>
            <a:r>
              <a:rPr lang="ru-RU" sz="2000" i="1" dirty="0" err="1">
                <a:solidFill>
                  <a:schemeClr val="accent4">
                    <a:lumMod val="10000"/>
                  </a:schemeClr>
                </a:solidFill>
                <a:latin typeface="Courier New" panose="02070309020205020404" pitchFamily="49" charset="0"/>
                <a:cs typeface="Courier New" panose="02070309020205020404" pitchFamily="49" charset="0"/>
              </a:rPr>
              <a:t>final</a:t>
            </a:r>
            <a:r>
              <a:rPr lang="ru-RU" sz="2000" dirty="0"/>
              <a:t> класс, который не может иметь потомков.</a:t>
            </a:r>
          </a:p>
          <a:p>
            <a:pPr marL="285750" indent="-285750">
              <a:buFont typeface="Arial" panose="020B0604020202020204" pitchFamily="34" charset="0"/>
              <a:buChar char="•"/>
            </a:pPr>
            <a:endParaRPr lang="ru-RU" sz="2000" dirty="0"/>
          </a:p>
          <a:p>
            <a:pPr marL="285750" indent="-285750">
              <a:buFont typeface="Arial" panose="020B0604020202020204" pitchFamily="34" charset="0"/>
              <a:buChar char="•"/>
            </a:pPr>
            <a:r>
              <a:rPr lang="ru-RU" sz="2000" dirty="0"/>
              <a:t>Класс </a:t>
            </a:r>
            <a:r>
              <a:rPr lang="ru-RU" sz="20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000" dirty="0"/>
              <a:t> — </a:t>
            </a:r>
            <a:r>
              <a:rPr lang="ru-RU" sz="2000" i="1" dirty="0" err="1">
                <a:solidFill>
                  <a:schemeClr val="accent4">
                    <a:lumMod val="10000"/>
                  </a:schemeClr>
                </a:solidFill>
                <a:latin typeface="Courier New" panose="02070309020205020404" pitchFamily="49" charset="0"/>
                <a:cs typeface="Courier New" panose="02070309020205020404" pitchFamily="49" charset="0"/>
              </a:rPr>
              <a:t>immutable</a:t>
            </a:r>
            <a:r>
              <a:rPr lang="ru-RU" sz="2000" dirty="0"/>
              <a:t> класс, то есть его объекты не могут быть изменены после создания. Любые операции над объектом </a:t>
            </a:r>
            <a:r>
              <a:rPr lang="ru-RU" sz="20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000" dirty="0"/>
              <a:t>, результатом которых должен быть объект класса </a:t>
            </a:r>
            <a:r>
              <a:rPr lang="ru-RU" sz="20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000" dirty="0"/>
              <a:t>, приведут к созданию нового объекта.</a:t>
            </a:r>
          </a:p>
          <a:p>
            <a:pPr marL="285750" indent="-285750" algn="just">
              <a:buFont typeface="Arial" panose="020B0604020202020204" pitchFamily="34" charset="0"/>
              <a:buChar char="•"/>
            </a:pPr>
            <a:endParaRPr lang="ru-RU" sz="2000" dirty="0">
              <a:cs typeface="Times New Roman" panose="02020603050405020304" pitchFamily="18" charset="0"/>
            </a:endParaRPr>
          </a:p>
          <a:p>
            <a:pPr marL="285750" indent="-285750" algn="just">
              <a:buFont typeface="Arial" panose="020B0604020202020204" pitchFamily="34" charset="0"/>
              <a:buChar char="•"/>
            </a:pPr>
            <a:r>
              <a:rPr lang="ru-RU" sz="2000" dirty="0">
                <a:cs typeface="Times New Roman" panose="02020603050405020304" pitchFamily="18" charset="0"/>
              </a:rPr>
              <a:t>Благодаря своей неизменности, объекты класса </a:t>
            </a:r>
            <a:r>
              <a:rPr lang="ru-RU" sz="20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000" dirty="0">
                <a:cs typeface="Times New Roman" panose="02020603050405020304" pitchFamily="18" charset="0"/>
              </a:rPr>
              <a:t> являются </a:t>
            </a:r>
            <a:r>
              <a:rPr lang="ru-RU" sz="2000" dirty="0" err="1">
                <a:cs typeface="Times New Roman" panose="02020603050405020304" pitchFamily="18" charset="0"/>
              </a:rPr>
              <a:t>потокобезопасными</a:t>
            </a:r>
            <a:r>
              <a:rPr lang="ru-RU" sz="2000" dirty="0">
                <a:cs typeface="Times New Roman" panose="02020603050405020304" pitchFamily="18" charset="0"/>
              </a:rPr>
              <a:t> и могут быть использованы в многопоточной среде.</a:t>
            </a:r>
            <a:endParaRPr lang="en-US" sz="2000" dirty="0">
              <a:cs typeface="Times New Roman" panose="02020603050405020304" pitchFamily="18" charset="0"/>
            </a:endParaRPr>
          </a:p>
          <a:p>
            <a:pPr marL="285750" indent="-285750" algn="just">
              <a:buFont typeface="Arial" panose="020B0604020202020204" pitchFamily="34" charset="0"/>
              <a:buChar char="•"/>
            </a:pPr>
            <a:endParaRPr lang="ru-RU" sz="2000" dirty="0">
              <a:cs typeface="Times New Roman" panose="02020603050405020304" pitchFamily="18" charset="0"/>
            </a:endParaRPr>
          </a:p>
          <a:p>
            <a:pPr marL="285750" indent="-285750" algn="just">
              <a:buFont typeface="Arial" panose="020B0604020202020204" pitchFamily="34" charset="0"/>
              <a:buChar char="•"/>
            </a:pPr>
            <a:r>
              <a:rPr lang="ru-RU" sz="2000" dirty="0">
                <a:cs typeface="Times New Roman" panose="02020603050405020304" pitchFamily="18" charset="0"/>
              </a:rPr>
              <a:t>Каждый объект в </a:t>
            </a:r>
            <a:r>
              <a:rPr lang="ru-RU" sz="2000" b="1" dirty="0" err="1">
                <a:cs typeface="Times New Roman" panose="02020603050405020304" pitchFamily="18" charset="0"/>
              </a:rPr>
              <a:t>Java</a:t>
            </a:r>
            <a:r>
              <a:rPr lang="ru-RU" sz="2000" dirty="0">
                <a:cs typeface="Times New Roman" panose="02020603050405020304" pitchFamily="18" charset="0"/>
              </a:rPr>
              <a:t> может быть преобразован в строку через метод </a:t>
            </a:r>
            <a:r>
              <a:rPr lang="ru-RU" sz="2000" i="1" dirty="0" err="1">
                <a:solidFill>
                  <a:schemeClr val="accent4">
                    <a:lumMod val="10000"/>
                  </a:schemeClr>
                </a:solidFill>
                <a:latin typeface="Courier New" panose="02070309020205020404" pitchFamily="49" charset="0"/>
                <a:cs typeface="Courier New" panose="02070309020205020404" pitchFamily="49" charset="0"/>
              </a:rPr>
              <a:t>toString</a:t>
            </a:r>
            <a:r>
              <a:rPr lang="en-US" sz="2000" i="1" dirty="0">
                <a:solidFill>
                  <a:schemeClr val="accent4">
                    <a:lumMod val="10000"/>
                  </a:schemeClr>
                </a:solidFill>
                <a:latin typeface="Courier New" panose="02070309020205020404" pitchFamily="49" charset="0"/>
                <a:cs typeface="Courier New" panose="02070309020205020404" pitchFamily="49" charset="0"/>
              </a:rPr>
              <a:t>()</a:t>
            </a:r>
            <a:r>
              <a:rPr lang="ru-RU" sz="2000" dirty="0">
                <a:cs typeface="Times New Roman" panose="02020603050405020304" pitchFamily="18" charset="0"/>
              </a:rPr>
              <a:t>, унаследованный всеми </a:t>
            </a:r>
            <a:r>
              <a:rPr lang="ru-RU" sz="2000" dirty="0" err="1">
                <a:cs typeface="Times New Roman" panose="02020603050405020304" pitchFamily="18" charset="0"/>
              </a:rPr>
              <a:t>Java</a:t>
            </a:r>
            <a:r>
              <a:rPr lang="ru-RU" sz="2000" dirty="0">
                <a:cs typeface="Times New Roman" panose="02020603050405020304" pitchFamily="18" charset="0"/>
              </a:rPr>
              <a:t>-классами от класса </a:t>
            </a:r>
            <a:r>
              <a:rPr lang="ru-RU" sz="2000" i="1" dirty="0" err="1">
                <a:solidFill>
                  <a:schemeClr val="accent4">
                    <a:lumMod val="10000"/>
                  </a:schemeClr>
                </a:solidFill>
                <a:latin typeface="Courier New" panose="02070309020205020404" pitchFamily="49" charset="0"/>
                <a:cs typeface="Courier New" panose="02070309020205020404" pitchFamily="49" charset="0"/>
              </a:rPr>
              <a:t>Object</a:t>
            </a:r>
            <a:r>
              <a:rPr lang="ru-RU" sz="2000" dirty="0">
                <a:cs typeface="Times New Roman" panose="02020603050405020304" pitchFamily="18" charset="0"/>
              </a:rPr>
              <a:t>.</a:t>
            </a:r>
          </a:p>
          <a:p>
            <a:endParaRPr lang="ru-RU" dirty="0"/>
          </a:p>
        </p:txBody>
      </p:sp>
    </p:spTree>
    <p:extLst>
      <p:ext uri="{BB962C8B-B14F-4D97-AF65-F5344CB8AC3E}">
        <p14:creationId xmlns:p14="http://schemas.microsoft.com/office/powerpoint/2010/main" val="2007882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F44F3D-6B29-446F-A788-417AA6A32D4C}"/>
              </a:ext>
            </a:extLst>
          </p:cNvPr>
          <p:cNvSpPr>
            <a:spLocks noGrp="1"/>
          </p:cNvSpPr>
          <p:nvPr>
            <p:ph type="title" idx="4294967295"/>
          </p:nvPr>
        </p:nvSpPr>
        <p:spPr>
          <a:xfrm>
            <a:off x="0" y="666750"/>
            <a:ext cx="10972800" cy="1143000"/>
          </a:xfrm>
        </p:spPr>
        <p:txBody>
          <a:bodyPr>
            <a:normAutofit fontScale="90000"/>
          </a:bodyPr>
          <a:lstStyle/>
          <a:p>
            <a:r>
              <a:rPr lang="ru-RU" dirty="0"/>
              <a:t>Основные методы класса </a:t>
            </a:r>
            <a:r>
              <a:rPr lang="en-US" dirty="0"/>
              <a:t>String</a:t>
            </a:r>
            <a:br>
              <a:rPr lang="en-US" dirty="0"/>
            </a:br>
            <a:endParaRPr lang="ru-RU" dirty="0"/>
          </a:p>
        </p:txBody>
      </p:sp>
      <p:graphicFrame>
        <p:nvGraphicFramePr>
          <p:cNvPr id="3" name="Таблица 2"/>
          <p:cNvGraphicFramePr>
            <a:graphicFrameLocks noGrp="1"/>
          </p:cNvGraphicFramePr>
          <p:nvPr>
            <p:extLst>
              <p:ext uri="{D42A27DB-BD31-4B8C-83A1-F6EECF244321}">
                <p14:modId xmlns:p14="http://schemas.microsoft.com/office/powerpoint/2010/main" val="1345026756"/>
              </p:ext>
            </p:extLst>
          </p:nvPr>
        </p:nvGraphicFramePr>
        <p:xfrm>
          <a:off x="353878" y="1393115"/>
          <a:ext cx="11484244" cy="5852160"/>
        </p:xfrm>
        <a:graphic>
          <a:graphicData uri="http://schemas.openxmlformats.org/drawingml/2006/table">
            <a:tbl>
              <a:tblPr firstRow="1" bandRow="1">
                <a:tableStyleId>{2D5ABB26-0587-4C30-8999-92F81FD0307C}</a:tableStyleId>
              </a:tblPr>
              <a:tblGrid>
                <a:gridCol w="5742122">
                  <a:extLst>
                    <a:ext uri="{9D8B030D-6E8A-4147-A177-3AD203B41FA5}">
                      <a16:colId xmlns:a16="http://schemas.microsoft.com/office/drawing/2014/main" val="20000"/>
                    </a:ext>
                  </a:extLst>
                </a:gridCol>
                <a:gridCol w="5742122">
                  <a:extLst>
                    <a:ext uri="{9D8B030D-6E8A-4147-A177-3AD203B41FA5}">
                      <a16:colId xmlns:a16="http://schemas.microsoft.com/office/drawing/2014/main" val="20001"/>
                    </a:ext>
                  </a:extLst>
                </a:gridCol>
              </a:tblGrid>
              <a:tr h="4986169">
                <a:tc>
                  <a:txBody>
                    <a:bodyPr/>
                    <a:lstStyle/>
                    <a:p>
                      <a:r>
                        <a:rPr lang="ru-RU" sz="1800" b="1" dirty="0" err="1"/>
                        <a:t>length</a:t>
                      </a:r>
                      <a:r>
                        <a:rPr lang="ru-RU" sz="1800" b="1" dirty="0"/>
                        <a:t>()</a:t>
                      </a:r>
                      <a:r>
                        <a:rPr lang="en-US" sz="1800" b="1" dirty="0"/>
                        <a:t>:</a:t>
                      </a:r>
                      <a:r>
                        <a:rPr lang="ru-RU" sz="1800" dirty="0"/>
                        <a:t> для нахождения длины строки или длины набора символов</a:t>
                      </a:r>
                      <a:endParaRPr lang="en-US" sz="1800" dirty="0"/>
                    </a:p>
                    <a:p>
                      <a:r>
                        <a:rPr lang="ru-RU" sz="1800" b="1" dirty="0" err="1"/>
                        <a:t>toCharArray</a:t>
                      </a:r>
                      <a:r>
                        <a:rPr lang="ru-RU" sz="1800" b="1" dirty="0"/>
                        <a:t>()</a:t>
                      </a:r>
                      <a:r>
                        <a:rPr lang="en-US" sz="1800" b="1" dirty="0"/>
                        <a:t>: </a:t>
                      </a:r>
                      <a:r>
                        <a:rPr lang="ru-RU" sz="1800" dirty="0"/>
                        <a:t>преобразовать строку в массив символов</a:t>
                      </a:r>
                      <a:endParaRPr lang="en-US" sz="1800" dirty="0"/>
                    </a:p>
                    <a:p>
                      <a:r>
                        <a:rPr lang="ru-RU" sz="1800" b="1" dirty="0" err="1"/>
                        <a:t>isEmpty</a:t>
                      </a:r>
                      <a:r>
                        <a:rPr lang="ru-RU" sz="1800" b="1" dirty="0"/>
                        <a:t>()</a:t>
                      </a:r>
                      <a:r>
                        <a:rPr lang="en-US" sz="1800" b="1" dirty="0"/>
                        <a:t>:</a:t>
                      </a:r>
                      <a:r>
                        <a:rPr lang="ru-RU" sz="1800" b="1" dirty="0"/>
                        <a:t> </a:t>
                      </a:r>
                      <a:r>
                        <a:rPr lang="ru-RU" sz="1800" dirty="0"/>
                        <a:t>позволяет проверить строку на пустоту. Если строка пуста, он возвращает </a:t>
                      </a:r>
                      <a:r>
                        <a:rPr lang="ru-RU" sz="1800" dirty="0" err="1"/>
                        <a:t>true</a:t>
                      </a:r>
                      <a:endParaRPr lang="en-US" sz="1800" b="1" dirty="0"/>
                    </a:p>
                    <a:p>
                      <a:r>
                        <a:rPr lang="ru-RU" sz="1800" b="1" dirty="0" err="1"/>
                        <a:t>concat</a:t>
                      </a:r>
                      <a:r>
                        <a:rPr lang="ru-RU" sz="1800" b="1" dirty="0"/>
                        <a:t>()</a:t>
                      </a:r>
                      <a:r>
                        <a:rPr lang="ru-RU" sz="1800" dirty="0"/>
                        <a:t>: объединяет строки</a:t>
                      </a:r>
                      <a:endParaRPr lang="en-US" sz="1800" dirty="0"/>
                    </a:p>
                    <a:p>
                      <a:r>
                        <a:rPr lang="ru-RU" sz="1800" b="1" dirty="0" err="1"/>
                        <a:t>valueOf</a:t>
                      </a:r>
                      <a:r>
                        <a:rPr lang="ru-RU" sz="1800" b="1" dirty="0"/>
                        <a:t>()</a:t>
                      </a:r>
                      <a:r>
                        <a:rPr lang="ru-RU" sz="1800" dirty="0"/>
                        <a:t>: преобразует объект в строковый вид</a:t>
                      </a:r>
                    </a:p>
                    <a:p>
                      <a:r>
                        <a:rPr lang="ru-RU" sz="1800" b="1" dirty="0" err="1"/>
                        <a:t>join</a:t>
                      </a:r>
                      <a:r>
                        <a:rPr lang="ru-RU" sz="1800" b="1" dirty="0"/>
                        <a:t>()</a:t>
                      </a:r>
                      <a:r>
                        <a:rPr lang="ru-RU" sz="1800" dirty="0"/>
                        <a:t>: соединяет строки с учетом разделителя</a:t>
                      </a:r>
                    </a:p>
                    <a:p>
                      <a:r>
                        <a:rPr lang="ru-RU" sz="1800" b="1" dirty="0" err="1"/>
                        <a:t>charAt</a:t>
                      </a:r>
                      <a:r>
                        <a:rPr lang="ru-RU" sz="1800" b="1" dirty="0"/>
                        <a:t>()</a:t>
                      </a:r>
                      <a:r>
                        <a:rPr lang="ru-RU" sz="1800" dirty="0"/>
                        <a:t>: возвращает символ строки по индексу</a:t>
                      </a:r>
                    </a:p>
                    <a:p>
                      <a:r>
                        <a:rPr lang="ru-RU" sz="1800" b="1" dirty="0" err="1"/>
                        <a:t>getChars</a:t>
                      </a:r>
                      <a:r>
                        <a:rPr lang="ru-RU" sz="1800" b="1" dirty="0"/>
                        <a:t>()</a:t>
                      </a:r>
                      <a:r>
                        <a:rPr lang="ru-RU" sz="1800" dirty="0"/>
                        <a:t>: возвращает группу символов</a:t>
                      </a:r>
                    </a:p>
                    <a:p>
                      <a:r>
                        <a:rPr lang="ru-RU" sz="1800" b="1" dirty="0" err="1"/>
                        <a:t>equals</a:t>
                      </a:r>
                      <a:r>
                        <a:rPr lang="ru-RU" sz="1800" b="1" dirty="0"/>
                        <a:t>()</a:t>
                      </a:r>
                      <a:r>
                        <a:rPr lang="ru-RU" sz="1800" dirty="0"/>
                        <a:t>: сравнивает строки с учетом регистра</a:t>
                      </a:r>
                    </a:p>
                    <a:p>
                      <a:r>
                        <a:rPr lang="ru-RU" sz="1800" b="1" dirty="0" err="1"/>
                        <a:t>equalsIgnoreCase</a:t>
                      </a:r>
                      <a:r>
                        <a:rPr lang="ru-RU" sz="1800" b="1" dirty="0"/>
                        <a:t>()</a:t>
                      </a:r>
                      <a:r>
                        <a:rPr lang="ru-RU" sz="1800" dirty="0"/>
                        <a:t>: сравнивает строки без учета регистра</a:t>
                      </a:r>
                    </a:p>
                    <a:p>
                      <a:pPr marL="0" marR="0" indent="0" algn="l" defTabSz="914400" rtl="0" eaLnBrk="1" fontAlgn="auto" latinLnBrk="0" hangingPunct="1">
                        <a:lnSpc>
                          <a:spcPct val="100000"/>
                        </a:lnSpc>
                        <a:spcBef>
                          <a:spcPts val="0"/>
                        </a:spcBef>
                        <a:spcAft>
                          <a:spcPts val="0"/>
                        </a:spcAft>
                        <a:buClrTx/>
                        <a:buSzTx/>
                        <a:buFontTx/>
                        <a:buNone/>
                        <a:tabLst/>
                        <a:defRPr/>
                      </a:pPr>
                      <a:r>
                        <a:rPr lang="ru-RU" sz="1800" b="1" dirty="0" err="1"/>
                        <a:t>trim</a:t>
                      </a:r>
                      <a:r>
                        <a:rPr lang="ru-RU" sz="1800" b="1" dirty="0"/>
                        <a:t>()</a:t>
                      </a:r>
                      <a:r>
                        <a:rPr lang="ru-RU" sz="1800" dirty="0"/>
                        <a:t>: удаляет начальные и конечные пробелы</a:t>
                      </a:r>
                    </a:p>
                    <a:p>
                      <a:r>
                        <a:rPr lang="en-US" sz="1800" b="1" dirty="0"/>
                        <a:t>split(regex)</a:t>
                      </a:r>
                      <a:r>
                        <a:rPr lang="ru-RU" sz="1800" b="1" dirty="0"/>
                        <a:t>:</a:t>
                      </a:r>
                      <a:r>
                        <a:rPr lang="en-US" sz="1800" b="0" dirty="0"/>
                        <a:t> </a:t>
                      </a:r>
                      <a:r>
                        <a:rPr lang="ru-RU" sz="1800" b="0" dirty="0"/>
                        <a:t>разбиение строки на массив строк, в качестве разделителя выступает строковое регулярное выражение </a:t>
                      </a:r>
                      <a:r>
                        <a:rPr lang="ru-RU" sz="1800" b="0" dirty="0" err="1"/>
                        <a:t>regex</a:t>
                      </a:r>
                      <a:endParaRPr lang="ru-RU" sz="1800" b="0" dirty="0"/>
                    </a:p>
                  </a:txBody>
                  <a:tcPr>
                    <a:lnL>
                      <a:noFill/>
                    </a:lnL>
                    <a:lnR>
                      <a:noFill/>
                    </a:lnR>
                    <a:lnT>
                      <a:noFill/>
                    </a:lnT>
                    <a:lnB>
                      <a:noFill/>
                    </a:lnB>
                    <a:lnTlToBr w="12700" cmpd="sng">
                      <a:noFill/>
                      <a:prstDash val="solid"/>
                    </a:lnTlToBr>
                    <a:lnBlToTr w="12700" cmpd="sng">
                      <a:noFill/>
                      <a:prstDash val="solid"/>
                    </a:lnBlToTr>
                  </a:tcPr>
                </a:tc>
                <a:tc>
                  <a:txBody>
                    <a:bodyPr/>
                    <a:lstStyle/>
                    <a:p>
                      <a:r>
                        <a:rPr lang="ru-RU" sz="1800" b="1" dirty="0" err="1"/>
                        <a:t>indexOf</a:t>
                      </a:r>
                      <a:r>
                        <a:rPr lang="ru-RU" sz="1800" b="1" dirty="0"/>
                        <a:t>()</a:t>
                      </a:r>
                      <a:r>
                        <a:rPr lang="ru-RU" sz="1800" dirty="0"/>
                        <a:t>: находит индекс первого вхождения подстроки в строку</a:t>
                      </a:r>
                    </a:p>
                    <a:p>
                      <a:r>
                        <a:rPr lang="ru-RU" sz="1800" b="1" dirty="0" err="1"/>
                        <a:t>lastIndexOf</a:t>
                      </a:r>
                      <a:r>
                        <a:rPr lang="ru-RU" sz="1800" b="1" dirty="0"/>
                        <a:t>()</a:t>
                      </a:r>
                      <a:r>
                        <a:rPr lang="ru-RU" sz="1800" dirty="0"/>
                        <a:t>: находит индекс последнего вхождения подстроки в строку</a:t>
                      </a:r>
                    </a:p>
                    <a:p>
                      <a:r>
                        <a:rPr lang="ru-RU" sz="1800" b="1" dirty="0" err="1"/>
                        <a:t>startsWith</a:t>
                      </a:r>
                      <a:r>
                        <a:rPr lang="ru-RU" sz="1800" b="1" dirty="0"/>
                        <a:t>()</a:t>
                      </a:r>
                      <a:r>
                        <a:rPr lang="ru-RU" sz="1800" dirty="0"/>
                        <a:t>: определяет, начинается ли строка с подстроки</a:t>
                      </a:r>
                    </a:p>
                    <a:p>
                      <a:r>
                        <a:rPr lang="ru-RU" sz="1800" b="1" dirty="0" err="1"/>
                        <a:t>endsWith</a:t>
                      </a:r>
                      <a:r>
                        <a:rPr lang="ru-RU" sz="1800" b="1" dirty="0"/>
                        <a:t>()</a:t>
                      </a:r>
                      <a:r>
                        <a:rPr lang="ru-RU" sz="1800" dirty="0"/>
                        <a:t>: определяет, заканчивается ли строка на определенную подстроку</a:t>
                      </a:r>
                    </a:p>
                    <a:p>
                      <a:r>
                        <a:rPr lang="ru-RU" sz="1800" b="1" dirty="0" err="1"/>
                        <a:t>replace</a:t>
                      </a:r>
                      <a:r>
                        <a:rPr lang="ru-RU" sz="1800" b="1" dirty="0"/>
                        <a:t>()</a:t>
                      </a:r>
                      <a:r>
                        <a:rPr lang="ru-RU" sz="1800" dirty="0"/>
                        <a:t>: заменяет в строке одну подстроку на другую</a:t>
                      </a:r>
                    </a:p>
                    <a:p>
                      <a:r>
                        <a:rPr lang="ru-RU" sz="1800" b="1" dirty="0" err="1"/>
                        <a:t>substring</a:t>
                      </a:r>
                      <a:r>
                        <a:rPr lang="ru-RU" sz="1800" b="1" dirty="0"/>
                        <a:t>()</a:t>
                      </a:r>
                      <a:r>
                        <a:rPr lang="ru-RU" sz="1800" dirty="0"/>
                        <a:t>: возвращает подстроку, начиная с определенного индекса до конца или до определенного индекса</a:t>
                      </a:r>
                    </a:p>
                    <a:p>
                      <a:pPr marL="0" marR="0" lvl="0" indent="0" algn="l" defTabSz="1219170" rtl="0" eaLnBrk="1" fontAlgn="auto" latinLnBrk="0" hangingPunct="1">
                        <a:lnSpc>
                          <a:spcPct val="100000"/>
                        </a:lnSpc>
                        <a:spcBef>
                          <a:spcPts val="0"/>
                        </a:spcBef>
                        <a:spcAft>
                          <a:spcPts val="0"/>
                        </a:spcAft>
                        <a:buClrTx/>
                        <a:buSzTx/>
                        <a:buFontTx/>
                        <a:buNone/>
                        <a:tabLst/>
                        <a:defRPr/>
                      </a:pPr>
                      <a:r>
                        <a:rPr lang="ru-RU" sz="1800" b="1" dirty="0" err="1"/>
                        <a:t>сompare</a:t>
                      </a:r>
                      <a:r>
                        <a:rPr lang="en-US" sz="1800" b="1" dirty="0"/>
                        <a:t>To</a:t>
                      </a:r>
                      <a:r>
                        <a:rPr lang="ru-RU" sz="1800" b="1" dirty="0"/>
                        <a:t>()</a:t>
                      </a:r>
                      <a:r>
                        <a:rPr lang="ru-RU" sz="1800" dirty="0"/>
                        <a:t>: сравнивает две строки</a:t>
                      </a:r>
                    </a:p>
                    <a:p>
                      <a:r>
                        <a:rPr lang="ru-RU" sz="1800" b="1" dirty="0" err="1"/>
                        <a:t>regionMatches</a:t>
                      </a:r>
                      <a:r>
                        <a:rPr lang="ru-RU" sz="1800" b="1" dirty="0"/>
                        <a:t>()</a:t>
                      </a:r>
                      <a:r>
                        <a:rPr lang="ru-RU" sz="1800" dirty="0"/>
                        <a:t>: сравнивает подстроки в строках</a:t>
                      </a:r>
                    </a:p>
                    <a:p>
                      <a:r>
                        <a:rPr lang="ru-RU" sz="1800" b="1" dirty="0" err="1"/>
                        <a:t>toLowerCase</a:t>
                      </a:r>
                      <a:r>
                        <a:rPr lang="ru-RU" sz="1800" b="1" dirty="0"/>
                        <a:t>()</a:t>
                      </a:r>
                      <a:r>
                        <a:rPr lang="ru-RU" sz="1800" dirty="0"/>
                        <a:t>: переводит все символы строки в нижний регистр</a:t>
                      </a:r>
                    </a:p>
                    <a:p>
                      <a:r>
                        <a:rPr lang="ru-RU" sz="1800" b="1" dirty="0" err="1"/>
                        <a:t>toUpperCase</a:t>
                      </a:r>
                      <a:r>
                        <a:rPr lang="ru-RU" sz="1800" b="1" dirty="0"/>
                        <a:t>()</a:t>
                      </a:r>
                      <a:r>
                        <a:rPr lang="ru-RU" sz="1800" dirty="0"/>
                        <a:t>: переводит все символы строки в верхний регистр</a:t>
                      </a:r>
                    </a:p>
                    <a:p>
                      <a:pPr marL="0" marR="0" lvl="0" indent="0" algn="l" defTabSz="1219170" rtl="0" eaLnBrk="1" fontAlgn="auto" latinLnBrk="0" hangingPunct="1">
                        <a:lnSpc>
                          <a:spcPct val="100000"/>
                        </a:lnSpc>
                        <a:spcBef>
                          <a:spcPts val="0"/>
                        </a:spcBef>
                        <a:spcAft>
                          <a:spcPts val="0"/>
                        </a:spcAft>
                        <a:buClrTx/>
                        <a:buSzTx/>
                        <a:buFontTx/>
                        <a:buNone/>
                        <a:tabLst/>
                        <a:defRPr/>
                      </a:pPr>
                      <a:endParaRPr lang="ru-RU" sz="1800" dirty="0"/>
                    </a:p>
                    <a:p>
                      <a:pPr marL="0" marR="0" lvl="0" indent="0" algn="l" defTabSz="1219170" rtl="0" eaLnBrk="1" fontAlgn="auto" latinLnBrk="0" hangingPunct="1">
                        <a:lnSpc>
                          <a:spcPct val="100000"/>
                        </a:lnSpc>
                        <a:spcBef>
                          <a:spcPts val="0"/>
                        </a:spcBef>
                        <a:spcAft>
                          <a:spcPts val="0"/>
                        </a:spcAft>
                        <a:buClrTx/>
                        <a:buSzTx/>
                        <a:buFontTx/>
                        <a:buNone/>
                        <a:tabLst/>
                        <a:defRPr/>
                      </a:pPr>
                      <a:endParaRPr lang="ru-RU" sz="1800" dirty="0"/>
                    </a:p>
                    <a:p>
                      <a:endParaRPr lang="ru-RU" sz="1800" dirty="0"/>
                    </a:p>
                  </a:txBody>
                  <a:tcPr>
                    <a:lnL>
                      <a:noFill/>
                    </a:ln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50609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Создание строки</a:t>
            </a:r>
          </a:p>
        </p:txBody>
      </p:sp>
      <p:sp>
        <p:nvSpPr>
          <p:cNvPr id="4" name="Номер слайда 3"/>
          <p:cNvSpPr>
            <a:spLocks noGrp="1"/>
          </p:cNvSpPr>
          <p:nvPr>
            <p:ph type="sldNum" sz="quarter" idx="12"/>
          </p:nvPr>
        </p:nvSpPr>
        <p:spPr/>
        <p:txBody>
          <a:bodyPr/>
          <a:lstStyle/>
          <a:p>
            <a:fld id="{2A69F336-2DD4-44CE-8205-AE3F61CEB7C8}" type="slidenum">
              <a:rPr lang="ru-RU" smtClean="0"/>
              <a:t>5</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609600" y="1809739"/>
            <a:ext cx="11713301" cy="305942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ru-RU" sz="2400" dirty="0">
                <a:cs typeface="Times New Roman" panose="02020603050405020304" pitchFamily="18" charset="0"/>
              </a:rPr>
              <a:t>У класса </a:t>
            </a:r>
            <a:r>
              <a:rPr lang="ru-RU" sz="2400" i="1" dirty="0" err="1">
                <a:solidFill>
                  <a:schemeClr val="accent4">
                    <a:lumMod val="10000"/>
                  </a:schemeClr>
                </a:solidFill>
                <a:latin typeface="Courier New" panose="02070309020205020404" pitchFamily="49" charset="0"/>
                <a:cs typeface="Courier New" panose="02070309020205020404" pitchFamily="49" charset="0"/>
              </a:rPr>
              <a:t>String</a:t>
            </a:r>
            <a:r>
              <a:rPr lang="ru-RU" sz="2400" dirty="0">
                <a:cs typeface="Times New Roman" panose="02020603050405020304" pitchFamily="18" charset="0"/>
              </a:rPr>
              <a:t> есть много конструкторов, которые позволяют:</a:t>
            </a:r>
          </a:p>
          <a:p>
            <a:pPr algn="just"/>
            <a:r>
              <a:rPr lang="ru-RU" sz="2400" dirty="0">
                <a:cs typeface="Times New Roman" panose="02020603050405020304" pitchFamily="18" charset="0"/>
              </a:rPr>
              <a:t>создать объект, содержащий пустую строку</a:t>
            </a:r>
          </a:p>
          <a:p>
            <a:pPr algn="just"/>
            <a:r>
              <a:rPr lang="ru-RU" sz="2400" dirty="0">
                <a:cs typeface="Times New Roman" panose="02020603050405020304" pitchFamily="18" charset="0"/>
              </a:rPr>
              <a:t>создать копию строковой переменной</a:t>
            </a:r>
          </a:p>
          <a:p>
            <a:pPr algn="just"/>
            <a:r>
              <a:rPr lang="ru-RU" sz="2400" dirty="0">
                <a:cs typeface="Times New Roman" panose="02020603050405020304" pitchFamily="18" charset="0"/>
              </a:rPr>
              <a:t>создать строку на основе массива символов</a:t>
            </a:r>
          </a:p>
          <a:p>
            <a:pPr algn="just"/>
            <a:r>
              <a:rPr lang="ru-RU" sz="2400" dirty="0">
                <a:cs typeface="Times New Roman" panose="02020603050405020304" pitchFamily="18" charset="0"/>
              </a:rPr>
              <a:t>создать строку на основе массива байтов (с учетом кодировок)</a:t>
            </a:r>
          </a:p>
          <a:p>
            <a:pPr marL="0" indent="0" algn="just">
              <a:buNone/>
            </a:pPr>
            <a:r>
              <a:rPr lang="ru-RU" sz="2400" dirty="0">
                <a:cs typeface="Times New Roman" panose="02020603050405020304" pitchFamily="18" charset="0"/>
              </a:rPr>
              <a:t>и т.д.</a:t>
            </a:r>
          </a:p>
          <a:p>
            <a:pPr marL="0" indent="0" algn="just">
              <a:buNone/>
            </a:pPr>
            <a:r>
              <a:rPr lang="ru-RU" sz="2400" dirty="0">
                <a:cs typeface="Times New Roman" panose="02020603050405020304" pitchFamily="18" charset="0"/>
              </a:rPr>
              <a:t>Напрямую присвоить строку в двойных кавычках</a:t>
            </a:r>
          </a:p>
        </p:txBody>
      </p:sp>
      <p:pic>
        <p:nvPicPr>
          <p:cNvPr id="5" name="Picture 4">
            <a:extLst>
              <a:ext uri="{FF2B5EF4-FFF2-40B4-BE49-F238E27FC236}">
                <a16:creationId xmlns:a16="http://schemas.microsoft.com/office/drawing/2014/main" id="{0B320C20-505C-47A9-9AAD-FCF2B39DF770}"/>
              </a:ext>
            </a:extLst>
          </p:cNvPr>
          <p:cNvPicPr>
            <a:picLocks noChangeAspect="1"/>
          </p:cNvPicPr>
          <p:nvPr/>
        </p:nvPicPr>
        <p:blipFill>
          <a:blip r:embed="rId3"/>
          <a:stretch>
            <a:fillRect/>
          </a:stretch>
        </p:blipFill>
        <p:spPr>
          <a:xfrm>
            <a:off x="1325879" y="4869162"/>
            <a:ext cx="3851937" cy="424846"/>
          </a:xfrm>
          <a:prstGeom prst="rect">
            <a:avLst/>
          </a:prstGeom>
        </p:spPr>
      </p:pic>
    </p:spTree>
    <p:extLst>
      <p:ext uri="{BB962C8B-B14F-4D97-AF65-F5344CB8AC3E}">
        <p14:creationId xmlns:p14="http://schemas.microsoft.com/office/powerpoint/2010/main" val="1850213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CE206-DD5C-470F-97B1-E2D1726A2D0D}"/>
              </a:ext>
            </a:extLst>
          </p:cNvPr>
          <p:cNvSpPr>
            <a:spLocks noGrp="1"/>
          </p:cNvSpPr>
          <p:nvPr>
            <p:ph type="title"/>
          </p:nvPr>
        </p:nvSpPr>
        <p:spPr/>
        <p:txBody>
          <a:bodyPr/>
          <a:lstStyle/>
          <a:p>
            <a:r>
              <a:rPr lang="ru-RU" dirty="0"/>
              <a:t> Интернирование строк</a:t>
            </a:r>
          </a:p>
        </p:txBody>
      </p:sp>
      <p:grpSp>
        <p:nvGrpSpPr>
          <p:cNvPr id="37" name="Group 36">
            <a:extLst>
              <a:ext uri="{FF2B5EF4-FFF2-40B4-BE49-F238E27FC236}">
                <a16:creationId xmlns:a16="http://schemas.microsoft.com/office/drawing/2014/main" id="{7556F172-3C5E-45B3-9ECA-6E547888FEFE}"/>
              </a:ext>
            </a:extLst>
          </p:cNvPr>
          <p:cNvGrpSpPr/>
          <p:nvPr/>
        </p:nvGrpSpPr>
        <p:grpSpPr>
          <a:xfrm>
            <a:off x="5500377" y="2713703"/>
            <a:ext cx="6421235" cy="3907847"/>
            <a:chOff x="5157601" y="2394715"/>
            <a:chExt cx="6065922" cy="3796546"/>
          </a:xfrm>
        </p:grpSpPr>
        <p:sp>
          <p:nvSpPr>
            <p:cNvPr id="6" name="Flowchart: Process 5">
              <a:extLst>
                <a:ext uri="{FF2B5EF4-FFF2-40B4-BE49-F238E27FC236}">
                  <a16:creationId xmlns:a16="http://schemas.microsoft.com/office/drawing/2014/main" id="{443FB972-B863-472F-839E-734EBAF986E8}"/>
                </a:ext>
              </a:extLst>
            </p:cNvPr>
            <p:cNvSpPr/>
            <p:nvPr/>
          </p:nvSpPr>
          <p:spPr>
            <a:xfrm>
              <a:off x="8555626" y="2394715"/>
              <a:ext cx="2667897" cy="3796546"/>
            </a:xfrm>
            <a:prstGeom prst="flowChartProcess">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ru-RU"/>
            </a:p>
          </p:txBody>
        </p:sp>
        <p:sp>
          <p:nvSpPr>
            <p:cNvPr id="7" name="TextBox 6">
              <a:extLst>
                <a:ext uri="{FF2B5EF4-FFF2-40B4-BE49-F238E27FC236}">
                  <a16:creationId xmlns:a16="http://schemas.microsoft.com/office/drawing/2014/main" id="{B490C606-D7C2-4F54-9C05-3BD371CE9086}"/>
                </a:ext>
              </a:extLst>
            </p:cNvPr>
            <p:cNvSpPr txBox="1"/>
            <p:nvPr/>
          </p:nvSpPr>
          <p:spPr>
            <a:xfrm>
              <a:off x="8555626" y="2394715"/>
              <a:ext cx="2667897" cy="369332"/>
            </a:xfrm>
            <a:prstGeom prst="rect">
              <a:avLst/>
            </a:prstGeom>
            <a:noFill/>
          </p:spPr>
          <p:txBody>
            <a:bodyPr wrap="square" rtlCol="0">
              <a:spAutoFit/>
            </a:bodyPr>
            <a:lstStyle/>
            <a:p>
              <a:r>
                <a:rPr lang="en-US" dirty="0"/>
                <a:t>Java Heap Memory</a:t>
              </a:r>
              <a:endParaRPr lang="ru-RU" dirty="0"/>
            </a:p>
          </p:txBody>
        </p:sp>
        <p:sp>
          <p:nvSpPr>
            <p:cNvPr id="8" name="Rectangle 7">
              <a:extLst>
                <a:ext uri="{FF2B5EF4-FFF2-40B4-BE49-F238E27FC236}">
                  <a16:creationId xmlns:a16="http://schemas.microsoft.com/office/drawing/2014/main" id="{7CC77759-D37F-48D9-80F1-F65B80216A61}"/>
                </a:ext>
              </a:extLst>
            </p:cNvPr>
            <p:cNvSpPr/>
            <p:nvPr/>
          </p:nvSpPr>
          <p:spPr>
            <a:xfrm>
              <a:off x="8760542" y="4056709"/>
              <a:ext cx="2265188" cy="191402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D9028887-889D-4041-9502-4C64220D7A84}"/>
                </a:ext>
              </a:extLst>
            </p:cNvPr>
            <p:cNvSpPr txBox="1"/>
            <p:nvPr/>
          </p:nvSpPr>
          <p:spPr>
            <a:xfrm>
              <a:off x="8760542" y="4054659"/>
              <a:ext cx="2043953" cy="369332"/>
            </a:xfrm>
            <a:prstGeom prst="rect">
              <a:avLst/>
            </a:prstGeom>
            <a:noFill/>
          </p:spPr>
          <p:txBody>
            <a:bodyPr wrap="square" rtlCol="0">
              <a:spAutoFit/>
            </a:bodyPr>
            <a:lstStyle/>
            <a:p>
              <a:r>
                <a:rPr lang="en-US" dirty="0"/>
                <a:t>String Pool</a:t>
              </a:r>
              <a:endParaRPr lang="ru-RU" dirty="0"/>
            </a:p>
          </p:txBody>
        </p:sp>
        <p:sp>
          <p:nvSpPr>
            <p:cNvPr id="10" name="TextBox 9">
              <a:extLst>
                <a:ext uri="{FF2B5EF4-FFF2-40B4-BE49-F238E27FC236}">
                  <a16:creationId xmlns:a16="http://schemas.microsoft.com/office/drawing/2014/main" id="{3E1A7BFE-AC2C-4C73-A6C8-DE0FBB9924D4}"/>
                </a:ext>
              </a:extLst>
            </p:cNvPr>
            <p:cNvSpPr txBox="1"/>
            <p:nvPr/>
          </p:nvSpPr>
          <p:spPr>
            <a:xfrm>
              <a:off x="9048115" y="4674433"/>
              <a:ext cx="1871830" cy="369332"/>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ru-RU" dirty="0"/>
                <a:t>Новая строка</a:t>
              </a:r>
            </a:p>
          </p:txBody>
        </p:sp>
        <p:sp>
          <p:nvSpPr>
            <p:cNvPr id="11" name="TextBox 10">
              <a:extLst>
                <a:ext uri="{FF2B5EF4-FFF2-40B4-BE49-F238E27FC236}">
                  <a16:creationId xmlns:a16="http://schemas.microsoft.com/office/drawing/2014/main" id="{677AF6CF-290B-480F-B61A-5C030B50C18A}"/>
                </a:ext>
              </a:extLst>
            </p:cNvPr>
            <p:cNvSpPr txBox="1"/>
            <p:nvPr/>
          </p:nvSpPr>
          <p:spPr>
            <a:xfrm>
              <a:off x="5169983" y="4398306"/>
              <a:ext cx="2796989" cy="369332"/>
            </a:xfrm>
            <a:prstGeom prst="rect">
              <a:avLst/>
            </a:prstGeom>
            <a:noFill/>
            <a:ln>
              <a:solidFill>
                <a:schemeClr val="bg1">
                  <a:lumMod val="25000"/>
                </a:schemeClr>
              </a:solidFill>
            </a:ln>
          </p:spPr>
          <p:txBody>
            <a:bodyPr wrap="square" rtlCol="0">
              <a:spAutoFit/>
            </a:bodyPr>
            <a:lstStyle/>
            <a:p>
              <a:r>
                <a:rPr lang="en-US" dirty="0"/>
                <a:t>str1 = “</a:t>
              </a:r>
              <a:r>
                <a:rPr lang="ru-RU" dirty="0"/>
                <a:t>Новая строка</a:t>
              </a:r>
              <a:r>
                <a:rPr lang="en-US" dirty="0"/>
                <a:t>”;</a:t>
              </a:r>
              <a:endParaRPr lang="ru-RU" dirty="0"/>
            </a:p>
          </p:txBody>
        </p:sp>
        <p:cxnSp>
          <p:nvCxnSpPr>
            <p:cNvPr id="13" name="Straight Arrow Connector 12">
              <a:extLst>
                <a:ext uri="{FF2B5EF4-FFF2-40B4-BE49-F238E27FC236}">
                  <a16:creationId xmlns:a16="http://schemas.microsoft.com/office/drawing/2014/main" id="{4287E1EB-D1EC-425E-B55F-45FF29D22124}"/>
                </a:ext>
              </a:extLst>
            </p:cNvPr>
            <p:cNvCxnSpPr>
              <a:stCxn id="11" idx="3"/>
              <a:endCxn id="10" idx="1"/>
            </p:cNvCxnSpPr>
            <p:nvPr/>
          </p:nvCxnSpPr>
          <p:spPr>
            <a:xfrm>
              <a:off x="7966972" y="4582972"/>
              <a:ext cx="1081143" cy="276127"/>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213D5F6-F4FA-402A-9AD9-1804CD8B02B0}"/>
                </a:ext>
              </a:extLst>
            </p:cNvPr>
            <p:cNvSpPr txBox="1"/>
            <p:nvPr/>
          </p:nvSpPr>
          <p:spPr>
            <a:xfrm>
              <a:off x="5169983" y="5024928"/>
              <a:ext cx="2796989" cy="369332"/>
            </a:xfrm>
            <a:prstGeom prst="rect">
              <a:avLst/>
            </a:prstGeom>
            <a:noFill/>
            <a:ln>
              <a:solidFill>
                <a:schemeClr val="bg1">
                  <a:lumMod val="25000"/>
                </a:schemeClr>
              </a:solidFill>
            </a:ln>
          </p:spPr>
          <p:txBody>
            <a:bodyPr wrap="square" rtlCol="0">
              <a:spAutoFit/>
            </a:bodyPr>
            <a:lstStyle/>
            <a:p>
              <a:r>
                <a:rPr lang="en-US" dirty="0"/>
                <a:t>str2 = “</a:t>
              </a:r>
              <a:r>
                <a:rPr lang="ru-RU" dirty="0"/>
                <a:t>Новая строка</a:t>
              </a:r>
              <a:r>
                <a:rPr lang="en-US" dirty="0"/>
                <a:t>”;</a:t>
              </a:r>
              <a:endParaRPr lang="ru-RU" dirty="0"/>
            </a:p>
          </p:txBody>
        </p:sp>
        <p:cxnSp>
          <p:nvCxnSpPr>
            <p:cNvPr id="15" name="Straight Arrow Connector 14">
              <a:extLst>
                <a:ext uri="{FF2B5EF4-FFF2-40B4-BE49-F238E27FC236}">
                  <a16:creationId xmlns:a16="http://schemas.microsoft.com/office/drawing/2014/main" id="{1D491EEC-D241-4EEB-818A-FDABB9F417EC}"/>
                </a:ext>
              </a:extLst>
            </p:cNvPr>
            <p:cNvCxnSpPr>
              <a:cxnSpLocks/>
              <a:stCxn id="14" idx="3"/>
              <a:endCxn id="10" idx="1"/>
            </p:cNvCxnSpPr>
            <p:nvPr/>
          </p:nvCxnSpPr>
          <p:spPr>
            <a:xfrm flipV="1">
              <a:off x="7966972" y="4859099"/>
              <a:ext cx="1081143" cy="350495"/>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25E528A-51BE-4164-B5F8-FABDDC22ADB5}"/>
                </a:ext>
              </a:extLst>
            </p:cNvPr>
            <p:cNvSpPr txBox="1"/>
            <p:nvPr/>
          </p:nvSpPr>
          <p:spPr>
            <a:xfrm>
              <a:off x="5157601" y="3396953"/>
              <a:ext cx="2796989" cy="307777"/>
            </a:xfrm>
            <a:prstGeom prst="rect">
              <a:avLst/>
            </a:prstGeom>
            <a:noFill/>
            <a:ln>
              <a:solidFill>
                <a:schemeClr val="bg1">
                  <a:lumMod val="25000"/>
                </a:schemeClr>
              </a:solidFill>
            </a:ln>
          </p:spPr>
          <p:txBody>
            <a:bodyPr wrap="square" rtlCol="0">
              <a:spAutoFit/>
            </a:bodyPr>
            <a:lstStyle/>
            <a:p>
              <a:r>
                <a:rPr lang="en-US" sz="1400" dirty="0"/>
                <a:t>str3 = new String(“</a:t>
              </a:r>
              <a:r>
                <a:rPr lang="ru-RU" sz="1400" dirty="0"/>
                <a:t>Новая строка</a:t>
              </a:r>
              <a:r>
                <a:rPr lang="en-US" sz="1400" dirty="0"/>
                <a:t>”);</a:t>
              </a:r>
              <a:endParaRPr lang="ru-RU" sz="1400" dirty="0"/>
            </a:p>
          </p:txBody>
        </p:sp>
        <p:sp>
          <p:nvSpPr>
            <p:cNvPr id="23" name="TextBox 22">
              <a:extLst>
                <a:ext uri="{FF2B5EF4-FFF2-40B4-BE49-F238E27FC236}">
                  <a16:creationId xmlns:a16="http://schemas.microsoft.com/office/drawing/2014/main" id="{64C0E932-32E1-4B0E-9980-8245F4DE33C3}"/>
                </a:ext>
              </a:extLst>
            </p:cNvPr>
            <p:cNvSpPr txBox="1"/>
            <p:nvPr/>
          </p:nvSpPr>
          <p:spPr>
            <a:xfrm>
              <a:off x="9031979" y="2948713"/>
              <a:ext cx="1871830" cy="369332"/>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ru-RU" dirty="0"/>
                <a:t>Новая строка</a:t>
              </a:r>
            </a:p>
          </p:txBody>
        </p:sp>
        <p:cxnSp>
          <p:nvCxnSpPr>
            <p:cNvPr id="25" name="Straight Arrow Connector 24">
              <a:extLst>
                <a:ext uri="{FF2B5EF4-FFF2-40B4-BE49-F238E27FC236}">
                  <a16:creationId xmlns:a16="http://schemas.microsoft.com/office/drawing/2014/main" id="{C2613B2D-330E-467E-80BB-1BAFA2DA8B2C}"/>
                </a:ext>
              </a:extLst>
            </p:cNvPr>
            <p:cNvCxnSpPr>
              <a:stCxn id="20" idx="3"/>
              <a:endCxn id="23" idx="1"/>
            </p:cNvCxnSpPr>
            <p:nvPr/>
          </p:nvCxnSpPr>
          <p:spPr>
            <a:xfrm flipV="1">
              <a:off x="7954590" y="3133379"/>
              <a:ext cx="1077390" cy="417463"/>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B66BA92-2ECC-4DF2-9C22-65C22FC10685}"/>
                </a:ext>
              </a:extLst>
            </p:cNvPr>
            <p:cNvSpPr txBox="1"/>
            <p:nvPr/>
          </p:nvSpPr>
          <p:spPr>
            <a:xfrm>
              <a:off x="5169982" y="3903752"/>
              <a:ext cx="2796989" cy="307777"/>
            </a:xfrm>
            <a:prstGeom prst="rect">
              <a:avLst/>
            </a:prstGeom>
            <a:noFill/>
            <a:ln>
              <a:solidFill>
                <a:schemeClr val="bg1">
                  <a:lumMod val="25000"/>
                </a:schemeClr>
              </a:solidFill>
            </a:ln>
          </p:spPr>
          <p:txBody>
            <a:bodyPr wrap="square" rtlCol="0">
              <a:spAutoFit/>
            </a:bodyPr>
            <a:lstStyle/>
            <a:p>
              <a:r>
                <a:rPr lang="en-US" sz="1400" dirty="0"/>
                <a:t>str4 = new String(“</a:t>
              </a:r>
              <a:r>
                <a:rPr lang="ru-RU" sz="1400" dirty="0"/>
                <a:t>Новая строка</a:t>
              </a:r>
              <a:r>
                <a:rPr lang="en-US" sz="1400" dirty="0"/>
                <a:t>”);</a:t>
              </a:r>
              <a:endParaRPr lang="ru-RU" sz="1400" dirty="0"/>
            </a:p>
          </p:txBody>
        </p:sp>
        <p:sp>
          <p:nvSpPr>
            <p:cNvPr id="21" name="TextBox 20">
              <a:extLst>
                <a:ext uri="{FF2B5EF4-FFF2-40B4-BE49-F238E27FC236}">
                  <a16:creationId xmlns:a16="http://schemas.microsoft.com/office/drawing/2014/main" id="{B8A38902-1C29-4E93-B3FB-1ACD97FCBDC8}"/>
                </a:ext>
              </a:extLst>
            </p:cNvPr>
            <p:cNvSpPr txBox="1"/>
            <p:nvPr/>
          </p:nvSpPr>
          <p:spPr>
            <a:xfrm>
              <a:off x="9048115" y="3423855"/>
              <a:ext cx="1871830" cy="369332"/>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ru-RU" dirty="0"/>
                <a:t>Новая строка</a:t>
              </a:r>
            </a:p>
          </p:txBody>
        </p:sp>
        <p:cxnSp>
          <p:nvCxnSpPr>
            <p:cNvPr id="22" name="Straight Arrow Connector 21">
              <a:extLst>
                <a:ext uri="{FF2B5EF4-FFF2-40B4-BE49-F238E27FC236}">
                  <a16:creationId xmlns:a16="http://schemas.microsoft.com/office/drawing/2014/main" id="{F09B7A59-0C6B-4DF8-BF76-091A56FD8A32}"/>
                </a:ext>
              </a:extLst>
            </p:cNvPr>
            <p:cNvCxnSpPr>
              <a:stCxn id="19" idx="3"/>
              <a:endCxn id="21" idx="1"/>
            </p:cNvCxnSpPr>
            <p:nvPr/>
          </p:nvCxnSpPr>
          <p:spPr>
            <a:xfrm flipV="1">
              <a:off x="7966971" y="3608522"/>
              <a:ext cx="1081145" cy="44911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pic>
        <p:nvPicPr>
          <p:cNvPr id="40" name="Picture 39">
            <a:extLst>
              <a:ext uri="{FF2B5EF4-FFF2-40B4-BE49-F238E27FC236}">
                <a16:creationId xmlns:a16="http://schemas.microsoft.com/office/drawing/2014/main" id="{E7FA36F0-2A40-4262-87A1-7800E3619F8B}"/>
              </a:ext>
            </a:extLst>
          </p:cNvPr>
          <p:cNvPicPr>
            <a:picLocks noChangeAspect="1"/>
          </p:cNvPicPr>
          <p:nvPr/>
        </p:nvPicPr>
        <p:blipFill>
          <a:blip r:embed="rId3"/>
          <a:stretch>
            <a:fillRect/>
          </a:stretch>
        </p:blipFill>
        <p:spPr>
          <a:xfrm>
            <a:off x="609600" y="1773704"/>
            <a:ext cx="7548126" cy="14511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84425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Конкатенация строк</a:t>
            </a:r>
          </a:p>
        </p:txBody>
      </p:sp>
      <p:sp>
        <p:nvSpPr>
          <p:cNvPr id="4" name="Номер слайда 3"/>
          <p:cNvSpPr>
            <a:spLocks noGrp="1"/>
          </p:cNvSpPr>
          <p:nvPr>
            <p:ph type="sldNum" sz="quarter" idx="12"/>
          </p:nvPr>
        </p:nvSpPr>
        <p:spPr/>
        <p:txBody>
          <a:bodyPr/>
          <a:lstStyle/>
          <a:p>
            <a:fld id="{2A69F336-2DD4-44CE-8205-AE3F61CEB7C8}" type="slidenum">
              <a:rPr lang="ru-RU" smtClean="0"/>
              <a:t>7</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652108" y="2041826"/>
            <a:ext cx="7065901" cy="305942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ru-RU" sz="2800" dirty="0" err="1">
                <a:cs typeface="Times New Roman" panose="02020603050405020304" pitchFamily="18" charset="0"/>
              </a:rPr>
              <a:t>Java</a:t>
            </a:r>
            <a:r>
              <a:rPr lang="ru-RU" sz="2800" dirty="0">
                <a:cs typeface="Times New Roman" panose="02020603050405020304" pitchFamily="18" charset="0"/>
              </a:rPr>
              <a:t> позволяет складывать строковые переменные:</a:t>
            </a:r>
          </a:p>
          <a:p>
            <a:pPr algn="just"/>
            <a:r>
              <a:rPr lang="ru-RU" sz="2800" dirty="0">
                <a:cs typeface="Times New Roman" panose="02020603050405020304" pitchFamily="18" charset="0"/>
              </a:rPr>
              <a:t>используя знак +</a:t>
            </a:r>
            <a:endParaRPr lang="en-US" sz="2800" dirty="0">
              <a:cs typeface="Times New Roman" panose="02020603050405020304" pitchFamily="18" charset="0"/>
            </a:endParaRPr>
          </a:p>
          <a:p>
            <a:pPr algn="just"/>
            <a:r>
              <a:rPr lang="ru-RU" sz="2800" dirty="0">
                <a:cs typeface="Times New Roman" panose="02020603050405020304" pitchFamily="18" charset="0"/>
              </a:rPr>
              <a:t>С помощью метода </a:t>
            </a:r>
            <a:r>
              <a:rPr lang="en-US" sz="2800" dirty="0" err="1">
                <a:cs typeface="Times New Roman" panose="02020603050405020304" pitchFamily="18" charset="0"/>
              </a:rPr>
              <a:t>concat</a:t>
            </a:r>
            <a:r>
              <a:rPr lang="en-US" sz="2800" dirty="0">
                <a:cs typeface="Times New Roman" panose="02020603050405020304" pitchFamily="18" charset="0"/>
              </a:rPr>
              <a:t>()</a:t>
            </a:r>
          </a:p>
          <a:p>
            <a:pPr marL="0" indent="0" algn="just">
              <a:buNone/>
            </a:pPr>
            <a:endParaRPr lang="ru-RU" sz="2400" dirty="0">
              <a:cs typeface="Times New Roman" panose="02020603050405020304" pitchFamily="18" charset="0"/>
            </a:endParaRPr>
          </a:p>
        </p:txBody>
      </p:sp>
      <p:pic>
        <p:nvPicPr>
          <p:cNvPr id="6" name="Picture 5">
            <a:extLst>
              <a:ext uri="{FF2B5EF4-FFF2-40B4-BE49-F238E27FC236}">
                <a16:creationId xmlns:a16="http://schemas.microsoft.com/office/drawing/2014/main" id="{4FECF2C4-B4C1-459F-9A70-E3DC2DD2059D}"/>
              </a:ext>
            </a:extLst>
          </p:cNvPr>
          <p:cNvPicPr>
            <a:picLocks noChangeAspect="1"/>
          </p:cNvPicPr>
          <p:nvPr/>
        </p:nvPicPr>
        <p:blipFill>
          <a:blip r:embed="rId3"/>
          <a:stretch>
            <a:fillRect/>
          </a:stretch>
        </p:blipFill>
        <p:spPr>
          <a:xfrm>
            <a:off x="6936084" y="3972915"/>
            <a:ext cx="4603808" cy="1075347"/>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4C80FF27-69F1-4B44-AC8F-14EEC2C47551}"/>
              </a:ext>
            </a:extLst>
          </p:cNvPr>
          <p:cNvPicPr>
            <a:picLocks noChangeAspect="1"/>
          </p:cNvPicPr>
          <p:nvPr/>
        </p:nvPicPr>
        <p:blipFill>
          <a:blip r:embed="rId4"/>
          <a:stretch>
            <a:fillRect/>
          </a:stretch>
        </p:blipFill>
        <p:spPr>
          <a:xfrm>
            <a:off x="6936084" y="2676763"/>
            <a:ext cx="5006209" cy="8947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31739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fontScale="90000"/>
          </a:bodyPr>
          <a:lstStyle/>
          <a:p>
            <a:r>
              <a:rPr lang="ru-RU" dirty="0"/>
              <a:t>Преобразование к строковому типу</a:t>
            </a:r>
          </a:p>
        </p:txBody>
      </p:sp>
      <p:sp>
        <p:nvSpPr>
          <p:cNvPr id="4" name="Номер слайда 3"/>
          <p:cNvSpPr>
            <a:spLocks noGrp="1"/>
          </p:cNvSpPr>
          <p:nvPr>
            <p:ph type="sldNum" sz="quarter" idx="12"/>
          </p:nvPr>
        </p:nvSpPr>
        <p:spPr/>
        <p:txBody>
          <a:bodyPr/>
          <a:lstStyle/>
          <a:p>
            <a:fld id="{2A69F336-2DD4-44CE-8205-AE3F61CEB7C8}" type="slidenum">
              <a:rPr lang="ru-RU" smtClean="0"/>
              <a:t>8</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335361" y="1988839"/>
            <a:ext cx="6678626" cy="4573326"/>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ru-RU" sz="2000" dirty="0"/>
              <a:t>Все переменные, объекты, выражения в </a:t>
            </a:r>
            <a:r>
              <a:rPr lang="ru-RU" sz="2000" dirty="0" err="1"/>
              <a:t>Java</a:t>
            </a:r>
            <a:r>
              <a:rPr lang="ru-RU" sz="2000" dirty="0"/>
              <a:t> можно преобразовать к типу </a:t>
            </a:r>
            <a:r>
              <a:rPr lang="ru-RU" sz="2000" b="1" dirty="0" err="1"/>
              <a:t>String</a:t>
            </a:r>
            <a:r>
              <a:rPr lang="ru-RU" sz="2000" dirty="0"/>
              <a:t>, вызвав метод </a:t>
            </a:r>
            <a:r>
              <a:rPr lang="ru-RU" sz="2000" b="1" dirty="0" err="1">
                <a:cs typeface="Times New Roman" panose="02020603050405020304" pitchFamily="18" charset="0"/>
              </a:rPr>
              <a:t>toString</a:t>
            </a:r>
            <a:r>
              <a:rPr lang="ru-RU" sz="2000" b="1" dirty="0">
                <a:cs typeface="Times New Roman" panose="02020603050405020304" pitchFamily="18" charset="0"/>
              </a:rPr>
              <a:t>() </a:t>
            </a:r>
            <a:r>
              <a:rPr lang="ru-RU" sz="2000" dirty="0">
                <a:cs typeface="Times New Roman" panose="02020603050405020304" pitchFamily="18" charset="0"/>
              </a:rPr>
              <a:t>у объекта</a:t>
            </a:r>
            <a:endParaRPr lang="en-US" sz="2000" dirty="0">
              <a:cs typeface="Times New Roman" panose="02020603050405020304" pitchFamily="18" charset="0"/>
            </a:endParaRPr>
          </a:p>
          <a:p>
            <a:pPr algn="just"/>
            <a:r>
              <a:rPr lang="ru-RU" sz="2000" dirty="0">
                <a:cs typeface="Times New Roman" panose="02020603050405020304" pitchFamily="18" charset="0"/>
              </a:rPr>
              <a:t>Для перевода экземпляра любого </a:t>
            </a:r>
            <a:r>
              <a:rPr lang="en-US" sz="2000" dirty="0">
                <a:cs typeface="Times New Roman" panose="02020603050405020304" pitchFamily="18" charset="0"/>
              </a:rPr>
              <a:t>Java-</a:t>
            </a:r>
            <a:r>
              <a:rPr lang="ru-RU" sz="2000" dirty="0">
                <a:cs typeface="Times New Roman" panose="02020603050405020304" pitchFamily="18" charset="0"/>
              </a:rPr>
              <a:t>класса или любого примитивного типа данных к строковому представлению, можно использовать метод </a:t>
            </a:r>
            <a:r>
              <a:rPr lang="en-US" sz="2000" b="1" dirty="0" err="1">
                <a:cs typeface="Times New Roman" panose="02020603050405020304" pitchFamily="18" charset="0"/>
              </a:rPr>
              <a:t>String.valueOf</a:t>
            </a:r>
            <a:r>
              <a:rPr lang="en-US" sz="2000" b="1" dirty="0">
                <a:cs typeface="Times New Roman" panose="02020603050405020304" pitchFamily="18" charset="0"/>
              </a:rPr>
              <a:t>()</a:t>
            </a:r>
          </a:p>
          <a:p>
            <a:pPr algn="just"/>
            <a:r>
              <a:rPr lang="ru-RU" sz="2000" dirty="0">
                <a:cs typeface="Times New Roman" panose="02020603050405020304" pitchFamily="18" charset="0"/>
              </a:rPr>
              <a:t>Складывая объекты класса </a:t>
            </a:r>
            <a:r>
              <a:rPr lang="ru-RU" sz="2000" b="1" dirty="0" err="1">
                <a:cs typeface="Times New Roman" panose="02020603050405020304" pitchFamily="18" charset="0"/>
              </a:rPr>
              <a:t>String</a:t>
            </a:r>
            <a:r>
              <a:rPr lang="ru-RU" sz="2000" dirty="0">
                <a:cs typeface="Times New Roman" panose="02020603050405020304" pitchFamily="18" charset="0"/>
              </a:rPr>
              <a:t> с объектами других классов, мы приводим последние к строковому виду. Преобразование объектов других классов к строковому представлению выполняется через неявный вызов метода </a:t>
            </a:r>
            <a:r>
              <a:rPr lang="ru-RU" sz="2000" b="1" dirty="0" err="1">
                <a:cs typeface="Times New Roman" panose="02020603050405020304" pitchFamily="18" charset="0"/>
              </a:rPr>
              <a:t>toString</a:t>
            </a:r>
            <a:r>
              <a:rPr lang="ru-RU" sz="2000" b="1" dirty="0">
                <a:cs typeface="Times New Roman" panose="02020603050405020304" pitchFamily="18" charset="0"/>
              </a:rPr>
              <a:t>() </a:t>
            </a:r>
            <a:r>
              <a:rPr lang="ru-RU" sz="2000" dirty="0">
                <a:cs typeface="Times New Roman" panose="02020603050405020304" pitchFamily="18" charset="0"/>
              </a:rPr>
              <a:t>у объекта</a:t>
            </a:r>
            <a:r>
              <a:rPr lang="ru-RU" sz="2400" dirty="0">
                <a:cs typeface="Times New Roman" panose="02020603050405020304" pitchFamily="18" charset="0"/>
              </a:rPr>
              <a:t>.</a:t>
            </a:r>
            <a:endParaRPr lang="en-US" sz="2400" b="1" dirty="0">
              <a:cs typeface="Times New Roman" panose="02020603050405020304" pitchFamily="18" charset="0"/>
            </a:endParaRPr>
          </a:p>
        </p:txBody>
      </p:sp>
      <p:pic>
        <p:nvPicPr>
          <p:cNvPr id="5" name="Picture 4">
            <a:extLst>
              <a:ext uri="{FF2B5EF4-FFF2-40B4-BE49-F238E27FC236}">
                <a16:creationId xmlns:a16="http://schemas.microsoft.com/office/drawing/2014/main" id="{02612692-3B0C-44CB-973E-85FE0FEFADF4}"/>
              </a:ext>
            </a:extLst>
          </p:cNvPr>
          <p:cNvPicPr>
            <a:picLocks noChangeAspect="1"/>
          </p:cNvPicPr>
          <p:nvPr/>
        </p:nvPicPr>
        <p:blipFill>
          <a:blip r:embed="rId3"/>
          <a:stretch>
            <a:fillRect/>
          </a:stretch>
        </p:blipFill>
        <p:spPr>
          <a:xfrm>
            <a:off x="7209111" y="2880089"/>
            <a:ext cx="4819650" cy="27908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08292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Преобразование строки в число</a:t>
            </a:r>
          </a:p>
        </p:txBody>
      </p:sp>
      <p:sp>
        <p:nvSpPr>
          <p:cNvPr id="4" name="Номер слайда 3"/>
          <p:cNvSpPr>
            <a:spLocks noGrp="1"/>
          </p:cNvSpPr>
          <p:nvPr>
            <p:ph type="sldNum" sz="quarter" idx="12"/>
          </p:nvPr>
        </p:nvSpPr>
        <p:spPr/>
        <p:txBody>
          <a:bodyPr/>
          <a:lstStyle/>
          <a:p>
            <a:fld id="{2A69F336-2DD4-44CE-8205-AE3F61CEB7C8}" type="slidenum">
              <a:rPr lang="ru-RU" smtClean="0"/>
              <a:t>9</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335360" y="1988840"/>
            <a:ext cx="11713301" cy="1281486"/>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ru-RU" sz="2400" dirty="0">
                <a:cs typeface="Times New Roman" panose="02020603050405020304" pitchFamily="18" charset="0"/>
              </a:rPr>
              <a:t>Часто бывает нужно перевести строку в число. У классов оберток примитивных типов есть методы, которые служат как раз для этой цели. Все эти методы начинаются со слова </a:t>
            </a:r>
            <a:r>
              <a:rPr lang="en-US" sz="2400" dirty="0">
                <a:cs typeface="Times New Roman" panose="02020603050405020304" pitchFamily="18" charset="0"/>
              </a:rPr>
              <a:t>parse.</a:t>
            </a:r>
          </a:p>
        </p:txBody>
      </p:sp>
      <p:pic>
        <p:nvPicPr>
          <p:cNvPr id="3" name="Picture 2">
            <a:extLst>
              <a:ext uri="{FF2B5EF4-FFF2-40B4-BE49-F238E27FC236}">
                <a16:creationId xmlns:a16="http://schemas.microsoft.com/office/drawing/2014/main" id="{4494CAF4-A339-456B-9EC9-E491BBC69B76}"/>
              </a:ext>
            </a:extLst>
          </p:cNvPr>
          <p:cNvPicPr>
            <a:picLocks noChangeAspect="1"/>
          </p:cNvPicPr>
          <p:nvPr/>
        </p:nvPicPr>
        <p:blipFill>
          <a:blip r:embed="rId3"/>
          <a:stretch>
            <a:fillRect/>
          </a:stretch>
        </p:blipFill>
        <p:spPr>
          <a:xfrm>
            <a:off x="2940779" y="3270326"/>
            <a:ext cx="6310441" cy="22574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1072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Сравнение строк</a:t>
            </a:r>
          </a:p>
        </p:txBody>
      </p:sp>
      <p:sp>
        <p:nvSpPr>
          <p:cNvPr id="4" name="Номер слайда 3"/>
          <p:cNvSpPr>
            <a:spLocks noGrp="1"/>
          </p:cNvSpPr>
          <p:nvPr>
            <p:ph type="sldNum" sz="quarter" idx="12"/>
          </p:nvPr>
        </p:nvSpPr>
        <p:spPr/>
        <p:txBody>
          <a:bodyPr/>
          <a:lstStyle/>
          <a:p>
            <a:fld id="{2A69F336-2DD4-44CE-8205-AE3F61CEB7C8}" type="slidenum">
              <a:rPr lang="ru-RU" smtClean="0"/>
              <a:t>10</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609600" y="1988839"/>
            <a:ext cx="11713301" cy="305942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ru-RU" sz="2400" dirty="0">
                <a:cs typeface="Times New Roman" panose="02020603050405020304" pitchFamily="18" charset="0"/>
              </a:rPr>
              <a:t>Для сравнения строк можно воспользоваться методами</a:t>
            </a:r>
          </a:p>
          <a:p>
            <a:pPr algn="just"/>
            <a:r>
              <a:rPr lang="ru-RU" sz="2400" dirty="0">
                <a:cs typeface="Times New Roman" panose="02020603050405020304" pitchFamily="18" charset="0"/>
              </a:rPr>
              <a:t> </a:t>
            </a:r>
            <a:r>
              <a:rPr lang="en-US" sz="2400" dirty="0">
                <a:cs typeface="Times New Roman" panose="02020603050405020304" pitchFamily="18" charset="0"/>
              </a:rPr>
              <a:t>equals()</a:t>
            </a:r>
            <a:endParaRPr lang="ru-RU" sz="2400" dirty="0">
              <a:cs typeface="Times New Roman" panose="02020603050405020304" pitchFamily="18" charset="0"/>
            </a:endParaRPr>
          </a:p>
          <a:p>
            <a:pPr algn="just"/>
            <a:r>
              <a:rPr lang="en-US" sz="2400" dirty="0" err="1">
                <a:cs typeface="Times New Roman" panose="02020603050405020304" pitchFamily="18" charset="0"/>
              </a:rPr>
              <a:t>compareTo</a:t>
            </a:r>
            <a:r>
              <a:rPr lang="en-US" sz="2400" dirty="0">
                <a:cs typeface="Times New Roman" panose="02020603050405020304" pitchFamily="18" charset="0"/>
              </a:rPr>
              <a:t>()</a:t>
            </a:r>
          </a:p>
        </p:txBody>
      </p:sp>
      <p:pic>
        <p:nvPicPr>
          <p:cNvPr id="6" name="Picture 5">
            <a:extLst>
              <a:ext uri="{FF2B5EF4-FFF2-40B4-BE49-F238E27FC236}">
                <a16:creationId xmlns:a16="http://schemas.microsoft.com/office/drawing/2014/main" id="{34BAE93B-120E-4838-805F-E4FDD7063485}"/>
              </a:ext>
            </a:extLst>
          </p:cNvPr>
          <p:cNvPicPr>
            <a:picLocks noChangeAspect="1"/>
          </p:cNvPicPr>
          <p:nvPr/>
        </p:nvPicPr>
        <p:blipFill>
          <a:blip r:embed="rId3"/>
          <a:stretch>
            <a:fillRect/>
          </a:stretch>
        </p:blipFill>
        <p:spPr>
          <a:xfrm>
            <a:off x="2924175" y="3349631"/>
            <a:ext cx="6343650" cy="23526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100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Перевод коллекции строк</a:t>
            </a:r>
          </a:p>
        </p:txBody>
      </p:sp>
      <p:sp>
        <p:nvSpPr>
          <p:cNvPr id="4" name="Номер слайда 3"/>
          <p:cNvSpPr>
            <a:spLocks noGrp="1"/>
          </p:cNvSpPr>
          <p:nvPr>
            <p:ph type="sldNum" sz="quarter" idx="12"/>
          </p:nvPr>
        </p:nvSpPr>
        <p:spPr/>
        <p:txBody>
          <a:bodyPr/>
          <a:lstStyle/>
          <a:p>
            <a:fld id="{2A69F336-2DD4-44CE-8205-AE3F61CEB7C8}" type="slidenum">
              <a:rPr lang="ru-RU" smtClean="0"/>
              <a:t>11</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609600" y="1809739"/>
            <a:ext cx="9776828" cy="305942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ru-RU" sz="2000" dirty="0">
                <a:cs typeface="Times New Roman" panose="02020603050405020304" pitchFamily="18" charset="0"/>
              </a:rPr>
              <a:t>Если нужно преобразовать все элементы некоторой коллекции строк к строковому представлению через произвольный разделитель, можно использовать такие методы класса </a:t>
            </a:r>
            <a:r>
              <a:rPr lang="en-US" sz="2000" dirty="0">
                <a:cs typeface="Times New Roman" panose="02020603050405020304" pitchFamily="18" charset="0"/>
              </a:rPr>
              <a:t>String:</a:t>
            </a:r>
          </a:p>
          <a:p>
            <a:pPr marL="0" indent="0">
              <a:buNone/>
            </a:pPr>
            <a:endParaRPr lang="en-US" sz="2000" dirty="0">
              <a:cs typeface="Times New Roman" panose="02020603050405020304" pitchFamily="18" charset="0"/>
            </a:endParaRPr>
          </a:p>
          <a:p>
            <a:pPr marL="400050" lvl="1" indent="0">
              <a:buNone/>
            </a:pPr>
            <a:r>
              <a:rPr lang="en-US" sz="1800" dirty="0">
                <a:solidFill>
                  <a:schemeClr val="bg1">
                    <a:lumMod val="10000"/>
                  </a:schemeClr>
                </a:solidFill>
                <a:latin typeface="Consolas" panose="020B0609020204030204" pitchFamily="49" charset="0"/>
                <a:cs typeface="Times New Roman" panose="02020603050405020304" pitchFamily="18" charset="0"/>
              </a:rPr>
              <a:t>join(</a:t>
            </a:r>
            <a:r>
              <a:rPr lang="en-US" sz="1800" dirty="0" err="1">
                <a:solidFill>
                  <a:schemeClr val="bg1">
                    <a:lumMod val="10000"/>
                  </a:schemeClr>
                </a:solidFill>
                <a:latin typeface="Consolas" panose="020B0609020204030204" pitchFamily="49" charset="0"/>
                <a:cs typeface="Times New Roman" panose="02020603050405020304" pitchFamily="18" charset="0"/>
              </a:rPr>
              <a:t>CharSequence</a:t>
            </a:r>
            <a:r>
              <a:rPr lang="en-US" sz="1800" dirty="0">
                <a:solidFill>
                  <a:schemeClr val="bg1">
                    <a:lumMod val="10000"/>
                  </a:schemeClr>
                </a:solidFill>
                <a:latin typeface="Consolas" panose="020B0609020204030204" pitchFamily="49" charset="0"/>
                <a:cs typeface="Times New Roman" panose="02020603050405020304" pitchFamily="18" charset="0"/>
              </a:rPr>
              <a:t> delimiter, </a:t>
            </a:r>
            <a:r>
              <a:rPr lang="en-US" sz="1800" dirty="0" err="1">
                <a:solidFill>
                  <a:schemeClr val="bg1">
                    <a:lumMod val="10000"/>
                  </a:schemeClr>
                </a:solidFill>
                <a:latin typeface="Consolas" panose="020B0609020204030204" pitchFamily="49" charset="0"/>
                <a:cs typeface="Times New Roman" panose="02020603050405020304" pitchFamily="18" charset="0"/>
              </a:rPr>
              <a:t>CharSequence</a:t>
            </a:r>
            <a:r>
              <a:rPr lang="en-US" sz="1800" dirty="0">
                <a:solidFill>
                  <a:schemeClr val="bg1">
                    <a:lumMod val="10000"/>
                  </a:schemeClr>
                </a:solidFill>
                <a:latin typeface="Consolas" panose="020B0609020204030204" pitchFamily="49" charset="0"/>
                <a:cs typeface="Times New Roman" panose="02020603050405020304" pitchFamily="18" charset="0"/>
              </a:rPr>
              <a:t>... elements)</a:t>
            </a:r>
          </a:p>
          <a:p>
            <a:pPr marL="400050" lvl="1" indent="0">
              <a:buNone/>
            </a:pPr>
            <a:r>
              <a:rPr lang="en-US" sz="1800" dirty="0">
                <a:solidFill>
                  <a:schemeClr val="bg1">
                    <a:lumMod val="10000"/>
                  </a:schemeClr>
                </a:solidFill>
                <a:latin typeface="Consolas" panose="020B0609020204030204" pitchFamily="49" charset="0"/>
                <a:cs typeface="Times New Roman" panose="02020603050405020304" pitchFamily="18" charset="0"/>
              </a:rPr>
              <a:t>join(</a:t>
            </a:r>
            <a:r>
              <a:rPr lang="en-US" sz="1800" dirty="0" err="1">
                <a:solidFill>
                  <a:schemeClr val="bg1">
                    <a:lumMod val="10000"/>
                  </a:schemeClr>
                </a:solidFill>
                <a:latin typeface="Consolas" panose="020B0609020204030204" pitchFamily="49" charset="0"/>
                <a:cs typeface="Times New Roman" panose="02020603050405020304" pitchFamily="18" charset="0"/>
              </a:rPr>
              <a:t>CharSequence</a:t>
            </a:r>
            <a:r>
              <a:rPr lang="en-US" sz="1800" dirty="0">
                <a:solidFill>
                  <a:schemeClr val="bg1">
                    <a:lumMod val="10000"/>
                  </a:schemeClr>
                </a:solidFill>
                <a:latin typeface="Consolas" panose="020B0609020204030204" pitchFamily="49" charset="0"/>
                <a:cs typeface="Times New Roman" panose="02020603050405020304" pitchFamily="18" charset="0"/>
              </a:rPr>
              <a:t> delimiter, </a:t>
            </a:r>
            <a:r>
              <a:rPr lang="en-US" sz="1800" dirty="0" err="1">
                <a:solidFill>
                  <a:schemeClr val="bg1">
                    <a:lumMod val="10000"/>
                  </a:schemeClr>
                </a:solidFill>
                <a:latin typeface="Consolas" panose="020B0609020204030204" pitchFamily="49" charset="0"/>
                <a:cs typeface="Times New Roman" panose="02020603050405020304" pitchFamily="18" charset="0"/>
              </a:rPr>
              <a:t>Iterable</a:t>
            </a:r>
            <a:r>
              <a:rPr lang="en-US" sz="1800" dirty="0">
                <a:solidFill>
                  <a:schemeClr val="bg1">
                    <a:lumMod val="10000"/>
                  </a:schemeClr>
                </a:solidFill>
                <a:latin typeface="Consolas" panose="020B0609020204030204" pitchFamily="49" charset="0"/>
                <a:cs typeface="Times New Roman" panose="02020603050405020304" pitchFamily="18" charset="0"/>
              </a:rPr>
              <a:t>&lt;? extends </a:t>
            </a:r>
            <a:r>
              <a:rPr lang="en-US" sz="1800" dirty="0" err="1">
                <a:solidFill>
                  <a:schemeClr val="bg1">
                    <a:lumMod val="10000"/>
                  </a:schemeClr>
                </a:solidFill>
                <a:latin typeface="Consolas" panose="020B0609020204030204" pitchFamily="49" charset="0"/>
                <a:cs typeface="Times New Roman" panose="02020603050405020304" pitchFamily="18" charset="0"/>
              </a:rPr>
              <a:t>CharSequence</a:t>
            </a:r>
            <a:r>
              <a:rPr lang="en-US" sz="1800" dirty="0">
                <a:solidFill>
                  <a:schemeClr val="bg1">
                    <a:lumMod val="10000"/>
                  </a:schemeClr>
                </a:solidFill>
                <a:latin typeface="Consolas" panose="020B0609020204030204" pitchFamily="49" charset="0"/>
                <a:cs typeface="Times New Roman" panose="02020603050405020304" pitchFamily="18" charset="0"/>
              </a:rPr>
              <a:t>&gt; elements)</a:t>
            </a:r>
          </a:p>
          <a:p>
            <a:pPr marL="0" indent="0">
              <a:buNone/>
            </a:pPr>
            <a:endParaRPr lang="en-US" sz="1800" dirty="0">
              <a:cs typeface="Times New Roman" panose="02020603050405020304" pitchFamily="18" charset="0"/>
            </a:endParaRPr>
          </a:p>
          <a:p>
            <a:pPr marL="0" indent="0">
              <a:buNone/>
            </a:pPr>
            <a:r>
              <a:rPr lang="ru-RU" sz="1800" dirty="0">
                <a:cs typeface="Times New Roman" panose="02020603050405020304" pitchFamily="18" charset="0"/>
              </a:rPr>
              <a:t>где </a:t>
            </a:r>
            <a:r>
              <a:rPr lang="en-US" sz="1800" dirty="0">
                <a:solidFill>
                  <a:schemeClr val="bg1">
                    <a:lumMod val="10000"/>
                  </a:schemeClr>
                </a:solidFill>
                <a:latin typeface="Consolas" panose="020B0609020204030204" pitchFamily="49" charset="0"/>
                <a:cs typeface="Times New Roman" panose="02020603050405020304" pitchFamily="18" charset="0"/>
              </a:rPr>
              <a:t>delimiter</a:t>
            </a:r>
            <a:r>
              <a:rPr lang="en-US" sz="1800" dirty="0">
                <a:cs typeface="Times New Roman" panose="02020603050405020304" pitchFamily="18" charset="0"/>
              </a:rPr>
              <a:t> — </a:t>
            </a:r>
            <a:r>
              <a:rPr lang="ru-RU" sz="1800" dirty="0">
                <a:cs typeface="Times New Roman" panose="02020603050405020304" pitchFamily="18" charset="0"/>
              </a:rPr>
              <a:t>разделитель элементов, </a:t>
            </a:r>
          </a:p>
          <a:p>
            <a:pPr marL="0" indent="0">
              <a:buNone/>
            </a:pPr>
            <a:r>
              <a:rPr lang="ru-RU" sz="1800" dirty="0">
                <a:cs typeface="Times New Roman" panose="02020603050405020304" pitchFamily="18" charset="0"/>
              </a:rPr>
              <a:t>а </a:t>
            </a:r>
            <a:r>
              <a:rPr lang="en-US" sz="1800" dirty="0">
                <a:solidFill>
                  <a:schemeClr val="bg1">
                    <a:lumMod val="10000"/>
                  </a:schemeClr>
                </a:solidFill>
                <a:latin typeface="Consolas" panose="020B0609020204030204" pitchFamily="49" charset="0"/>
                <a:cs typeface="Times New Roman" panose="02020603050405020304" pitchFamily="18" charset="0"/>
              </a:rPr>
              <a:t>elements</a:t>
            </a:r>
            <a:r>
              <a:rPr lang="en-US" sz="1800" dirty="0">
                <a:cs typeface="Times New Roman" panose="02020603050405020304" pitchFamily="18" charset="0"/>
              </a:rPr>
              <a:t> — </a:t>
            </a:r>
            <a:r>
              <a:rPr lang="ru-RU" sz="1800" dirty="0">
                <a:cs typeface="Times New Roman" panose="02020603050405020304" pitchFamily="18" charset="0"/>
              </a:rPr>
              <a:t>массив строк / экземпляр коллекции строк. </a:t>
            </a:r>
          </a:p>
          <a:p>
            <a:pPr marL="0" indent="0">
              <a:buNone/>
            </a:pPr>
            <a:endParaRPr lang="ru-RU" sz="2400" dirty="0">
              <a:cs typeface="Times New Roman" panose="02020603050405020304" pitchFamily="18" charset="0"/>
            </a:endParaRPr>
          </a:p>
        </p:txBody>
      </p:sp>
      <p:pic>
        <p:nvPicPr>
          <p:cNvPr id="3" name="Picture 2">
            <a:extLst>
              <a:ext uri="{FF2B5EF4-FFF2-40B4-BE49-F238E27FC236}">
                <a16:creationId xmlns:a16="http://schemas.microsoft.com/office/drawing/2014/main" id="{F5936B9C-614E-4521-97D3-620624E6969C}"/>
              </a:ext>
            </a:extLst>
          </p:cNvPr>
          <p:cNvPicPr>
            <a:picLocks noChangeAspect="1"/>
          </p:cNvPicPr>
          <p:nvPr/>
        </p:nvPicPr>
        <p:blipFill>
          <a:blip r:embed="rId3"/>
          <a:stretch>
            <a:fillRect/>
          </a:stretch>
        </p:blipFill>
        <p:spPr>
          <a:xfrm>
            <a:off x="3659225" y="5145094"/>
            <a:ext cx="8143875" cy="11144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2101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C84984-919F-462E-AB25-58B3DBD95A31}"/>
              </a:ext>
            </a:extLst>
          </p:cNvPr>
          <p:cNvSpPr>
            <a:spLocks noGrp="1"/>
          </p:cNvSpPr>
          <p:nvPr>
            <p:ph type="title"/>
          </p:nvPr>
        </p:nvSpPr>
        <p:spPr/>
        <p:txBody>
          <a:bodyPr/>
          <a:lstStyle/>
          <a:p>
            <a:r>
              <a:rPr lang="ru-RU" dirty="0"/>
              <a:t>Регулярные выражения</a:t>
            </a:r>
          </a:p>
        </p:txBody>
      </p:sp>
      <p:sp>
        <p:nvSpPr>
          <p:cNvPr id="3" name="Text Placeholder 2"/>
          <p:cNvSpPr>
            <a:spLocks noGrp="1"/>
          </p:cNvSpPr>
          <p:nvPr>
            <p:ph type="body" sz="quarter" idx="4294967295"/>
          </p:nvPr>
        </p:nvSpPr>
        <p:spPr>
          <a:xfrm>
            <a:off x="609601" y="1809740"/>
            <a:ext cx="7178936" cy="4268332"/>
          </a:xfrm>
        </p:spPr>
        <p:txBody>
          <a:bodyPr>
            <a:noAutofit/>
          </a:bodyPr>
          <a:lstStyle/>
          <a:p>
            <a:r>
              <a:rPr lang="ru-RU" sz="2000" dirty="0"/>
              <a:t>Регулярные выражения представляют мощный инструмент для обработки строк. Регулярные выражения позволяют задать шаблон, которому должна соответствовать строка или подстрока.</a:t>
            </a:r>
          </a:p>
          <a:p>
            <a:r>
              <a:rPr lang="ru-RU" sz="2000" dirty="0"/>
              <a:t>Некоторые методы класса </a:t>
            </a:r>
            <a:r>
              <a:rPr lang="ru-RU" sz="2000" b="1" dirty="0" err="1"/>
              <a:t>String</a:t>
            </a:r>
            <a:r>
              <a:rPr lang="ru-RU" sz="2000" dirty="0"/>
              <a:t> принимают регулярные выражения и используют их для выполнения операций над строками.</a:t>
            </a:r>
          </a:p>
          <a:p>
            <a:pPr marL="876286" lvl="1" indent="-342900">
              <a:buFont typeface="Arial" panose="020B0604020202020204" pitchFamily="34" charset="0"/>
              <a:buChar char="•"/>
            </a:pPr>
            <a:r>
              <a:rPr lang="ru-RU" sz="1600" dirty="0"/>
              <a:t>Для разделения строки на подстроки применяется метод </a:t>
            </a:r>
            <a:r>
              <a:rPr lang="ru-RU" sz="1600" b="1" dirty="0" err="1"/>
              <a:t>split</a:t>
            </a:r>
            <a:r>
              <a:rPr lang="ru-RU" sz="1600" b="1" dirty="0"/>
              <a:t>()</a:t>
            </a:r>
            <a:r>
              <a:rPr lang="ru-RU" sz="1600" dirty="0"/>
              <a:t>. В качестве параметра он может принимать регулярное выражение, которое представляет критерий разделения строки.</a:t>
            </a:r>
          </a:p>
          <a:p>
            <a:pPr marL="876286" lvl="1" indent="-342900">
              <a:buFont typeface="Arial" panose="020B0604020202020204" pitchFamily="34" charset="0"/>
              <a:buChar char="•"/>
            </a:pPr>
            <a:r>
              <a:rPr lang="ru-RU" sz="1600" b="1" dirty="0" err="1"/>
              <a:t>matches</a:t>
            </a:r>
            <a:r>
              <a:rPr lang="ru-RU" sz="1600" b="1" dirty="0"/>
              <a:t>()</a:t>
            </a:r>
            <a:r>
              <a:rPr lang="ru-RU" sz="1600" dirty="0"/>
              <a:t> принимает регулярное выражение и возвращает </a:t>
            </a:r>
            <a:r>
              <a:rPr lang="ru-RU" sz="1600" b="1" dirty="0" err="1"/>
              <a:t>true</a:t>
            </a:r>
            <a:r>
              <a:rPr lang="ru-RU" sz="1600" dirty="0"/>
              <a:t>, если строка соответствует этому выражению. Иначе возвращает </a:t>
            </a:r>
            <a:r>
              <a:rPr lang="ru-RU" sz="1600" b="1" dirty="0" err="1"/>
              <a:t>false</a:t>
            </a:r>
            <a:r>
              <a:rPr lang="ru-RU" sz="1600" dirty="0"/>
              <a:t>.</a:t>
            </a:r>
          </a:p>
          <a:p>
            <a:endParaRPr lang="ru-RU" sz="2000" dirty="0"/>
          </a:p>
        </p:txBody>
      </p:sp>
      <p:pic>
        <p:nvPicPr>
          <p:cNvPr id="2050" name="Picture 2" descr="Alternative for confusing RegEx">
            <a:extLst>
              <a:ext uri="{FF2B5EF4-FFF2-40B4-BE49-F238E27FC236}">
                <a16:creationId xmlns:a16="http://schemas.microsoft.com/office/drawing/2014/main" id="{5D10CA0E-F9C9-4DED-84BB-0B8948C692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8602"/>
          <a:stretch/>
        </p:blipFill>
        <p:spPr bwMode="auto">
          <a:xfrm>
            <a:off x="7982173" y="1991161"/>
            <a:ext cx="3894493" cy="390548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0727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fontScale="90000"/>
          </a:bodyPr>
          <a:lstStyle/>
          <a:p>
            <a:r>
              <a:rPr lang="ru-RU" dirty="0"/>
              <a:t>Разбиение строки на массив строк</a:t>
            </a:r>
          </a:p>
        </p:txBody>
      </p:sp>
      <p:sp>
        <p:nvSpPr>
          <p:cNvPr id="4" name="Номер слайда 3"/>
          <p:cNvSpPr>
            <a:spLocks noGrp="1"/>
          </p:cNvSpPr>
          <p:nvPr>
            <p:ph type="sldNum" sz="quarter" idx="12"/>
          </p:nvPr>
        </p:nvSpPr>
        <p:spPr/>
        <p:txBody>
          <a:bodyPr/>
          <a:lstStyle/>
          <a:p>
            <a:fld id="{2A69F336-2DD4-44CE-8205-AE3F61CEB7C8}" type="slidenum">
              <a:rPr lang="ru-RU" smtClean="0"/>
              <a:t>13</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335360" y="1988839"/>
            <a:ext cx="11713301" cy="1001787"/>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ru-RU" sz="2400" dirty="0">
                <a:cs typeface="Times New Roman" panose="02020603050405020304" pitchFamily="18" charset="0"/>
              </a:rPr>
              <a:t>Эту операцию выполняет метод </a:t>
            </a:r>
            <a:r>
              <a:rPr lang="en-US" sz="2400" dirty="0">
                <a:cs typeface="Times New Roman" panose="02020603050405020304" pitchFamily="18" charset="0"/>
              </a:rPr>
              <a:t>split(String regex)</a:t>
            </a:r>
          </a:p>
          <a:p>
            <a:pPr marL="0" indent="0">
              <a:buNone/>
            </a:pPr>
            <a:r>
              <a:rPr lang="ru-RU" sz="2400" dirty="0">
                <a:cs typeface="Times New Roman" panose="02020603050405020304" pitchFamily="18" charset="0"/>
              </a:rPr>
              <a:t>В качестве разделителя выступает строковое регулярное выражение </a:t>
            </a:r>
            <a:r>
              <a:rPr lang="en-US" sz="2400" dirty="0">
                <a:cs typeface="Times New Roman" panose="02020603050405020304" pitchFamily="18" charset="0"/>
              </a:rPr>
              <a:t>regex. </a:t>
            </a:r>
          </a:p>
        </p:txBody>
      </p:sp>
      <p:pic>
        <p:nvPicPr>
          <p:cNvPr id="5" name="Picture 4">
            <a:extLst>
              <a:ext uri="{FF2B5EF4-FFF2-40B4-BE49-F238E27FC236}">
                <a16:creationId xmlns:a16="http://schemas.microsoft.com/office/drawing/2014/main" id="{22582EC4-AB66-4E85-A5BC-E6F949C412EB}"/>
              </a:ext>
            </a:extLst>
          </p:cNvPr>
          <p:cNvPicPr>
            <a:picLocks noChangeAspect="1"/>
          </p:cNvPicPr>
          <p:nvPr/>
        </p:nvPicPr>
        <p:blipFill>
          <a:blip r:embed="rId3"/>
          <a:stretch>
            <a:fillRect/>
          </a:stretch>
        </p:blipFill>
        <p:spPr>
          <a:xfrm>
            <a:off x="1214868" y="3351825"/>
            <a:ext cx="8580464" cy="228709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AECF207E-3C09-43D3-8E96-F01E70DC2E70}"/>
              </a:ext>
            </a:extLst>
          </p:cNvPr>
          <p:cNvPicPr>
            <a:picLocks noChangeAspect="1"/>
          </p:cNvPicPr>
          <p:nvPr/>
        </p:nvPicPr>
        <p:blipFill rotWithShape="1">
          <a:blip r:embed="rId4"/>
          <a:srcRect t="4865" b="-1"/>
          <a:stretch/>
        </p:blipFill>
        <p:spPr>
          <a:xfrm>
            <a:off x="7279902" y="4986478"/>
            <a:ext cx="3333750" cy="130487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02549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Определение позиции элемента</a:t>
            </a:r>
          </a:p>
        </p:txBody>
      </p:sp>
      <p:sp>
        <p:nvSpPr>
          <p:cNvPr id="4" name="Номер слайда 3"/>
          <p:cNvSpPr>
            <a:spLocks noGrp="1"/>
          </p:cNvSpPr>
          <p:nvPr>
            <p:ph type="sldNum" sz="quarter" idx="12"/>
          </p:nvPr>
        </p:nvSpPr>
        <p:spPr/>
        <p:txBody>
          <a:bodyPr/>
          <a:lstStyle/>
          <a:p>
            <a:fld id="{2A69F336-2DD4-44CE-8205-AE3F61CEB7C8}" type="slidenum">
              <a:rPr lang="ru-RU" smtClean="0"/>
              <a:t>14</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335360" y="1988839"/>
            <a:ext cx="11713301" cy="4202422"/>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ru-RU" sz="2400" dirty="0">
                <a:cs typeface="Times New Roman" panose="02020603050405020304" pitchFamily="18" charset="0"/>
              </a:rPr>
              <a:t>Набор методов для определения позиции символа/подстроки в строке:</a:t>
            </a:r>
            <a:endParaRPr lang="en-US" sz="2400" dirty="0">
              <a:cs typeface="Times New Roman" panose="02020603050405020304" pitchFamily="18" charset="0"/>
            </a:endParaRPr>
          </a:p>
          <a:p>
            <a:pPr marL="0" indent="0">
              <a:buNone/>
            </a:pPr>
            <a:endParaRPr lang="ru-RU" sz="2400" dirty="0">
              <a:cs typeface="Times New Roman" panose="02020603050405020304" pitchFamily="18" charset="0"/>
            </a:endParaRP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indexOf</a:t>
            </a:r>
            <a:r>
              <a:rPr lang="en-US" sz="1600" dirty="0">
                <a:solidFill>
                  <a:schemeClr val="bg1">
                    <a:lumMod val="10000"/>
                  </a:schemeClr>
                </a:solidFill>
                <a:latin typeface="Consolas" panose="020B0609020204030204" pitchFamily="49" charset="0"/>
                <a:cs typeface="Times New Roman" panose="02020603050405020304" pitchFamily="18" charset="0"/>
              </a:rPr>
              <a:t>(int </a:t>
            </a:r>
            <a:r>
              <a:rPr lang="en-US" sz="1600" dirty="0" err="1">
                <a:solidFill>
                  <a:schemeClr val="bg1">
                    <a:lumMod val="10000"/>
                  </a:schemeClr>
                </a:solidFill>
                <a:latin typeface="Consolas" panose="020B0609020204030204" pitchFamily="49" charset="0"/>
                <a:cs typeface="Times New Roman" panose="02020603050405020304" pitchFamily="18" charset="0"/>
              </a:rPr>
              <a:t>ch</a:t>
            </a:r>
            <a:r>
              <a:rPr lang="en-US" sz="1600" dirty="0">
                <a:solidFill>
                  <a:schemeClr val="bg1">
                    <a:lumMod val="10000"/>
                  </a:schemeClr>
                </a:solidFill>
                <a:latin typeface="Consolas" panose="020B0609020204030204" pitchFamily="49" charset="0"/>
                <a:cs typeface="Times New Roman" panose="02020603050405020304" pitchFamily="18" charset="0"/>
              </a:rPr>
              <a:t>)</a:t>
            </a: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indexOf</a:t>
            </a:r>
            <a:r>
              <a:rPr lang="en-US" sz="1600" dirty="0">
                <a:solidFill>
                  <a:schemeClr val="bg1">
                    <a:lumMod val="10000"/>
                  </a:schemeClr>
                </a:solidFill>
                <a:latin typeface="Consolas" panose="020B0609020204030204" pitchFamily="49" charset="0"/>
                <a:cs typeface="Times New Roman" panose="02020603050405020304" pitchFamily="18" charset="0"/>
              </a:rPr>
              <a:t>(int </a:t>
            </a:r>
            <a:r>
              <a:rPr lang="en-US" sz="1600" dirty="0" err="1">
                <a:solidFill>
                  <a:schemeClr val="bg1">
                    <a:lumMod val="10000"/>
                  </a:schemeClr>
                </a:solidFill>
                <a:latin typeface="Consolas" panose="020B0609020204030204" pitchFamily="49" charset="0"/>
                <a:cs typeface="Times New Roman" panose="02020603050405020304" pitchFamily="18" charset="0"/>
              </a:rPr>
              <a:t>ch</a:t>
            </a:r>
            <a:r>
              <a:rPr lang="en-US" sz="1600" dirty="0">
                <a:solidFill>
                  <a:schemeClr val="bg1">
                    <a:lumMod val="10000"/>
                  </a:schemeClr>
                </a:solidFill>
                <a:latin typeface="Consolas" panose="020B0609020204030204" pitchFamily="49" charset="0"/>
                <a:cs typeface="Times New Roman" panose="02020603050405020304" pitchFamily="18" charset="0"/>
              </a:rPr>
              <a:t>, int </a:t>
            </a:r>
            <a:r>
              <a:rPr lang="en-US" sz="1600" dirty="0" err="1">
                <a:solidFill>
                  <a:schemeClr val="bg1">
                    <a:lumMod val="10000"/>
                  </a:schemeClr>
                </a:solidFill>
                <a:latin typeface="Consolas" panose="020B0609020204030204" pitchFamily="49" charset="0"/>
                <a:cs typeface="Times New Roman" panose="02020603050405020304" pitchFamily="18" charset="0"/>
              </a:rPr>
              <a:t>fromIndex</a:t>
            </a:r>
            <a:r>
              <a:rPr lang="en-US" sz="1600" dirty="0">
                <a:solidFill>
                  <a:schemeClr val="bg1">
                    <a:lumMod val="10000"/>
                  </a:schemeClr>
                </a:solidFill>
                <a:latin typeface="Consolas" panose="020B0609020204030204" pitchFamily="49" charset="0"/>
                <a:cs typeface="Times New Roman" panose="02020603050405020304" pitchFamily="18" charset="0"/>
              </a:rPr>
              <a:t>)</a:t>
            </a: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indexOf</a:t>
            </a:r>
            <a:r>
              <a:rPr lang="en-US" sz="1600" dirty="0">
                <a:solidFill>
                  <a:schemeClr val="bg1">
                    <a:lumMod val="10000"/>
                  </a:schemeClr>
                </a:solidFill>
                <a:latin typeface="Consolas" panose="020B0609020204030204" pitchFamily="49" charset="0"/>
                <a:cs typeface="Times New Roman" panose="02020603050405020304" pitchFamily="18" charset="0"/>
              </a:rPr>
              <a:t>(String str)</a:t>
            </a: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indexOf</a:t>
            </a:r>
            <a:r>
              <a:rPr lang="en-US" sz="1600" dirty="0">
                <a:solidFill>
                  <a:schemeClr val="bg1">
                    <a:lumMod val="10000"/>
                  </a:schemeClr>
                </a:solidFill>
                <a:latin typeface="Consolas" panose="020B0609020204030204" pitchFamily="49" charset="0"/>
                <a:cs typeface="Times New Roman" panose="02020603050405020304" pitchFamily="18" charset="0"/>
              </a:rPr>
              <a:t>(String str, int </a:t>
            </a:r>
            <a:r>
              <a:rPr lang="en-US" sz="1600" dirty="0" err="1">
                <a:solidFill>
                  <a:schemeClr val="bg1">
                    <a:lumMod val="10000"/>
                  </a:schemeClr>
                </a:solidFill>
                <a:latin typeface="Consolas" panose="020B0609020204030204" pitchFamily="49" charset="0"/>
                <a:cs typeface="Times New Roman" panose="02020603050405020304" pitchFamily="18" charset="0"/>
              </a:rPr>
              <a:t>fromIndex</a:t>
            </a:r>
            <a:r>
              <a:rPr lang="en-US" sz="1600" dirty="0">
                <a:solidFill>
                  <a:schemeClr val="bg1">
                    <a:lumMod val="10000"/>
                  </a:schemeClr>
                </a:solidFill>
                <a:latin typeface="Consolas" panose="020B0609020204030204" pitchFamily="49" charset="0"/>
                <a:cs typeface="Times New Roman" panose="02020603050405020304" pitchFamily="18" charset="0"/>
              </a:rPr>
              <a:t>)</a:t>
            </a: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lastIndexOf</a:t>
            </a:r>
            <a:r>
              <a:rPr lang="en-US" sz="1600" dirty="0">
                <a:solidFill>
                  <a:schemeClr val="bg1">
                    <a:lumMod val="10000"/>
                  </a:schemeClr>
                </a:solidFill>
                <a:latin typeface="Consolas" panose="020B0609020204030204" pitchFamily="49" charset="0"/>
                <a:cs typeface="Times New Roman" panose="02020603050405020304" pitchFamily="18" charset="0"/>
              </a:rPr>
              <a:t>(int </a:t>
            </a:r>
            <a:r>
              <a:rPr lang="en-US" sz="1600" dirty="0" err="1">
                <a:solidFill>
                  <a:schemeClr val="bg1">
                    <a:lumMod val="10000"/>
                  </a:schemeClr>
                </a:solidFill>
                <a:latin typeface="Consolas" panose="020B0609020204030204" pitchFamily="49" charset="0"/>
                <a:cs typeface="Times New Roman" panose="02020603050405020304" pitchFamily="18" charset="0"/>
              </a:rPr>
              <a:t>ch</a:t>
            </a:r>
            <a:r>
              <a:rPr lang="en-US" sz="1600" dirty="0">
                <a:solidFill>
                  <a:schemeClr val="bg1">
                    <a:lumMod val="10000"/>
                  </a:schemeClr>
                </a:solidFill>
                <a:latin typeface="Consolas" panose="020B0609020204030204" pitchFamily="49" charset="0"/>
                <a:cs typeface="Times New Roman" panose="02020603050405020304" pitchFamily="18" charset="0"/>
              </a:rPr>
              <a:t>)</a:t>
            </a: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lastIndexOf</a:t>
            </a:r>
            <a:r>
              <a:rPr lang="en-US" sz="1600" dirty="0">
                <a:solidFill>
                  <a:schemeClr val="bg1">
                    <a:lumMod val="10000"/>
                  </a:schemeClr>
                </a:solidFill>
                <a:latin typeface="Consolas" panose="020B0609020204030204" pitchFamily="49" charset="0"/>
                <a:cs typeface="Times New Roman" panose="02020603050405020304" pitchFamily="18" charset="0"/>
              </a:rPr>
              <a:t>(int </a:t>
            </a:r>
            <a:r>
              <a:rPr lang="en-US" sz="1600" dirty="0" err="1">
                <a:solidFill>
                  <a:schemeClr val="bg1">
                    <a:lumMod val="10000"/>
                  </a:schemeClr>
                </a:solidFill>
                <a:latin typeface="Consolas" panose="020B0609020204030204" pitchFamily="49" charset="0"/>
                <a:cs typeface="Times New Roman" panose="02020603050405020304" pitchFamily="18" charset="0"/>
              </a:rPr>
              <a:t>ch</a:t>
            </a:r>
            <a:r>
              <a:rPr lang="en-US" sz="1600" dirty="0">
                <a:solidFill>
                  <a:schemeClr val="bg1">
                    <a:lumMod val="10000"/>
                  </a:schemeClr>
                </a:solidFill>
                <a:latin typeface="Consolas" panose="020B0609020204030204" pitchFamily="49" charset="0"/>
                <a:cs typeface="Times New Roman" panose="02020603050405020304" pitchFamily="18" charset="0"/>
              </a:rPr>
              <a:t>, int </a:t>
            </a:r>
            <a:r>
              <a:rPr lang="en-US" sz="1600" dirty="0" err="1">
                <a:solidFill>
                  <a:schemeClr val="bg1">
                    <a:lumMod val="10000"/>
                  </a:schemeClr>
                </a:solidFill>
                <a:latin typeface="Consolas" panose="020B0609020204030204" pitchFamily="49" charset="0"/>
                <a:cs typeface="Times New Roman" panose="02020603050405020304" pitchFamily="18" charset="0"/>
              </a:rPr>
              <a:t>fromIndex</a:t>
            </a:r>
            <a:r>
              <a:rPr lang="en-US" sz="1600" dirty="0">
                <a:solidFill>
                  <a:schemeClr val="bg1">
                    <a:lumMod val="10000"/>
                  </a:schemeClr>
                </a:solidFill>
                <a:latin typeface="Consolas" panose="020B0609020204030204" pitchFamily="49" charset="0"/>
                <a:cs typeface="Times New Roman" panose="02020603050405020304" pitchFamily="18" charset="0"/>
              </a:rPr>
              <a:t>)</a:t>
            </a: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lastIndexOf</a:t>
            </a:r>
            <a:r>
              <a:rPr lang="en-US" sz="1600" dirty="0">
                <a:solidFill>
                  <a:schemeClr val="bg1">
                    <a:lumMod val="10000"/>
                  </a:schemeClr>
                </a:solidFill>
                <a:latin typeface="Consolas" panose="020B0609020204030204" pitchFamily="49" charset="0"/>
                <a:cs typeface="Times New Roman" panose="02020603050405020304" pitchFamily="18" charset="0"/>
              </a:rPr>
              <a:t>(String str)</a:t>
            </a:r>
          </a:p>
          <a:p>
            <a:pPr marL="400050" lvl="1" indent="0">
              <a:buNone/>
            </a:pPr>
            <a:r>
              <a:rPr lang="en-US" sz="1600" dirty="0" err="1">
                <a:solidFill>
                  <a:schemeClr val="bg1">
                    <a:lumMod val="10000"/>
                  </a:schemeClr>
                </a:solidFill>
                <a:latin typeface="Consolas" panose="020B0609020204030204" pitchFamily="49" charset="0"/>
                <a:cs typeface="Times New Roman" panose="02020603050405020304" pitchFamily="18" charset="0"/>
              </a:rPr>
              <a:t>lastIndexOf</a:t>
            </a:r>
            <a:r>
              <a:rPr lang="en-US" sz="1600" dirty="0">
                <a:solidFill>
                  <a:schemeClr val="bg1">
                    <a:lumMod val="10000"/>
                  </a:schemeClr>
                </a:solidFill>
                <a:latin typeface="Consolas" panose="020B0609020204030204" pitchFamily="49" charset="0"/>
                <a:cs typeface="Times New Roman" panose="02020603050405020304" pitchFamily="18" charset="0"/>
              </a:rPr>
              <a:t>(String str, int </a:t>
            </a:r>
            <a:r>
              <a:rPr lang="en-US" sz="1600" dirty="0" err="1">
                <a:solidFill>
                  <a:schemeClr val="bg1">
                    <a:lumMod val="10000"/>
                  </a:schemeClr>
                </a:solidFill>
                <a:latin typeface="Consolas" panose="020B0609020204030204" pitchFamily="49" charset="0"/>
                <a:cs typeface="Times New Roman" panose="02020603050405020304" pitchFamily="18" charset="0"/>
              </a:rPr>
              <a:t>fromIndex</a:t>
            </a:r>
            <a:r>
              <a:rPr lang="en-US" sz="1600" dirty="0">
                <a:solidFill>
                  <a:schemeClr val="bg1">
                    <a:lumMod val="10000"/>
                  </a:schemeClr>
                </a:solidFill>
                <a:latin typeface="Consolas" panose="020B0609020204030204" pitchFamily="49" charset="0"/>
                <a:cs typeface="Times New Roman" panose="02020603050405020304" pitchFamily="18" charset="0"/>
              </a:rPr>
              <a:t>)</a:t>
            </a:r>
          </a:p>
          <a:p>
            <a:pPr marL="400050" lvl="1" indent="0">
              <a:buNone/>
            </a:pPr>
            <a:endParaRPr lang="en-US" sz="1600" dirty="0">
              <a:solidFill>
                <a:schemeClr val="bg1">
                  <a:lumMod val="10000"/>
                </a:schemeClr>
              </a:solidFill>
              <a:latin typeface="Consolas" panose="020B0609020204030204" pitchFamily="49" charset="0"/>
              <a:cs typeface="Times New Roman" panose="02020603050405020304" pitchFamily="18" charset="0"/>
            </a:endParaRPr>
          </a:p>
          <a:p>
            <a:pPr marL="0" indent="0">
              <a:buNone/>
            </a:pPr>
            <a:r>
              <a:rPr lang="ru-RU" sz="2000" dirty="0">
                <a:cs typeface="Times New Roman" panose="02020603050405020304" pitchFamily="18" charset="0"/>
              </a:rPr>
              <a:t>Если искомый элемент не найден, методы вернут в строке -1, иначе индекс элемента</a:t>
            </a:r>
          </a:p>
          <a:p>
            <a:pPr marL="0" indent="0">
              <a:buNone/>
            </a:pPr>
            <a:endParaRPr lang="en-US" sz="2000" dirty="0">
              <a:solidFill>
                <a:schemeClr val="bg1">
                  <a:lumMod val="10000"/>
                </a:schemeClr>
              </a:solidFill>
              <a:latin typeface="Consolas" panose="020B0609020204030204" pitchFamily="49" charset="0"/>
              <a:cs typeface="Times New Roman" panose="02020603050405020304" pitchFamily="18" charset="0"/>
            </a:endParaRPr>
          </a:p>
        </p:txBody>
      </p:sp>
      <p:pic>
        <p:nvPicPr>
          <p:cNvPr id="3" name="Picture 2">
            <a:extLst>
              <a:ext uri="{FF2B5EF4-FFF2-40B4-BE49-F238E27FC236}">
                <a16:creationId xmlns:a16="http://schemas.microsoft.com/office/drawing/2014/main" id="{6964BC76-BFB0-4B4D-B1F7-21236385E5FE}"/>
              </a:ext>
            </a:extLst>
          </p:cNvPr>
          <p:cNvPicPr>
            <a:picLocks noChangeAspect="1"/>
          </p:cNvPicPr>
          <p:nvPr/>
        </p:nvPicPr>
        <p:blipFill>
          <a:blip r:embed="rId3"/>
          <a:stretch>
            <a:fillRect/>
          </a:stretch>
        </p:blipFill>
        <p:spPr>
          <a:xfrm>
            <a:off x="5309546" y="2806802"/>
            <a:ext cx="6547094" cy="20986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68015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Извлечение подстроки</a:t>
            </a:r>
          </a:p>
        </p:txBody>
      </p:sp>
      <p:sp>
        <p:nvSpPr>
          <p:cNvPr id="4" name="Номер слайда 3"/>
          <p:cNvSpPr>
            <a:spLocks noGrp="1"/>
          </p:cNvSpPr>
          <p:nvPr>
            <p:ph type="sldNum" sz="quarter" idx="12"/>
          </p:nvPr>
        </p:nvSpPr>
        <p:spPr/>
        <p:txBody>
          <a:bodyPr/>
          <a:lstStyle/>
          <a:p>
            <a:fld id="{2A69F336-2DD4-44CE-8205-AE3F61CEB7C8}" type="slidenum">
              <a:rPr lang="ru-RU" smtClean="0"/>
              <a:t>15</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335360" y="1796819"/>
            <a:ext cx="11713301" cy="305942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ru-RU" sz="2400" dirty="0">
                <a:cs typeface="Times New Roman" panose="02020603050405020304" pitchFamily="18" charset="0"/>
              </a:rPr>
              <a:t>Для извлечения подстроки из строки класс </a:t>
            </a:r>
            <a:r>
              <a:rPr lang="en-US" sz="2400" dirty="0">
                <a:cs typeface="Times New Roman" panose="02020603050405020304" pitchFamily="18" charset="0"/>
              </a:rPr>
              <a:t>String </a:t>
            </a:r>
            <a:r>
              <a:rPr lang="ru-RU" sz="2400" dirty="0">
                <a:cs typeface="Times New Roman" panose="02020603050405020304" pitchFamily="18" charset="0"/>
              </a:rPr>
              <a:t>в </a:t>
            </a:r>
            <a:r>
              <a:rPr lang="en-US" sz="2400" dirty="0">
                <a:cs typeface="Times New Roman" panose="02020603050405020304" pitchFamily="18" charset="0"/>
              </a:rPr>
              <a:t>Java </a:t>
            </a:r>
            <a:r>
              <a:rPr lang="ru-RU" sz="2400" dirty="0">
                <a:cs typeface="Times New Roman" panose="02020603050405020304" pitchFamily="18" charset="0"/>
              </a:rPr>
              <a:t>предоставляет методы: </a:t>
            </a:r>
          </a:p>
          <a:p>
            <a:pPr marL="400050" lvl="1" indent="0">
              <a:buNone/>
            </a:pPr>
            <a:r>
              <a:rPr lang="en-US" sz="1600" dirty="0">
                <a:solidFill>
                  <a:schemeClr val="bg1">
                    <a:lumMod val="10000"/>
                  </a:schemeClr>
                </a:solidFill>
                <a:latin typeface="Consolas" panose="020B0609020204030204" pitchFamily="49" charset="0"/>
                <a:cs typeface="Times New Roman" panose="02020603050405020304" pitchFamily="18" charset="0"/>
              </a:rPr>
              <a:t>substring(int </a:t>
            </a:r>
            <a:r>
              <a:rPr lang="en-US" sz="1600" dirty="0" err="1">
                <a:solidFill>
                  <a:schemeClr val="bg1">
                    <a:lumMod val="10000"/>
                  </a:schemeClr>
                </a:solidFill>
                <a:latin typeface="Consolas" panose="020B0609020204030204" pitchFamily="49" charset="0"/>
                <a:cs typeface="Times New Roman" panose="02020603050405020304" pitchFamily="18" charset="0"/>
              </a:rPr>
              <a:t>beginIndex</a:t>
            </a:r>
            <a:r>
              <a:rPr lang="en-US" sz="1600" dirty="0">
                <a:solidFill>
                  <a:schemeClr val="bg1">
                    <a:lumMod val="10000"/>
                  </a:schemeClr>
                </a:solidFill>
                <a:latin typeface="Consolas" panose="020B0609020204030204" pitchFamily="49" charset="0"/>
                <a:cs typeface="Times New Roman" panose="02020603050405020304" pitchFamily="18" charset="0"/>
              </a:rPr>
              <a:t>)</a:t>
            </a:r>
          </a:p>
          <a:p>
            <a:pPr marL="400050" lvl="1" indent="0">
              <a:buNone/>
            </a:pPr>
            <a:r>
              <a:rPr lang="en-US" sz="1600" dirty="0">
                <a:solidFill>
                  <a:schemeClr val="bg1">
                    <a:lumMod val="10000"/>
                  </a:schemeClr>
                </a:solidFill>
                <a:latin typeface="Consolas" panose="020B0609020204030204" pitchFamily="49" charset="0"/>
                <a:cs typeface="Times New Roman" panose="02020603050405020304" pitchFamily="18" charset="0"/>
              </a:rPr>
              <a:t>substring(int </a:t>
            </a:r>
            <a:r>
              <a:rPr lang="en-US" sz="1600" dirty="0" err="1">
                <a:solidFill>
                  <a:schemeClr val="bg1">
                    <a:lumMod val="10000"/>
                  </a:schemeClr>
                </a:solidFill>
                <a:latin typeface="Consolas" panose="020B0609020204030204" pitchFamily="49" charset="0"/>
                <a:cs typeface="Times New Roman" panose="02020603050405020304" pitchFamily="18" charset="0"/>
              </a:rPr>
              <a:t>beginIndex</a:t>
            </a:r>
            <a:r>
              <a:rPr lang="en-US" sz="1600" dirty="0">
                <a:solidFill>
                  <a:schemeClr val="bg1">
                    <a:lumMod val="10000"/>
                  </a:schemeClr>
                </a:solidFill>
                <a:latin typeface="Consolas" panose="020B0609020204030204" pitchFamily="49" charset="0"/>
                <a:cs typeface="Times New Roman" panose="02020603050405020304" pitchFamily="18" charset="0"/>
              </a:rPr>
              <a:t>, int </a:t>
            </a:r>
            <a:r>
              <a:rPr lang="en-US" sz="1600" dirty="0" err="1">
                <a:solidFill>
                  <a:schemeClr val="bg1">
                    <a:lumMod val="10000"/>
                  </a:schemeClr>
                </a:solidFill>
                <a:latin typeface="Consolas" panose="020B0609020204030204" pitchFamily="49" charset="0"/>
                <a:cs typeface="Times New Roman" panose="02020603050405020304" pitchFamily="18" charset="0"/>
              </a:rPr>
              <a:t>endIndex</a:t>
            </a:r>
            <a:r>
              <a:rPr lang="en-US" sz="1600" dirty="0">
                <a:solidFill>
                  <a:schemeClr val="bg1">
                    <a:lumMod val="10000"/>
                  </a:schemeClr>
                </a:solidFill>
                <a:latin typeface="Consolas" panose="020B0609020204030204" pitchFamily="49" charset="0"/>
                <a:cs typeface="Times New Roman" panose="02020603050405020304" pitchFamily="18" charset="0"/>
              </a:rPr>
              <a:t>)</a:t>
            </a:r>
          </a:p>
        </p:txBody>
      </p:sp>
      <p:pic>
        <p:nvPicPr>
          <p:cNvPr id="5" name="Picture 4">
            <a:extLst>
              <a:ext uri="{FF2B5EF4-FFF2-40B4-BE49-F238E27FC236}">
                <a16:creationId xmlns:a16="http://schemas.microsoft.com/office/drawing/2014/main" id="{448E9577-8DC8-4B66-A05C-58F5C777FB84}"/>
              </a:ext>
            </a:extLst>
          </p:cNvPr>
          <p:cNvPicPr>
            <a:picLocks noChangeAspect="1"/>
          </p:cNvPicPr>
          <p:nvPr/>
        </p:nvPicPr>
        <p:blipFill>
          <a:blip r:embed="rId3"/>
          <a:stretch>
            <a:fillRect/>
          </a:stretch>
        </p:blipFill>
        <p:spPr>
          <a:xfrm>
            <a:off x="1634196" y="3429000"/>
            <a:ext cx="8923608" cy="19117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60570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p:spPr>
        <p:txBody>
          <a:bodyPr>
            <a:normAutofit/>
          </a:bodyPr>
          <a:lstStyle/>
          <a:p>
            <a:r>
              <a:rPr lang="ru-RU" dirty="0"/>
              <a:t>Верхний/нижний регистр</a:t>
            </a:r>
          </a:p>
        </p:txBody>
      </p:sp>
      <p:sp>
        <p:nvSpPr>
          <p:cNvPr id="4" name="Номер слайда 3"/>
          <p:cNvSpPr>
            <a:spLocks noGrp="1"/>
          </p:cNvSpPr>
          <p:nvPr>
            <p:ph type="sldNum" sz="quarter" idx="12"/>
          </p:nvPr>
        </p:nvSpPr>
        <p:spPr/>
        <p:txBody>
          <a:bodyPr/>
          <a:lstStyle/>
          <a:p>
            <a:fld id="{2A69F336-2DD4-44CE-8205-AE3F61CEB7C8}" type="slidenum">
              <a:rPr lang="ru-RU" smtClean="0"/>
              <a:t>16</a:t>
            </a:fld>
            <a:endParaRPr lang="ru-RU"/>
          </a:p>
        </p:txBody>
      </p:sp>
      <p:sp>
        <p:nvSpPr>
          <p:cNvPr id="16" name="Подзаголовок 6">
            <a:extLst>
              <a:ext uri="{FF2B5EF4-FFF2-40B4-BE49-F238E27FC236}">
                <a16:creationId xmlns:a16="http://schemas.microsoft.com/office/drawing/2014/main" id="{F8E89ABA-374F-4401-8445-7A09744BF987}"/>
              </a:ext>
            </a:extLst>
          </p:cNvPr>
          <p:cNvSpPr txBox="1">
            <a:spLocks/>
          </p:cNvSpPr>
          <p:nvPr/>
        </p:nvSpPr>
        <p:spPr>
          <a:xfrm>
            <a:off x="609600" y="1809739"/>
            <a:ext cx="11713301" cy="3059423"/>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ru-RU" sz="2400" dirty="0">
                <a:cs typeface="Times New Roman" panose="02020603050405020304" pitchFamily="18" charset="0"/>
              </a:rPr>
              <a:t>Класс </a:t>
            </a:r>
            <a:r>
              <a:rPr lang="ru-RU" sz="2400" dirty="0" err="1">
                <a:cs typeface="Times New Roman" panose="02020603050405020304" pitchFamily="18" charset="0"/>
              </a:rPr>
              <a:t>String</a:t>
            </a:r>
            <a:r>
              <a:rPr lang="ru-RU" sz="2400" dirty="0">
                <a:cs typeface="Times New Roman" panose="02020603050405020304" pitchFamily="18" charset="0"/>
              </a:rPr>
              <a:t> предоставляет методы для перевода строки в верхний и нижний регистры: </a:t>
            </a:r>
          </a:p>
          <a:p>
            <a:pPr marL="0" indent="0">
              <a:buNone/>
            </a:pPr>
            <a:r>
              <a:rPr lang="ru-RU" sz="2400" i="1" dirty="0" err="1">
                <a:solidFill>
                  <a:schemeClr val="accent4">
                    <a:lumMod val="10000"/>
                  </a:schemeClr>
                </a:solidFill>
                <a:latin typeface="Courier New" panose="02070309020205020404" pitchFamily="49" charset="0"/>
                <a:cs typeface="Courier New" panose="02070309020205020404" pitchFamily="49" charset="0"/>
              </a:rPr>
              <a:t>toLowerCase</a:t>
            </a:r>
            <a:r>
              <a:rPr lang="ru-RU" sz="2400" i="1" dirty="0">
                <a:solidFill>
                  <a:schemeClr val="accent4">
                    <a:lumMod val="10000"/>
                  </a:schemeClr>
                </a:solidFill>
                <a:latin typeface="Courier New" panose="02070309020205020404" pitchFamily="49" charset="0"/>
                <a:cs typeface="Courier New" panose="02070309020205020404" pitchFamily="49" charset="0"/>
              </a:rPr>
              <a:t>()</a:t>
            </a:r>
          </a:p>
          <a:p>
            <a:pPr marL="0" indent="0">
              <a:buNone/>
            </a:pPr>
            <a:r>
              <a:rPr lang="ru-RU" sz="2400" i="1" dirty="0" err="1">
                <a:solidFill>
                  <a:schemeClr val="accent4">
                    <a:lumMod val="10000"/>
                  </a:schemeClr>
                </a:solidFill>
                <a:latin typeface="Courier New" panose="02070309020205020404" pitchFamily="49" charset="0"/>
                <a:cs typeface="Courier New" panose="02070309020205020404" pitchFamily="49" charset="0"/>
              </a:rPr>
              <a:t>toUpperCase</a:t>
            </a:r>
            <a:r>
              <a:rPr lang="ru-RU" sz="2400" i="1" dirty="0">
                <a:solidFill>
                  <a:schemeClr val="accent4">
                    <a:lumMod val="10000"/>
                  </a:schemeClr>
                </a:solidFill>
                <a:latin typeface="Courier New" panose="02070309020205020404" pitchFamily="49" charset="0"/>
                <a:cs typeface="Courier New" panose="02070309020205020404" pitchFamily="49" charset="0"/>
              </a:rPr>
              <a:t>()</a:t>
            </a:r>
          </a:p>
        </p:txBody>
      </p:sp>
      <p:pic>
        <p:nvPicPr>
          <p:cNvPr id="3" name="Picture 2">
            <a:extLst>
              <a:ext uri="{FF2B5EF4-FFF2-40B4-BE49-F238E27FC236}">
                <a16:creationId xmlns:a16="http://schemas.microsoft.com/office/drawing/2014/main" id="{6DB9549B-0C43-44C2-B745-859E8C8F29A8}"/>
              </a:ext>
            </a:extLst>
          </p:cNvPr>
          <p:cNvPicPr>
            <a:picLocks noChangeAspect="1"/>
          </p:cNvPicPr>
          <p:nvPr/>
        </p:nvPicPr>
        <p:blipFill>
          <a:blip r:embed="rId3"/>
          <a:stretch>
            <a:fillRect/>
          </a:stretch>
        </p:blipFill>
        <p:spPr>
          <a:xfrm>
            <a:off x="3037453" y="3429000"/>
            <a:ext cx="7122547" cy="17932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30548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554"/>
          <a:stretch/>
        </p:blipFill>
        <p:spPr bwMode="auto">
          <a:xfrm>
            <a:off x="2532185" y="4605168"/>
            <a:ext cx="3083469" cy="158609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4">
            <a:extLst>
              <a:ext uri="{FF2B5EF4-FFF2-40B4-BE49-F238E27FC236}">
                <a16:creationId xmlns:a16="http://schemas.microsoft.com/office/drawing/2014/main" id="{124791EB-E525-49E3-AA54-D195D6299682}"/>
              </a:ext>
            </a:extLst>
          </p:cNvPr>
          <p:cNvSpPr>
            <a:spLocks noGrp="1"/>
          </p:cNvSpPr>
          <p:nvPr>
            <p:ph type="title"/>
          </p:nvPr>
        </p:nvSpPr>
        <p:spPr/>
        <p:txBody>
          <a:bodyPr/>
          <a:lstStyle/>
          <a:p>
            <a:r>
              <a:rPr lang="en-US" dirty="0" err="1"/>
              <a:t>StringBuffer</a:t>
            </a:r>
            <a:r>
              <a:rPr lang="en-US" dirty="0"/>
              <a:t> </a:t>
            </a:r>
            <a:r>
              <a:rPr lang="ru-RU" dirty="0"/>
              <a:t>и </a:t>
            </a:r>
            <a:r>
              <a:rPr lang="en-US" dirty="0"/>
              <a:t>StringBuilder</a:t>
            </a:r>
            <a:endParaRPr lang="ru-RU" dirty="0"/>
          </a:p>
        </p:txBody>
      </p:sp>
      <p:sp>
        <p:nvSpPr>
          <p:cNvPr id="3" name="Текст 2"/>
          <p:cNvSpPr>
            <a:spLocks noGrp="1"/>
          </p:cNvSpPr>
          <p:nvPr>
            <p:ph type="body" sz="quarter" idx="4294967295"/>
          </p:nvPr>
        </p:nvSpPr>
        <p:spPr>
          <a:xfrm>
            <a:off x="609600" y="1809739"/>
            <a:ext cx="10706100" cy="4508500"/>
          </a:xfrm>
        </p:spPr>
        <p:txBody>
          <a:bodyPr>
            <a:normAutofit/>
          </a:bodyPr>
          <a:lstStyle/>
          <a:p>
            <a:r>
              <a:rPr lang="ru-RU" sz="2000" dirty="0"/>
              <a:t>Объекты </a:t>
            </a:r>
            <a:r>
              <a:rPr lang="ru-RU" sz="2000" b="1" dirty="0" err="1"/>
              <a:t>String</a:t>
            </a:r>
            <a:r>
              <a:rPr lang="ru-RU" sz="2000" dirty="0"/>
              <a:t> являются неизменяемыми, поэтому все операции, которые изменяют строки, фактически приводят к созданию новой строки, что сказывается на производительности приложения.</a:t>
            </a:r>
            <a:endParaRPr lang="en-US" sz="2000" dirty="0"/>
          </a:p>
          <a:p>
            <a:r>
              <a:rPr lang="ru-RU" sz="2000" dirty="0"/>
              <a:t>Чтобы работа со строками проходила с меньшими издержками в </a:t>
            </a:r>
            <a:r>
              <a:rPr lang="ru-RU" sz="2000" dirty="0" err="1"/>
              <a:t>Java</a:t>
            </a:r>
            <a:r>
              <a:rPr lang="ru-RU" sz="2000" dirty="0"/>
              <a:t> были добавлены классы </a:t>
            </a:r>
            <a:r>
              <a:rPr lang="ru-RU" sz="2000" b="1" dirty="0" err="1"/>
              <a:t>StringBuffer</a:t>
            </a:r>
            <a:r>
              <a:rPr lang="ru-RU" sz="2000" dirty="0"/>
              <a:t> и </a:t>
            </a:r>
            <a:r>
              <a:rPr lang="ru-RU" sz="2000" b="1" dirty="0" err="1"/>
              <a:t>StringBuilder</a:t>
            </a:r>
            <a:r>
              <a:rPr lang="ru-RU" sz="2000" dirty="0"/>
              <a:t>.</a:t>
            </a:r>
            <a:endParaRPr lang="en-US" sz="2000" dirty="0"/>
          </a:p>
          <a:p>
            <a:r>
              <a:rPr lang="ru-RU" sz="2000" dirty="0"/>
              <a:t>Различие состоит в том, что класс </a:t>
            </a:r>
            <a:r>
              <a:rPr lang="ru-RU" sz="2000" b="1" dirty="0" err="1"/>
              <a:t>StringBuffer</a:t>
            </a:r>
            <a:r>
              <a:rPr lang="ru-RU" sz="2000" dirty="0"/>
              <a:t> синхронизированный и </a:t>
            </a:r>
            <a:r>
              <a:rPr lang="ru-RU" sz="2000" dirty="0" err="1"/>
              <a:t>потокобезопасный</a:t>
            </a:r>
            <a:r>
              <a:rPr lang="ru-RU" sz="2000" dirty="0"/>
              <a:t>, а класс </a:t>
            </a:r>
            <a:r>
              <a:rPr lang="ru-RU" sz="2000" b="1" dirty="0" err="1"/>
              <a:t>StringBuilder</a:t>
            </a:r>
            <a:r>
              <a:rPr lang="ru-RU" sz="2000" dirty="0"/>
              <a:t>  </a:t>
            </a:r>
            <a:r>
              <a:rPr lang="ru-RU" sz="2000" b="1" dirty="0"/>
              <a:t>не </a:t>
            </a:r>
            <a:r>
              <a:rPr lang="ru-RU" sz="2000" b="1" dirty="0" err="1"/>
              <a:t>потокобезопасный</a:t>
            </a:r>
            <a:r>
              <a:rPr lang="ru-RU" sz="2000" dirty="0"/>
              <a:t>, но при этом работает быстрее, чем </a:t>
            </a:r>
            <a:r>
              <a:rPr lang="ru-RU" sz="2000" b="1" dirty="0" err="1"/>
              <a:t>StringBuffer</a:t>
            </a:r>
            <a:r>
              <a:rPr lang="ru-RU" sz="2000" dirty="0"/>
              <a:t> в однопоточных приложениях.</a:t>
            </a:r>
          </a:p>
        </p:txBody>
      </p:sp>
      <p:pic>
        <p:nvPicPr>
          <p:cNvPr id="4" name="Picture 4" descr="https://im0-tub-ru.yandex.net/i?id=36348dfc41ddbc4285dfe4ac0c25afd6-srl&amp;n=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5113" y="4327442"/>
            <a:ext cx="3673937" cy="226047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731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DDB97-7D5E-433E-9F17-6FE43590812D}"/>
              </a:ext>
            </a:extLst>
          </p:cNvPr>
          <p:cNvSpPr>
            <a:spLocks noGrp="1"/>
          </p:cNvSpPr>
          <p:nvPr>
            <p:ph type="title"/>
          </p:nvPr>
        </p:nvSpPr>
        <p:spPr/>
        <p:txBody>
          <a:bodyPr/>
          <a:lstStyle/>
          <a:p>
            <a:r>
              <a:rPr lang="en-US" dirty="0"/>
              <a:t>StringBuilder</a:t>
            </a:r>
            <a:endParaRPr lang="ru-RU" dirty="0"/>
          </a:p>
        </p:txBody>
      </p:sp>
      <p:sp>
        <p:nvSpPr>
          <p:cNvPr id="3" name="Rectangle 2">
            <a:extLst>
              <a:ext uri="{FF2B5EF4-FFF2-40B4-BE49-F238E27FC236}">
                <a16:creationId xmlns:a16="http://schemas.microsoft.com/office/drawing/2014/main" id="{D73931A0-05D1-4380-8738-45EC3A7AB9F8}"/>
              </a:ext>
            </a:extLst>
          </p:cNvPr>
          <p:cNvSpPr/>
          <p:nvPr/>
        </p:nvSpPr>
        <p:spPr>
          <a:xfrm>
            <a:off x="609601" y="1809739"/>
            <a:ext cx="10972799" cy="3693319"/>
          </a:xfrm>
          <a:prstGeom prst="rect">
            <a:avLst/>
          </a:prstGeom>
        </p:spPr>
        <p:txBody>
          <a:bodyPr wrap="square">
            <a:spAutoFit/>
          </a:bodyPr>
          <a:lstStyle/>
          <a:p>
            <a:r>
              <a:rPr lang="en-US" b="1" dirty="0"/>
              <a:t>StringBuilder append(obj) </a:t>
            </a:r>
            <a:r>
              <a:rPr lang="ru-RU" dirty="0"/>
              <a:t>Преобразовывает переданный объект в строку и добавляет к текущей строке</a:t>
            </a:r>
          </a:p>
          <a:p>
            <a:r>
              <a:rPr lang="en-US" b="1" dirty="0"/>
              <a:t>StringBuilder insert(int index, obj) </a:t>
            </a:r>
            <a:r>
              <a:rPr lang="ru-RU" dirty="0"/>
              <a:t>Преобразовывает переданный объект в строку и вставляет в текущую строку</a:t>
            </a:r>
          </a:p>
          <a:p>
            <a:r>
              <a:rPr lang="en-US" b="1" dirty="0"/>
              <a:t>StringBuilder replace(int start, int end, String str) </a:t>
            </a:r>
            <a:r>
              <a:rPr lang="ru-RU" dirty="0"/>
              <a:t>Заменяет часть строки, заданную интервалом </a:t>
            </a:r>
            <a:r>
              <a:rPr lang="en-US" dirty="0" err="1"/>
              <a:t>start..end</a:t>
            </a:r>
            <a:r>
              <a:rPr lang="en-US" dirty="0"/>
              <a:t> </a:t>
            </a:r>
            <a:r>
              <a:rPr lang="ru-RU" dirty="0"/>
              <a:t>на переданную строку</a:t>
            </a:r>
          </a:p>
          <a:p>
            <a:r>
              <a:rPr lang="en-US" b="1" dirty="0"/>
              <a:t>StringBuilder </a:t>
            </a:r>
            <a:r>
              <a:rPr lang="en-US" b="1" dirty="0" err="1"/>
              <a:t>deleteCharAt</a:t>
            </a:r>
            <a:r>
              <a:rPr lang="en-US" b="1" dirty="0"/>
              <a:t>(int index) </a:t>
            </a:r>
            <a:r>
              <a:rPr lang="ru-RU" dirty="0"/>
              <a:t>Удаляет из строки символ под номером </a:t>
            </a:r>
            <a:r>
              <a:rPr lang="en-US" dirty="0"/>
              <a:t>index</a:t>
            </a:r>
          </a:p>
          <a:p>
            <a:r>
              <a:rPr lang="en-US" b="1" dirty="0"/>
              <a:t>StringBuilder delete(int start, int end)</a:t>
            </a:r>
            <a:r>
              <a:rPr lang="en-US" dirty="0"/>
              <a:t> </a:t>
            </a:r>
            <a:r>
              <a:rPr lang="ru-RU" dirty="0"/>
              <a:t>Удаляет из строки символы, заданные интервалом</a:t>
            </a:r>
          </a:p>
          <a:p>
            <a:r>
              <a:rPr lang="en-US" b="1" dirty="0"/>
              <a:t>int </a:t>
            </a:r>
            <a:r>
              <a:rPr lang="en-US" b="1" dirty="0" err="1"/>
              <a:t>indexOf</a:t>
            </a:r>
            <a:r>
              <a:rPr lang="en-US" b="1" dirty="0"/>
              <a:t>(String str, int index) </a:t>
            </a:r>
            <a:r>
              <a:rPr lang="ru-RU" dirty="0"/>
              <a:t>Ищет подстроку в текущей строке</a:t>
            </a:r>
          </a:p>
          <a:p>
            <a:r>
              <a:rPr lang="en-US" b="1" dirty="0"/>
              <a:t>int </a:t>
            </a:r>
            <a:r>
              <a:rPr lang="en-US" b="1" dirty="0" err="1"/>
              <a:t>lastIndexOf</a:t>
            </a:r>
            <a:r>
              <a:rPr lang="en-US" b="1" dirty="0"/>
              <a:t>(String str, int index) </a:t>
            </a:r>
            <a:r>
              <a:rPr lang="ru-RU" dirty="0"/>
              <a:t>Ищет подстроку в текущей строке с конца</a:t>
            </a:r>
          </a:p>
          <a:p>
            <a:r>
              <a:rPr lang="en-US" b="1" dirty="0"/>
              <a:t>char </a:t>
            </a:r>
            <a:r>
              <a:rPr lang="en-US" b="1" dirty="0" err="1"/>
              <a:t>charAt</a:t>
            </a:r>
            <a:r>
              <a:rPr lang="en-US" b="1" dirty="0"/>
              <a:t>(int index) </a:t>
            </a:r>
            <a:r>
              <a:rPr lang="ru-RU" dirty="0"/>
              <a:t>Возвращает символ строки по его индексу</a:t>
            </a:r>
          </a:p>
          <a:p>
            <a:r>
              <a:rPr lang="en-US" b="1" dirty="0"/>
              <a:t>String substring(int start, int end) </a:t>
            </a:r>
            <a:r>
              <a:rPr lang="ru-RU" dirty="0"/>
              <a:t>Возвращает подстроку, заданную интервалом</a:t>
            </a:r>
          </a:p>
          <a:p>
            <a:r>
              <a:rPr lang="en-US" b="1" dirty="0"/>
              <a:t>StringBuilder reverse() </a:t>
            </a:r>
            <a:r>
              <a:rPr lang="ru-RU" dirty="0"/>
              <a:t>Разворачивает строку задом наперед.</a:t>
            </a:r>
          </a:p>
          <a:p>
            <a:r>
              <a:rPr lang="en-US" b="1" dirty="0"/>
              <a:t>void </a:t>
            </a:r>
            <a:r>
              <a:rPr lang="en-US" b="1" dirty="0" err="1"/>
              <a:t>setCharAt</a:t>
            </a:r>
            <a:r>
              <a:rPr lang="en-US" b="1" dirty="0"/>
              <a:t>(int index, char) </a:t>
            </a:r>
            <a:r>
              <a:rPr lang="ru-RU" dirty="0"/>
              <a:t>Изменяет символ строки, заданный индексом на переданный</a:t>
            </a:r>
          </a:p>
          <a:p>
            <a:r>
              <a:rPr lang="en-US" b="1" dirty="0"/>
              <a:t>int length() </a:t>
            </a:r>
            <a:r>
              <a:rPr lang="ru-RU" dirty="0"/>
              <a:t>Возвращает длину строки в символах</a:t>
            </a:r>
          </a:p>
        </p:txBody>
      </p:sp>
    </p:spTree>
    <p:extLst>
      <p:ext uri="{BB962C8B-B14F-4D97-AF65-F5344CB8AC3E}">
        <p14:creationId xmlns:p14="http://schemas.microsoft.com/office/powerpoint/2010/main" val="136091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3495-7DB6-4BDF-97D0-DA5551CFEBDD}"/>
              </a:ext>
            </a:extLst>
          </p:cNvPr>
          <p:cNvSpPr>
            <a:spLocks noGrp="1"/>
          </p:cNvSpPr>
          <p:nvPr>
            <p:ph type="title"/>
          </p:nvPr>
        </p:nvSpPr>
        <p:spPr/>
        <p:txBody>
          <a:bodyPr>
            <a:normAutofit fontScale="90000"/>
          </a:bodyPr>
          <a:lstStyle/>
          <a:p>
            <a:r>
              <a:rPr lang="en-US" dirty="0"/>
              <a:t>StringBuilder: </a:t>
            </a:r>
            <a:r>
              <a:rPr lang="ru-RU" dirty="0"/>
              <a:t>добавление к строке</a:t>
            </a:r>
          </a:p>
        </p:txBody>
      </p:sp>
      <p:sp>
        <p:nvSpPr>
          <p:cNvPr id="4" name="Rectangle 3">
            <a:extLst>
              <a:ext uri="{FF2B5EF4-FFF2-40B4-BE49-F238E27FC236}">
                <a16:creationId xmlns:a16="http://schemas.microsoft.com/office/drawing/2014/main" id="{DEDE00DC-0F83-4C95-92B3-199554D6B787}"/>
              </a:ext>
            </a:extLst>
          </p:cNvPr>
          <p:cNvSpPr/>
          <p:nvPr/>
        </p:nvSpPr>
        <p:spPr>
          <a:xfrm>
            <a:off x="609599" y="1809739"/>
            <a:ext cx="10266381" cy="369332"/>
          </a:xfrm>
          <a:prstGeom prst="rect">
            <a:avLst/>
          </a:prstGeom>
        </p:spPr>
        <p:txBody>
          <a:bodyPr wrap="square">
            <a:spAutoFit/>
          </a:bodyPr>
          <a:lstStyle/>
          <a:p>
            <a:r>
              <a:rPr lang="ru-RU" dirty="0"/>
              <a:t>Чтобы что-то добавить к изменяемой строке (</a:t>
            </a:r>
            <a:r>
              <a:rPr lang="ru-RU" dirty="0" err="1"/>
              <a:t>StringBuilder</a:t>
            </a:r>
            <a:r>
              <a:rPr lang="ru-RU" dirty="0"/>
              <a:t>), нужно воспользоваться методом </a:t>
            </a:r>
            <a:r>
              <a:rPr lang="ru-RU" dirty="0" err="1"/>
              <a:t>append</a:t>
            </a:r>
            <a:r>
              <a:rPr lang="ru-RU" dirty="0"/>
              <a:t>()</a:t>
            </a:r>
          </a:p>
        </p:txBody>
      </p:sp>
      <p:pic>
        <p:nvPicPr>
          <p:cNvPr id="5" name="Picture 4">
            <a:extLst>
              <a:ext uri="{FF2B5EF4-FFF2-40B4-BE49-F238E27FC236}">
                <a16:creationId xmlns:a16="http://schemas.microsoft.com/office/drawing/2014/main" id="{27415686-C73D-487B-B078-84408FB0C0E2}"/>
              </a:ext>
            </a:extLst>
          </p:cNvPr>
          <p:cNvPicPr>
            <a:picLocks noChangeAspect="1"/>
          </p:cNvPicPr>
          <p:nvPr/>
        </p:nvPicPr>
        <p:blipFill>
          <a:blip r:embed="rId2"/>
          <a:stretch>
            <a:fillRect/>
          </a:stretch>
        </p:blipFill>
        <p:spPr>
          <a:xfrm>
            <a:off x="2318117" y="3243318"/>
            <a:ext cx="7555765" cy="2210809"/>
          </a:xfrm>
          <a:prstGeom prst="rect">
            <a:avLst/>
          </a:prstGeom>
        </p:spPr>
      </p:pic>
      <p:sp>
        <p:nvSpPr>
          <p:cNvPr id="3" name="TextBox 2">
            <a:extLst>
              <a:ext uri="{FF2B5EF4-FFF2-40B4-BE49-F238E27FC236}">
                <a16:creationId xmlns:a16="http://schemas.microsoft.com/office/drawing/2014/main" id="{7FB8E7FA-3769-473A-A114-17ACA066A332}"/>
              </a:ext>
            </a:extLst>
          </p:cNvPr>
          <p:cNvSpPr txBox="1"/>
          <p:nvPr/>
        </p:nvSpPr>
        <p:spPr>
          <a:xfrm flipH="1">
            <a:off x="6832156" y="4743476"/>
            <a:ext cx="3041726" cy="338554"/>
          </a:xfrm>
          <a:prstGeom prst="rect">
            <a:avLst/>
          </a:prstGeom>
          <a:noFill/>
        </p:spPr>
        <p:txBody>
          <a:bodyPr wrap="square" rtlCol="0">
            <a:spAutoFit/>
          </a:bodyPr>
          <a:lstStyle/>
          <a:p>
            <a:r>
              <a:rPr lang="en-US" sz="1600" dirty="0"/>
              <a:t>// C:\code\test.java</a:t>
            </a:r>
            <a:endParaRPr lang="ru-RU" sz="1600" dirty="0"/>
          </a:p>
        </p:txBody>
      </p:sp>
    </p:spTree>
    <p:extLst>
      <p:ext uri="{BB962C8B-B14F-4D97-AF65-F5344CB8AC3E}">
        <p14:creationId xmlns:p14="http://schemas.microsoft.com/office/powerpoint/2010/main" val="411769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3495-7DB6-4BDF-97D0-DA5551CFEBDD}"/>
              </a:ext>
            </a:extLst>
          </p:cNvPr>
          <p:cNvSpPr>
            <a:spLocks noGrp="1"/>
          </p:cNvSpPr>
          <p:nvPr>
            <p:ph type="title"/>
          </p:nvPr>
        </p:nvSpPr>
        <p:spPr/>
        <p:txBody>
          <a:bodyPr>
            <a:normAutofit fontScale="90000"/>
          </a:bodyPr>
          <a:lstStyle/>
          <a:p>
            <a:r>
              <a:rPr lang="en-US" dirty="0"/>
              <a:t>StringBuilder: </a:t>
            </a:r>
            <a:r>
              <a:rPr lang="ru-RU" dirty="0"/>
              <a:t>заменить часть строки</a:t>
            </a:r>
          </a:p>
        </p:txBody>
      </p:sp>
      <p:sp>
        <p:nvSpPr>
          <p:cNvPr id="4" name="Rectangle 3">
            <a:extLst>
              <a:ext uri="{FF2B5EF4-FFF2-40B4-BE49-F238E27FC236}">
                <a16:creationId xmlns:a16="http://schemas.microsoft.com/office/drawing/2014/main" id="{DEDE00DC-0F83-4C95-92B3-199554D6B787}"/>
              </a:ext>
            </a:extLst>
          </p:cNvPr>
          <p:cNvSpPr/>
          <p:nvPr/>
        </p:nvSpPr>
        <p:spPr>
          <a:xfrm>
            <a:off x="609599" y="1809739"/>
            <a:ext cx="10266381" cy="646331"/>
          </a:xfrm>
          <a:prstGeom prst="rect">
            <a:avLst/>
          </a:prstGeom>
        </p:spPr>
        <p:txBody>
          <a:bodyPr wrap="square">
            <a:spAutoFit/>
          </a:bodyPr>
          <a:lstStyle/>
          <a:p>
            <a:r>
              <a:rPr lang="ru-RU" dirty="0"/>
              <a:t>Чтобы заменить часть строки на другую, нужно вызвать метод </a:t>
            </a:r>
            <a:endParaRPr lang="en-US" dirty="0"/>
          </a:p>
          <a:p>
            <a:pPr lvl="1"/>
            <a:r>
              <a:rPr lang="en-US" dirty="0">
                <a:solidFill>
                  <a:schemeClr val="bg1">
                    <a:lumMod val="10000"/>
                  </a:schemeClr>
                </a:solidFill>
                <a:latin typeface="Consolas" panose="020B0609020204030204" pitchFamily="49" charset="0"/>
              </a:rPr>
              <a:t>replace(int begin, int end, String str)</a:t>
            </a:r>
            <a:endParaRPr lang="ru-RU" dirty="0">
              <a:solidFill>
                <a:schemeClr val="bg1">
                  <a:lumMod val="10000"/>
                </a:schemeClr>
              </a:solidFill>
              <a:latin typeface="Consolas" panose="020B0609020204030204" pitchFamily="49" charset="0"/>
            </a:endParaRPr>
          </a:p>
        </p:txBody>
      </p:sp>
      <p:pic>
        <p:nvPicPr>
          <p:cNvPr id="6" name="Picture 5">
            <a:extLst>
              <a:ext uri="{FF2B5EF4-FFF2-40B4-BE49-F238E27FC236}">
                <a16:creationId xmlns:a16="http://schemas.microsoft.com/office/drawing/2014/main" id="{ECED4CA2-17E1-4418-9D18-523C1EE45C15}"/>
              </a:ext>
            </a:extLst>
          </p:cNvPr>
          <p:cNvPicPr>
            <a:picLocks noChangeAspect="1"/>
          </p:cNvPicPr>
          <p:nvPr/>
        </p:nvPicPr>
        <p:blipFill>
          <a:blip r:embed="rId2"/>
          <a:stretch>
            <a:fillRect/>
          </a:stretch>
        </p:blipFill>
        <p:spPr>
          <a:xfrm>
            <a:off x="1840691" y="2952739"/>
            <a:ext cx="7804196" cy="2567000"/>
          </a:xfrm>
          <a:prstGeom prst="rect">
            <a:avLst/>
          </a:prstGeom>
        </p:spPr>
      </p:pic>
    </p:spTree>
    <p:extLst>
      <p:ext uri="{BB962C8B-B14F-4D97-AF65-F5344CB8AC3E}">
        <p14:creationId xmlns:p14="http://schemas.microsoft.com/office/powerpoint/2010/main" val="3532950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58499-FA0F-4AE5-B389-65B1C94AD62C}"/>
              </a:ext>
            </a:extLst>
          </p:cNvPr>
          <p:cNvSpPr>
            <a:spLocks noGrp="1"/>
          </p:cNvSpPr>
          <p:nvPr>
            <p:ph type="title"/>
          </p:nvPr>
        </p:nvSpPr>
        <p:spPr/>
        <p:txBody>
          <a:bodyPr/>
          <a:lstStyle/>
          <a:p>
            <a:r>
              <a:rPr lang="ru-RU" dirty="0"/>
              <a:t>Класс </a:t>
            </a:r>
            <a:r>
              <a:rPr lang="en-US" dirty="0" err="1"/>
              <a:t>StringTokenizer</a:t>
            </a:r>
            <a:endParaRPr lang="ru-RU" dirty="0"/>
          </a:p>
        </p:txBody>
      </p:sp>
      <p:sp>
        <p:nvSpPr>
          <p:cNvPr id="4" name="Rectangle 3">
            <a:extLst>
              <a:ext uri="{FF2B5EF4-FFF2-40B4-BE49-F238E27FC236}">
                <a16:creationId xmlns:a16="http://schemas.microsoft.com/office/drawing/2014/main" id="{E9051765-5F08-4943-9ED2-867B81C09B59}"/>
              </a:ext>
            </a:extLst>
          </p:cNvPr>
          <p:cNvSpPr/>
          <p:nvPr/>
        </p:nvSpPr>
        <p:spPr>
          <a:xfrm>
            <a:off x="609600" y="1809739"/>
            <a:ext cx="5486400" cy="4247317"/>
          </a:xfrm>
          <a:prstGeom prst="rect">
            <a:avLst/>
          </a:prstGeom>
        </p:spPr>
        <p:txBody>
          <a:bodyPr wrap="square">
            <a:spAutoFit/>
          </a:bodyPr>
          <a:lstStyle/>
          <a:p>
            <a:r>
              <a:rPr lang="ru-RU" dirty="0"/>
              <a:t>Класс </a:t>
            </a:r>
            <a:r>
              <a:rPr lang="ru-RU" b="1" dirty="0" err="1"/>
              <a:t>StringTokenizer</a:t>
            </a:r>
            <a:r>
              <a:rPr lang="ru-RU" dirty="0"/>
              <a:t> пакета </a:t>
            </a:r>
            <a:r>
              <a:rPr lang="ru-RU" dirty="0" err="1"/>
              <a:t>java.util</a:t>
            </a:r>
            <a:r>
              <a:rPr lang="ru-RU" dirty="0"/>
              <a:t> предназначен для разложения строки на составляющие.</a:t>
            </a:r>
          </a:p>
          <a:p>
            <a:endParaRPr lang="en-US" dirty="0"/>
          </a:p>
          <a:p>
            <a:r>
              <a:rPr lang="ru-RU" dirty="0"/>
              <a:t>В конструктор с двумя параметрами нужно передать строку, которую мы разбиваем на части, и строку – набор символов, используемых для разделения.</a:t>
            </a:r>
          </a:p>
          <a:p>
            <a:r>
              <a:rPr lang="ru-RU" dirty="0"/>
              <a:t>Разделителем считается каждый символ строки, переданный второй строкой в конструктор </a:t>
            </a:r>
            <a:r>
              <a:rPr lang="ru-RU" dirty="0" err="1"/>
              <a:t>StringTokenizer</a:t>
            </a:r>
            <a:endParaRPr lang="ru-RU" dirty="0"/>
          </a:p>
          <a:p>
            <a:endParaRPr lang="en-US" dirty="0"/>
          </a:p>
          <a:p>
            <a:r>
              <a:rPr lang="ru-RU" dirty="0"/>
              <a:t>Метод </a:t>
            </a:r>
            <a:r>
              <a:rPr lang="ru-RU" b="1" dirty="0" err="1"/>
              <a:t>nextToken</a:t>
            </a:r>
            <a:r>
              <a:rPr lang="ru-RU" b="1" dirty="0"/>
              <a:t>() </a:t>
            </a:r>
            <a:r>
              <a:rPr lang="ru-RU" dirty="0"/>
              <a:t>возвращает очередной токен – подстроку.</a:t>
            </a:r>
          </a:p>
          <a:p>
            <a:r>
              <a:rPr lang="ru-RU" dirty="0"/>
              <a:t>Метод </a:t>
            </a:r>
            <a:r>
              <a:rPr lang="ru-RU" b="1" dirty="0" err="1"/>
              <a:t>hasMoreTokens</a:t>
            </a:r>
            <a:r>
              <a:rPr lang="ru-RU" b="1" dirty="0"/>
              <a:t>() </a:t>
            </a:r>
            <a:r>
              <a:rPr lang="ru-RU" dirty="0"/>
              <a:t>возвращает </a:t>
            </a:r>
            <a:r>
              <a:rPr lang="ru-RU" dirty="0" err="1"/>
              <a:t>true</a:t>
            </a:r>
            <a:r>
              <a:rPr lang="ru-RU" dirty="0"/>
              <a:t>, если еще остались не отданные подстроки.</a:t>
            </a:r>
          </a:p>
          <a:p>
            <a:endParaRPr lang="ru-RU" dirty="0"/>
          </a:p>
        </p:txBody>
      </p:sp>
      <p:pic>
        <p:nvPicPr>
          <p:cNvPr id="8" name="Picture 7">
            <a:extLst>
              <a:ext uri="{FF2B5EF4-FFF2-40B4-BE49-F238E27FC236}">
                <a16:creationId xmlns:a16="http://schemas.microsoft.com/office/drawing/2014/main" id="{D8D8AF47-7DC0-4EEA-BCCA-077F66B29C8D}"/>
              </a:ext>
            </a:extLst>
          </p:cNvPr>
          <p:cNvPicPr>
            <a:picLocks noChangeAspect="1"/>
          </p:cNvPicPr>
          <p:nvPr/>
        </p:nvPicPr>
        <p:blipFill>
          <a:blip r:embed="rId3"/>
          <a:stretch>
            <a:fillRect/>
          </a:stretch>
        </p:blipFill>
        <p:spPr>
          <a:xfrm>
            <a:off x="6096000" y="2005012"/>
            <a:ext cx="5743575" cy="2847975"/>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8F2DBA53-1044-48B7-AACD-8212332D2C97}"/>
              </a:ext>
            </a:extLst>
          </p:cNvPr>
          <p:cNvPicPr>
            <a:picLocks noChangeAspect="1"/>
          </p:cNvPicPr>
          <p:nvPr/>
        </p:nvPicPr>
        <p:blipFill>
          <a:blip r:embed="rId4"/>
          <a:stretch>
            <a:fillRect/>
          </a:stretch>
        </p:blipFill>
        <p:spPr>
          <a:xfrm>
            <a:off x="7324724" y="4533056"/>
            <a:ext cx="3286125" cy="1524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9141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71AAB-F611-4864-B9DE-DA7044080283}"/>
              </a:ext>
            </a:extLst>
          </p:cNvPr>
          <p:cNvSpPr>
            <a:spLocks noGrp="1"/>
          </p:cNvSpPr>
          <p:nvPr>
            <p:ph type="title"/>
          </p:nvPr>
        </p:nvSpPr>
        <p:spPr/>
        <p:txBody>
          <a:bodyPr/>
          <a:lstStyle/>
          <a:p>
            <a:r>
              <a:rPr lang="ru-RU" dirty="0"/>
              <a:t>Классы-оболочки</a:t>
            </a:r>
          </a:p>
        </p:txBody>
      </p:sp>
      <p:pic>
        <p:nvPicPr>
          <p:cNvPr id="5" name="Picture 4">
            <a:extLst>
              <a:ext uri="{FF2B5EF4-FFF2-40B4-BE49-F238E27FC236}">
                <a16:creationId xmlns:a16="http://schemas.microsoft.com/office/drawing/2014/main" id="{E86BD681-9AEB-4245-B4E2-7827F3D0CC88}"/>
              </a:ext>
            </a:extLst>
          </p:cNvPr>
          <p:cNvPicPr>
            <a:picLocks noChangeAspect="1"/>
          </p:cNvPicPr>
          <p:nvPr/>
        </p:nvPicPr>
        <p:blipFill>
          <a:blip r:embed="rId3">
            <a:duotone>
              <a:schemeClr val="accent3">
                <a:shade val="45000"/>
                <a:satMod val="135000"/>
              </a:schemeClr>
              <a:prstClr val="white"/>
            </a:duotone>
          </a:blip>
          <a:stretch>
            <a:fillRect/>
          </a:stretch>
        </p:blipFill>
        <p:spPr>
          <a:xfrm>
            <a:off x="7358229" y="1928073"/>
            <a:ext cx="3334871" cy="3828246"/>
          </a:xfrm>
          <a:prstGeom prst="rect">
            <a:avLst/>
          </a:prstGeom>
        </p:spPr>
      </p:pic>
      <p:sp>
        <p:nvSpPr>
          <p:cNvPr id="6" name="Rectangle 5">
            <a:extLst>
              <a:ext uri="{FF2B5EF4-FFF2-40B4-BE49-F238E27FC236}">
                <a16:creationId xmlns:a16="http://schemas.microsoft.com/office/drawing/2014/main" id="{94D92954-4E2D-41D1-B051-1305B98A40AF}"/>
              </a:ext>
            </a:extLst>
          </p:cNvPr>
          <p:cNvSpPr/>
          <p:nvPr/>
        </p:nvSpPr>
        <p:spPr>
          <a:xfrm>
            <a:off x="609600" y="1809739"/>
            <a:ext cx="5486400" cy="2308324"/>
          </a:xfrm>
          <a:prstGeom prst="rect">
            <a:avLst/>
          </a:prstGeom>
        </p:spPr>
        <p:txBody>
          <a:bodyPr wrap="square">
            <a:spAutoFit/>
          </a:bodyPr>
          <a:lstStyle/>
          <a:p>
            <a:r>
              <a:rPr lang="ru-RU" sz="2400" b="1" dirty="0"/>
              <a:t>Классы оболочки (</a:t>
            </a:r>
            <a:r>
              <a:rPr lang="ru-RU" sz="2400" b="1" dirty="0" err="1"/>
              <a:t>Wrapper</a:t>
            </a:r>
            <a:r>
              <a:rPr lang="ru-RU" sz="2400" b="1" dirty="0"/>
              <a:t> </a:t>
            </a:r>
            <a:r>
              <a:rPr lang="ru-RU" sz="2400" b="1" dirty="0" err="1"/>
              <a:t>classes</a:t>
            </a:r>
            <a:r>
              <a:rPr lang="ru-RU" sz="2400" b="1" dirty="0"/>
              <a:t>) </a:t>
            </a:r>
            <a:r>
              <a:rPr lang="ru-RU" sz="2400" dirty="0"/>
              <a:t>- это классы в </a:t>
            </a:r>
            <a:r>
              <a:rPr lang="ru-RU" sz="2400" dirty="0" err="1"/>
              <a:t>Java</a:t>
            </a:r>
            <a:r>
              <a:rPr lang="ru-RU" sz="2400" dirty="0"/>
              <a:t>, которые инкапсулируют типы данных примитивов и предоставляют методы и конструкторы для работы с этими типами данных в объектно-ориентированном стиле.</a:t>
            </a:r>
          </a:p>
        </p:txBody>
      </p:sp>
    </p:spTree>
    <p:extLst>
      <p:ext uri="{BB962C8B-B14F-4D97-AF65-F5344CB8AC3E}">
        <p14:creationId xmlns:p14="http://schemas.microsoft.com/office/powerpoint/2010/main" val="2126359203"/>
      </p:ext>
    </p:extLst>
  </p:cSld>
  <p:clrMapOvr>
    <a:masterClrMapping/>
  </p:clrMapOvr>
</p:sld>
</file>

<file path=ppt/theme/theme1.xml><?xml version="1.0" encoding="utf-8"?>
<a:theme xmlns:a="http://schemas.openxmlformats.org/drawingml/2006/main" name="GIS_them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IS_theme" id="{4ABA2DA3-FC12-4F6D-A63F-F49808B2745D}" vid="{ED545FA1-F0DD-4A91-AB56-FB9C25E1D6CE}"/>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ontrol xmlns="http://schemas.microsoft.com/VisualStudio/2011/storyboarding/control">
  <Id Name="d2655081-a077-4fd9-949e-2f5d59e70d7a" Revision="1" Stencil="System.MyShapes" StencilVersion="1.0"/>
</Control>
</file>

<file path=customXml/itemProps1.xml><?xml version="1.0" encoding="utf-8"?>
<ds:datastoreItem xmlns:ds="http://schemas.openxmlformats.org/officeDocument/2006/customXml" ds:itemID="{F55705B9-9ED4-469A-A231-549B6E50306E}">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GIS_theme</Template>
  <TotalTime>21261</TotalTime>
  <Words>2005</Words>
  <Application>Microsoft Office PowerPoint</Application>
  <PresentationFormat>Widescreen</PresentationFormat>
  <Paragraphs>192</Paragraphs>
  <Slides>22</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Consolas</vt:lpstr>
      <vt:lpstr>Courier New</vt:lpstr>
      <vt:lpstr>CS Standard</vt:lpstr>
      <vt:lpstr>Times New Roman</vt:lpstr>
      <vt:lpstr>GIS_theme</vt:lpstr>
      <vt:lpstr>Программирование на Java</vt:lpstr>
      <vt:lpstr>Введение в строки. Класс String</vt:lpstr>
      <vt:lpstr>Свойства класса String</vt:lpstr>
      <vt:lpstr>Основные методы класса String </vt:lpstr>
      <vt:lpstr>Создание строки</vt:lpstr>
      <vt:lpstr> Интернирование строк</vt:lpstr>
      <vt:lpstr>Конкатенация строк</vt:lpstr>
      <vt:lpstr>Преобразование к строковому типу</vt:lpstr>
      <vt:lpstr>Преобразование строки в число</vt:lpstr>
      <vt:lpstr>Сравнение строк</vt:lpstr>
      <vt:lpstr>Перевод коллекции строк</vt:lpstr>
      <vt:lpstr>Регулярные выражения</vt:lpstr>
      <vt:lpstr>Разбиение строки на массив строк</vt:lpstr>
      <vt:lpstr>Определение позиции элемента</vt:lpstr>
      <vt:lpstr>Извлечение подстроки</vt:lpstr>
      <vt:lpstr>Верхний/нижний регистр</vt:lpstr>
      <vt:lpstr>StringBuffer и StringBuilder</vt:lpstr>
      <vt:lpstr>StringBuilder</vt:lpstr>
      <vt:lpstr>StringBuilder: добавление к строке</vt:lpstr>
      <vt:lpstr>StringBuilder: заменить часть строки</vt:lpstr>
      <vt:lpstr>Класс StringTokenizer</vt:lpstr>
      <vt:lpstr>Классы-оболочки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Filinskikh, Yulia</dc:creator>
  <cp:lastModifiedBy>Yulia Filinskikh</cp:lastModifiedBy>
  <cp:revision>106</cp:revision>
  <dcterms:created xsi:type="dcterms:W3CDTF">2019-02-08T07:13:25Z</dcterms:created>
  <dcterms:modified xsi:type="dcterms:W3CDTF">2025-07-18T14:36:36Z</dcterms:modified>
</cp:coreProperties>
</file>