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notesMasterIdLst>
    <p:notesMasterId r:id="rId31"/>
  </p:notesMasterIdLst>
  <p:sldIdLst>
    <p:sldId id="256" r:id="rId3"/>
    <p:sldId id="257" r:id="rId4"/>
    <p:sldId id="258" r:id="rId5"/>
    <p:sldId id="301" r:id="rId6"/>
    <p:sldId id="259" r:id="rId7"/>
    <p:sldId id="260" r:id="rId8"/>
    <p:sldId id="261" r:id="rId9"/>
    <p:sldId id="262" r:id="rId10"/>
    <p:sldId id="302" r:id="rId11"/>
    <p:sldId id="264" r:id="rId12"/>
    <p:sldId id="304" r:id="rId13"/>
    <p:sldId id="305" r:id="rId14"/>
    <p:sldId id="307" r:id="rId15"/>
    <p:sldId id="270" r:id="rId16"/>
    <p:sldId id="271" r:id="rId17"/>
    <p:sldId id="272" r:id="rId18"/>
    <p:sldId id="275" r:id="rId19"/>
    <p:sldId id="303" r:id="rId20"/>
    <p:sldId id="277" r:id="rId21"/>
    <p:sldId id="279" r:id="rId22"/>
    <p:sldId id="286" r:id="rId23"/>
    <p:sldId id="288" r:id="rId24"/>
    <p:sldId id="292" r:id="rId25"/>
    <p:sldId id="293" r:id="rId26"/>
    <p:sldId id="297" r:id="rId27"/>
    <p:sldId id="273" r:id="rId28"/>
    <p:sldId id="299" r:id="rId29"/>
    <p:sldId id="306" r:id="rId30"/>
  </p:sldIdLst>
  <p:sldSz cx="9144000" cy="5143500" type="screen16x9"/>
  <p:notesSz cx="7559675" cy="10691813"/>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618" autoAdjust="0"/>
  </p:normalViewPr>
  <p:slideViewPr>
    <p:cSldViewPr snapToGrid="0">
      <p:cViewPr varScale="1">
        <p:scale>
          <a:sx n="74" d="100"/>
          <a:sy n="74" d="100"/>
        </p:scale>
        <p:origin x="1642" y="62"/>
      </p:cViewPr>
      <p:guideLst/>
    </p:cSldViewPr>
  </p:slideViewPr>
  <p:notesTextViewPr>
    <p:cViewPr>
      <p:scale>
        <a:sx n="1" d="1"/>
        <a:sy n="1" d="1"/>
      </p:scale>
      <p:origin x="0" y="-893"/>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2B0D4048-D1EE-40B9-AE6B-3535819E1465}" type="datetimeFigureOut">
              <a:rPr lang="ru-RU" smtClean="0"/>
              <a:t>16.07.2025</a:t>
            </a:fld>
            <a:endParaRPr lang="ru-RU"/>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AF777B8-3CCE-494F-A5E8-85D7A9B8D267}" type="slidenum">
              <a:rPr lang="ru-RU" smtClean="0"/>
              <a:t>‹#›</a:t>
            </a:fld>
            <a:endParaRPr lang="ru-RU"/>
          </a:p>
        </p:txBody>
      </p:sp>
    </p:spTree>
    <p:extLst>
      <p:ext uri="{BB962C8B-B14F-4D97-AF65-F5344CB8AC3E}">
        <p14:creationId xmlns:p14="http://schemas.microsoft.com/office/powerpoint/2010/main" val="1847952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yandex.cloud/ru/docs/glossary/vcs#branch"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s://tortoisesvn.net/" TargetMode="External"/><Relationship Id="rId3" Type="http://schemas.openxmlformats.org/officeDocument/2006/relationships/hyperlink" Target="https://code.visualstudio.com/" TargetMode="External"/><Relationship Id="rId7" Type="http://schemas.openxmlformats.org/officeDocument/2006/relationships/hyperlink" Target="https://www.mercurial-scm.org/" TargetMode="External"/><Relationship Id="rId2" Type="http://schemas.openxmlformats.org/officeDocument/2006/relationships/slide" Target="../slides/slide28.xml"/><Relationship Id="rId1" Type="http://schemas.openxmlformats.org/officeDocument/2006/relationships/notesMaster" Target="../notesMasters/notesMaster1.xml"/><Relationship Id="rId6" Type="http://schemas.openxmlformats.org/officeDocument/2006/relationships/hyperlink" Target="https://git-scm.com/about" TargetMode="External"/><Relationship Id="rId11" Type="http://schemas.openxmlformats.org/officeDocument/2006/relationships/hyperlink" Target="https://bitbucket.org/" TargetMode="External"/><Relationship Id="rId5" Type="http://schemas.openxmlformats.org/officeDocument/2006/relationships/hyperlink" Target="https://www.eclipse.org/" TargetMode="External"/><Relationship Id="rId10" Type="http://schemas.openxmlformats.org/officeDocument/2006/relationships/hyperlink" Target="https://about.gitlab.com/" TargetMode="External"/><Relationship Id="rId4" Type="http://schemas.openxmlformats.org/officeDocument/2006/relationships/hyperlink" Target="https://www.jetbrains.com/ru-ru/idea/" TargetMode="External"/><Relationship Id="rId9" Type="http://schemas.openxmlformats.org/officeDocument/2006/relationships/hyperlink" Target="https://github.co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 система, регистрирующая изменения в одном или нескольких файлах с тем, чтобы в дальнейшем была возможность вернуться к определённым старым версиям этих файлов.</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a:t>
            </a:fld>
            <a:endParaRPr lang="ru-RU"/>
          </a:p>
        </p:txBody>
      </p:sp>
    </p:spTree>
    <p:extLst>
      <p:ext uri="{BB962C8B-B14F-4D97-AF65-F5344CB8AC3E}">
        <p14:creationId xmlns:p14="http://schemas.microsoft.com/office/powerpoint/2010/main" val="4267775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ru-RU" b="0" i="0" dirty="0">
                <a:effectLst/>
                <a:latin typeface="YS Text"/>
              </a:rPr>
              <a:t>Преимущества использования системы контроля версий:</a:t>
            </a:r>
          </a:p>
          <a:p>
            <a:pPr algn="l">
              <a:buFont typeface="Arial" panose="020B0604020202020204" pitchFamily="34" charset="0"/>
              <a:buChar char="•"/>
            </a:pPr>
            <a:r>
              <a:rPr lang="ru-RU" b="1" i="0" dirty="0">
                <a:effectLst/>
                <a:latin typeface="YS Text"/>
              </a:rPr>
              <a:t>История изменений</a:t>
            </a:r>
            <a:endParaRPr lang="ru-RU" b="0" i="0" dirty="0">
              <a:effectLst/>
              <a:latin typeface="YS Text"/>
            </a:endParaRPr>
          </a:p>
          <a:p>
            <a:pPr algn="l">
              <a:buFont typeface="Arial" panose="020B0604020202020204" pitchFamily="34" charset="0"/>
              <a:buChar char="•"/>
            </a:pPr>
            <a:r>
              <a:rPr lang="ru-RU" b="0" i="0" dirty="0">
                <a:effectLst/>
                <a:latin typeface="YS Text"/>
              </a:rPr>
              <a:t>СКВ позволяет проследить историю изменений в файлах проекта. Можно легко узнать, когда, кем и зачем был создан, удален или отредактирован какой-либо файл в репозитории. Это облегчает процесс поиска ошибок и отладки кода, помогает избежать путаницы и конфликтов.</a:t>
            </a:r>
          </a:p>
          <a:p>
            <a:pPr algn="l">
              <a:buFont typeface="Arial" panose="020B0604020202020204" pitchFamily="34" charset="0"/>
              <a:buChar char="•"/>
            </a:pPr>
            <a:r>
              <a:rPr lang="ru-RU" b="1" i="0" dirty="0">
                <a:effectLst/>
                <a:latin typeface="YS Text"/>
              </a:rPr>
              <a:t>Защита исходного кода</a:t>
            </a:r>
            <a:endParaRPr lang="ru-RU" b="0" i="0" dirty="0">
              <a:effectLst/>
              <a:latin typeface="YS Text"/>
            </a:endParaRPr>
          </a:p>
          <a:p>
            <a:pPr algn="l">
              <a:buFont typeface="Arial" panose="020B0604020202020204" pitchFamily="34" charset="0"/>
              <a:buChar char="•"/>
            </a:pPr>
            <a:r>
              <a:rPr lang="ru-RU" b="0" i="0" dirty="0">
                <a:effectLst/>
                <a:latin typeface="YS Text"/>
              </a:rPr>
              <a:t>СКВ предотвращает случайное или намеренное удаление, а также изменение важных файлов или функций, что может привести к нарушению работы программы.</a:t>
            </a:r>
          </a:p>
          <a:p>
            <a:pPr algn="l">
              <a:buFont typeface="Arial" panose="020B0604020202020204" pitchFamily="34" charset="0"/>
              <a:buChar char="•"/>
            </a:pPr>
            <a:r>
              <a:rPr lang="ru-RU" b="1" i="0" dirty="0">
                <a:effectLst/>
                <a:latin typeface="YS Text"/>
              </a:rPr>
              <a:t>Возможность отката</a:t>
            </a:r>
            <a:endParaRPr lang="ru-RU" b="0" i="0" dirty="0">
              <a:effectLst/>
              <a:latin typeface="YS Text"/>
            </a:endParaRPr>
          </a:p>
          <a:p>
            <a:pPr algn="l">
              <a:buFont typeface="Arial" panose="020B0604020202020204" pitchFamily="34" charset="0"/>
              <a:buChar char="•"/>
            </a:pPr>
            <a:r>
              <a:rPr lang="ru-RU" b="0" i="0" dirty="0">
                <a:effectLst/>
                <a:latin typeface="YS Text"/>
              </a:rPr>
              <a:t>СКВ позволяет восстанавливать предыдущие версии кода. Это может быть необходимо в случае ошибки или для сравнения с текущей версией.</a:t>
            </a:r>
          </a:p>
          <a:p>
            <a:pPr algn="l">
              <a:buFont typeface="Arial" panose="020B0604020202020204" pitchFamily="34" charset="0"/>
              <a:buChar char="•"/>
            </a:pPr>
            <a:r>
              <a:rPr lang="ru-RU" b="1" i="0" dirty="0">
                <a:effectLst/>
                <a:latin typeface="YS Text"/>
              </a:rPr>
              <a:t>Командная работа</a:t>
            </a:r>
            <a:endParaRPr lang="ru-RU" b="0" i="0" dirty="0">
              <a:effectLst/>
              <a:latin typeface="YS Text"/>
            </a:endParaRPr>
          </a:p>
          <a:p>
            <a:pPr algn="l">
              <a:buFont typeface="Arial" panose="020B0604020202020204" pitchFamily="34" charset="0"/>
              <a:buChar char="•"/>
            </a:pPr>
            <a:r>
              <a:rPr lang="ru-RU" b="0" i="0" dirty="0">
                <a:effectLst/>
                <a:latin typeface="YS Text"/>
              </a:rPr>
              <a:t>С помощью СКВ удобно организовывать совместную работу над проектом. Каждый участник может выполнять свою часть работы, а система помогает объединять результаты.</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4</a:t>
            </a:fld>
            <a:endParaRPr lang="ru-RU"/>
          </a:p>
        </p:txBody>
      </p:sp>
    </p:spTree>
    <p:extLst>
      <p:ext uri="{BB962C8B-B14F-4D97-AF65-F5344CB8AC3E}">
        <p14:creationId xmlns:p14="http://schemas.microsoft.com/office/powerpoint/2010/main" val="2910670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1970-х годах была создана первая система контроля версий — SCCS. Она позволяла отслеживать изменения в файлах проекта и сохранять их историю.</a:t>
            </a:r>
          </a:p>
          <a:p>
            <a:r>
              <a:rPr lang="ru-RU" sz="1200" b="0" i="0" kern="1200" dirty="0">
                <a:solidFill>
                  <a:schemeClr val="tx1"/>
                </a:solidFill>
                <a:effectLst/>
                <a:latin typeface="+mn-lt"/>
                <a:ea typeface="+mn-ea"/>
                <a:cs typeface="+mn-cs"/>
              </a:rPr>
              <a:t>С развитием технологий СКВ стали больше удовлетворять запросам разработчиков, стали сложнее и функциональнее. СКВ научились сравнивать версии файлов, создавать </a:t>
            </a:r>
            <a:r>
              <a:rPr lang="ru-RU" sz="1200" b="0" i="0" kern="1200" dirty="0" err="1">
                <a:solidFill>
                  <a:schemeClr val="tx1"/>
                </a:solidFill>
                <a:effectLst/>
                <a:latin typeface="+mn-lt"/>
                <a:ea typeface="+mn-ea"/>
                <a:cs typeface="+mn-cs"/>
              </a:rPr>
              <a:t>патчи</a:t>
            </a:r>
            <a:r>
              <a:rPr lang="ru-RU" sz="1200" b="0" i="0" kern="1200" dirty="0">
                <a:solidFill>
                  <a:schemeClr val="tx1"/>
                </a:solidFill>
                <a:effectLst/>
                <a:latin typeface="+mn-lt"/>
                <a:ea typeface="+mn-ea"/>
                <a:cs typeface="+mn-cs"/>
              </a:rPr>
              <a:t>, а также выполнять автоматическое слияние изменений. Это стало серьезным прогрессом в организации процесса разработки ПО. Так в 1982 году была разработана RCS. Эта система была совместима с </a:t>
            </a:r>
            <a:r>
              <a:rPr lang="ru-RU" sz="1200" b="0" i="0" kern="1200" dirty="0" err="1">
                <a:solidFill>
                  <a:schemeClr val="tx1"/>
                </a:solidFill>
                <a:effectLst/>
                <a:latin typeface="+mn-lt"/>
                <a:ea typeface="+mn-ea"/>
                <a:cs typeface="+mn-cs"/>
              </a:rPr>
              <a:t>Linux</a:t>
            </a:r>
            <a:r>
              <a:rPr lang="ru-RU" sz="1200" b="0" i="0" kern="1200" dirty="0">
                <a:solidFill>
                  <a:schemeClr val="tx1"/>
                </a:solidFill>
                <a:effectLst/>
                <a:latin typeface="+mn-lt"/>
                <a:ea typeface="+mn-ea"/>
                <a:cs typeface="+mn-cs"/>
              </a:rPr>
              <a:t>, имела открытый исходный код, а также более простой пользовательский интерфейс.</a:t>
            </a:r>
          </a:p>
          <a:p>
            <a:r>
              <a:rPr lang="ru-RU" sz="1200" b="0" i="0" kern="1200" dirty="0">
                <a:solidFill>
                  <a:schemeClr val="tx1"/>
                </a:solidFill>
                <a:effectLst/>
                <a:latin typeface="+mn-lt"/>
                <a:ea typeface="+mn-ea"/>
                <a:cs typeface="+mn-cs"/>
              </a:rPr>
              <a:t>Специфика СКВ локального типа — это хранение как исходного кода, так и всех его версий в одном месте — на компьютере разработчика. Эта особенность является одновременно и главным минусом таких систем. В случае сбоя может быть потеряна не только какая-то из версий, но и весь проект целиком. Кроме того, локальные СКВ неудобны для организации командной разработки ПО.</a:t>
            </a:r>
          </a:p>
          <a:p>
            <a:endParaRPr lang="ru-RU" dirty="0"/>
          </a:p>
          <a:p>
            <a:r>
              <a:rPr lang="ru-RU" dirty="0"/>
              <a:t>Позволяет контролировать версии, просто копируя файлы в другой каталог (как правило добавляя текущую дату к названию каталога). Такой подход очень распространён, потому что прост, но он и чаще даёт сбои. Чтобы решить эту проблему, разработаны локальные СКВ с простой базой данных, в которой хранятся все изменения нужных файлов.</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5</a:t>
            </a:fld>
            <a:endParaRPr lang="ru-RU"/>
          </a:p>
        </p:txBody>
      </p:sp>
    </p:spTree>
    <p:extLst>
      <p:ext uri="{BB962C8B-B14F-4D97-AF65-F5344CB8AC3E}">
        <p14:creationId xmlns:p14="http://schemas.microsoft.com/office/powerpoint/2010/main" val="3133430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Централизованные системы контроля версий — следующее поколение СКВ — в отличие от предшественников поддерживают возможность командной работы. Такие системы предполагают хранение проекта на едином сервере. Чтобы изменить исходный код, разработчик должен скачать с сервера необходимые файлы и исправить их, а затем вернуть эти файлы на сервер. Это позволяет организовать совместную работу над проектом, где каждый из разработчиков работает с какой-либо скопированной частью исходного кода.</a:t>
            </a:r>
          </a:p>
          <a:p>
            <a:endParaRPr lang="ru-RU" dirty="0"/>
          </a:p>
          <a:p>
            <a:r>
              <a:rPr lang="ru-RU" dirty="0"/>
              <a:t>Первая централизованная система версий — CVS — была разработана в 1986 году. Также к централизованным СКВ относятся </a:t>
            </a:r>
            <a:r>
              <a:rPr lang="ru-RU" dirty="0" err="1"/>
              <a:t>Subversion</a:t>
            </a:r>
            <a:r>
              <a:rPr lang="ru-RU" dirty="0"/>
              <a:t> и </a:t>
            </a:r>
            <a:r>
              <a:rPr lang="ru-RU" dirty="0" err="1"/>
              <a:t>Perforce</a:t>
            </a:r>
            <a:r>
              <a:rPr lang="ru-RU" dirty="0"/>
              <a:t>.</a:t>
            </a:r>
          </a:p>
          <a:p>
            <a:endParaRPr lang="ru-RU" dirty="0"/>
          </a:p>
          <a:p>
            <a:r>
              <a:rPr lang="ru-RU" dirty="0"/>
              <a:t>Недостатком централизованных СКВ является уязвимость сервера. В случае сбоя на сервере или проблем с подключением к нему, данные могут быть потеряны или недоступны сразу для всех разработчиков.</a:t>
            </a:r>
          </a:p>
        </p:txBody>
      </p:sp>
      <p:sp>
        <p:nvSpPr>
          <p:cNvPr id="4" name="Slide Number Placeholder 3"/>
          <p:cNvSpPr>
            <a:spLocks noGrp="1"/>
          </p:cNvSpPr>
          <p:nvPr>
            <p:ph type="sldNum" sz="quarter" idx="5"/>
          </p:nvPr>
        </p:nvSpPr>
        <p:spPr/>
        <p:txBody>
          <a:bodyPr/>
          <a:lstStyle/>
          <a:p>
            <a:fld id="{CAF777B8-3CCE-494F-A5E8-85D7A9B8D267}" type="slidenum">
              <a:rPr lang="ru-RU" smtClean="0"/>
              <a:t>6</a:t>
            </a:fld>
            <a:endParaRPr lang="ru-RU"/>
          </a:p>
        </p:txBody>
      </p:sp>
    </p:spTree>
    <p:extLst>
      <p:ext uri="{BB962C8B-B14F-4D97-AF65-F5344CB8AC3E}">
        <p14:creationId xmlns:p14="http://schemas.microsoft.com/office/powerpoint/2010/main" val="1633944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Очередным этапом развития систем контроля версий стало создание распределенных СКВ. Системы такого типа позволили избавиться от основного недостатка централизованных СКВ — уязвимости сервера. В распределенной версии СКВ каждый разработчик скачивает с сервера не только нужный ему файл, но и весь набор данных. Таким образом, </a:t>
            </a:r>
            <a:r>
              <a:rPr lang="ru-RU" sz="1200" b="0" strike="noStrike" spc="-1" dirty="0">
                <a:solidFill>
                  <a:srgbClr val="244061"/>
                </a:solidFill>
                <a:latin typeface="+mn-lt"/>
              </a:rPr>
              <a:t>В случае, возникновения технической неисправности на стороне сервера </a:t>
            </a:r>
            <a:r>
              <a:rPr lang="ru-RU" dirty="0"/>
              <a:t>восстановить данные можно будет с компьютера любого из разработчиков.</a:t>
            </a:r>
          </a:p>
          <a:p>
            <a:r>
              <a:rPr lang="ru-RU" dirty="0"/>
              <a:t>К таким системам относится разработанный в 2003 году </a:t>
            </a:r>
            <a:r>
              <a:rPr lang="ru-RU" dirty="0" err="1"/>
              <a:t>Darcs</a:t>
            </a:r>
            <a:r>
              <a:rPr lang="ru-RU" dirty="0"/>
              <a:t>, а также </a:t>
            </a:r>
            <a:r>
              <a:rPr lang="ru-RU" dirty="0" err="1"/>
              <a:t>Git</a:t>
            </a:r>
            <a:r>
              <a:rPr lang="ru-RU" dirty="0"/>
              <a:t>, </a:t>
            </a:r>
            <a:r>
              <a:rPr lang="ru-RU" dirty="0" err="1"/>
              <a:t>Mercurial</a:t>
            </a:r>
            <a:r>
              <a:rPr lang="ru-RU" dirty="0"/>
              <a:t> и </a:t>
            </a:r>
            <a:r>
              <a:rPr lang="ru-RU" dirty="0" err="1"/>
              <a:t>Bazaar</a:t>
            </a:r>
            <a:r>
              <a:rPr lang="ru-RU" dirty="0"/>
              <a:t>, разработанные в 2005 году.</a:t>
            </a:r>
          </a:p>
          <a:p>
            <a:endParaRPr lang="ru-RU" dirty="0"/>
          </a:p>
          <a:p>
            <a:r>
              <a:rPr lang="ru-RU" dirty="0"/>
              <a:t>В настоящее время системы контроля версий такого типа используются чаще всего и являются стандартом в командной разработке ПО.</a:t>
            </a:r>
          </a:p>
        </p:txBody>
      </p:sp>
      <p:sp>
        <p:nvSpPr>
          <p:cNvPr id="4" name="Slide Number Placeholder 3"/>
          <p:cNvSpPr>
            <a:spLocks noGrp="1"/>
          </p:cNvSpPr>
          <p:nvPr>
            <p:ph type="sldNum" sz="quarter" idx="5"/>
          </p:nvPr>
        </p:nvSpPr>
        <p:spPr/>
        <p:txBody>
          <a:bodyPr/>
          <a:lstStyle/>
          <a:p>
            <a:fld id="{CAF777B8-3CCE-494F-A5E8-85D7A9B8D267}" type="slidenum">
              <a:rPr lang="ru-RU" smtClean="0"/>
              <a:t>7</a:t>
            </a:fld>
            <a:endParaRPr lang="ru-RU"/>
          </a:p>
        </p:txBody>
      </p:sp>
    </p:spTree>
    <p:extLst>
      <p:ext uri="{BB962C8B-B14F-4D97-AF65-F5344CB8AC3E}">
        <p14:creationId xmlns:p14="http://schemas.microsoft.com/office/powerpoint/2010/main" val="2226861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основные понятия, необходимые для понимания принципа работы системы контроля версий.</a:t>
            </a:r>
          </a:p>
          <a:p>
            <a:endParaRPr lang="ru-RU" dirty="0"/>
          </a:p>
          <a:p>
            <a:r>
              <a:rPr lang="ru-RU" dirty="0"/>
              <a:t>Репозиторий</a:t>
            </a:r>
          </a:p>
          <a:p>
            <a:r>
              <a:rPr lang="ru-RU" dirty="0"/>
              <a:t>Репозиторий — это централизованное хранилище всего процесса. Как правило, репозиторий находится на удаленном сервере в облачном хранилище.</a:t>
            </a:r>
          </a:p>
          <a:p>
            <a:r>
              <a:rPr lang="ru-RU" dirty="0"/>
              <a:t>Чтобы начать работу с проектом, необходимо скачать полную копию репозитория на свой компьютер. Такая копия называется локальным репозиторием.</a:t>
            </a:r>
          </a:p>
          <a:p>
            <a:r>
              <a:rPr lang="ru-RU" dirty="0"/>
              <a:t>СКВ обменивается изменениями между этими репозиториями. Так все изменения, внесенные в облачный репозиторий, могут быть загружены в локальный, и наоборот.</a:t>
            </a:r>
          </a:p>
          <a:p>
            <a:endParaRPr lang="ru-RU" sz="1200" b="0" i="0" kern="1200" dirty="0">
              <a:solidFill>
                <a:schemeClr val="tx1"/>
              </a:solidFill>
              <a:effectLst/>
              <a:latin typeface="+mn-lt"/>
              <a:ea typeface="+mn-ea"/>
              <a:cs typeface="+mn-cs"/>
            </a:endParaRPr>
          </a:p>
          <a:p>
            <a:r>
              <a:rPr lang="ru-RU" sz="1200" b="0" i="0" kern="1200" dirty="0" err="1">
                <a:solidFill>
                  <a:schemeClr val="tx1"/>
                </a:solidFill>
                <a:effectLst/>
                <a:latin typeface="+mn-lt"/>
                <a:ea typeface="+mn-ea"/>
                <a:cs typeface="+mn-cs"/>
              </a:rPr>
              <a:t>Коммит</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СКВ помогает сохранять так называемые «снимки» состояния проекта, его промежуточные версии. Это своего рода опорные точки, к которым разработчик может вернуться в случае необходимости. Такие сохранения называются </a:t>
            </a:r>
            <a:r>
              <a:rPr lang="ru-RU" sz="1200" b="0" i="1" kern="1200" dirty="0" err="1">
                <a:solidFill>
                  <a:schemeClr val="tx1"/>
                </a:solidFill>
                <a:effectLst/>
                <a:latin typeface="+mn-lt"/>
                <a:ea typeface="+mn-ea"/>
                <a:cs typeface="+mn-cs"/>
              </a:rPr>
              <a:t>коммитами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Коммиты</a:t>
            </a:r>
            <a:r>
              <a:rPr lang="ru-RU" sz="1200" b="0" i="0" kern="1200" dirty="0">
                <a:solidFill>
                  <a:schemeClr val="tx1"/>
                </a:solidFill>
                <a:effectLst/>
                <a:latin typeface="+mn-lt"/>
                <a:ea typeface="+mn-ea"/>
                <a:cs typeface="+mn-cs"/>
              </a:rPr>
              <a:t> содержат информацию о том, какие изменения были внесены в исходный код, но не весь проект целиком. Таким образом система контроля версий может сохранять большое количество изменений с минимальными затратами на ресурсы.</a:t>
            </a:r>
          </a:p>
          <a:p>
            <a:endParaRPr lang="ru-RU" sz="1200" b="0" i="0" u="none" strike="noStrike" kern="1200" dirty="0">
              <a:solidFill>
                <a:schemeClr val="tx1"/>
              </a:solidFill>
              <a:effectLst/>
              <a:latin typeface="+mn-lt"/>
              <a:ea typeface="+mn-ea"/>
              <a:cs typeface="+mn-cs"/>
              <a:hlinkClick r:id="rId3"/>
            </a:endParaRPr>
          </a:p>
          <a:p>
            <a:r>
              <a:rPr lang="ru-RU" sz="1200" b="0" i="0" u="none" strike="noStrike" kern="1200" dirty="0">
                <a:solidFill>
                  <a:schemeClr val="tx1"/>
                </a:solidFill>
                <a:effectLst/>
                <a:latin typeface="+mn-lt"/>
                <a:ea typeface="+mn-ea"/>
                <a:cs typeface="+mn-cs"/>
                <a:hlinkClick r:id="rId3"/>
              </a:rPr>
              <a:t>Ветвление</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Ветка</a:t>
            </a:r>
            <a:r>
              <a:rPr lang="ru-RU" sz="1200" b="0" i="0" kern="1200" dirty="0">
                <a:solidFill>
                  <a:schemeClr val="tx1"/>
                </a:solidFill>
                <a:effectLst/>
                <a:latin typeface="+mn-lt"/>
                <a:ea typeface="+mn-ea"/>
                <a:cs typeface="+mn-cs"/>
              </a:rPr>
              <a:t> — это специальная, созданная параллельно с основным репозиторием, копия проекта. Ветвление позволяет изолировать изменения, экспериментировать с новыми функциями и исправлять ошибки, не влияя на стабильность основной базы кода — </a:t>
            </a:r>
            <a:r>
              <a:rPr lang="ru-RU" sz="1200" b="0" i="0" kern="1200" dirty="0" err="1">
                <a:solidFill>
                  <a:schemeClr val="tx1"/>
                </a:solidFill>
                <a:effectLst/>
                <a:latin typeface="+mn-lt"/>
                <a:ea typeface="+mn-ea"/>
                <a:cs typeface="+mn-cs"/>
              </a:rPr>
              <a:t>master</a:t>
            </a:r>
            <a:r>
              <a:rPr lang="ru-RU" sz="1200" b="0" i="0" kern="1200" dirty="0">
                <a:solidFill>
                  <a:schemeClr val="tx1"/>
                </a:solidFill>
                <a:effectLst/>
                <a:latin typeface="+mn-lt"/>
                <a:ea typeface="+mn-ea"/>
                <a:cs typeface="+mn-cs"/>
              </a:rPr>
              <a:t>-ветку.</a:t>
            </a:r>
          </a:p>
        </p:txBody>
      </p:sp>
      <p:sp>
        <p:nvSpPr>
          <p:cNvPr id="4" name="Slide Number Placeholder 3"/>
          <p:cNvSpPr>
            <a:spLocks noGrp="1"/>
          </p:cNvSpPr>
          <p:nvPr>
            <p:ph type="sldNum" sz="quarter" idx="5"/>
          </p:nvPr>
        </p:nvSpPr>
        <p:spPr/>
        <p:txBody>
          <a:bodyPr/>
          <a:lstStyle/>
          <a:p>
            <a:fld id="{CAF777B8-3CCE-494F-A5E8-85D7A9B8D267}" type="slidenum">
              <a:rPr lang="ru-RU" smtClean="0"/>
              <a:t>9</a:t>
            </a:fld>
            <a:endParaRPr lang="ru-RU"/>
          </a:p>
        </p:txBody>
      </p:sp>
    </p:spTree>
    <p:extLst>
      <p:ext uri="{BB962C8B-B14F-4D97-AF65-F5344CB8AC3E}">
        <p14:creationId xmlns:p14="http://schemas.microsoft.com/office/powerpoint/2010/main" val="1126432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11</a:t>
            </a:fld>
            <a:endParaRPr lang="ru-RU"/>
          </a:p>
        </p:txBody>
      </p:sp>
    </p:spTree>
    <p:extLst>
      <p:ext uri="{BB962C8B-B14F-4D97-AF65-F5344CB8AC3E}">
        <p14:creationId xmlns:p14="http://schemas.microsoft.com/office/powerpoint/2010/main" val="2961247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файл добавляется для отслеживания в </a:t>
            </a:r>
            <a:r>
              <a:rPr lang="ru-RU" dirty="0" err="1"/>
              <a:t>Git</a:t>
            </a:r>
            <a:r>
              <a:rPr lang="ru-RU" dirty="0"/>
              <a:t>, он сжимается с помощью алгоритма сжатия </a:t>
            </a:r>
            <a:r>
              <a:rPr lang="ru-RU" dirty="0" err="1"/>
              <a:t>zlib</a:t>
            </a:r>
            <a:r>
              <a:rPr lang="ru-RU" dirty="0"/>
              <a:t>. Результат </a:t>
            </a:r>
            <a:r>
              <a:rPr lang="ru-RU" dirty="0" err="1"/>
              <a:t>хэшируется</a:t>
            </a:r>
            <a:r>
              <a:rPr lang="ru-RU" dirty="0"/>
              <a:t> с помощью хэш-функции SHA-1. Это даёт уникальный хэш, который соответствует конкретно содержимому в этом файле. </a:t>
            </a:r>
            <a:r>
              <a:rPr lang="ru-RU" dirty="0" err="1"/>
              <a:t>Git</a:t>
            </a:r>
            <a:r>
              <a:rPr lang="ru-RU" dirty="0"/>
              <a:t> хранит его в базе объектов, которая находится в скрытой папке .</a:t>
            </a:r>
            <a:r>
              <a:rPr lang="ru-RU" dirty="0" err="1"/>
              <a:t>git</a:t>
            </a:r>
            <a:r>
              <a:rPr lang="ru-RU" dirty="0"/>
              <a:t>/</a:t>
            </a:r>
            <a:r>
              <a:rPr lang="ru-RU" dirty="0" err="1"/>
              <a:t>objects</a:t>
            </a:r>
            <a:r>
              <a:rPr lang="ru-RU" dirty="0"/>
              <a:t>. Имя файла — это сгенерированный хэш, а файл содержит сжатый контент. Данные файлы называются </a:t>
            </a:r>
            <a:r>
              <a:rPr lang="ru-RU" dirty="0" err="1"/>
              <a:t>блобами</a:t>
            </a:r>
            <a:r>
              <a:rPr lang="ru-RU" dirty="0"/>
              <a:t> и создаются каждый раз при добавлении в репозиторий нового файла (или изменённой версии существующего файла).</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err="1">
                <a:solidFill>
                  <a:srgbClr val="244061"/>
                </a:solidFill>
                <a:latin typeface="+mn-lt"/>
              </a:rPr>
              <a:t>Git</a:t>
            </a:r>
            <a:r>
              <a:rPr lang="ru-RU" sz="1200" b="0" strike="noStrike" spc="-1" dirty="0">
                <a:solidFill>
                  <a:srgbClr val="244061"/>
                </a:solidFill>
                <a:latin typeface="+mn-lt"/>
              </a:rPr>
              <a:t> реализует промежуточный индекс (</a:t>
            </a:r>
            <a:r>
              <a:rPr lang="ru-RU" sz="1200" b="0" strike="noStrike" spc="-1" dirty="0" err="1">
                <a:solidFill>
                  <a:srgbClr val="244061"/>
                </a:solidFill>
                <a:latin typeface="+mn-lt"/>
              </a:rPr>
              <a:t>staging</a:t>
            </a:r>
            <a:r>
              <a:rPr lang="ru-RU" sz="1200" b="0" strike="noStrike" spc="-1" dirty="0">
                <a:solidFill>
                  <a:srgbClr val="244061"/>
                </a:solidFill>
                <a:latin typeface="+mn-lt"/>
              </a:rPr>
              <a:t> </a:t>
            </a:r>
            <a:r>
              <a:rPr lang="ru-RU" sz="1200" b="0" strike="noStrike" spc="-1" dirty="0" err="1">
                <a:solidFill>
                  <a:srgbClr val="244061"/>
                </a:solidFill>
                <a:latin typeface="+mn-lt"/>
              </a:rPr>
              <a:t>index</a:t>
            </a:r>
            <a:r>
              <a:rPr lang="ru-RU" sz="1200" b="0" strike="noStrike" spc="-1" dirty="0">
                <a:solidFill>
                  <a:srgbClr val="244061"/>
                </a:solidFill>
                <a:latin typeface="+mn-lt"/>
              </a:rPr>
              <a:t>), который выступает в качестве промежуточной области для изменений, которые готовятся к </a:t>
            </a:r>
            <a:r>
              <a:rPr lang="ru-RU" sz="1200" b="0" strike="noStrike" spc="-1" dirty="0" err="1">
                <a:solidFill>
                  <a:srgbClr val="244061"/>
                </a:solidFill>
                <a:latin typeface="+mn-lt"/>
              </a:rPr>
              <a:t>коммиту</a:t>
            </a:r>
            <a:r>
              <a:rPr lang="ru-RU" sz="1200" b="0" strike="noStrike" spc="-1" dirty="0">
                <a:solidFill>
                  <a:srgbClr val="244061"/>
                </a:solidFill>
                <a:latin typeface="+mn-lt"/>
              </a:rPr>
              <a:t>. По мере подготовки новых изменений на их сжатое содержимое ссылаются в специальном индексном файле, который принимает форму объекта дерева. Дерево — это объект </a:t>
            </a:r>
            <a:r>
              <a:rPr lang="ru-RU" sz="1200" b="0" strike="noStrike" spc="-1" dirty="0" err="1">
                <a:solidFill>
                  <a:srgbClr val="244061"/>
                </a:solidFill>
                <a:latin typeface="+mn-lt"/>
              </a:rPr>
              <a:t>Git</a:t>
            </a:r>
            <a:r>
              <a:rPr lang="ru-RU" sz="1200" b="0" strike="noStrike" spc="-1" dirty="0">
                <a:solidFill>
                  <a:srgbClr val="244061"/>
                </a:solidFill>
                <a:latin typeface="+mn-lt"/>
              </a:rPr>
              <a:t>, который связывает </a:t>
            </a:r>
            <a:r>
              <a:rPr lang="ru-RU" sz="1200" b="0" strike="noStrike" spc="-1" dirty="0" err="1">
                <a:solidFill>
                  <a:srgbClr val="244061"/>
                </a:solidFill>
                <a:latin typeface="+mn-lt"/>
              </a:rPr>
              <a:t>блобы</a:t>
            </a:r>
            <a:r>
              <a:rPr lang="ru-RU" sz="1200" b="0" strike="noStrike" spc="-1" dirty="0">
                <a:solidFill>
                  <a:srgbClr val="244061"/>
                </a:solidFill>
                <a:latin typeface="+mn-lt"/>
              </a:rPr>
              <a:t> с их реальными именами файлов, разрешениями на доступ к файлам и ссылками на другие деревья и таким образом представляет состояние определённого набора файлов и каталогов. Когда все соответствующие изменения подготовлены для </a:t>
            </a:r>
            <a:r>
              <a:rPr lang="ru-RU" sz="1200" b="0" strike="noStrike" spc="-1" dirty="0" err="1">
                <a:solidFill>
                  <a:srgbClr val="244061"/>
                </a:solidFill>
                <a:latin typeface="+mn-lt"/>
              </a:rPr>
              <a:t>коммита</a:t>
            </a:r>
            <a:r>
              <a:rPr lang="ru-RU" sz="1200" b="0" strike="noStrike" spc="-1" dirty="0">
                <a:solidFill>
                  <a:srgbClr val="244061"/>
                </a:solidFill>
                <a:latin typeface="+mn-lt"/>
              </a:rPr>
              <a:t>, индексное дерево можно зафиксировать в репозитории, который создаёт объект </a:t>
            </a:r>
            <a:r>
              <a:rPr lang="ru-RU" sz="1200" b="0" strike="noStrike" spc="-1" dirty="0" err="1">
                <a:solidFill>
                  <a:srgbClr val="244061"/>
                </a:solidFill>
                <a:latin typeface="+mn-lt"/>
              </a:rPr>
              <a:t>коммит</a:t>
            </a:r>
            <a:r>
              <a:rPr lang="ru-RU" sz="1200" b="0" strike="noStrike" spc="-1" dirty="0">
                <a:solidFill>
                  <a:srgbClr val="244061"/>
                </a:solidFill>
                <a:latin typeface="+mn-lt"/>
              </a:rPr>
              <a:t> в базе данных объектов </a:t>
            </a:r>
            <a:r>
              <a:rPr lang="ru-RU" sz="1200" b="0" strike="noStrike" spc="-1" dirty="0" err="1">
                <a:solidFill>
                  <a:srgbClr val="244061"/>
                </a:solidFill>
                <a:latin typeface="+mn-lt"/>
              </a:rPr>
              <a:t>Git</a:t>
            </a:r>
            <a:r>
              <a:rPr lang="ru-RU" sz="1200" b="0" strike="noStrike" spc="-1" dirty="0">
                <a:solidFill>
                  <a:srgbClr val="244061"/>
                </a:solidFill>
                <a:latin typeface="+mn-lt"/>
              </a:rPr>
              <a:t>. </a:t>
            </a:r>
            <a:r>
              <a:rPr lang="ru-RU" sz="1200" b="0" strike="noStrike" spc="-1" dirty="0" err="1">
                <a:solidFill>
                  <a:srgbClr val="244061"/>
                </a:solidFill>
                <a:latin typeface="+mn-lt"/>
              </a:rPr>
              <a:t>Коммит</a:t>
            </a:r>
            <a:r>
              <a:rPr lang="ru-RU" sz="1200" b="0" strike="noStrike" spc="-1" dirty="0">
                <a:solidFill>
                  <a:srgbClr val="244061"/>
                </a:solidFill>
                <a:latin typeface="+mn-lt"/>
              </a:rPr>
              <a:t> ссылается на дерево заголовков для конкретной версии, а также на автора </a:t>
            </a:r>
            <a:r>
              <a:rPr lang="ru-RU" sz="1200" b="0" strike="noStrike" spc="-1" dirty="0" err="1">
                <a:solidFill>
                  <a:srgbClr val="244061"/>
                </a:solidFill>
                <a:latin typeface="+mn-lt"/>
              </a:rPr>
              <a:t>коммита</a:t>
            </a:r>
            <a:r>
              <a:rPr lang="ru-RU" sz="1200" b="0" strike="noStrike" spc="-1" dirty="0">
                <a:solidFill>
                  <a:srgbClr val="244061"/>
                </a:solidFill>
                <a:latin typeface="+mn-lt"/>
              </a:rPr>
              <a:t>, адрес электронной почты, дату и сообщение </a:t>
            </a:r>
            <a:r>
              <a:rPr lang="ru-RU" sz="1200" b="0" strike="noStrike" spc="-1" dirty="0" err="1">
                <a:solidFill>
                  <a:srgbClr val="244061"/>
                </a:solidFill>
                <a:latin typeface="+mn-lt"/>
              </a:rPr>
              <a:t>коммита</a:t>
            </a:r>
            <a:r>
              <a:rPr lang="ru-RU" sz="1200" b="0" strike="noStrike" spc="-1" dirty="0">
                <a:solidFill>
                  <a:srgbClr val="244061"/>
                </a:solidFill>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24406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Как уже упоминалось, все объекты </a:t>
            </a:r>
            <a:r>
              <a:rPr lang="ru-RU" sz="1200" b="0" strike="noStrike" spc="-1" dirty="0" err="1">
                <a:solidFill>
                  <a:srgbClr val="244061"/>
                </a:solidFill>
                <a:latin typeface="+mn-lt"/>
              </a:rPr>
              <a:t>Git</a:t>
            </a:r>
            <a:r>
              <a:rPr lang="ru-RU" sz="1200" b="0" strike="noStrike" spc="-1" dirty="0">
                <a:solidFill>
                  <a:srgbClr val="244061"/>
                </a:solidFill>
                <a:latin typeface="+mn-lt"/>
              </a:rPr>
              <a:t> — </a:t>
            </a:r>
            <a:r>
              <a:rPr lang="ru-RU" sz="1200" b="0" strike="noStrike" spc="-1" dirty="0" err="1">
                <a:solidFill>
                  <a:srgbClr val="244061"/>
                </a:solidFill>
                <a:latin typeface="+mn-lt"/>
              </a:rPr>
              <a:t>блобы</a:t>
            </a:r>
            <a:r>
              <a:rPr lang="ru-RU" sz="1200" b="0" strike="noStrike" spc="-1" dirty="0">
                <a:solidFill>
                  <a:srgbClr val="244061"/>
                </a:solidFill>
                <a:latin typeface="+mn-lt"/>
              </a:rPr>
              <a:t>, деревья и </a:t>
            </a:r>
            <a:r>
              <a:rPr lang="ru-RU" sz="1200" b="0" strike="noStrike" spc="-1" dirty="0" err="1">
                <a:solidFill>
                  <a:srgbClr val="244061"/>
                </a:solidFill>
                <a:latin typeface="+mn-lt"/>
              </a:rPr>
              <a:t>коммиты</a:t>
            </a:r>
            <a:r>
              <a:rPr lang="ru-RU" sz="1200" b="0" strike="noStrike" spc="-1" dirty="0">
                <a:solidFill>
                  <a:srgbClr val="244061"/>
                </a:solidFill>
                <a:latin typeface="+mn-lt"/>
              </a:rPr>
              <a:t> — сжимаются, </a:t>
            </a:r>
            <a:r>
              <a:rPr lang="ru-RU" sz="1200" b="0" strike="noStrike" spc="-1" dirty="0" err="1">
                <a:solidFill>
                  <a:srgbClr val="244061"/>
                </a:solidFill>
                <a:latin typeface="+mn-lt"/>
              </a:rPr>
              <a:t>хэшируются</a:t>
            </a:r>
            <a:r>
              <a:rPr lang="ru-RU" sz="1200" b="0" strike="noStrike" spc="-1" dirty="0">
                <a:solidFill>
                  <a:srgbClr val="244061"/>
                </a:solidFill>
                <a:latin typeface="+mn-lt"/>
              </a:rPr>
              <a:t> и хранятся в базе данных объектов на основе их хэшей. Они называются свободными объектами (</a:t>
            </a:r>
            <a:r>
              <a:rPr lang="ru-RU" sz="1200" b="0" strike="noStrike" spc="-1" dirty="0" err="1">
                <a:solidFill>
                  <a:srgbClr val="244061"/>
                </a:solidFill>
                <a:latin typeface="+mn-lt"/>
              </a:rPr>
              <a:t>loose</a:t>
            </a:r>
            <a:r>
              <a:rPr lang="ru-RU" sz="1200" b="0" strike="noStrike" spc="-1" dirty="0">
                <a:solidFill>
                  <a:srgbClr val="244061"/>
                </a:solidFill>
                <a:latin typeface="+mn-lt"/>
              </a:rPr>
              <a:t> </a:t>
            </a:r>
            <a:r>
              <a:rPr lang="ru-RU" sz="1200" b="0" strike="noStrike" spc="-1" dirty="0" err="1">
                <a:solidFill>
                  <a:srgbClr val="244061"/>
                </a:solidFill>
                <a:latin typeface="+mn-lt"/>
              </a:rPr>
              <a:t>objects</a:t>
            </a:r>
            <a:r>
              <a:rPr lang="ru-RU" sz="1200" b="0" strike="noStrike" spc="-1" dirty="0">
                <a:solidFill>
                  <a:srgbClr val="244061"/>
                </a:solidFill>
                <a:latin typeface="+mn-lt"/>
              </a:rPr>
              <a:t>). Здесь не используются никакие </a:t>
            </a:r>
            <a:r>
              <a:rPr lang="ru-RU" sz="1200" b="0" strike="noStrike" spc="-1" dirty="0" err="1">
                <a:solidFill>
                  <a:srgbClr val="244061"/>
                </a:solidFill>
                <a:latin typeface="+mn-lt"/>
              </a:rPr>
              <a:t>диффы</a:t>
            </a:r>
            <a:r>
              <a:rPr lang="ru-RU" sz="1200" b="0" strike="noStrike" spc="-1" dirty="0">
                <a:solidFill>
                  <a:srgbClr val="244061"/>
                </a:solidFill>
                <a:latin typeface="+mn-lt"/>
              </a:rPr>
              <a:t> для экономии места, что делает </a:t>
            </a:r>
            <a:r>
              <a:rPr lang="ru-RU" sz="1200" b="0" strike="noStrike" spc="-1" dirty="0" err="1">
                <a:solidFill>
                  <a:srgbClr val="244061"/>
                </a:solidFill>
                <a:latin typeface="+mn-lt"/>
              </a:rPr>
              <a:t>Git</a:t>
            </a:r>
            <a:r>
              <a:rPr lang="ru-RU" sz="1200" b="0" strike="noStrike" spc="-1" dirty="0">
                <a:solidFill>
                  <a:srgbClr val="244061"/>
                </a:solidFill>
                <a:latin typeface="+mn-lt"/>
              </a:rPr>
              <a:t> очень быстрым, поскольку полное содержимое каждой версии файла доступно как свободный объект. Однако некоторые операции, такие как передача </a:t>
            </a:r>
            <a:r>
              <a:rPr lang="ru-RU" sz="1200" b="0" strike="noStrike" spc="-1" dirty="0" err="1">
                <a:solidFill>
                  <a:srgbClr val="244061"/>
                </a:solidFill>
                <a:latin typeface="+mn-lt"/>
              </a:rPr>
              <a:t>коммитов</a:t>
            </a:r>
            <a:r>
              <a:rPr lang="ru-RU" sz="1200" b="0" strike="noStrike" spc="-1" dirty="0">
                <a:solidFill>
                  <a:srgbClr val="244061"/>
                </a:solidFill>
                <a:latin typeface="+mn-lt"/>
              </a:rPr>
              <a:t> в удалённый репозиторий, хранение очень большого количества объектов или ручной запуск команды сборки мусора </a:t>
            </a:r>
            <a:r>
              <a:rPr lang="ru-RU" sz="1200" b="0" strike="noStrike" spc="-1" dirty="0" err="1">
                <a:solidFill>
                  <a:srgbClr val="244061"/>
                </a:solidFill>
                <a:latin typeface="+mn-lt"/>
              </a:rPr>
              <a:t>Git</a:t>
            </a:r>
            <a:r>
              <a:rPr lang="ru-RU" sz="1200" b="0" strike="noStrike" spc="-1" dirty="0">
                <a:solidFill>
                  <a:srgbClr val="244061"/>
                </a:solidFill>
                <a:latin typeface="+mn-lt"/>
              </a:rPr>
              <a:t> вызывают переупаковку объектов в пакетные файлы. В процессе упаковки вычисляются обратные </a:t>
            </a:r>
            <a:r>
              <a:rPr lang="ru-RU" sz="1200" b="0" strike="noStrike" spc="-1" dirty="0" err="1">
                <a:solidFill>
                  <a:srgbClr val="244061"/>
                </a:solidFill>
                <a:latin typeface="+mn-lt"/>
              </a:rPr>
              <a:t>диффы</a:t>
            </a:r>
            <a:r>
              <a:rPr lang="ru-RU" sz="1200" b="0" strike="noStrike" spc="-1" dirty="0">
                <a:solidFill>
                  <a:srgbClr val="244061"/>
                </a:solidFill>
                <a:latin typeface="+mn-lt"/>
              </a:rPr>
              <a:t>, которые сжимаются для исключения избыточности и уменьшения размера. В результате создаются файлы .</a:t>
            </a:r>
            <a:r>
              <a:rPr lang="ru-RU" sz="1200" b="0" strike="noStrike" spc="-1" dirty="0" err="1">
                <a:solidFill>
                  <a:srgbClr val="244061"/>
                </a:solidFill>
                <a:latin typeface="+mn-lt"/>
              </a:rPr>
              <a:t>pack</a:t>
            </a:r>
            <a:r>
              <a:rPr lang="ru-RU" sz="1200" b="0" strike="noStrike" spc="-1" dirty="0">
                <a:solidFill>
                  <a:srgbClr val="244061"/>
                </a:solidFill>
                <a:latin typeface="+mn-lt"/>
              </a:rPr>
              <a:t> с содержимым объекта, а для каждого из них создаётся файл .</a:t>
            </a:r>
            <a:r>
              <a:rPr lang="ru-RU" sz="1200" b="0" strike="noStrike" spc="-1" dirty="0" err="1">
                <a:solidFill>
                  <a:srgbClr val="244061"/>
                </a:solidFill>
                <a:latin typeface="+mn-lt"/>
              </a:rPr>
              <a:t>idx</a:t>
            </a:r>
            <a:r>
              <a:rPr lang="ru-RU" sz="1200" b="0" strike="noStrike" spc="-1" dirty="0">
                <a:solidFill>
                  <a:srgbClr val="244061"/>
                </a:solidFill>
                <a:latin typeface="+mn-lt"/>
              </a:rPr>
              <a:t> (или индекс) со ссылкой на упакованные объекты и их расположение в пакетном файле.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24406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Когда ветви перемещаются в удалённые хранилища или извлекаются из них, по сети передаются эти пакетные файлы. При вытягивании или извлечении ветвей файлы пакета распаковываются для создания свободных объектов в репозитории объектов.</a:t>
            </a:r>
            <a:endParaRPr lang="ru-RU" sz="1200" b="0" strike="noStrike" spc="-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000000"/>
              </a:solidFill>
              <a:latin typeface="Arial"/>
            </a:endParaRPr>
          </a:p>
          <a:p>
            <a:endParaRPr lang="ru-RU" dirty="0"/>
          </a:p>
          <a:p>
            <a:r>
              <a:rPr lang="en-US" dirty="0"/>
              <a:t>https://git-scm.com/book/ru/v2/Git-%D0%B8%D0%B7%D0%BD%D1%83%D1%82%D1%80%D0%B8-%D0%9E%D0%B1%D1%8A%D0%B5%D0%BA%D1%82%D1%8B-Git</a:t>
            </a:r>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12</a:t>
            </a:fld>
            <a:endParaRPr lang="ru-RU"/>
          </a:p>
        </p:txBody>
      </p:sp>
    </p:spTree>
    <p:extLst>
      <p:ext uri="{BB962C8B-B14F-4D97-AF65-F5344CB8AC3E}">
        <p14:creationId xmlns:p14="http://schemas.microsoft.com/office/powerpoint/2010/main" val="4287135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Разработчик создает новый репозиторий — каталог для хранения всех файлов проекта. Это можно сделать с помощью команд </a:t>
            </a:r>
            <a:r>
              <a:rPr lang="ru-RU" dirty="0" err="1"/>
              <a:t>git</a:t>
            </a:r>
            <a:r>
              <a:rPr lang="ru-RU" dirty="0"/>
              <a:t> </a:t>
            </a:r>
            <a:r>
              <a:rPr lang="ru-RU" dirty="0" err="1"/>
              <a:t>init</a:t>
            </a:r>
            <a:r>
              <a:rPr lang="ru-RU" dirty="0"/>
              <a:t>, </a:t>
            </a:r>
            <a:r>
              <a:rPr lang="ru-RU" dirty="0" err="1"/>
              <a:t>hg</a:t>
            </a:r>
            <a:r>
              <a:rPr lang="ru-RU" dirty="0"/>
              <a:t> </a:t>
            </a:r>
            <a:r>
              <a:rPr lang="ru-RU" dirty="0" err="1"/>
              <a:t>init</a:t>
            </a:r>
            <a:r>
              <a:rPr lang="ru-RU" dirty="0"/>
              <a:t> или аналогичной в зависимости от используемой СКВ. После инициализации репозитория разработчик сможет делать </a:t>
            </a:r>
            <a:r>
              <a:rPr lang="ru-RU" dirty="0" err="1"/>
              <a:t>коммиты</a:t>
            </a:r>
            <a:r>
              <a:rPr lang="ru-RU" dirty="0"/>
              <a:t> и просматривать историю изменений репозитория. Важно отметить, что репозиторий инициализируется только один раз для каждого проекта.</a:t>
            </a:r>
            <a:endParaRPr lang="en-US" dirty="0"/>
          </a:p>
          <a:p>
            <a:endParaRPr lang="en-US" dirty="0"/>
          </a:p>
          <a:p>
            <a:r>
              <a:rPr lang="ru-RU" sz="1200" b="0" i="0" kern="1200" dirty="0">
                <a:solidFill>
                  <a:schemeClr val="tx1"/>
                </a:solidFill>
                <a:effectLst/>
                <a:latin typeface="+mn-lt"/>
                <a:ea typeface="+mn-ea"/>
                <a:cs typeface="+mn-cs"/>
              </a:rPr>
              <a:t>Разработчик добавляет файлы проекта в список подготовленных для сохранения в репозитории. Это можно сделать с помощью команды </a:t>
            </a:r>
            <a:r>
              <a:rPr lang="ru-RU" dirty="0" err="1"/>
              <a:t>git</a:t>
            </a:r>
            <a:r>
              <a:rPr lang="ru-RU" dirty="0"/>
              <a:t> </a:t>
            </a:r>
            <a:r>
              <a:rPr lang="ru-RU" dirty="0" err="1"/>
              <a:t>add</a:t>
            </a:r>
            <a:endParaRPr lang="en-US" dirty="0"/>
          </a:p>
          <a:p>
            <a:endParaRPr lang="en-US" dirty="0"/>
          </a:p>
          <a:p>
            <a:r>
              <a:rPr lang="ru-RU" sz="1200" b="0" i="0" kern="1200" dirty="0">
                <a:solidFill>
                  <a:schemeClr val="tx1"/>
                </a:solidFill>
                <a:effectLst/>
                <a:latin typeface="+mn-lt"/>
                <a:ea typeface="+mn-ea"/>
                <a:cs typeface="+mn-cs"/>
              </a:rPr>
              <a:t>Разработчик фиксирует изменения в файлах, создавая </a:t>
            </a:r>
            <a:r>
              <a:rPr lang="ru-RU" sz="1200" b="0" i="0" kern="1200" dirty="0" err="1">
                <a:solidFill>
                  <a:schemeClr val="tx1"/>
                </a:solidFill>
                <a:effectLst/>
                <a:latin typeface="+mn-lt"/>
                <a:ea typeface="+mn-ea"/>
                <a:cs typeface="+mn-cs"/>
              </a:rPr>
              <a:t>коммит</a:t>
            </a:r>
            <a:r>
              <a:rPr lang="ru-RU" sz="1200" b="0" i="0" kern="1200" dirty="0">
                <a:solidFill>
                  <a:schemeClr val="tx1"/>
                </a:solidFill>
                <a:effectLst/>
                <a:latin typeface="+mn-lt"/>
                <a:ea typeface="+mn-ea"/>
                <a:cs typeface="+mn-cs"/>
              </a:rPr>
              <a:t>. Это можно сделать с помощью команды </a:t>
            </a:r>
            <a:r>
              <a:rPr lang="ru-RU" dirty="0" err="1"/>
              <a:t>git</a:t>
            </a:r>
            <a:r>
              <a:rPr lang="ru-RU" dirty="0"/>
              <a:t> </a:t>
            </a:r>
            <a:r>
              <a:rPr lang="ru-RU" dirty="0" err="1"/>
              <a:t>commit</a:t>
            </a:r>
            <a:r>
              <a:rPr lang="ru-RU" sz="1200" b="0" i="0" kern="1200" dirty="0">
                <a:solidFill>
                  <a:schemeClr val="tx1"/>
                </a:solidFill>
                <a:effectLst/>
                <a:latin typeface="+mn-lt"/>
                <a:ea typeface="+mn-ea"/>
                <a:cs typeface="+mn-cs"/>
              </a:rPr>
              <a:t>. В </a:t>
            </a:r>
            <a:r>
              <a:rPr lang="ru-RU" sz="1200" b="0" i="0" kern="1200" dirty="0" err="1">
                <a:solidFill>
                  <a:schemeClr val="tx1"/>
                </a:solidFill>
                <a:effectLst/>
                <a:latin typeface="+mn-lt"/>
                <a:ea typeface="+mn-ea"/>
                <a:cs typeface="+mn-cs"/>
              </a:rPr>
              <a:t>коммите</a:t>
            </a:r>
            <a:r>
              <a:rPr lang="ru-RU" sz="1200" b="0" i="0" kern="1200" dirty="0">
                <a:solidFill>
                  <a:schemeClr val="tx1"/>
                </a:solidFill>
                <a:effectLst/>
                <a:latin typeface="+mn-lt"/>
                <a:ea typeface="+mn-ea"/>
                <a:cs typeface="+mn-cs"/>
              </a:rPr>
              <a:t> разработчик указывает, какие файлы были изменены, и краткое описание изменений. Это позволит легче ориентироваться в сохраненных изменениях в случае необходимости.</a:t>
            </a:r>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14</a:t>
            </a:fld>
            <a:endParaRPr lang="ru-RU"/>
          </a:p>
        </p:txBody>
      </p:sp>
    </p:spTree>
    <p:extLst>
      <p:ext uri="{BB962C8B-B14F-4D97-AF65-F5344CB8AC3E}">
        <p14:creationId xmlns:p14="http://schemas.microsoft.com/office/powerpoint/2010/main" val="2210580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Разработчик может просмотреть историю изменений, чтобы увидеть, кто и когда внес изменения в конкретный файл. Это может быть полезно для отслеживания ошибок или для улучшения процесса разработки. Это можно сделать с помощью команд </a:t>
            </a:r>
            <a:r>
              <a:rPr lang="ru-RU" dirty="0" err="1"/>
              <a:t>git</a:t>
            </a:r>
            <a:r>
              <a:rPr lang="ru-RU" dirty="0"/>
              <a:t> </a:t>
            </a:r>
            <a:r>
              <a:rPr lang="ru-RU" dirty="0" err="1"/>
              <a:t>log</a:t>
            </a:r>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16</a:t>
            </a:fld>
            <a:endParaRPr lang="ru-RU"/>
          </a:p>
        </p:txBody>
      </p:sp>
    </p:spTree>
    <p:extLst>
      <p:ext uri="{BB962C8B-B14F-4D97-AF65-F5344CB8AC3E}">
        <p14:creationId xmlns:p14="http://schemas.microsoft.com/office/powerpoint/2010/main" val="2860490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Делать мелкие исправления в проекте можно путём непосредственной правки рабочей копии и последующей фиксации изменений прямо в главной ветви (в стволе) на сервере. Однако при выполнении объёмных работ такой порядок становится неудобным: отсутствие фиксации промежуточных изменений на сервере не позволяет работать над чем-либо в групповом режиме, кроме того, повышается риск потери изменений при локальных авариях и теряется возможность анализа и возврата к предыдущим вариантам кода в пределах данной работы. Поэтому для таких изменений обычной практикой является создание ветвей (</a:t>
            </a:r>
            <a:r>
              <a:rPr lang="ru-RU" sz="1200" b="0" strike="noStrike" spc="-1" dirty="0" err="1">
                <a:solidFill>
                  <a:srgbClr val="244061"/>
                </a:solidFill>
                <a:latin typeface="+mn-lt"/>
              </a:rPr>
              <a:t>branch</a:t>
            </a:r>
            <a:r>
              <a:rPr lang="ru-RU" sz="1200" b="0" strike="noStrike" spc="-1" dirty="0">
                <a:solidFill>
                  <a:srgbClr val="244061"/>
                </a:solidFill>
                <a:latin typeface="+mn-lt"/>
              </a:rPr>
              <a:t>), то есть «</a:t>
            </a:r>
            <a:r>
              <a:rPr lang="ru-RU" sz="1200" b="0" strike="noStrike" spc="-1" dirty="0" err="1">
                <a:solidFill>
                  <a:srgbClr val="244061"/>
                </a:solidFill>
                <a:latin typeface="+mn-lt"/>
              </a:rPr>
              <a:t>отпочковывание</a:t>
            </a:r>
            <a:r>
              <a:rPr lang="ru-RU" sz="1200" b="0" strike="noStrike" spc="-1" dirty="0">
                <a:solidFill>
                  <a:srgbClr val="244061"/>
                </a:solidFill>
                <a:latin typeface="+mn-lt"/>
              </a:rPr>
              <a:t>» от ствола в какой-то версии нового варианта проекта или его части, разработка в котором ведётся параллельно с изменениями в основной версии. Рабочая копия ветви может быть создана заново обычным образом, либо путём переключения имеющейся рабочей копии на заданную ветвь.</a:t>
            </a:r>
            <a:endParaRPr lang="ru-RU" sz="1200" b="0" strike="noStrike" spc="-1" dirty="0">
              <a:solidFill>
                <a:srgbClr val="000000"/>
              </a:solidFill>
              <a:latin typeface="Arial"/>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Базовый рабочий цикл при использовании ветвей остаётся точно таким же, как и в общем случае: разработчик периодически обновляет рабочую копию (если с ветвью работает более одного человека) и фиксирует в ней свою ежедневную работу. Иногда ветвь разработки так и остаётся самостоятельной (когда изменения порождают новый вариант проекта, который далее развивается отдельно от основного), но чаще всего, когда работа, для которой создана ветвь, выполнена, ветвь реинтегрируется в ствол (основную ветвь). Это может делаться командой слияния (обычно </a:t>
            </a:r>
            <a:r>
              <a:rPr lang="ru-RU" sz="1200" b="0" strike="noStrike" spc="-1" dirty="0" err="1">
                <a:solidFill>
                  <a:srgbClr val="244061"/>
                </a:solidFill>
                <a:latin typeface="+mn-lt"/>
              </a:rPr>
              <a:t>merge</a:t>
            </a:r>
            <a:r>
              <a:rPr lang="ru-RU" sz="1200" b="0" strike="noStrike" spc="-1" dirty="0">
                <a:solidFill>
                  <a:srgbClr val="244061"/>
                </a:solidFill>
                <a:latin typeface="+mn-lt"/>
              </a:rPr>
              <a:t>), либо путём создания </a:t>
            </a:r>
            <a:r>
              <a:rPr lang="ru-RU" sz="1200" b="0" strike="noStrike" spc="-1" dirty="0" err="1">
                <a:solidFill>
                  <a:srgbClr val="244061"/>
                </a:solidFill>
                <a:latin typeface="+mn-lt"/>
              </a:rPr>
              <a:t>патча</a:t>
            </a:r>
            <a:r>
              <a:rPr lang="ru-RU" sz="1200" b="0" strike="noStrike" spc="-1" dirty="0">
                <a:solidFill>
                  <a:srgbClr val="244061"/>
                </a:solidFill>
                <a:latin typeface="+mn-lt"/>
              </a:rPr>
              <a:t> (</a:t>
            </a:r>
            <a:r>
              <a:rPr lang="ru-RU" sz="1200" b="0" strike="noStrike" spc="-1" dirty="0" err="1">
                <a:solidFill>
                  <a:srgbClr val="244061"/>
                </a:solidFill>
                <a:latin typeface="+mn-lt"/>
              </a:rPr>
              <a:t>patch</a:t>
            </a:r>
            <a:r>
              <a:rPr lang="ru-RU" sz="1200" b="0" strike="noStrike" spc="-1" dirty="0">
                <a:solidFill>
                  <a:srgbClr val="244061"/>
                </a:solidFill>
                <a:latin typeface="+mn-lt"/>
              </a:rPr>
              <a:t>), содержащего внесённые в ходе разработки ветви изменения и применения этого </a:t>
            </a:r>
            <a:r>
              <a:rPr lang="ru-RU" sz="1200" b="0" strike="noStrike" spc="-1" dirty="0" err="1">
                <a:solidFill>
                  <a:srgbClr val="244061"/>
                </a:solidFill>
                <a:latin typeface="+mn-lt"/>
              </a:rPr>
              <a:t>патча</a:t>
            </a:r>
            <a:r>
              <a:rPr lang="ru-RU" sz="1200" b="0" strike="noStrike" spc="-1" dirty="0">
                <a:solidFill>
                  <a:srgbClr val="244061"/>
                </a:solidFill>
                <a:latin typeface="+mn-lt"/>
              </a:rPr>
              <a:t> к текущей основной версии проекта.</a:t>
            </a:r>
            <a:endParaRPr lang="ru-RU" sz="1200" b="0" strike="noStrike" spc="-1" dirty="0">
              <a:solidFill>
                <a:srgbClr val="000000"/>
              </a:solidFill>
              <a:latin typeface="Arial"/>
            </a:endParaRPr>
          </a:p>
          <a:p>
            <a:endParaRPr lang="en-US" dirty="0"/>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17</a:t>
            </a:fld>
            <a:endParaRPr lang="ru-RU"/>
          </a:p>
        </p:txBody>
      </p:sp>
    </p:spTree>
    <p:extLst>
      <p:ext uri="{BB962C8B-B14F-4D97-AF65-F5344CB8AC3E}">
        <p14:creationId xmlns:p14="http://schemas.microsoft.com/office/powerpoint/2010/main" val="3724004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ru-RU" dirty="0"/>
              <a:t>Создание новой ветки в репозитории. Для этого от уже существующей в репозитории ветки — </a:t>
            </a:r>
            <a:r>
              <a:rPr lang="ru-RU" dirty="0" err="1"/>
              <a:t>master</a:t>
            </a:r>
            <a:r>
              <a:rPr lang="ru-RU" dirty="0"/>
              <a:t>-ветки или любой другой — откалывают новую ветку.</a:t>
            </a:r>
          </a:p>
          <a:p>
            <a:pPr marL="171450" indent="-171450">
              <a:buFont typeface="Arial" panose="020B0604020202020204" pitchFamily="34" charset="0"/>
              <a:buChar char="•"/>
            </a:pPr>
            <a:r>
              <a:rPr lang="ru-RU" dirty="0"/>
              <a:t>Работа с файлами проекта, сохранение изменений и создание </a:t>
            </a:r>
            <a:r>
              <a:rPr lang="ru-RU" dirty="0" err="1"/>
              <a:t>коммитов</a:t>
            </a:r>
            <a:r>
              <a:rPr lang="ru-RU" dirty="0"/>
              <a:t> в созданной ветке.</a:t>
            </a:r>
          </a:p>
          <a:p>
            <a:pPr marL="171450" indent="-171450">
              <a:buFont typeface="Arial" panose="020B0604020202020204" pitchFamily="34" charset="0"/>
              <a:buChar char="•"/>
            </a:pPr>
            <a:r>
              <a:rPr lang="ru-RU" dirty="0"/>
              <a:t>Создание </a:t>
            </a:r>
            <a:r>
              <a:rPr lang="ru-RU" dirty="0" err="1"/>
              <a:t>пулл</a:t>
            </a:r>
            <a:r>
              <a:rPr lang="ru-RU" dirty="0"/>
              <a:t> </a:t>
            </a:r>
            <a:r>
              <a:rPr lang="ru-RU" dirty="0" err="1"/>
              <a:t>реквеста</a:t>
            </a:r>
            <a:r>
              <a:rPr lang="ru-RU" dirty="0"/>
              <a:t> (</a:t>
            </a:r>
            <a:r>
              <a:rPr lang="ru-RU" dirty="0" err="1"/>
              <a:t>Pull</a:t>
            </a:r>
            <a:r>
              <a:rPr lang="ru-RU" dirty="0"/>
              <a:t> </a:t>
            </a:r>
            <a:r>
              <a:rPr lang="ru-RU" dirty="0" err="1"/>
              <a:t>Request</a:t>
            </a:r>
            <a:r>
              <a:rPr lang="ru-RU" dirty="0"/>
              <a:t>) — запроса на сохранение в родительской ветке изменений, которые были внесены в рабочую ветку. В </a:t>
            </a:r>
            <a:r>
              <a:rPr lang="ru-RU" dirty="0" err="1"/>
              <a:t>пулл</a:t>
            </a:r>
            <a:r>
              <a:rPr lang="ru-RU" dirty="0"/>
              <a:t> </a:t>
            </a:r>
            <a:r>
              <a:rPr lang="ru-RU" dirty="0" err="1"/>
              <a:t>реквесте</a:t>
            </a:r>
            <a:r>
              <a:rPr lang="ru-RU" dirty="0"/>
              <a:t> другие разработчики могут обсудить правки, добавить свои </a:t>
            </a:r>
            <a:r>
              <a:rPr lang="ru-RU" dirty="0" err="1"/>
              <a:t>коммиты</a:t>
            </a:r>
            <a:r>
              <a:rPr lang="ru-RU" dirty="0"/>
              <a:t> при необходимости, принять или отклонить предложенные изменения.</a:t>
            </a:r>
          </a:p>
          <a:p>
            <a:pPr marL="171450" indent="-171450">
              <a:buFont typeface="Arial" panose="020B0604020202020204" pitchFamily="34" charset="0"/>
              <a:buChar char="•"/>
            </a:pPr>
            <a:r>
              <a:rPr lang="ru-RU" dirty="0" err="1"/>
              <a:t>Мердж</a:t>
            </a:r>
            <a:r>
              <a:rPr lang="ru-RU" dirty="0"/>
              <a:t> (</a:t>
            </a:r>
            <a:r>
              <a:rPr lang="ru-RU" dirty="0" err="1"/>
              <a:t>Merge</a:t>
            </a:r>
            <a:r>
              <a:rPr lang="ru-RU" dirty="0"/>
              <a:t>) веток — рабочую ветку вливают в родительскую. Теперь изменения внесены и доступны всем пользователям.</a:t>
            </a:r>
          </a:p>
          <a:p>
            <a:pPr marL="171450" indent="-171450">
              <a:buFont typeface="Arial" panose="020B0604020202020204" pitchFamily="34" charset="0"/>
              <a:buChar char="•"/>
            </a:pPr>
            <a:endParaRPr lang="ru-RU" dirty="0"/>
          </a:p>
          <a:p>
            <a:pPr marL="0" indent="0">
              <a:buFont typeface="Arial" panose="020B0604020202020204" pitchFamily="34" charset="0"/>
              <a:buNone/>
            </a:pPr>
            <a:r>
              <a:rPr lang="ru-RU" sz="1200" b="0" i="0" kern="1200" dirty="0">
                <a:solidFill>
                  <a:schemeClr val="tx1"/>
                </a:solidFill>
                <a:effectLst/>
                <a:latin typeface="+mn-lt"/>
                <a:ea typeface="+mn-ea"/>
                <a:cs typeface="+mn-cs"/>
              </a:rPr>
              <a:t>Ветвление позволяет организовать командную разработку проекта. Поскольку разработчики делают </a:t>
            </a:r>
            <a:r>
              <a:rPr lang="ru-RU" sz="1200" b="0" i="0" kern="1200" dirty="0" err="1">
                <a:solidFill>
                  <a:schemeClr val="tx1"/>
                </a:solidFill>
                <a:effectLst/>
                <a:latin typeface="+mn-lt"/>
                <a:ea typeface="+mn-ea"/>
                <a:cs typeface="+mn-cs"/>
              </a:rPr>
              <a:t>коммиты</a:t>
            </a:r>
            <a:r>
              <a:rPr lang="ru-RU" sz="1200" b="0" i="0" kern="1200" dirty="0">
                <a:solidFill>
                  <a:schemeClr val="tx1"/>
                </a:solidFill>
                <a:effectLst/>
                <a:latin typeface="+mn-lt"/>
                <a:ea typeface="+mn-ea"/>
                <a:cs typeface="+mn-cs"/>
              </a:rPr>
              <a:t> в специально созданных ветках, исходный код защищен от ошибок или случайного удаления. Ветвление полезно, если нужно внести изменения, которые могут повлиять на другие части проекта. Кроме того, оно позволяет протестировать новые функции перед их интеграцией в </a:t>
            </a:r>
            <a:r>
              <a:rPr lang="ru-RU" sz="1200" b="0" i="0" kern="1200" dirty="0" err="1">
                <a:solidFill>
                  <a:schemeClr val="tx1"/>
                </a:solidFill>
                <a:effectLst/>
                <a:latin typeface="+mn-lt"/>
                <a:ea typeface="+mn-ea"/>
                <a:cs typeface="+mn-cs"/>
              </a:rPr>
              <a:t>master</a:t>
            </a:r>
            <a:r>
              <a:rPr lang="ru-RU" sz="1200" b="0" i="0" kern="1200" dirty="0">
                <a:solidFill>
                  <a:schemeClr val="tx1"/>
                </a:solidFill>
                <a:effectLst/>
                <a:latin typeface="+mn-lt"/>
                <a:ea typeface="+mn-ea"/>
                <a:cs typeface="+mn-cs"/>
              </a:rPr>
              <a:t>-ветку.</a:t>
            </a:r>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18</a:t>
            </a:fld>
            <a:endParaRPr lang="ru-RU"/>
          </a:p>
        </p:txBody>
      </p:sp>
    </p:spTree>
    <p:extLst>
      <p:ext uri="{BB962C8B-B14F-4D97-AF65-F5344CB8AC3E}">
        <p14:creationId xmlns:p14="http://schemas.microsoft.com/office/powerpoint/2010/main" val="3175729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Во всех случаях ситуация принципиально одинакова и имеет следующие характерные черты:</a:t>
            </a:r>
          </a:p>
          <a:p>
            <a:endParaRPr lang="ru-RU" dirty="0"/>
          </a:p>
          <a:p>
            <a:r>
              <a:rPr lang="ru-RU" dirty="0"/>
              <a:t>1. Ранее была сделана копия дерева файлов и каталогов репозитория или его части.</a:t>
            </a:r>
          </a:p>
          <a:p>
            <a:r>
              <a:rPr lang="ru-RU" dirty="0"/>
              <a:t>2. Впоследствии и в оригинальное дерево, и в копию были независимо внесены некоторые изменения.</a:t>
            </a:r>
          </a:p>
          <a:p>
            <a:r>
              <a:rPr lang="ru-RU" dirty="0"/>
              <a:t>3. Требуется объединить изменения в оригинале и копии таким образом, чтобы не нарушить логическую связность проекта и не потерять данные.</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19</a:t>
            </a:fld>
            <a:endParaRPr lang="ru-RU"/>
          </a:p>
        </p:txBody>
      </p:sp>
    </p:spTree>
    <p:extLst>
      <p:ext uri="{BB962C8B-B14F-4D97-AF65-F5344CB8AC3E}">
        <p14:creationId xmlns:p14="http://schemas.microsoft.com/office/powerpoint/2010/main" val="381910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Изменения могут состоять в модификации содержимого файла, создании нового файла или каталога, удалении или переименовании ранее существовавшего файла или каталога в проекте.</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Если два изменения относятся к разным и не связанным между собой файлам и/или каталогам, они всегда могут быть объединены автоматически. Их объединение состоит в том, что изменения, сделанные в каждой версии проекта, копируются в объединяемую версию. Создание, удаление и переименование файлов в каталогах проекта могут быть объединены автоматически, если только они не конфликтуют между собой. В этом случае изменения, сделанные в каждой версии проекта, копируются в объединяемую версию.</a:t>
            </a:r>
            <a:endParaRPr lang="ru-RU" sz="1200" b="0" strike="noStrike" spc="-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20</a:t>
            </a:fld>
            <a:endParaRPr lang="ru-RU"/>
          </a:p>
        </p:txBody>
      </p:sp>
    </p:spTree>
    <p:extLst>
      <p:ext uri="{BB962C8B-B14F-4D97-AF65-F5344CB8AC3E}">
        <p14:creationId xmlns:p14="http://schemas.microsoft.com/office/powerpoint/2010/main" val="3086164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Для разрешения конфликта система, в общем случае, предлагает разработчику три варианта конфликтующих файлов: базовый, локальный и серверный. Конфликтующие изменения либо показываются разработчику в специальном программном модуле объединения изменений (в этом случае там демонстрируются сливаемые варианты и динамически изменяющийся в зависимости от команд пользователя объединённый вариант файла), либо просто помечаются специальной разметкой прямо в тексте объединённого файла (тогда разработчик должен сам сформировать желаемый текст в спорных местах и сохранить его).</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21</a:t>
            </a:fld>
            <a:endParaRPr lang="ru-RU"/>
          </a:p>
        </p:txBody>
      </p:sp>
    </p:spTree>
    <p:extLst>
      <p:ext uri="{BB962C8B-B14F-4D97-AF65-F5344CB8AC3E}">
        <p14:creationId xmlns:p14="http://schemas.microsoft.com/office/powerpoint/2010/main" val="992127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strike="noStrike" spc="-1" dirty="0">
                <a:solidFill>
                  <a:srgbClr val="244061"/>
                </a:solidFill>
                <a:latin typeface="+mn-lt"/>
              </a:rPr>
              <a:t>Такая пометка может ставиться автоматически при добавлении файла в проект, обычно для этого предварительно создаётся список масок имён файлов, которые при добавлении должны становиться блокируемыми.</a:t>
            </a:r>
            <a:endParaRPr lang="en-US" sz="1200" b="0" strike="noStrike" spc="-1" dirty="0">
              <a:solidFill>
                <a:srgbClr val="24406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Если файл помечен как блокируемый, то при извлечении рабочей копии с сервера он получает в локальной файловой системе атрибут «только для чтения», что препятствует его случайному редактированию.</a:t>
            </a:r>
            <a:endParaRPr lang="en-US" sz="1200" b="0" strike="noStrike" spc="-1" dirty="0">
              <a:solidFill>
                <a:srgbClr val="244061"/>
              </a:solidFill>
              <a:latin typeface="+mn-lt"/>
            </a:endParaRPr>
          </a:p>
          <a:p>
            <a:pPr algn="just">
              <a:lnSpc>
                <a:spcPct val="100000"/>
              </a:lnSpc>
            </a:pPr>
            <a:r>
              <a:rPr lang="ru-RU" sz="1200" b="0" strike="noStrike" spc="-1" dirty="0">
                <a:solidFill>
                  <a:srgbClr val="244061"/>
                </a:solidFill>
                <a:latin typeface="+mn-lt"/>
              </a:rPr>
              <a:t>В результате работы команды</a:t>
            </a:r>
            <a:r>
              <a:rPr lang="en-US" sz="1200" b="0" strike="noStrike" spc="-1" dirty="0">
                <a:solidFill>
                  <a:srgbClr val="244061"/>
                </a:solidFill>
                <a:latin typeface="+mn-lt"/>
              </a:rPr>
              <a:t> lock</a:t>
            </a:r>
            <a:r>
              <a:rPr lang="ru-RU" sz="1200" b="0" strike="noStrike" spc="-1" dirty="0">
                <a:solidFill>
                  <a:srgbClr val="244061"/>
                </a:solidFill>
                <a:latin typeface="+mn-lt"/>
              </a:rPr>
              <a:t> происходит следующее:</a:t>
            </a:r>
            <a:endParaRPr lang="ru-RU" sz="1200" b="0" strike="noStrike" spc="-1" dirty="0">
              <a:solidFill>
                <a:srgbClr val="000000"/>
              </a:solidFill>
              <a:latin typeface="Arial"/>
            </a:endParaRPr>
          </a:p>
          <a:p>
            <a:pPr algn="just">
              <a:lnSpc>
                <a:spcPct val="100000"/>
              </a:lnSpc>
            </a:pPr>
            <a:r>
              <a:rPr lang="ru-RU" sz="1200" b="0" strike="noStrike" spc="-1" dirty="0">
                <a:solidFill>
                  <a:srgbClr val="244061"/>
                </a:solidFill>
                <a:latin typeface="+mn-lt"/>
              </a:rPr>
              <a:t>	1. сервер проверяет, не заблокирован ли уже файл другим разработчиком; если это так, то команда блокировки завершается с ошибкой «файл заблокирован другим пользователем» и разработчик, вызывавший её, должен ожидать, пока другой пользователь не снимет свою блокировку;</a:t>
            </a:r>
            <a:endParaRPr lang="ru-RU" sz="1200" b="0" strike="noStrike" spc="-1" dirty="0">
              <a:solidFill>
                <a:srgbClr val="000000"/>
              </a:solidFill>
              <a:latin typeface="Arial"/>
            </a:endParaRPr>
          </a:p>
          <a:p>
            <a:pPr algn="just">
              <a:lnSpc>
                <a:spcPct val="100000"/>
              </a:lnSpc>
            </a:pPr>
            <a:r>
              <a:rPr lang="ru-RU" sz="1200" b="0" strike="noStrike" spc="-1" dirty="0">
                <a:solidFill>
                  <a:srgbClr val="244061"/>
                </a:solidFill>
                <a:latin typeface="+mn-lt"/>
              </a:rPr>
              <a:t>	2. файл на сервере помечается как «заблокированный», с сохранением идентификатора заблокировавшего его разработчика и времени блокировки;</a:t>
            </a:r>
            <a:endParaRPr lang="ru-RU" sz="1200" b="0" strike="noStrike" spc="-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3. если блокировка на сервере прошла удачно, на локальной файловой системе с файла рабочей копии снимается атрибут «только для чтения», что позволяет начать его редактировать.</a:t>
            </a: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22</a:t>
            </a:fld>
            <a:endParaRPr lang="ru-RU"/>
          </a:p>
        </p:txBody>
      </p:sp>
    </p:spTree>
    <p:extLst>
      <p:ext uri="{BB962C8B-B14F-4D97-AF65-F5344CB8AC3E}">
        <p14:creationId xmlns:p14="http://schemas.microsoft.com/office/powerpoint/2010/main" val="74131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современных VCS предпочтительным является использование неблокирующих извлечений, блокировки же считаются скорее неизбежным злом, которое нужно по возможности ограничивать.</a:t>
            </a:r>
          </a:p>
        </p:txBody>
      </p:sp>
      <p:sp>
        <p:nvSpPr>
          <p:cNvPr id="4" name="Slide Number Placeholder 3"/>
          <p:cNvSpPr>
            <a:spLocks noGrp="1"/>
          </p:cNvSpPr>
          <p:nvPr>
            <p:ph type="sldNum" sz="quarter" idx="5"/>
          </p:nvPr>
        </p:nvSpPr>
        <p:spPr/>
        <p:txBody>
          <a:bodyPr/>
          <a:lstStyle/>
          <a:p>
            <a:fld id="{CAF777B8-3CCE-494F-A5E8-85D7A9B8D267}" type="slidenum">
              <a:rPr lang="ru-RU" smtClean="0"/>
              <a:t>23</a:t>
            </a:fld>
            <a:endParaRPr lang="ru-RU"/>
          </a:p>
        </p:txBody>
      </p:sp>
    </p:spTree>
    <p:extLst>
      <p:ext uri="{BB962C8B-B14F-4D97-AF65-F5344CB8AC3E}">
        <p14:creationId xmlns:p14="http://schemas.microsoft.com/office/powerpoint/2010/main" val="1103176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strike="noStrike" spc="-1" dirty="0">
                <a:solidFill>
                  <a:srgbClr val="244061"/>
                </a:solidFill>
                <a:latin typeface="+mn-lt"/>
              </a:rPr>
              <a:t>Система управления версиями обеспечивает хранение всех существовавших вариантов файлов и, как следствие, всех вариантов проекта в целом, имевших место с момента начала его разработки. Но само понятие «версии» как таковое не существует.</a:t>
            </a:r>
            <a:endParaRPr lang="en-US" dirty="0"/>
          </a:p>
          <a:p>
            <a:r>
              <a:rPr lang="ru-RU" dirty="0"/>
              <a:t>Для более удобной пометки версий проекта (или его частей) системы управления версиями поддерживают понятие тегов.</a:t>
            </a:r>
          </a:p>
          <a:p>
            <a:endParaRPr lang="ru-RU" sz="1200" b="0" strike="noStrike" spc="-1" dirty="0">
              <a:solidFill>
                <a:srgbClr val="244061"/>
              </a:solidFill>
              <a:latin typeface="+mn-lt"/>
            </a:endParaRPr>
          </a:p>
          <a:p>
            <a:r>
              <a:rPr lang="ru-RU" sz="1200" b="0" strike="noStrike" spc="-1" dirty="0">
                <a:solidFill>
                  <a:srgbClr val="244061"/>
                </a:solidFill>
                <a:latin typeface="+mn-lt"/>
              </a:rPr>
              <a:t>Таким образом можно идентифицировать версию проекта (версия «XX.XXX.XXX» — это набор версий файлов репозитория, имеющих тег «XX.XXX.XXX»), зафиксировав таким образом его состояние на некоторый желаемый момент. </a:t>
            </a:r>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25</a:t>
            </a:fld>
            <a:endParaRPr lang="ru-RU"/>
          </a:p>
        </p:txBody>
      </p:sp>
    </p:spTree>
    <p:extLst>
      <p:ext uri="{BB962C8B-B14F-4D97-AF65-F5344CB8AC3E}">
        <p14:creationId xmlns:p14="http://schemas.microsoft.com/office/powerpoint/2010/main" val="3433204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0000"/>
              </a:lnSpc>
            </a:pPr>
            <a:r>
              <a:rPr lang="ru-RU" sz="1200" b="0" strike="noStrike" spc="-1" dirty="0">
                <a:solidFill>
                  <a:srgbClr val="244061"/>
                </a:solidFill>
                <a:latin typeface="+mn-lt"/>
              </a:rPr>
              <a:t>Необходимо отслеживать файлы кода и игнорировать все остальные. Для этого в файл .</a:t>
            </a:r>
            <a:r>
              <a:rPr lang="ru-RU" sz="1200" b="0" strike="noStrike" spc="-1" dirty="0" err="1">
                <a:solidFill>
                  <a:srgbClr val="244061"/>
                </a:solidFill>
                <a:latin typeface="+mn-lt"/>
              </a:rPr>
              <a:t>gitignore</a:t>
            </a:r>
            <a:r>
              <a:rPr lang="ru-RU" sz="1200" b="0" strike="noStrike" spc="-1" dirty="0">
                <a:solidFill>
                  <a:srgbClr val="244061"/>
                </a:solidFill>
                <a:latin typeface="+mn-lt"/>
              </a:rPr>
              <a:t> необходимо добавить </a:t>
            </a:r>
            <a:endParaRPr lang="ru-RU" sz="1200" b="0" strike="noStrike" spc="-1" dirty="0">
              <a:solidFill>
                <a:srgbClr val="000000"/>
              </a:solidFill>
              <a:latin typeface="Arial"/>
            </a:endParaRPr>
          </a:p>
          <a:p>
            <a:pPr algn="just">
              <a:lnSpc>
                <a:spcPct val="100000"/>
              </a:lnSpc>
            </a:pPr>
            <a:endParaRPr lang="ru-RU" sz="1200" b="0" strike="noStrike" spc="-1" dirty="0">
              <a:solidFill>
                <a:srgbClr val="000000"/>
              </a:solidFill>
              <a:latin typeface="Arial"/>
            </a:endParaRPr>
          </a:p>
          <a:p>
            <a:r>
              <a:rPr lang="ru-RU" sz="1200" b="0" strike="noStrike" spc="-1" dirty="0">
                <a:solidFill>
                  <a:srgbClr val="244061"/>
                </a:solidFill>
                <a:latin typeface="+mn-lt"/>
                <a:ea typeface="JetBrains Mono"/>
              </a:rPr>
              <a:t>*.</a:t>
            </a:r>
            <a:r>
              <a:rPr lang="ru-RU" sz="1200" b="0" strike="noStrike" spc="-1" dirty="0" err="1">
                <a:solidFill>
                  <a:srgbClr val="244061"/>
                </a:solidFill>
                <a:latin typeface="+mn-lt"/>
                <a:ea typeface="JetBrains Mono"/>
              </a:rPr>
              <a:t>class</a:t>
            </a:r>
            <a:br>
              <a:rPr lang="ru-RU" sz="1200" dirty="0"/>
            </a:br>
            <a:r>
              <a:rPr lang="ru-RU" sz="1200" b="0" strike="noStrike" spc="-1" dirty="0" err="1">
                <a:solidFill>
                  <a:srgbClr val="244061"/>
                </a:solidFill>
                <a:latin typeface="+mn-lt"/>
                <a:ea typeface="JetBrains Mono"/>
              </a:rPr>
              <a:t>target</a:t>
            </a:r>
            <a:r>
              <a:rPr lang="ru-RU" sz="1200" b="0" strike="noStrike" spc="-1" dirty="0">
                <a:solidFill>
                  <a:srgbClr val="244061"/>
                </a:solidFill>
                <a:latin typeface="+mn-lt"/>
                <a:ea typeface="JetBrains Mono"/>
              </a:rPr>
              <a:t>/</a:t>
            </a:r>
            <a:br>
              <a:rPr lang="ru-RU" sz="1200" dirty="0"/>
            </a:br>
            <a:r>
              <a:rPr lang="ru-RU" sz="1200" b="0" strike="noStrike" spc="-1" dirty="0">
                <a:solidFill>
                  <a:srgbClr val="244061"/>
                </a:solidFill>
                <a:latin typeface="+mn-lt"/>
                <a:ea typeface="JetBrains Mono"/>
              </a:rPr>
              <a:t>*.</a:t>
            </a:r>
            <a:r>
              <a:rPr lang="ru-RU" sz="1200" b="0" strike="noStrike" spc="-1" dirty="0" err="1">
                <a:solidFill>
                  <a:srgbClr val="244061"/>
                </a:solidFill>
                <a:latin typeface="+mn-lt"/>
                <a:ea typeface="JetBrains Mono"/>
              </a:rPr>
              <a:t>iml</a:t>
            </a:r>
            <a:br>
              <a:rPr lang="ru-RU" sz="1200" dirty="0"/>
            </a:br>
            <a:r>
              <a:rPr lang="ru-RU" sz="1200" b="0" strike="noStrike" spc="-1" dirty="0">
                <a:solidFill>
                  <a:srgbClr val="244061"/>
                </a:solidFill>
                <a:latin typeface="+mn-lt"/>
                <a:ea typeface="JetBrains Mono"/>
              </a:rPr>
              <a:t>.</a:t>
            </a:r>
            <a:r>
              <a:rPr lang="ru-RU" sz="1200" b="0" strike="noStrike" spc="-1" dirty="0" err="1">
                <a:solidFill>
                  <a:srgbClr val="244061"/>
                </a:solidFill>
                <a:latin typeface="+mn-lt"/>
                <a:ea typeface="JetBrains Mono"/>
              </a:rPr>
              <a:t>idea</a:t>
            </a:r>
            <a:r>
              <a:rPr lang="ru-RU" sz="1200" b="0" strike="noStrike" spc="-1" dirty="0">
                <a:solidFill>
                  <a:srgbClr val="244061"/>
                </a:solidFill>
                <a:latin typeface="+mn-lt"/>
                <a:ea typeface="JetBrains Mono"/>
              </a:rPr>
              <a:t>/</a:t>
            </a:r>
            <a:endParaRPr lang="ru-RU" sz="1200" b="0" strike="noStrike" spc="-1" dirty="0">
              <a:solidFill>
                <a:srgbClr val="A9B7C6"/>
              </a:solidFill>
              <a:latin typeface="JetBrains Mono"/>
              <a:ea typeface="JetBrains Mono"/>
            </a:endParaRPr>
          </a:p>
          <a:p>
            <a:endParaRPr lang="ru-RU" sz="1200" b="0" strike="noStrike" spc="-1" dirty="0">
              <a:solidFill>
                <a:srgbClr val="A9B7C6"/>
              </a:solidFill>
              <a:latin typeface="JetBrains Mono"/>
              <a:ea typeface="JetBrains Mono"/>
            </a:endParaRPr>
          </a:p>
          <a:p>
            <a:pPr algn="just">
              <a:lnSpc>
                <a:spcPct val="100000"/>
              </a:lnSpc>
            </a:pPr>
            <a:r>
              <a:rPr lang="ru-RU" sz="1200" b="0" strike="noStrike" spc="-1" dirty="0">
                <a:solidFill>
                  <a:srgbClr val="244061"/>
                </a:solidFill>
                <a:latin typeface="+mn-lt"/>
              </a:rPr>
              <a:t>первая строка — это игнорирование всех файлов с расширением .</a:t>
            </a:r>
            <a:r>
              <a:rPr lang="ru-RU" sz="1200" b="0" strike="noStrike" spc="-1" dirty="0" err="1">
                <a:solidFill>
                  <a:srgbClr val="244061"/>
                </a:solidFill>
                <a:latin typeface="+mn-lt"/>
              </a:rPr>
              <a:t>class</a:t>
            </a:r>
            <a:r>
              <a:rPr lang="ru-RU" sz="1200" b="0" strike="noStrike" spc="-1" dirty="0">
                <a:solidFill>
                  <a:srgbClr val="244061"/>
                </a:solidFill>
                <a:latin typeface="+mn-lt"/>
              </a:rPr>
              <a:t>;</a:t>
            </a:r>
            <a:endParaRPr lang="ru-RU" sz="1200" b="0" strike="noStrike" spc="-1" dirty="0">
              <a:solidFill>
                <a:srgbClr val="000000"/>
              </a:solidFill>
              <a:latin typeface="Arial"/>
            </a:endParaRPr>
          </a:p>
          <a:p>
            <a:pPr algn="just">
              <a:lnSpc>
                <a:spcPct val="100000"/>
              </a:lnSpc>
            </a:pPr>
            <a:r>
              <a:rPr lang="ru-RU" sz="1200" b="0" strike="noStrike" spc="-1" dirty="0">
                <a:solidFill>
                  <a:srgbClr val="244061"/>
                </a:solidFill>
                <a:latin typeface="+mn-lt"/>
              </a:rPr>
              <a:t>вторая строка — это игнорирование папки </a:t>
            </a:r>
            <a:r>
              <a:rPr lang="ru-RU" sz="1200" b="0" strike="noStrike" spc="-1" dirty="0" err="1">
                <a:solidFill>
                  <a:srgbClr val="244061"/>
                </a:solidFill>
                <a:latin typeface="+mn-lt"/>
              </a:rPr>
              <a:t>target</a:t>
            </a:r>
            <a:r>
              <a:rPr lang="ru-RU" sz="1200" b="0" strike="noStrike" spc="-1" dirty="0">
                <a:solidFill>
                  <a:srgbClr val="244061"/>
                </a:solidFill>
                <a:latin typeface="+mn-lt"/>
              </a:rPr>
              <a:t> и всего, что она содержит;</a:t>
            </a:r>
            <a:endParaRPr lang="ru-RU" sz="1200" b="0" strike="noStrike" spc="-1" dirty="0">
              <a:solidFill>
                <a:srgbClr val="000000"/>
              </a:solidFill>
              <a:latin typeface="Arial"/>
            </a:endParaRPr>
          </a:p>
          <a:p>
            <a:pPr algn="just">
              <a:lnSpc>
                <a:spcPct val="100000"/>
              </a:lnSpc>
            </a:pPr>
            <a:r>
              <a:rPr lang="ru-RU" sz="1200" b="0" strike="noStrike" spc="-1" dirty="0">
                <a:solidFill>
                  <a:srgbClr val="244061"/>
                </a:solidFill>
                <a:latin typeface="+mn-lt"/>
              </a:rPr>
              <a:t>третья строка — это игнорирование всех файлов с расширением .</a:t>
            </a:r>
            <a:r>
              <a:rPr lang="ru-RU" sz="1200" b="0" strike="noStrike" spc="-1" dirty="0" err="1">
                <a:solidFill>
                  <a:srgbClr val="244061"/>
                </a:solidFill>
                <a:latin typeface="+mn-lt"/>
              </a:rPr>
              <a:t>iml</a:t>
            </a:r>
            <a:r>
              <a:rPr lang="ru-RU" sz="1200" b="0" strike="noStrike" spc="-1" dirty="0">
                <a:solidFill>
                  <a:srgbClr val="244061"/>
                </a:solidFill>
                <a:latin typeface="+mn-lt"/>
              </a:rPr>
              <a:t>;</a:t>
            </a:r>
            <a:endParaRPr lang="ru-RU" sz="1200" b="0" strike="noStrike" spc="-1" dirty="0">
              <a:solidFill>
                <a:srgbClr val="000000"/>
              </a:solidFill>
              <a:latin typeface="Arial"/>
            </a:endParaRPr>
          </a:p>
          <a:p>
            <a:pPr algn="just">
              <a:lnSpc>
                <a:spcPct val="100000"/>
              </a:lnSpc>
            </a:pPr>
            <a:r>
              <a:rPr lang="ru-RU" sz="1200" b="0" strike="noStrike" spc="-1" dirty="0">
                <a:solidFill>
                  <a:srgbClr val="244061"/>
                </a:solidFill>
                <a:latin typeface="+mn-lt"/>
              </a:rPr>
              <a:t>четвертая строка — это игнорирование папки .</a:t>
            </a:r>
            <a:r>
              <a:rPr lang="ru-RU" sz="1200" b="0" strike="noStrike" spc="-1" dirty="0" err="1">
                <a:solidFill>
                  <a:srgbClr val="244061"/>
                </a:solidFill>
                <a:latin typeface="+mn-lt"/>
              </a:rPr>
              <a:t>idea</a:t>
            </a:r>
            <a:r>
              <a:rPr lang="ru-RU" sz="1200" b="0" strike="noStrike" spc="-1" dirty="0">
                <a:solidFill>
                  <a:srgbClr val="244061"/>
                </a:solidFill>
                <a:latin typeface="+mn-lt"/>
              </a:rPr>
              <a:t>.</a:t>
            </a: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26</a:t>
            </a:fld>
            <a:endParaRPr lang="ru-RU"/>
          </a:p>
        </p:txBody>
      </p:sp>
    </p:spTree>
    <p:extLst>
      <p:ext uri="{BB962C8B-B14F-4D97-AF65-F5344CB8AC3E}">
        <p14:creationId xmlns:p14="http://schemas.microsoft.com/office/powerpoint/2010/main" val="1215900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 Любые рабочие, тестовые или демонстрационные версии проекта собираются только из репозитория системы. «Персональные» сборки, включающие ещё незафиксированные изменения, могут делать только разработчики для целей промежуточного тестирования. Таким образом, гарантируется, что репозиторий содержит всё необходимое для создания рабочей версии проекта.</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pc="-1" dirty="0">
                <a:solidFill>
                  <a:srgbClr val="244061"/>
                </a:solidFill>
              </a:rPr>
              <a:t>Текущая версия главной ветви всегда корректна. Не допускается фиксация в главной ветви неполных или не прошедших хотя бы предварительное тестирование изменений. В любой момент сборка проекта, проведённая из текущей версии, должна быть успешной.</a:t>
            </a:r>
            <a:endParaRPr lang="ru-RU" spc="-1" dirty="0">
              <a:solidFill>
                <a:srgbClr val="000000"/>
              </a:solidFill>
              <a:latin typeface="Arial"/>
            </a:endParaRP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Любое значимое изменение должно оформляться как отдельная ветвь. Промежуточные результаты работы разработчика фиксируются в эту ветвь. После завершения работы над изменением ветвь объединяется со стволом. Исключения допускаются только для мелких изменений, работа над которыми ведётся одним разработчиком в течение не более чем одного рабочего дня.</a:t>
            </a:r>
          </a:p>
          <a:p>
            <a:endParaRPr lang="ru-RU" dirty="0"/>
          </a:p>
        </p:txBody>
      </p:sp>
      <p:sp>
        <p:nvSpPr>
          <p:cNvPr id="4" name="Slide Number Placeholder 3"/>
          <p:cNvSpPr>
            <a:spLocks noGrp="1"/>
          </p:cNvSpPr>
          <p:nvPr>
            <p:ph type="sldNum" sz="quarter" idx="5"/>
          </p:nvPr>
        </p:nvSpPr>
        <p:spPr/>
        <p:txBody>
          <a:bodyPr/>
          <a:lstStyle/>
          <a:p>
            <a:fld id="{CAF777B8-3CCE-494F-A5E8-85D7A9B8D267}" type="slidenum">
              <a:rPr lang="ru-RU" smtClean="0"/>
              <a:t>27</a:t>
            </a:fld>
            <a:endParaRPr lang="ru-RU"/>
          </a:p>
        </p:txBody>
      </p:sp>
    </p:spTree>
    <p:extLst>
      <p:ext uri="{BB962C8B-B14F-4D97-AF65-F5344CB8AC3E}">
        <p14:creationId xmlns:p14="http://schemas.microsoft.com/office/powerpoint/2010/main" val="2343005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Для работы с СКВ существует множество инструментов, которые можно разделить на следующие категории:</a:t>
            </a:r>
          </a:p>
          <a:p>
            <a:r>
              <a:rPr lang="ru-RU" sz="1200" b="1" i="0" kern="1200" dirty="0">
                <a:solidFill>
                  <a:schemeClr val="tx1"/>
                </a:solidFill>
                <a:effectLst/>
                <a:latin typeface="+mn-lt"/>
                <a:ea typeface="+mn-ea"/>
                <a:cs typeface="+mn-cs"/>
              </a:rPr>
              <a:t>IDE</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Интегрированные среды разработки — это программы, которые объединяют в себе редактор кода, компилятор и другие инструменты для разработки ПО. Некоторые IDE имеют встроенные инструменты для работы системами контроля версий, что позволяет разработчикам легко интегрировать их в свой рабочий процесс.</a:t>
            </a:r>
          </a:p>
          <a:p>
            <a:r>
              <a:rPr lang="ru-RU" sz="1200" b="0" i="0" kern="1200" dirty="0">
                <a:solidFill>
                  <a:schemeClr val="tx1"/>
                </a:solidFill>
                <a:effectLst/>
                <a:latin typeface="+mn-lt"/>
                <a:ea typeface="+mn-ea"/>
                <a:cs typeface="+mn-cs"/>
              </a:rPr>
              <a:t>Популярные IDE, которые имеют встроенные инструменты для работы с СКВ:</a:t>
            </a:r>
          </a:p>
          <a:p>
            <a:pPr lvl="1"/>
            <a:r>
              <a:rPr lang="ru-RU" sz="1200" b="1" i="0" u="none" strike="noStrike" kern="1200" dirty="0" err="1">
                <a:solidFill>
                  <a:schemeClr val="tx1"/>
                </a:solidFill>
                <a:effectLst/>
                <a:latin typeface="+mn-lt"/>
                <a:ea typeface="+mn-ea"/>
                <a:cs typeface="+mn-cs"/>
                <a:hlinkClick r:id="rId3"/>
              </a:rPr>
              <a:t>Visual</a:t>
            </a:r>
            <a:r>
              <a:rPr lang="ru-RU" sz="1200" b="1" i="0" u="none" strike="noStrike" kern="1200" dirty="0">
                <a:solidFill>
                  <a:schemeClr val="tx1"/>
                </a:solidFill>
                <a:effectLst/>
                <a:latin typeface="+mn-lt"/>
                <a:ea typeface="+mn-ea"/>
                <a:cs typeface="+mn-cs"/>
                <a:hlinkClick r:id="rId3"/>
              </a:rPr>
              <a:t> </a:t>
            </a:r>
            <a:r>
              <a:rPr lang="ru-RU" sz="1200" b="1" i="0" u="none" strike="noStrike" kern="1200" dirty="0" err="1">
                <a:solidFill>
                  <a:schemeClr val="tx1"/>
                </a:solidFill>
                <a:effectLst/>
                <a:latin typeface="+mn-lt"/>
                <a:ea typeface="+mn-ea"/>
                <a:cs typeface="+mn-cs"/>
                <a:hlinkClick r:id="rId3"/>
              </a:rPr>
              <a:t>Studio</a:t>
            </a:r>
            <a:r>
              <a:rPr lang="ru-RU" sz="1200" b="1" i="0" u="none" strike="noStrike" kern="1200" dirty="0">
                <a:solidFill>
                  <a:schemeClr val="tx1"/>
                </a:solidFill>
                <a:effectLst/>
                <a:latin typeface="+mn-lt"/>
                <a:ea typeface="+mn-ea"/>
                <a:cs typeface="+mn-cs"/>
                <a:hlinkClick r:id="rId3"/>
              </a:rPr>
              <a:t> </a:t>
            </a:r>
            <a:r>
              <a:rPr lang="ru-RU" sz="1200" b="1" i="0" u="none" strike="noStrike" kern="1200" dirty="0" err="1">
                <a:solidFill>
                  <a:schemeClr val="tx1"/>
                </a:solidFill>
                <a:effectLst/>
                <a:latin typeface="+mn-lt"/>
                <a:ea typeface="+mn-ea"/>
                <a:cs typeface="+mn-cs"/>
                <a:hlinkClick r:id="rId3"/>
              </a:rPr>
              <a:t>Code</a:t>
            </a:r>
            <a:r>
              <a:rPr lang="ru-RU" sz="1200" b="0" i="0" kern="1200" dirty="0">
                <a:solidFill>
                  <a:schemeClr val="tx1"/>
                </a:solidFill>
                <a:effectLst/>
                <a:latin typeface="+mn-lt"/>
                <a:ea typeface="+mn-ea"/>
                <a:cs typeface="+mn-cs"/>
              </a:rPr>
              <a:t> , </a:t>
            </a:r>
            <a:r>
              <a:rPr lang="ru-RU" sz="1200" b="1" i="0" u="none" strike="noStrike" kern="1200" dirty="0" err="1">
                <a:solidFill>
                  <a:schemeClr val="tx1"/>
                </a:solidFill>
                <a:effectLst/>
                <a:latin typeface="+mn-lt"/>
                <a:ea typeface="+mn-ea"/>
                <a:cs typeface="+mn-cs"/>
                <a:hlinkClick r:id="rId4"/>
              </a:rPr>
              <a:t>IntelliJ</a:t>
            </a:r>
            <a:r>
              <a:rPr lang="ru-RU" sz="1200" b="1" i="0" u="none" strike="noStrike" kern="1200" dirty="0">
                <a:solidFill>
                  <a:schemeClr val="tx1"/>
                </a:solidFill>
                <a:effectLst/>
                <a:latin typeface="+mn-lt"/>
                <a:ea typeface="+mn-ea"/>
                <a:cs typeface="+mn-cs"/>
                <a:hlinkClick r:id="rId4"/>
              </a:rPr>
              <a:t> IDEA</a:t>
            </a:r>
            <a:r>
              <a:rPr lang="ru-RU" sz="1200" b="0" i="0" kern="1200" dirty="0">
                <a:solidFill>
                  <a:schemeClr val="tx1"/>
                </a:solidFill>
                <a:effectLst/>
                <a:latin typeface="+mn-lt"/>
                <a:ea typeface="+mn-ea"/>
                <a:cs typeface="+mn-cs"/>
              </a:rPr>
              <a:t> , </a:t>
            </a:r>
            <a:r>
              <a:rPr lang="ru-RU" sz="1200" b="1" i="0" u="none" strike="noStrike" kern="1200" dirty="0" err="1">
                <a:solidFill>
                  <a:schemeClr val="tx1"/>
                </a:solidFill>
                <a:effectLst/>
                <a:latin typeface="+mn-lt"/>
                <a:ea typeface="+mn-ea"/>
                <a:cs typeface="+mn-cs"/>
                <a:hlinkClick r:id="rId5"/>
              </a:rPr>
              <a:t>Eclipse</a:t>
            </a:r>
            <a:endParaRPr lang="ru-RU" sz="1200" b="1" i="0" u="none" strike="noStrike" kern="1200" dirty="0">
              <a:solidFill>
                <a:schemeClr val="tx1"/>
              </a:solidFill>
              <a:effectLst/>
              <a:latin typeface="+mn-lt"/>
              <a:ea typeface="+mn-ea"/>
              <a:cs typeface="+mn-cs"/>
            </a:endParaRPr>
          </a:p>
          <a:p>
            <a:pPr lvl="1"/>
            <a:endParaRPr lang="ru-RU" sz="1200" b="1" i="0" u="none" strike="noStrike"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Консольные клиенты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Консольные клиенты — это программы, которые позволяют работать с СКВ из командной строки. Консольные клиенты предоставляют более широкий набор функций и возможностей, чем IDE, но требуют более глубоких знаний о системах контроля версий. Они могут быть полезны для опытных разработчиков, которые хотят получить полный контроль над процессом разработки.</a:t>
            </a:r>
          </a:p>
          <a:p>
            <a:r>
              <a:rPr lang="ru-RU" sz="1200" b="0" i="0" kern="1200" dirty="0">
                <a:solidFill>
                  <a:schemeClr val="tx1"/>
                </a:solidFill>
                <a:effectLst/>
                <a:latin typeface="+mn-lt"/>
                <a:ea typeface="+mn-ea"/>
                <a:cs typeface="+mn-cs"/>
              </a:rPr>
              <a:t>Популярные консольные клиенты для работы с СКВ:</a:t>
            </a:r>
          </a:p>
          <a:p>
            <a:pPr lvl="1"/>
            <a:r>
              <a:rPr lang="ru-RU" sz="1200" b="1" i="0" u="none" strike="noStrike" kern="1200" dirty="0" err="1">
                <a:solidFill>
                  <a:schemeClr val="tx1"/>
                </a:solidFill>
                <a:effectLst/>
                <a:latin typeface="+mn-lt"/>
                <a:ea typeface="+mn-ea"/>
                <a:cs typeface="+mn-cs"/>
                <a:hlinkClick r:id="rId6"/>
              </a:rPr>
              <a:t>Git</a:t>
            </a:r>
            <a:r>
              <a:rPr lang="ru-RU" sz="1200" b="1" i="0" u="none" strike="noStrike" kern="1200" dirty="0">
                <a:solidFill>
                  <a:schemeClr val="tx1"/>
                </a:solidFill>
                <a:effectLst/>
                <a:latin typeface="+mn-lt"/>
                <a:ea typeface="+mn-ea"/>
                <a:cs typeface="+mn-cs"/>
                <a:hlinkClick r:id="rId6"/>
              </a:rPr>
              <a:t> </a:t>
            </a:r>
            <a:r>
              <a:rPr lang="ru-RU" sz="1200" b="1" i="0" u="none" strike="noStrike" kern="1200" dirty="0" err="1">
                <a:solidFill>
                  <a:schemeClr val="tx1"/>
                </a:solidFill>
                <a:effectLst/>
                <a:latin typeface="+mn-lt"/>
                <a:ea typeface="+mn-ea"/>
                <a:cs typeface="+mn-cs"/>
                <a:hlinkClick r:id="rId6"/>
              </a:rPr>
              <a:t>Bash</a:t>
            </a:r>
            <a:r>
              <a:rPr lang="ru-RU" sz="1200" b="1" i="0" u="none" strike="noStrike" kern="1200" dirty="0">
                <a:solidFill>
                  <a:schemeClr val="tx1"/>
                </a:solidFill>
                <a:effectLst/>
                <a:latin typeface="+mn-lt"/>
                <a:ea typeface="+mn-ea"/>
                <a:cs typeface="+mn-cs"/>
              </a:rPr>
              <a:t>, </a:t>
            </a:r>
            <a:r>
              <a:rPr lang="ru-RU" sz="1200" b="1" i="0" u="none" strike="noStrike" kern="1200" dirty="0" err="1">
                <a:solidFill>
                  <a:schemeClr val="tx1"/>
                </a:solidFill>
                <a:effectLst/>
                <a:latin typeface="+mn-lt"/>
                <a:ea typeface="+mn-ea"/>
                <a:cs typeface="+mn-cs"/>
                <a:hlinkClick r:id="rId7"/>
              </a:rPr>
              <a:t>Mercurial</a:t>
            </a:r>
            <a:r>
              <a:rPr lang="ru-RU" sz="1200" b="1" i="0" u="none" strike="noStrike" kern="1200" dirty="0">
                <a:solidFill>
                  <a:schemeClr val="tx1"/>
                </a:solidFill>
                <a:effectLst/>
                <a:latin typeface="+mn-lt"/>
                <a:ea typeface="+mn-ea"/>
                <a:cs typeface="+mn-cs"/>
                <a:hlinkClick r:id="rId7"/>
              </a:rPr>
              <a:t> </a:t>
            </a:r>
            <a:r>
              <a:rPr lang="ru-RU" sz="1200" b="1" i="0" u="none" strike="noStrike" kern="1200" dirty="0" err="1">
                <a:solidFill>
                  <a:schemeClr val="tx1"/>
                </a:solidFill>
                <a:effectLst/>
                <a:latin typeface="+mn-lt"/>
                <a:ea typeface="+mn-ea"/>
                <a:cs typeface="+mn-cs"/>
                <a:hlinkClick r:id="rId7"/>
              </a:rPr>
              <a:t>Workbench</a:t>
            </a:r>
            <a:r>
              <a:rPr lang="ru-RU" sz="1200" b="0" i="0" u="none" strike="noStrike" kern="1200" dirty="0">
                <a:solidFill>
                  <a:schemeClr val="tx1"/>
                </a:solidFill>
                <a:effectLst/>
                <a:latin typeface="+mn-lt"/>
                <a:ea typeface="+mn-ea"/>
                <a:cs typeface="+mn-cs"/>
              </a:rPr>
              <a:t>, </a:t>
            </a:r>
            <a:r>
              <a:rPr lang="ru-RU" sz="1200" b="1" i="0" u="none" strike="noStrike" kern="1200" dirty="0" err="1">
                <a:solidFill>
                  <a:schemeClr val="tx1"/>
                </a:solidFill>
                <a:effectLst/>
                <a:latin typeface="+mn-lt"/>
                <a:ea typeface="+mn-ea"/>
                <a:cs typeface="+mn-cs"/>
                <a:hlinkClick r:id="rId8"/>
              </a:rPr>
              <a:t>TortoiseSVN</a:t>
            </a:r>
            <a:r>
              <a:rPr lang="ru-RU" sz="1200" b="0" i="0" kern="1200" dirty="0">
                <a:solidFill>
                  <a:schemeClr val="tx1"/>
                </a:solidFill>
                <a:effectLst/>
                <a:latin typeface="+mn-lt"/>
                <a:ea typeface="+mn-ea"/>
                <a:cs typeface="+mn-cs"/>
              </a:rPr>
              <a:t> </a:t>
            </a:r>
          </a:p>
          <a:p>
            <a:endParaRPr lang="ru-RU" sz="1200" b="1"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Веб-интерфейсы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Веб-интерфейсы — это онлайн-сервисы, которые обеспечивают работу с СКВ через браузер. Их использование может быть удобным для совместной работы над проектом. Также веб-интерфейсы могут быть полезны для небольших команд или для тех, кто не хочет устанавливать дополнительное ПО на свой компьютер. Однако у веб-интерфейсов обычно меньше инструментов, чем у консольных клиентов.</a:t>
            </a:r>
          </a:p>
          <a:p>
            <a:r>
              <a:rPr lang="ru-RU" sz="1200" b="0" i="0" kern="1200" dirty="0">
                <a:solidFill>
                  <a:schemeClr val="tx1"/>
                </a:solidFill>
                <a:effectLst/>
                <a:latin typeface="+mn-lt"/>
                <a:ea typeface="+mn-ea"/>
                <a:cs typeface="+mn-cs"/>
              </a:rPr>
              <a:t>Популярные веб-интерфейсы для работы с СКВ:</a:t>
            </a:r>
          </a:p>
          <a:p>
            <a:pPr lvl="1"/>
            <a:r>
              <a:rPr lang="ru-RU" sz="1200" b="1" i="0" u="none" strike="noStrike" kern="1200" dirty="0" err="1">
                <a:solidFill>
                  <a:schemeClr val="tx1"/>
                </a:solidFill>
                <a:effectLst/>
                <a:latin typeface="+mn-lt"/>
                <a:ea typeface="+mn-ea"/>
                <a:cs typeface="+mn-cs"/>
                <a:hlinkClick r:id="rId9"/>
              </a:rPr>
              <a:t>GitHub</a:t>
            </a:r>
            <a:r>
              <a:rPr lang="ru-RU" sz="1200" b="0" i="0" kern="1200" dirty="0">
                <a:solidFill>
                  <a:schemeClr val="tx1"/>
                </a:solidFill>
                <a:effectLst/>
                <a:latin typeface="+mn-lt"/>
                <a:ea typeface="+mn-ea"/>
                <a:cs typeface="+mn-cs"/>
              </a:rPr>
              <a:t>, </a:t>
            </a:r>
            <a:r>
              <a:rPr lang="ru-RU" sz="1200" b="1" i="0" u="none" strike="noStrike" kern="1200" dirty="0" err="1">
                <a:solidFill>
                  <a:schemeClr val="tx1"/>
                </a:solidFill>
                <a:effectLst/>
                <a:latin typeface="+mn-lt"/>
                <a:ea typeface="+mn-ea"/>
                <a:cs typeface="+mn-cs"/>
                <a:hlinkClick r:id="rId10"/>
              </a:rPr>
              <a:t>GitLab</a:t>
            </a:r>
            <a:r>
              <a:rPr lang="ru-RU" sz="1200" b="1" i="0" u="none" strike="noStrike" kern="1200" dirty="0">
                <a:solidFill>
                  <a:schemeClr val="tx1"/>
                </a:solidFill>
                <a:effectLst/>
                <a:latin typeface="+mn-lt"/>
                <a:ea typeface="+mn-ea"/>
                <a:cs typeface="+mn-cs"/>
              </a:rPr>
              <a:t>, </a:t>
            </a:r>
            <a:r>
              <a:rPr lang="ru-RU" sz="1200" b="1" i="0" u="none" strike="noStrike" kern="1200" dirty="0" err="1">
                <a:solidFill>
                  <a:schemeClr val="tx1"/>
                </a:solidFill>
                <a:effectLst/>
                <a:latin typeface="+mn-lt"/>
                <a:ea typeface="+mn-ea"/>
                <a:cs typeface="+mn-cs"/>
                <a:hlinkClick r:id="rId11"/>
              </a:rPr>
              <a:t>Bitbucket</a:t>
            </a:r>
            <a:endParaRPr lang="ru-RU" sz="1200" b="1" i="0" u="none" strike="noStrike" kern="1200" dirty="0">
              <a:solidFill>
                <a:schemeClr val="tx1"/>
              </a:solidFill>
              <a:effectLst/>
              <a:latin typeface="+mn-lt"/>
              <a:ea typeface="+mn-ea"/>
              <a:cs typeface="+mn-cs"/>
            </a:endParaRPr>
          </a:p>
          <a:p>
            <a:pPr lvl="1"/>
            <a:endParaRPr lang="ru-RU" sz="1200" b="1" i="0" u="none" strike="noStrike" kern="1200" dirty="0">
              <a:solidFill>
                <a:schemeClr val="tx1"/>
              </a:solidFill>
              <a:effectLst/>
              <a:latin typeface="+mn-lt"/>
              <a:ea typeface="+mn-ea"/>
              <a:cs typeface="+mn-cs"/>
            </a:endParaRPr>
          </a:p>
          <a:p>
            <a:pPr lvl="1"/>
            <a:r>
              <a:rPr lang="ru-RU" sz="1200" b="0" i="0" kern="1200" dirty="0">
                <a:solidFill>
                  <a:schemeClr val="tx1"/>
                </a:solidFill>
                <a:effectLst/>
                <a:latin typeface="+mn-lt"/>
                <a:ea typeface="+mn-ea"/>
                <a:cs typeface="+mn-cs"/>
              </a:rPr>
              <a:t>Выбор инструмента для работы с СКВ зависит от потребностей разработчика и проекта. IDE могут быть полезны для начинающих разработчиков, консольные клиенты — для опытных разработчиков, а веб-интерфейсы — для небольших команд или для тех, кто не хочет устанавливать дополнительное программное обеспечение на свой компьютер.</a:t>
            </a:r>
          </a:p>
        </p:txBody>
      </p:sp>
      <p:sp>
        <p:nvSpPr>
          <p:cNvPr id="4" name="Slide Number Placeholder 3"/>
          <p:cNvSpPr>
            <a:spLocks noGrp="1"/>
          </p:cNvSpPr>
          <p:nvPr>
            <p:ph type="sldNum" sz="quarter" idx="5"/>
          </p:nvPr>
        </p:nvSpPr>
        <p:spPr/>
        <p:txBody>
          <a:bodyPr/>
          <a:lstStyle/>
          <a:p>
            <a:fld id="{CAF777B8-3CCE-494F-A5E8-85D7A9B8D267}" type="slidenum">
              <a:rPr lang="ru-RU" smtClean="0"/>
              <a:t>28</a:t>
            </a:fld>
            <a:endParaRPr lang="ru-RU"/>
          </a:p>
        </p:txBody>
      </p:sp>
    </p:spTree>
    <p:extLst>
      <p:ext uri="{BB962C8B-B14F-4D97-AF65-F5344CB8AC3E}">
        <p14:creationId xmlns:p14="http://schemas.microsoft.com/office/powerpoint/2010/main" val="3809196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046CFD5B-E79F-44E2-BF8D-98BE642910E6}"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6" name="PlaceHolder 2"/>
          <p:cNvSpPr>
            <a:spLocks noGrp="1"/>
          </p:cNvSpPr>
          <p:nvPr>
            <p:ph type="subTitle"/>
          </p:nvPr>
        </p:nvSpPr>
        <p:spPr>
          <a:xfrm>
            <a:off x="457200" y="1428840"/>
            <a:ext cx="8229240" cy="3165480"/>
          </a:xfrm>
          <a:prstGeom prst="rect">
            <a:avLst/>
          </a:prstGeom>
          <a:noFill/>
          <a:ln w="0">
            <a:noFill/>
          </a:ln>
        </p:spPr>
        <p:txBody>
          <a:bodyPr lIns="0" tIns="0" rIns="0" bIns="0" anchor="ctr">
            <a:noAutofit/>
          </a:bodyPr>
          <a:lstStyle/>
          <a:p>
            <a:pPr indent="0" algn="ctr">
              <a:buNone/>
            </a:pPr>
            <a:endParaRPr lang="ru-RU"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51E56AB2-4BA6-487C-9F21-AA0B8F4B2967}"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8" name="PlaceHolder 2"/>
          <p:cNvSpPr>
            <a:spLocks noGrp="1"/>
          </p:cNvSpPr>
          <p:nvPr>
            <p:ph/>
          </p:nvPr>
        </p:nvSpPr>
        <p:spPr>
          <a:xfrm>
            <a:off x="457200" y="1428840"/>
            <a:ext cx="822924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999B6289-0CF3-424F-89B2-8EC0C73B2FE0}"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10" name="PlaceHolder 2"/>
          <p:cNvSpPr>
            <a:spLocks noGrp="1"/>
          </p:cNvSpPr>
          <p:nvPr>
            <p:ph/>
          </p:nvPr>
        </p:nvSpPr>
        <p:spPr>
          <a:xfrm>
            <a:off x="45720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11" name="PlaceHolder 3"/>
          <p:cNvSpPr>
            <a:spLocks noGrp="1"/>
          </p:cNvSpPr>
          <p:nvPr>
            <p:ph/>
          </p:nvPr>
        </p:nvSpPr>
        <p:spPr>
          <a:xfrm>
            <a:off x="467424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9C40AC08-3F50-4653-B444-C19FB00B6E7A}"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AE197561-D90C-4E4A-9F5F-16553B48C274}"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500040"/>
            <a:ext cx="8229240" cy="3972960"/>
          </a:xfrm>
          <a:prstGeom prst="rect">
            <a:avLst/>
          </a:prstGeom>
          <a:noFill/>
          <a:ln w="0">
            <a:noFill/>
          </a:ln>
        </p:spPr>
        <p:txBody>
          <a:bodyPr lIns="0" tIns="0" rIns="0" bIns="0" anchor="ctr">
            <a:noAutofit/>
          </a:bodyPr>
          <a:lstStyle/>
          <a:p>
            <a:pPr algn="ctr"/>
            <a:endParaRPr lang="ru-RU"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E59A0E26-4651-46B2-9F17-3663175CD729}"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15" name="PlaceHolder 2"/>
          <p:cNvSpPr>
            <a:spLocks noGrp="1"/>
          </p:cNvSpPr>
          <p:nvPr>
            <p:ph/>
          </p:nvPr>
        </p:nvSpPr>
        <p:spPr>
          <a:xfrm>
            <a:off x="45720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16" name="PlaceHolder 3"/>
          <p:cNvSpPr>
            <a:spLocks noGrp="1"/>
          </p:cNvSpPr>
          <p:nvPr>
            <p:ph/>
          </p:nvPr>
        </p:nvSpPr>
        <p:spPr>
          <a:xfrm>
            <a:off x="467424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17" name="PlaceHolder 4"/>
          <p:cNvSpPr>
            <a:spLocks noGrp="1"/>
          </p:cNvSpPr>
          <p:nvPr>
            <p:ph/>
          </p:nvPr>
        </p:nvSpPr>
        <p:spPr>
          <a:xfrm>
            <a:off x="457200" y="308268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666B284-11B0-4737-9D9E-74D6045AB039}"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19" name="PlaceHolder 2"/>
          <p:cNvSpPr>
            <a:spLocks noGrp="1"/>
          </p:cNvSpPr>
          <p:nvPr>
            <p:ph/>
          </p:nvPr>
        </p:nvSpPr>
        <p:spPr>
          <a:xfrm>
            <a:off x="45720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20" name="PlaceHolder 3"/>
          <p:cNvSpPr>
            <a:spLocks noGrp="1"/>
          </p:cNvSpPr>
          <p:nvPr>
            <p:ph/>
          </p:nvPr>
        </p:nvSpPr>
        <p:spPr>
          <a:xfrm>
            <a:off x="467424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21" name="PlaceHolder 4"/>
          <p:cNvSpPr>
            <a:spLocks noGrp="1"/>
          </p:cNvSpPr>
          <p:nvPr>
            <p:ph/>
          </p:nvPr>
        </p:nvSpPr>
        <p:spPr>
          <a:xfrm>
            <a:off x="4674240" y="308268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2B5DF6DD-2D80-4778-8BAE-C8099755C1FC}"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23" name="PlaceHolder 2"/>
          <p:cNvSpPr>
            <a:spLocks noGrp="1"/>
          </p:cNvSpPr>
          <p:nvPr>
            <p:ph/>
          </p:nvPr>
        </p:nvSpPr>
        <p:spPr>
          <a:xfrm>
            <a:off x="45720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24" name="PlaceHolder 3"/>
          <p:cNvSpPr>
            <a:spLocks noGrp="1"/>
          </p:cNvSpPr>
          <p:nvPr>
            <p:ph/>
          </p:nvPr>
        </p:nvSpPr>
        <p:spPr>
          <a:xfrm>
            <a:off x="467424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25" name="PlaceHolder 4"/>
          <p:cNvSpPr>
            <a:spLocks noGrp="1"/>
          </p:cNvSpPr>
          <p:nvPr>
            <p:ph/>
          </p:nvPr>
        </p:nvSpPr>
        <p:spPr>
          <a:xfrm>
            <a:off x="457200" y="3082680"/>
            <a:ext cx="822924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C382706B-E241-4F88-A29A-3344771B8323}"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27" name="PlaceHolder 2"/>
          <p:cNvSpPr>
            <a:spLocks noGrp="1"/>
          </p:cNvSpPr>
          <p:nvPr>
            <p:ph/>
          </p:nvPr>
        </p:nvSpPr>
        <p:spPr>
          <a:xfrm>
            <a:off x="457200" y="1428840"/>
            <a:ext cx="822924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28" name="PlaceHolder 3"/>
          <p:cNvSpPr>
            <a:spLocks noGrp="1"/>
          </p:cNvSpPr>
          <p:nvPr>
            <p:ph/>
          </p:nvPr>
        </p:nvSpPr>
        <p:spPr>
          <a:xfrm>
            <a:off x="457200" y="3082680"/>
            <a:ext cx="822924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CEF32813-ABAC-4305-84C7-4ABBFB85F79D}"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30" name="PlaceHolder 2"/>
          <p:cNvSpPr>
            <a:spLocks noGrp="1"/>
          </p:cNvSpPr>
          <p:nvPr>
            <p:ph/>
          </p:nvPr>
        </p:nvSpPr>
        <p:spPr>
          <a:xfrm>
            <a:off x="45720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31" name="PlaceHolder 3"/>
          <p:cNvSpPr>
            <a:spLocks noGrp="1"/>
          </p:cNvSpPr>
          <p:nvPr>
            <p:ph/>
          </p:nvPr>
        </p:nvSpPr>
        <p:spPr>
          <a:xfrm>
            <a:off x="4674240" y="142884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32" name="PlaceHolder 4"/>
          <p:cNvSpPr>
            <a:spLocks noGrp="1"/>
          </p:cNvSpPr>
          <p:nvPr>
            <p:ph/>
          </p:nvPr>
        </p:nvSpPr>
        <p:spPr>
          <a:xfrm>
            <a:off x="457200" y="308268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33" name="PlaceHolder 5"/>
          <p:cNvSpPr>
            <a:spLocks noGrp="1"/>
          </p:cNvSpPr>
          <p:nvPr>
            <p:ph/>
          </p:nvPr>
        </p:nvSpPr>
        <p:spPr>
          <a:xfrm>
            <a:off x="4674240" y="3082680"/>
            <a:ext cx="4015800" cy="150984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206C28A9-5C7F-4861-A647-ACBF51387614}"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35" name="PlaceHolder 2"/>
          <p:cNvSpPr>
            <a:spLocks noGrp="1"/>
          </p:cNvSpPr>
          <p:nvPr>
            <p:ph/>
          </p:nvPr>
        </p:nvSpPr>
        <p:spPr>
          <a:xfrm>
            <a:off x="457200" y="142884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36" name="PlaceHolder 3"/>
          <p:cNvSpPr>
            <a:spLocks noGrp="1"/>
          </p:cNvSpPr>
          <p:nvPr>
            <p:ph/>
          </p:nvPr>
        </p:nvSpPr>
        <p:spPr>
          <a:xfrm>
            <a:off x="3239640" y="142884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37" name="PlaceHolder 4"/>
          <p:cNvSpPr>
            <a:spLocks noGrp="1"/>
          </p:cNvSpPr>
          <p:nvPr>
            <p:ph/>
          </p:nvPr>
        </p:nvSpPr>
        <p:spPr>
          <a:xfrm>
            <a:off x="6022080" y="142884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38" name="PlaceHolder 5"/>
          <p:cNvSpPr>
            <a:spLocks noGrp="1"/>
          </p:cNvSpPr>
          <p:nvPr>
            <p:ph/>
          </p:nvPr>
        </p:nvSpPr>
        <p:spPr>
          <a:xfrm>
            <a:off x="457200" y="308268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39" name="PlaceHolder 6"/>
          <p:cNvSpPr>
            <a:spLocks noGrp="1"/>
          </p:cNvSpPr>
          <p:nvPr>
            <p:ph/>
          </p:nvPr>
        </p:nvSpPr>
        <p:spPr>
          <a:xfrm>
            <a:off x="3239640" y="308268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40" name="PlaceHolder 7"/>
          <p:cNvSpPr>
            <a:spLocks noGrp="1"/>
          </p:cNvSpPr>
          <p:nvPr>
            <p:ph/>
          </p:nvPr>
        </p:nvSpPr>
        <p:spPr>
          <a:xfrm>
            <a:off x="6022080" y="3082680"/>
            <a:ext cx="2649600" cy="1509840"/>
          </a:xfrm>
          <a:prstGeom prst="rect">
            <a:avLst/>
          </a:prstGeom>
          <a:noFill/>
          <a:ln w="0">
            <a:noFill/>
          </a:ln>
        </p:spPr>
        <p:txBody>
          <a:bodyPr lIns="0" tIns="0" rIns="0" bIns="0" anchor="t">
            <a:normAutofit fontScale="79000"/>
          </a:bodyPr>
          <a:lstStyle/>
          <a:p>
            <a:pPr indent="0">
              <a:spcBef>
                <a:spcPts val="1417"/>
              </a:spcBef>
              <a:buNone/>
            </a:pPr>
            <a:endParaRPr lang="ru-RU" sz="3200" b="0" strike="noStrike" spc="-1">
              <a:solidFill>
                <a:srgbClr val="244061"/>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F52781F0-D9AD-47F9-AAE3-5E5D3FF067BF}"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5" name="Нижний колонтитул 4"/>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6" name="Номер слайда 5"/>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447443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5" name="Нижний колонтитул 4"/>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6" name="Номер слайда 5"/>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2193165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ru-RU"/>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5" name="Нижний колонтитул 4"/>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6" name="Номер слайда 5"/>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1420470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pPr indent="0" algn="ctr">
              <a:buNone/>
            </a:pPr>
            <a:r>
              <a:rPr lang="ru-RU" sz="1400" b="0" strike="noStrike" spc="-1">
                <a:solidFill>
                  <a:srgbClr val="000000"/>
                </a:solidFill>
                <a:latin typeface="Times New Roman"/>
              </a:rPr>
              <a:t>&lt;нижний колонтитул&gt;</a:t>
            </a:r>
          </a:p>
        </p:txBody>
      </p:sp>
      <p:sp>
        <p:nvSpPr>
          <p:cNvPr id="6" name="Номер слайда 5"/>
          <p:cNvSpPr>
            <a:spLocks noGrp="1"/>
          </p:cNvSpPr>
          <p:nvPr>
            <p:ph type="sldNum" sz="quarter" idx="12"/>
          </p:nvPr>
        </p:nvSpPr>
        <p:spPr/>
        <p:txBody>
          <a:bodyPr/>
          <a:lstStyle>
            <a:lvl1pPr>
              <a:defRPr>
                <a:solidFill>
                  <a:schemeClr val="bg1"/>
                </a:solidFill>
              </a:defRPr>
            </a:lvl1p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3807981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6" name="Нижний колонтитул 5"/>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7" name="Номер слайда 6"/>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2187470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4" name="Нижний колонтитул 3"/>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5" name="Номер слайда 4"/>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1598953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3" name="Нижний колонтитул 2"/>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4" name="Номер слайда 3"/>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30852272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ru-RU"/>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Дата 4"/>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6" name="Нижний колонтитул 5"/>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7" name="Номер слайда 6"/>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1783296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ru-RU"/>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Дата 4"/>
          <p:cNvSpPr>
            <a:spLocks noGrp="1"/>
          </p:cNvSpPr>
          <p:nvPr>
            <p:ph type="dt" sz="half" idx="10"/>
          </p:nvPr>
        </p:nvSpPr>
        <p:spPr/>
        <p:txBody>
          <a:bodyPr/>
          <a:lstStyle/>
          <a:p>
            <a:pPr indent="0">
              <a:lnSpc>
                <a:spcPct val="100000"/>
              </a:lnSpc>
              <a:buNone/>
            </a:pPr>
            <a:r>
              <a:rPr lang="ru-RU" sz="1200" b="0" strike="noStrike" spc="-1">
                <a:solidFill>
                  <a:srgbClr val="DBE5F1"/>
                </a:solidFill>
                <a:latin typeface="Calibri"/>
              </a:rPr>
              <a:t>&lt;дата/время&gt;</a:t>
            </a:r>
            <a:endParaRPr lang="ru-RU" sz="1200" b="0" strike="noStrike" spc="-1">
              <a:solidFill>
                <a:srgbClr val="000000"/>
              </a:solidFill>
              <a:latin typeface="Times New Roman"/>
            </a:endParaRPr>
          </a:p>
        </p:txBody>
      </p:sp>
      <p:sp>
        <p:nvSpPr>
          <p:cNvPr id="6" name="Нижний колонтитул 5"/>
          <p:cNvSpPr>
            <a:spLocks noGrp="1"/>
          </p:cNvSpPr>
          <p:nvPr>
            <p:ph type="ftr" sz="quarter" idx="11"/>
          </p:nvPr>
        </p:nvSpPr>
        <p:spPr/>
        <p:txBody>
          <a:bodyPr/>
          <a:lstStyle/>
          <a:p>
            <a:pPr indent="0" algn="ctr">
              <a:buNone/>
            </a:pPr>
            <a:r>
              <a:rPr lang="ru-RU" sz="1400" b="0" strike="noStrike" spc="-1">
                <a:solidFill>
                  <a:srgbClr val="000000"/>
                </a:solidFill>
                <a:latin typeface="Times New Roman"/>
              </a:rPr>
              <a:t>&lt;нижний колонтитул&gt;</a:t>
            </a:r>
          </a:p>
        </p:txBody>
      </p:sp>
      <p:sp>
        <p:nvSpPr>
          <p:cNvPr id="7" name="Номер слайда 6"/>
          <p:cNvSpPr>
            <a:spLocks noGrp="1"/>
          </p:cNvSpPr>
          <p:nvPr>
            <p:ph type="sldNum" sz="quarter" idx="12"/>
          </p:nvPr>
        </p:nvSpPr>
        <p:spPr/>
        <p:txBody>
          <a:bodyPr/>
          <a:lstStyle/>
          <a:p>
            <a:pPr indent="0" algn="r">
              <a:lnSpc>
                <a:spcPct val="100000"/>
              </a:lnSpc>
              <a:buNone/>
            </a:pPr>
            <a:fld id="{9E267DBD-4F8B-4149-8271-D506B1CC506D}"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2500593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51" name="PlaceHolder 2"/>
          <p:cNvSpPr>
            <a:spLocks noGrp="1"/>
          </p:cNvSpPr>
          <p:nvPr>
            <p:ph/>
          </p:nvPr>
        </p:nvSpPr>
        <p:spPr>
          <a:xfrm>
            <a:off x="45720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52" name="PlaceHolder 3"/>
          <p:cNvSpPr>
            <a:spLocks noGrp="1"/>
          </p:cNvSpPr>
          <p:nvPr>
            <p:ph/>
          </p:nvPr>
        </p:nvSpPr>
        <p:spPr>
          <a:xfrm>
            <a:off x="4674240" y="1428840"/>
            <a:ext cx="4015800" cy="3165480"/>
          </a:xfrm>
          <a:prstGeom prst="rect">
            <a:avLst/>
          </a:prstGeom>
          <a:noFill/>
          <a:ln w="0">
            <a:noFill/>
          </a:ln>
        </p:spPr>
        <p:txBody>
          <a:bodyPr lIns="0" tIns="0" rIns="0" bIns="0" anchor="t">
            <a:normAutofit/>
          </a:bodyPr>
          <a:lstStyle/>
          <a:p>
            <a:pPr indent="0">
              <a:spcBef>
                <a:spcPts val="1417"/>
              </a:spcBef>
              <a:buNone/>
            </a:pPr>
            <a:endParaRPr lang="ru-RU" sz="3200" b="0" strike="noStrike" spc="-1">
              <a:solidFill>
                <a:srgbClr val="244061"/>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780508A6-2BE5-4A68-8B13-611E3EDA4BC2}" type="slidenum">
              <a:t>‹#›</a:t>
            </a:fld>
            <a:endParaRPr/>
          </a:p>
        </p:txBody>
      </p:sp>
      <p:sp>
        <p:nvSpPr>
          <p:cNvPr id="7" name="PlaceHolder 6"/>
          <p:cNvSpPr>
            <a:spLocks noGrp="1"/>
          </p:cNvSpPr>
          <p:nvPr>
            <p:ph type="dt" idx="4"/>
          </p:nvPr>
        </p:nvSpPr>
        <p:spPr/>
        <p:txBody>
          <a:bodyPr/>
          <a:lstStyle/>
          <a:p>
            <a:endParaRPr/>
          </a:p>
        </p:txBody>
      </p:sp>
    </p:spTree>
    <p:extLst>
      <p:ext uri="{BB962C8B-B14F-4D97-AF65-F5344CB8AC3E}">
        <p14:creationId xmlns:p14="http://schemas.microsoft.com/office/powerpoint/2010/main" val="11620468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500040"/>
            <a:ext cx="8229240" cy="856800"/>
          </a:xfrm>
          <a:prstGeom prst="rect">
            <a:avLst/>
          </a:prstGeom>
          <a:noFill/>
          <a:ln w="0">
            <a:noFill/>
          </a:ln>
        </p:spPr>
        <p:txBody>
          <a:bodyPr lIns="0" tIns="0" rIns="0" bIns="0" anchor="ctr">
            <a:noAutofit/>
          </a:bodyPr>
          <a:lstStyle/>
          <a:p>
            <a:pPr indent="0">
              <a:buNone/>
            </a:pPr>
            <a:endParaRPr lang="ru-RU" sz="1800" b="0" strike="noStrike" spc="-1">
              <a:solidFill>
                <a:srgbClr val="244061"/>
              </a:solidFill>
              <a:latin typeface="Calibri"/>
            </a:endParaRPr>
          </a:p>
        </p:txBody>
      </p:sp>
      <p:sp>
        <p:nvSpPr>
          <p:cNvPr id="47" name="PlaceHolder 2"/>
          <p:cNvSpPr>
            <a:spLocks noGrp="1"/>
          </p:cNvSpPr>
          <p:nvPr>
            <p:ph type="subTitle"/>
          </p:nvPr>
        </p:nvSpPr>
        <p:spPr>
          <a:xfrm>
            <a:off x="457200" y="1428840"/>
            <a:ext cx="8229240" cy="3165480"/>
          </a:xfrm>
          <a:prstGeom prst="rect">
            <a:avLst/>
          </a:prstGeom>
          <a:noFill/>
          <a:ln w="0">
            <a:noFill/>
          </a:ln>
        </p:spPr>
        <p:txBody>
          <a:bodyPr lIns="0" tIns="0" rIns="0" bIns="0" anchor="ctr">
            <a:noAutofit/>
          </a:bodyPr>
          <a:lstStyle/>
          <a:p>
            <a:pPr indent="0" algn="ctr">
              <a:buNone/>
            </a:pPr>
            <a:endParaRPr lang="ru-RU"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EAE1DAAB-F01A-43F4-BF51-67CDD3C060FF}" type="slidenum">
              <a:t>‹#›</a:t>
            </a:fld>
            <a:endParaRPr/>
          </a:p>
        </p:txBody>
      </p:sp>
      <p:sp>
        <p:nvSpPr>
          <p:cNvPr id="6" name="PlaceHolder 5"/>
          <p:cNvSpPr>
            <a:spLocks noGrp="1"/>
          </p:cNvSpPr>
          <p:nvPr>
            <p:ph type="dt" idx="4"/>
          </p:nvPr>
        </p:nvSpPr>
        <p:spPr/>
        <p:txBody>
          <a:bodyPr/>
          <a:lstStyle/>
          <a:p>
            <a:endParaRPr/>
          </a:p>
        </p:txBody>
      </p:sp>
    </p:spTree>
    <p:extLst>
      <p:ext uri="{BB962C8B-B14F-4D97-AF65-F5344CB8AC3E}">
        <p14:creationId xmlns:p14="http://schemas.microsoft.com/office/powerpoint/2010/main" val="171747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597680"/>
            <a:ext cx="7772040" cy="1102320"/>
          </a:xfrm>
          <a:prstGeom prst="rect">
            <a:avLst/>
          </a:prstGeom>
          <a:noFill/>
          <a:ln w="0">
            <a:noFill/>
          </a:ln>
        </p:spPr>
        <p:txBody>
          <a:bodyPr anchor="ctr">
            <a:noAutofit/>
          </a:bodyPr>
          <a:lstStyle/>
          <a:p>
            <a:pPr indent="0" algn="ctr">
              <a:lnSpc>
                <a:spcPct val="100000"/>
              </a:lnSpc>
              <a:buNone/>
            </a:pPr>
            <a:r>
              <a:rPr lang="ru-RU" sz="4400" b="1" strike="noStrike" spc="-1">
                <a:solidFill>
                  <a:schemeClr val="accent6"/>
                </a:solidFill>
                <a:latin typeface="Calibri"/>
              </a:rPr>
              <a:t>Образец заголовка</a:t>
            </a:r>
            <a:endParaRPr lang="ru-RU" sz="4400" b="0" strike="noStrike" spc="-1">
              <a:solidFill>
                <a:srgbClr val="244061"/>
              </a:solidFill>
              <a:latin typeface="Calibri"/>
            </a:endParaRPr>
          </a:p>
        </p:txBody>
      </p:sp>
      <p:sp>
        <p:nvSpPr>
          <p:cNvPr id="6" name="PlaceHolder 2"/>
          <p:cNvSpPr>
            <a:spLocks noGrp="1"/>
          </p:cNvSpPr>
          <p:nvPr>
            <p:ph type="dt" idx="1"/>
          </p:nvPr>
        </p:nvSpPr>
        <p:spPr>
          <a:xfrm>
            <a:off x="457200" y="4767120"/>
            <a:ext cx="2133360" cy="273600"/>
          </a:xfrm>
          <a:prstGeom prst="rect">
            <a:avLst/>
          </a:prstGeom>
          <a:noFill/>
          <a:ln w="0">
            <a:noFill/>
          </a:ln>
        </p:spPr>
        <p:txBody>
          <a:bodyPr anchor="ctr">
            <a:noAutofit/>
          </a:bodyPr>
          <a:lstStyle>
            <a:lvl1pPr indent="0">
              <a:lnSpc>
                <a:spcPct val="100000"/>
              </a:lnSpc>
              <a:buNone/>
              <a:defRPr lang="ru-RU" sz="1200" b="0" strike="noStrike" spc="-1">
                <a:solidFill>
                  <a:srgbClr val="DBE5F1"/>
                </a:solidFill>
                <a:latin typeface="Calibri"/>
              </a:defRPr>
            </a:lvl1pPr>
          </a:lstStyle>
          <a:p>
            <a:pPr indent="0">
              <a:lnSpc>
                <a:spcPct val="100000"/>
              </a:lnSpc>
              <a:buNone/>
            </a:pPr>
            <a:r>
              <a:rPr lang="ru-RU" sz="1200" b="0" strike="noStrike" spc="-1">
                <a:solidFill>
                  <a:srgbClr val="DBE5F1"/>
                </a:solidFill>
                <a:latin typeface="Calibri"/>
              </a:rPr>
              <a:t> </a:t>
            </a:r>
            <a:endParaRPr lang="ru-RU" sz="1200" b="0" strike="noStrike" spc="-1">
              <a:solidFill>
                <a:srgbClr val="000000"/>
              </a:solidFill>
              <a:latin typeface="Times New Roman"/>
            </a:endParaRPr>
          </a:p>
        </p:txBody>
      </p:sp>
      <p:sp>
        <p:nvSpPr>
          <p:cNvPr id="2" name="PlaceHolder 3"/>
          <p:cNvSpPr>
            <a:spLocks noGrp="1"/>
          </p:cNvSpPr>
          <p:nvPr>
            <p:ph type="ftr" idx="2"/>
          </p:nvPr>
        </p:nvSpPr>
        <p:spPr>
          <a:xfrm>
            <a:off x="3124080" y="4767120"/>
            <a:ext cx="2895120" cy="273600"/>
          </a:xfrm>
          <a:prstGeom prst="rect">
            <a:avLst/>
          </a:prstGeom>
          <a:noFill/>
          <a:ln w="0">
            <a:noFill/>
          </a:ln>
        </p:spPr>
        <p:txBody>
          <a:bodyPr anchor="ctr">
            <a:noAutofit/>
          </a:bodyPr>
          <a:lstStyle>
            <a:lvl1pPr indent="0" algn="ctr">
              <a:buNone/>
              <a:defRPr lang="ru-RU" sz="1400" b="0" strike="noStrike" spc="-1">
                <a:solidFill>
                  <a:srgbClr val="000000"/>
                </a:solidFill>
                <a:latin typeface="Times New Roman"/>
              </a:defRPr>
            </a:lvl1pPr>
          </a:lstStyle>
          <a:p>
            <a:pPr indent="0" algn="ctr">
              <a:buNone/>
            </a:pPr>
            <a:r>
              <a:rPr lang="ru-RU" sz="1400" b="0" strike="noStrike" spc="-1">
                <a:solidFill>
                  <a:srgbClr val="000000"/>
                </a:solidFill>
                <a:latin typeface="Times New Roman"/>
              </a:rPr>
              <a:t> </a:t>
            </a:r>
          </a:p>
        </p:txBody>
      </p:sp>
      <p:sp>
        <p:nvSpPr>
          <p:cNvPr id="3" name="PlaceHolder 4"/>
          <p:cNvSpPr>
            <a:spLocks noGrp="1"/>
          </p:cNvSpPr>
          <p:nvPr>
            <p:ph type="sldNum" idx="3"/>
          </p:nvPr>
        </p:nvSpPr>
        <p:spPr>
          <a:xfrm>
            <a:off x="6553080" y="4767120"/>
            <a:ext cx="2133360" cy="273600"/>
          </a:xfrm>
          <a:prstGeom prst="rect">
            <a:avLst/>
          </a:prstGeom>
          <a:noFill/>
          <a:ln w="0">
            <a:noFill/>
          </a:ln>
        </p:spPr>
        <p:txBody>
          <a:bodyPr anchor="ctr">
            <a:noAutofit/>
          </a:bodyPr>
          <a:lstStyle>
            <a:lvl1pPr indent="0" algn="r">
              <a:lnSpc>
                <a:spcPct val="100000"/>
              </a:lnSpc>
              <a:buNone/>
              <a:defRPr lang="ru-RU" sz="1200" b="0" strike="noStrike" spc="-1">
                <a:solidFill>
                  <a:srgbClr val="DBE5F1"/>
                </a:solidFill>
                <a:latin typeface="Calibri"/>
              </a:defRPr>
            </a:lvl1pPr>
          </a:lstStyle>
          <a:p>
            <a:pPr indent="0" algn="r">
              <a:lnSpc>
                <a:spcPct val="100000"/>
              </a:lnSpc>
              <a:buNone/>
            </a:pPr>
            <a:fld id="{41710F22-825D-4A96-9B66-C3728FD4EEA1}" type="slidenum">
              <a:rPr lang="ru-RU" sz="1200" b="0" strike="noStrike" spc="-1">
                <a:solidFill>
                  <a:srgbClr val="DBE5F1"/>
                </a:solidFill>
                <a:latin typeface="Calibri"/>
              </a:rPr>
              <a:t>‹#›</a:t>
            </a:fld>
            <a:endParaRPr lang="ru-RU" sz="1200" b="0" strike="noStrike" spc="-1">
              <a:solidFill>
                <a:srgbClr val="000000"/>
              </a:solidFill>
              <a:latin typeface="Times New Roman"/>
            </a:endParaRPr>
          </a:p>
        </p:txBody>
      </p:sp>
      <p:sp>
        <p:nvSpPr>
          <p:cNvPr id="4"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ru-RU" sz="3200" b="0" strike="noStrike" spc="-1">
                <a:solidFill>
                  <a:srgbClr val="244061"/>
                </a:solidFill>
                <a:latin typeface="Calibri"/>
              </a:rPr>
              <a:t>Для правки структуры щёлкните мышью</a:t>
            </a:r>
          </a:p>
          <a:p>
            <a:pPr marL="864000" lvl="1" indent="-324000">
              <a:spcBef>
                <a:spcPts val="1134"/>
              </a:spcBef>
              <a:buClr>
                <a:srgbClr val="000000"/>
              </a:buClr>
              <a:buSzPct val="75000"/>
              <a:buFont typeface="Symbol" charset="2"/>
              <a:buChar char=""/>
            </a:pPr>
            <a:r>
              <a:rPr lang="ru-RU" sz="2400" b="0" strike="noStrike" spc="-1">
                <a:solidFill>
                  <a:srgbClr val="244061"/>
                </a:solidFill>
                <a:latin typeface="Calibri"/>
              </a:rPr>
              <a:t>Второй уровень структуры</a:t>
            </a:r>
          </a:p>
          <a:p>
            <a:pPr marL="1296000" lvl="2" indent="-288000">
              <a:spcBef>
                <a:spcPts val="850"/>
              </a:spcBef>
              <a:buClr>
                <a:srgbClr val="000000"/>
              </a:buClr>
              <a:buSzPct val="45000"/>
              <a:buFont typeface="Wingdings" charset="2"/>
              <a:buChar char=""/>
            </a:pPr>
            <a:r>
              <a:rPr lang="ru-RU" sz="2000" b="0" strike="noStrike" spc="-1">
                <a:solidFill>
                  <a:srgbClr val="244061"/>
                </a:solidFill>
                <a:latin typeface="Calibri"/>
              </a:rPr>
              <a:t>Третий уровень структуры</a:t>
            </a:r>
          </a:p>
          <a:p>
            <a:pPr marL="1728000" lvl="3" indent="-216000">
              <a:spcBef>
                <a:spcPts val="567"/>
              </a:spcBef>
              <a:buClr>
                <a:srgbClr val="000000"/>
              </a:buClr>
              <a:buSzPct val="75000"/>
              <a:buFont typeface="Symbol" charset="2"/>
              <a:buChar char=""/>
            </a:pPr>
            <a:r>
              <a:rPr lang="ru-RU" sz="2000" b="0" strike="noStrike" spc="-1">
                <a:solidFill>
                  <a:srgbClr val="244061"/>
                </a:solidFill>
                <a:latin typeface="Calibri"/>
              </a:rPr>
              <a:t>Четвёртый уровень структуры</a:t>
            </a:r>
          </a:p>
          <a:p>
            <a:pPr marL="2160000" lvl="4" indent="-216000">
              <a:spcBef>
                <a:spcPts val="283"/>
              </a:spcBef>
              <a:buClr>
                <a:srgbClr val="000000"/>
              </a:buClr>
              <a:buSzPct val="45000"/>
              <a:buFont typeface="Wingdings" charset="2"/>
              <a:buChar char=""/>
            </a:pPr>
            <a:r>
              <a:rPr lang="ru-RU" sz="2000" b="0" strike="noStrike" spc="-1">
                <a:solidFill>
                  <a:srgbClr val="244061"/>
                </a:solidFill>
                <a:latin typeface="Calibri"/>
              </a:rPr>
              <a:t>Пятый уровень структуры</a:t>
            </a:r>
          </a:p>
          <a:p>
            <a:pPr marL="2592000" lvl="5" indent="-216000">
              <a:spcBef>
                <a:spcPts val="283"/>
              </a:spcBef>
              <a:buClr>
                <a:srgbClr val="000000"/>
              </a:buClr>
              <a:buSzPct val="45000"/>
              <a:buFont typeface="Wingdings" charset="2"/>
              <a:buChar char=""/>
            </a:pPr>
            <a:r>
              <a:rPr lang="ru-RU" sz="2000" b="0" strike="noStrike" spc="-1">
                <a:solidFill>
                  <a:srgbClr val="244061"/>
                </a:solidFill>
                <a:latin typeface="Calibri"/>
              </a:rPr>
              <a:t>Шестой уровень структуры</a:t>
            </a:r>
          </a:p>
          <a:p>
            <a:pPr marL="3024000" lvl="6" indent="-216000">
              <a:spcBef>
                <a:spcPts val="283"/>
              </a:spcBef>
              <a:buClr>
                <a:srgbClr val="000000"/>
              </a:buClr>
              <a:buSzPct val="45000"/>
              <a:buFont typeface="Wingdings" charset="2"/>
              <a:buChar char=""/>
            </a:pPr>
            <a:r>
              <a:rPr lang="ru-RU" sz="2000" b="0" strike="noStrike" spc="-1">
                <a:solidFill>
                  <a:srgbClr val="244061"/>
                </a:solidFill>
                <a:latin typeface="Calibri"/>
              </a:rPr>
              <a:t>Седьмой уровень структуры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457200" y="1428741"/>
            <a:ext cx="8229600" cy="3165881"/>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bg1"/>
                </a:solidFill>
              </a:defRPr>
            </a:lvl1pPr>
          </a:lstStyle>
          <a:p>
            <a:pPr indent="0">
              <a:lnSpc>
                <a:spcPct val="100000"/>
              </a:lnSpc>
              <a:buNone/>
            </a:pPr>
            <a:r>
              <a:rPr lang="ru-RU" sz="1200" b="0" strike="noStrike" spc="-1">
                <a:solidFill>
                  <a:srgbClr val="DBE5F1"/>
                </a:solidFill>
                <a:latin typeface="Calibri"/>
              </a:rPr>
              <a:t> </a:t>
            </a:r>
            <a:endParaRPr lang="ru-RU" sz="1200" b="0" strike="noStrike" spc="-1">
              <a:solidFill>
                <a:srgbClr val="000000"/>
              </a:solidFill>
              <a:latin typeface="Times New Roman"/>
            </a:endParaRPr>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bg1"/>
                </a:solidFill>
              </a:defRPr>
            </a:lvl1pPr>
          </a:lstStyle>
          <a:p>
            <a:pPr indent="0" algn="ctr">
              <a:buNone/>
            </a:pPr>
            <a:r>
              <a:rPr lang="ru-RU" sz="1400" b="0" strike="noStrike" spc="-1">
                <a:solidFill>
                  <a:srgbClr val="000000"/>
                </a:solidFill>
                <a:latin typeface="Times New Roman"/>
              </a:rPr>
              <a:t> </a:t>
            </a:r>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bg1"/>
                </a:solidFill>
              </a:defRPr>
            </a:lvl1pPr>
          </a:lstStyle>
          <a:p>
            <a:pPr indent="0" algn="r">
              <a:lnSpc>
                <a:spcPct val="100000"/>
              </a:lnSpc>
              <a:buNone/>
            </a:pPr>
            <a:fld id="{41710F22-825D-4A96-9B66-C3728FD4EEA1}" type="slidenum">
              <a:rPr lang="ru-RU" sz="1200" b="0" strike="noStrike" spc="-1" smtClean="0">
                <a:solidFill>
                  <a:srgbClr val="DBE5F1"/>
                </a:solidFill>
                <a:latin typeface="Calibri"/>
              </a:rPr>
              <a:t>‹#›</a:t>
            </a:fld>
            <a:endParaRPr lang="ru-RU" sz="1200" b="0" strike="noStrike" spc="-1">
              <a:solidFill>
                <a:srgbClr val="000000"/>
              </a:solidFill>
              <a:latin typeface="Times New Roman"/>
            </a:endParaRPr>
          </a:p>
        </p:txBody>
      </p:sp>
    </p:spTree>
    <p:extLst>
      <p:ext uri="{BB962C8B-B14F-4D97-AF65-F5344CB8AC3E}">
        <p14:creationId xmlns:p14="http://schemas.microsoft.com/office/powerpoint/2010/main" val="335993801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accent6"/>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6.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685980" y="2020590"/>
            <a:ext cx="7772040" cy="1102320"/>
          </a:xfrm>
          <a:prstGeom prst="rect">
            <a:avLst/>
          </a:prstGeom>
          <a:noFill/>
          <a:ln w="0">
            <a:noFill/>
          </a:ln>
        </p:spPr>
        <p:txBody>
          <a:bodyPr anchor="ctr">
            <a:noAutofit/>
          </a:bodyPr>
          <a:lstStyle/>
          <a:p>
            <a:pPr indent="0" algn="ctr">
              <a:lnSpc>
                <a:spcPct val="100000"/>
              </a:lnSpc>
              <a:buNone/>
            </a:pPr>
            <a:r>
              <a:rPr lang="ru-RU" sz="4400" b="1" strike="noStrike" spc="-1" dirty="0">
                <a:solidFill>
                  <a:srgbClr val="953734"/>
                </a:solidFill>
                <a:latin typeface="Calibri"/>
              </a:rPr>
              <a:t>Системы контроля версий</a:t>
            </a:r>
            <a:endParaRPr lang="ru-RU" sz="4400" b="0" strike="noStrike" spc="-1" dirty="0">
              <a:solidFill>
                <a:srgbClr val="24406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86"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VCS</a:t>
            </a:r>
            <a:endParaRPr lang="ru-RU" sz="4400" b="0" strike="noStrike" spc="-1">
              <a:solidFill>
                <a:srgbClr val="244061"/>
              </a:solidFill>
              <a:latin typeface="Calibri"/>
            </a:endParaRPr>
          </a:p>
        </p:txBody>
      </p:sp>
      <p:sp>
        <p:nvSpPr>
          <p:cNvPr id="5" name="Content Placeholder 4">
            <a:extLst>
              <a:ext uri="{FF2B5EF4-FFF2-40B4-BE49-F238E27FC236}">
                <a16:creationId xmlns:a16="http://schemas.microsoft.com/office/drawing/2014/main" id="{47A917AA-A588-4BF8-BA1E-C908D8361122}"/>
              </a:ext>
            </a:extLst>
          </p:cNvPr>
          <p:cNvSpPr>
            <a:spLocks noGrp="1"/>
          </p:cNvSpPr>
          <p:nvPr>
            <p:ph sz="half" idx="1"/>
          </p:nvPr>
        </p:nvSpPr>
        <p:spPr>
          <a:xfrm>
            <a:off x="457200" y="1357304"/>
            <a:ext cx="5061857" cy="3394472"/>
          </a:xfrm>
        </p:spPr>
        <p:txBody>
          <a:bodyPr>
            <a:normAutofit fontScale="70000" lnSpcReduction="20000"/>
          </a:bodyPr>
          <a:lstStyle/>
          <a:p>
            <a:r>
              <a:rPr lang="ru-RU" dirty="0"/>
              <a:t>Система управления версиями (</a:t>
            </a:r>
            <a:r>
              <a:rPr lang="ru-RU" dirty="0" err="1"/>
              <a:t>Version</a:t>
            </a:r>
            <a:r>
              <a:rPr lang="ru-RU" dirty="0"/>
              <a:t> </a:t>
            </a:r>
            <a:r>
              <a:rPr lang="ru-RU" dirty="0" err="1"/>
              <a:t>Control</a:t>
            </a:r>
            <a:r>
              <a:rPr lang="ru-RU" dirty="0"/>
              <a:t> </a:t>
            </a:r>
            <a:r>
              <a:rPr lang="ru-RU" dirty="0" err="1"/>
              <a:t>System</a:t>
            </a:r>
            <a:r>
              <a:rPr lang="ru-RU" dirty="0"/>
              <a:t>, VCS или </a:t>
            </a:r>
            <a:r>
              <a:rPr lang="ru-RU" dirty="0" err="1"/>
              <a:t>Revision</a:t>
            </a:r>
            <a:r>
              <a:rPr lang="ru-RU" dirty="0"/>
              <a:t> </a:t>
            </a:r>
            <a:r>
              <a:rPr lang="ru-RU" dirty="0" err="1"/>
              <a:t>Control</a:t>
            </a:r>
            <a:r>
              <a:rPr lang="ru-RU" dirty="0"/>
              <a:t> </a:t>
            </a:r>
            <a:r>
              <a:rPr lang="ru-RU" dirty="0" err="1"/>
              <a:t>System</a:t>
            </a:r>
            <a:r>
              <a:rPr lang="ru-RU" dirty="0"/>
              <a:t>) — программное обеспечение для облегчения работы с изменяющейся информацией. </a:t>
            </a:r>
          </a:p>
          <a:p>
            <a:r>
              <a:rPr lang="ru-RU" dirty="0"/>
              <a:t>Система управления версиями позволяет хранить несколько версий одного и того же документа, при необходимости возвращаться к более ранним версиям, определять, кто и когда сделал то или иное изменение, и многое другое</a:t>
            </a:r>
          </a:p>
        </p:txBody>
      </p:sp>
      <p:pic>
        <p:nvPicPr>
          <p:cNvPr id="9" name="Content Placeholder 8">
            <a:extLst>
              <a:ext uri="{FF2B5EF4-FFF2-40B4-BE49-F238E27FC236}">
                <a16:creationId xmlns:a16="http://schemas.microsoft.com/office/drawing/2014/main" id="{84FAFDF3-C941-435F-86C3-24FF9CD9866E}"/>
              </a:ext>
            </a:extLst>
          </p:cNvPr>
          <p:cNvPicPr>
            <a:picLocks noGrp="1" noChangeAspect="1"/>
          </p:cNvPicPr>
          <p:nvPr>
            <p:ph sz="half" idx="2"/>
          </p:nvPr>
        </p:nvPicPr>
        <p:blipFill>
          <a:blip r:embed="rId3"/>
          <a:stretch>
            <a:fillRect/>
          </a:stretch>
        </p:blipFill>
        <p:spPr>
          <a:xfrm>
            <a:off x="5729984" y="2132272"/>
            <a:ext cx="2956816" cy="1530229"/>
          </a:xfrm>
          <a:prstGeom prst="rect">
            <a:avLst/>
          </a:prstGeom>
        </p:spPr>
      </p:pic>
      <p:sp>
        <p:nvSpPr>
          <p:cNvPr id="3" name="PlaceHolder 2"/>
          <p:cNvSpPr>
            <a:spLocks noGrp="1"/>
          </p:cNvSpPr>
          <p:nvPr>
            <p:ph type="sldNum" sz="quarter" idx="12"/>
          </p:nvPr>
        </p:nvSpPr>
        <p:spPr/>
        <p:txBody>
          <a:bodyPr/>
          <a:lstStyle/>
          <a:p>
            <a:fld id="{1BB79D50-8853-44CB-BBCF-A21052B9FFE2}" type="slidenum">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4174CEA8-428C-401E-AF1E-C1EADABF51AC}" type="slidenum">
              <a:t>3</a:t>
            </a:fld>
            <a:endParaRPr/>
          </a:p>
        </p:txBody>
      </p:sp>
      <p:sp>
        <p:nvSpPr>
          <p:cNvPr id="89"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VCS</a:t>
            </a:r>
            <a:endParaRPr lang="ru-RU" sz="4400" b="0" strike="noStrike" spc="-1">
              <a:solidFill>
                <a:srgbClr val="244061"/>
              </a:solidFill>
              <a:latin typeface="Calibri"/>
            </a:endParaRPr>
          </a:p>
        </p:txBody>
      </p:sp>
      <p:sp>
        <p:nvSpPr>
          <p:cNvPr id="90"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pic>
        <p:nvPicPr>
          <p:cNvPr id="91" name="Picture 2"/>
          <p:cNvPicPr/>
          <p:nvPr/>
        </p:nvPicPr>
        <p:blipFill>
          <a:blip r:embed="rId2"/>
          <a:stretch/>
        </p:blipFill>
        <p:spPr>
          <a:xfrm>
            <a:off x="846000" y="1386360"/>
            <a:ext cx="7452000" cy="272412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15F81F-37CE-4754-920A-B492FEB34C30}"/>
              </a:ext>
            </a:extLst>
          </p:cNvPr>
          <p:cNvSpPr>
            <a:spLocks noGrp="1"/>
          </p:cNvSpPr>
          <p:nvPr>
            <p:ph type="title"/>
          </p:nvPr>
        </p:nvSpPr>
        <p:spPr>
          <a:xfrm>
            <a:off x="457200" y="720489"/>
            <a:ext cx="8229600" cy="857250"/>
          </a:xfrm>
        </p:spPr>
        <p:txBody>
          <a:bodyPr>
            <a:normAutofit fontScale="90000"/>
          </a:bodyPr>
          <a:lstStyle/>
          <a:p>
            <a:r>
              <a:rPr lang="ru-RU" dirty="0">
                <a:latin typeface="YS Text"/>
              </a:rPr>
              <a:t>Преимущества использования системы контроля версий</a:t>
            </a:r>
            <a:endParaRPr lang="ru-RU" dirty="0"/>
          </a:p>
        </p:txBody>
      </p:sp>
      <p:sp>
        <p:nvSpPr>
          <p:cNvPr id="5" name="Content Placeholder 4">
            <a:extLst>
              <a:ext uri="{FF2B5EF4-FFF2-40B4-BE49-F238E27FC236}">
                <a16:creationId xmlns:a16="http://schemas.microsoft.com/office/drawing/2014/main" id="{C9BC3FD7-48AE-447B-B534-99B8D2DBBF5C}"/>
              </a:ext>
            </a:extLst>
          </p:cNvPr>
          <p:cNvSpPr>
            <a:spLocks noGrp="1"/>
          </p:cNvSpPr>
          <p:nvPr>
            <p:ph idx="1"/>
          </p:nvPr>
        </p:nvSpPr>
        <p:spPr>
          <a:xfrm>
            <a:off x="457200" y="1812463"/>
            <a:ext cx="8229600" cy="2914659"/>
          </a:xfrm>
        </p:spPr>
        <p:txBody>
          <a:bodyPr/>
          <a:lstStyle/>
          <a:p>
            <a:r>
              <a:rPr lang="ru-RU" sz="2800" dirty="0"/>
              <a:t>История изменений</a:t>
            </a:r>
          </a:p>
          <a:p>
            <a:r>
              <a:rPr lang="ru-RU" sz="2800" dirty="0"/>
              <a:t>Защита исходного кода</a:t>
            </a:r>
          </a:p>
          <a:p>
            <a:r>
              <a:rPr lang="ru-RU" sz="2800" dirty="0"/>
              <a:t>Возможность отката</a:t>
            </a:r>
          </a:p>
          <a:p>
            <a:r>
              <a:rPr lang="ru-RU" sz="2800" dirty="0"/>
              <a:t>Командная работа</a:t>
            </a:r>
            <a:endParaRPr lang="ru-RU" dirty="0"/>
          </a:p>
          <a:p>
            <a:endParaRPr lang="ru-RU" dirty="0"/>
          </a:p>
        </p:txBody>
      </p:sp>
      <p:pic>
        <p:nvPicPr>
          <p:cNvPr id="7" name="Picture 6">
            <a:extLst>
              <a:ext uri="{FF2B5EF4-FFF2-40B4-BE49-F238E27FC236}">
                <a16:creationId xmlns:a16="http://schemas.microsoft.com/office/drawing/2014/main" id="{055FB6BB-7AAD-476A-A73C-91A074C5EFBE}"/>
              </a:ext>
            </a:extLst>
          </p:cNvPr>
          <p:cNvPicPr>
            <a:picLocks noChangeAspect="1"/>
          </p:cNvPicPr>
          <p:nvPr/>
        </p:nvPicPr>
        <p:blipFill>
          <a:blip r:embed="rId3"/>
          <a:stretch>
            <a:fillRect/>
          </a:stretch>
        </p:blipFill>
        <p:spPr>
          <a:xfrm>
            <a:off x="5935436" y="1934927"/>
            <a:ext cx="2471056" cy="2105340"/>
          </a:xfrm>
          <a:prstGeom prst="rect">
            <a:avLst/>
          </a:prstGeom>
        </p:spPr>
      </p:pic>
    </p:spTree>
    <p:extLst>
      <p:ext uri="{BB962C8B-B14F-4D97-AF65-F5344CB8AC3E}">
        <p14:creationId xmlns:p14="http://schemas.microsoft.com/office/powerpoint/2010/main" val="124135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29460835-3E9D-4E17-B8A0-4FFC11DB877A}" type="slidenum">
              <a:t>5</a:t>
            </a:fld>
            <a:endParaRPr/>
          </a:p>
        </p:txBody>
      </p:sp>
      <p:sp>
        <p:nvSpPr>
          <p:cNvPr id="92"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Локальные системы</a:t>
            </a:r>
            <a:endParaRPr lang="ru-RU" sz="4400" b="0" strike="noStrike" spc="-1">
              <a:solidFill>
                <a:srgbClr val="244061"/>
              </a:solidFill>
              <a:latin typeface="Calibri"/>
            </a:endParaRPr>
          </a:p>
        </p:txBody>
      </p:sp>
      <p:sp>
        <p:nvSpPr>
          <p:cNvPr id="93"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94" name="TextBox 6"/>
          <p:cNvSpPr/>
          <p:nvPr/>
        </p:nvSpPr>
        <p:spPr>
          <a:xfrm>
            <a:off x="251640" y="1243800"/>
            <a:ext cx="8640720" cy="34148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strike="noStrike" spc="-1" dirty="0">
                <a:solidFill>
                  <a:srgbClr val="244061"/>
                </a:solidFill>
                <a:latin typeface="Calibri"/>
              </a:rPr>
              <a:t>Позволяет контролировать версии, просто копируя файлы в другой каталог. </a:t>
            </a:r>
          </a:p>
          <a:p>
            <a:pPr algn="just">
              <a:lnSpc>
                <a:spcPct val="100000"/>
              </a:lnSpc>
            </a:pPr>
            <a:endParaRPr lang="ru-RU" spc="-1" dirty="0">
              <a:solidFill>
                <a:srgbClr val="244061"/>
              </a:solidFill>
              <a:latin typeface="Calibri"/>
            </a:endParaRPr>
          </a:p>
          <a:p>
            <a:pPr algn="just">
              <a:lnSpc>
                <a:spcPct val="100000"/>
              </a:lnSpc>
            </a:pPr>
            <a:r>
              <a:rPr lang="ru-RU" sz="1800" b="0" strike="noStrike" spc="-1" dirty="0">
                <a:solidFill>
                  <a:srgbClr val="244061"/>
                </a:solidFill>
                <a:latin typeface="Calibri"/>
              </a:rPr>
              <a:t>Недостатки</a:t>
            </a:r>
            <a:r>
              <a:rPr lang="en-US" sz="1800" b="0" strike="noStrike" spc="-1" dirty="0">
                <a:solidFill>
                  <a:srgbClr val="244061"/>
                </a:solidFill>
                <a:latin typeface="Calibri"/>
              </a:rPr>
              <a:t>:</a:t>
            </a:r>
            <a:endParaRPr lang="ru-RU" sz="1800" b="0" strike="noStrike" spc="-1" dirty="0">
              <a:solidFill>
                <a:srgbClr val="000000"/>
              </a:solidFill>
              <a:latin typeface="Arial"/>
            </a:endParaRPr>
          </a:p>
          <a:p>
            <a:pPr marL="285750" indent="-285750" algn="just">
              <a:lnSpc>
                <a:spcPct val="100000"/>
              </a:lnSpc>
              <a:buFont typeface="Arial" panose="020B0604020202020204" pitchFamily="34" charset="0"/>
              <a:buChar char="•"/>
            </a:pPr>
            <a:r>
              <a:rPr lang="ru-RU" sz="1800" b="0" strike="noStrike" spc="-1" dirty="0">
                <a:solidFill>
                  <a:srgbClr val="244061"/>
                </a:solidFill>
                <a:latin typeface="Calibri"/>
              </a:rPr>
              <a:t>Работа только с одним файлом, каждый файл должен контролироваться отдельно;</a:t>
            </a:r>
            <a:endParaRPr lang="ru-RU" sz="1800" b="0" strike="noStrike" spc="-1" dirty="0">
              <a:solidFill>
                <a:srgbClr val="000000"/>
              </a:solidFill>
              <a:latin typeface="Arial"/>
            </a:endParaRPr>
          </a:p>
          <a:p>
            <a:pPr marL="285750" indent="-285750" algn="just">
              <a:lnSpc>
                <a:spcPct val="100000"/>
              </a:lnSpc>
              <a:buFont typeface="Arial" panose="020B0604020202020204" pitchFamily="34" charset="0"/>
              <a:buChar char="•"/>
            </a:pPr>
            <a:r>
              <a:rPr lang="ru-RU" sz="1800" b="0" strike="noStrike" spc="-1" dirty="0">
                <a:solidFill>
                  <a:srgbClr val="244061"/>
                </a:solidFill>
                <a:latin typeface="Calibri"/>
              </a:rPr>
              <a:t>Неудобный механизм одновременной работы нескольких пользователей с системой, хранилище просто блокируется пока заблокировавший его пользователь не разблокирует его;</a:t>
            </a:r>
            <a:endParaRPr lang="ru-RU" sz="1800" b="0" strike="noStrike" spc="-1" dirty="0">
              <a:solidFill>
                <a:srgbClr val="000000"/>
              </a:solidFill>
              <a:latin typeface="Arial"/>
            </a:endParaRPr>
          </a:p>
          <a:p>
            <a:pPr marL="285750" indent="-285750" algn="just">
              <a:lnSpc>
                <a:spcPct val="100000"/>
              </a:lnSpc>
              <a:buFont typeface="Arial" panose="020B0604020202020204" pitchFamily="34" charset="0"/>
              <a:buChar char="•"/>
            </a:pPr>
            <a:r>
              <a:rPr lang="en-US" sz="1800" b="0" strike="noStrike" spc="-1" dirty="0">
                <a:solidFill>
                  <a:srgbClr val="244061"/>
                </a:solidFill>
                <a:latin typeface="Calibri"/>
              </a:rPr>
              <a:t> </a:t>
            </a:r>
            <a:r>
              <a:rPr lang="ru-RU" sz="1800" b="0" strike="noStrike" spc="-1" dirty="0">
                <a:solidFill>
                  <a:srgbClr val="244061"/>
                </a:solidFill>
                <a:latin typeface="Calibri"/>
              </a:rPr>
              <a:t>Необходимо регулярно делать </a:t>
            </a:r>
            <a:r>
              <a:rPr lang="ru-RU" sz="1800" b="0" strike="noStrike" spc="-1" dirty="0" err="1">
                <a:solidFill>
                  <a:srgbClr val="244061"/>
                </a:solidFill>
                <a:latin typeface="Calibri"/>
              </a:rPr>
              <a:t>бэкапы</a:t>
            </a:r>
            <a:r>
              <a:rPr lang="ru-RU" sz="1800" b="0" strike="noStrike" spc="-1" dirty="0">
                <a:solidFill>
                  <a:srgbClr val="244061"/>
                </a:solidFill>
                <a:latin typeface="Calibri"/>
              </a:rPr>
              <a:t>.</a:t>
            </a:r>
            <a:endParaRPr lang="ru-RU" sz="1800" b="0" strike="noStrike" spc="-1" dirty="0">
              <a:solidFill>
                <a:srgbClr val="000000"/>
              </a:solidFill>
              <a:latin typeface="Arial"/>
            </a:endParaRPr>
          </a:p>
          <a:p>
            <a:pPr algn="just">
              <a:lnSpc>
                <a:spcPct val="100000"/>
              </a:lnSpc>
            </a:pPr>
            <a:endParaRPr lang="ru-RU" sz="1800" b="0" strike="noStrike" spc="-1" dirty="0">
              <a:solidFill>
                <a:srgbClr val="244061"/>
              </a:solidFill>
              <a:latin typeface="Calibri"/>
            </a:endParaRPr>
          </a:p>
          <a:p>
            <a:pPr algn="just">
              <a:lnSpc>
                <a:spcPct val="100000"/>
              </a:lnSpc>
            </a:pPr>
            <a:r>
              <a:rPr lang="ru-RU" sz="1800" b="0" strike="noStrike" spc="-1" dirty="0">
                <a:solidFill>
                  <a:srgbClr val="244061"/>
                </a:solidFill>
                <a:latin typeface="Calibri"/>
              </a:rPr>
              <a:t>Пример:</a:t>
            </a:r>
          </a:p>
          <a:p>
            <a:pPr algn="just">
              <a:lnSpc>
                <a:spcPct val="100000"/>
              </a:lnSpc>
            </a:pPr>
            <a:r>
              <a:rPr lang="en-US" sz="1800" b="0" strike="noStrike" spc="-1" dirty="0">
                <a:solidFill>
                  <a:srgbClr val="244061"/>
                </a:solidFill>
                <a:latin typeface="Calibri"/>
              </a:rPr>
              <a:t>RCS (Revision Control System</a:t>
            </a:r>
            <a:r>
              <a:rPr lang="ru-RU" sz="1800" b="0" strike="noStrike" spc="-1" dirty="0">
                <a:solidFill>
                  <a:srgbClr val="244061"/>
                </a:solidFill>
                <a:latin typeface="Calibri"/>
              </a:rPr>
              <a:t>).</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D22A0A5E-655E-49A6-807B-E063624FEA2C}" type="slidenum">
              <a:t>6</a:t>
            </a:fld>
            <a:endParaRPr/>
          </a:p>
        </p:txBody>
      </p:sp>
      <p:sp>
        <p:nvSpPr>
          <p:cNvPr id="95"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Централизованные системы</a:t>
            </a:r>
            <a:endParaRPr lang="ru-RU" sz="4400" b="0" strike="noStrike" spc="-1">
              <a:solidFill>
                <a:srgbClr val="244061"/>
              </a:solidFill>
              <a:latin typeface="Calibri"/>
            </a:endParaRPr>
          </a:p>
        </p:txBody>
      </p:sp>
      <p:sp>
        <p:nvSpPr>
          <p:cNvPr id="96"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97" name="TextBox 6"/>
          <p:cNvSpPr/>
          <p:nvPr/>
        </p:nvSpPr>
        <p:spPr>
          <a:xfrm>
            <a:off x="251641" y="1357313"/>
            <a:ext cx="5700124" cy="2583869"/>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lnSpc>
                <a:spcPct val="100000"/>
              </a:lnSpc>
            </a:pPr>
            <a:r>
              <a:rPr lang="ru-RU" sz="1800" b="0" strike="noStrike" spc="-1" dirty="0">
                <a:solidFill>
                  <a:srgbClr val="244061"/>
                </a:solidFill>
                <a:latin typeface="Calibri"/>
              </a:rPr>
              <a:t>Существует центральный сервер, на котором хранятся все файлы под </a:t>
            </a:r>
            <a:r>
              <a:rPr lang="ru-RU" sz="1800" b="0" strike="noStrike" spc="-1" dirty="0" err="1">
                <a:solidFill>
                  <a:srgbClr val="244061"/>
                </a:solidFill>
                <a:latin typeface="Calibri"/>
              </a:rPr>
              <a:t>версионным</a:t>
            </a:r>
            <a:r>
              <a:rPr lang="ru-RU" sz="1800" b="0" strike="noStrike" spc="-1" dirty="0">
                <a:solidFill>
                  <a:srgbClr val="244061"/>
                </a:solidFill>
                <a:latin typeface="Calibri"/>
              </a:rPr>
              <a:t> контролем, и ряд клиентов, которые получают копии файлов из него.</a:t>
            </a:r>
            <a:endParaRPr lang="ru-RU" sz="1800" b="0" strike="noStrike" spc="-1" dirty="0">
              <a:solidFill>
                <a:srgbClr val="000000"/>
              </a:solidFill>
              <a:latin typeface="Arial"/>
            </a:endParaRPr>
          </a:p>
          <a:p>
            <a:pPr algn="just">
              <a:lnSpc>
                <a:spcPct val="100000"/>
              </a:lnSpc>
            </a:pPr>
            <a:endParaRPr lang="ru-RU" sz="1800" b="0" strike="noStrike" spc="-1" dirty="0">
              <a:solidFill>
                <a:srgbClr val="244061"/>
              </a:solidFill>
              <a:latin typeface="Calibri"/>
            </a:endParaRPr>
          </a:p>
          <a:p>
            <a:pPr algn="just">
              <a:lnSpc>
                <a:spcPct val="100000"/>
              </a:lnSpc>
            </a:pPr>
            <a:r>
              <a:rPr lang="ru-RU" sz="1800" b="0" strike="noStrike" spc="-1" dirty="0">
                <a:solidFill>
                  <a:srgbClr val="244061"/>
                </a:solidFill>
                <a:latin typeface="Calibri"/>
              </a:rPr>
              <a:t>Недостатки:</a:t>
            </a:r>
          </a:p>
          <a:p>
            <a:pPr marL="285750" indent="-285750" algn="just">
              <a:lnSpc>
                <a:spcPct val="100000"/>
              </a:lnSpc>
              <a:buFont typeface="Arial" panose="020B0604020202020204" pitchFamily="34" charset="0"/>
              <a:buChar char="•"/>
            </a:pPr>
            <a:r>
              <a:rPr lang="ru-RU" sz="1800" b="0" strike="noStrike" spc="-1" dirty="0">
                <a:solidFill>
                  <a:srgbClr val="244061"/>
                </a:solidFill>
                <a:latin typeface="Calibri"/>
              </a:rPr>
              <a:t>возможность сбоя в работе центрального сервера.</a:t>
            </a:r>
          </a:p>
          <a:p>
            <a:pPr marL="285750" indent="-285750" algn="just">
              <a:lnSpc>
                <a:spcPct val="100000"/>
              </a:lnSpc>
              <a:buFont typeface="Arial" panose="020B0604020202020204" pitchFamily="34" charset="0"/>
              <a:buChar char="•"/>
            </a:pPr>
            <a:endParaRPr lang="ru-RU" spc="-1" dirty="0">
              <a:solidFill>
                <a:srgbClr val="244061"/>
              </a:solidFill>
              <a:latin typeface="Calibri"/>
            </a:endParaRPr>
          </a:p>
          <a:p>
            <a:pPr algn="just">
              <a:lnSpc>
                <a:spcPct val="100000"/>
              </a:lnSpc>
            </a:pPr>
            <a:r>
              <a:rPr lang="ru-RU" spc="-1" dirty="0">
                <a:solidFill>
                  <a:srgbClr val="244061"/>
                </a:solidFill>
              </a:rPr>
              <a:t>Пример:</a:t>
            </a:r>
          </a:p>
          <a:p>
            <a:pPr algn="just">
              <a:lnSpc>
                <a:spcPct val="100000"/>
              </a:lnSpc>
            </a:pPr>
            <a:r>
              <a:rPr lang="en-US" spc="-1" dirty="0">
                <a:solidFill>
                  <a:srgbClr val="244061"/>
                </a:solidFill>
              </a:rPr>
              <a:t>Subversion </a:t>
            </a:r>
            <a:r>
              <a:rPr lang="ru-RU" spc="-1" dirty="0">
                <a:solidFill>
                  <a:srgbClr val="244061"/>
                </a:solidFill>
              </a:rPr>
              <a:t>и </a:t>
            </a:r>
            <a:r>
              <a:rPr lang="en-US" spc="-1" dirty="0">
                <a:solidFill>
                  <a:srgbClr val="244061"/>
                </a:solidFill>
              </a:rPr>
              <a:t>Perforce</a:t>
            </a:r>
            <a:endParaRPr lang="ru-RU" sz="1800" b="0" strike="noStrike" spc="-1" dirty="0">
              <a:solidFill>
                <a:srgbClr val="000000"/>
              </a:solidFill>
              <a:latin typeface="Arial"/>
            </a:endParaRPr>
          </a:p>
        </p:txBody>
      </p:sp>
      <p:pic>
        <p:nvPicPr>
          <p:cNvPr id="98" name="Picture 2" descr="Централизованная система контроля версий"/>
          <p:cNvPicPr/>
          <p:nvPr/>
        </p:nvPicPr>
        <p:blipFill>
          <a:blip r:embed="rId3">
            <a:duotone>
              <a:schemeClr val="accent6">
                <a:shade val="45000"/>
                <a:satMod val="135000"/>
              </a:schemeClr>
              <a:prstClr val="white"/>
            </a:duotone>
          </a:blip>
          <a:stretch/>
        </p:blipFill>
        <p:spPr>
          <a:xfrm>
            <a:off x="6204856" y="1643040"/>
            <a:ext cx="2687503" cy="2143148"/>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60787306-3F7C-4520-991C-4EE83DD52F59}" type="slidenum">
              <a:t>7</a:t>
            </a:fld>
            <a:endParaRPr/>
          </a:p>
        </p:txBody>
      </p:sp>
      <p:sp>
        <p:nvSpPr>
          <p:cNvPr id="99"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Децентрализованные системы</a:t>
            </a:r>
            <a:endParaRPr lang="ru-RU" sz="4400" b="0" strike="noStrike" spc="-1">
              <a:solidFill>
                <a:srgbClr val="244061"/>
              </a:solidFill>
              <a:latin typeface="Calibri"/>
            </a:endParaRPr>
          </a:p>
        </p:txBody>
      </p:sp>
      <p:sp>
        <p:nvSpPr>
          <p:cNvPr id="100"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01" name="TextBox 6"/>
          <p:cNvSpPr/>
          <p:nvPr/>
        </p:nvSpPr>
        <p:spPr>
          <a:xfrm>
            <a:off x="235311" y="1537714"/>
            <a:ext cx="5357224" cy="286086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lnSpc>
                <a:spcPct val="100000"/>
              </a:lnSpc>
            </a:pPr>
            <a:r>
              <a:rPr lang="ru-RU" sz="1800" b="0" strike="noStrike" spc="-1" dirty="0">
                <a:solidFill>
                  <a:srgbClr val="244061"/>
                </a:solidFill>
                <a:latin typeface="Calibri"/>
              </a:rPr>
              <a:t>В децентрализованных системах контроля версий при каждом копировании удалённого репозитория (расположенного на сервере) происходит полное копирование данных в локальный репозиторий (установленный на рабочем компьютере). </a:t>
            </a:r>
          </a:p>
          <a:p>
            <a:pPr algn="just">
              <a:lnSpc>
                <a:spcPct val="100000"/>
              </a:lnSpc>
            </a:pPr>
            <a:r>
              <a:rPr lang="ru-RU" dirty="0"/>
              <a:t>При сбое на сервере</a:t>
            </a:r>
            <a:r>
              <a:rPr lang="ru-RU" sz="1800" b="0" strike="noStrike" spc="-1" dirty="0">
                <a:solidFill>
                  <a:srgbClr val="244061"/>
                </a:solidFill>
                <a:latin typeface="Calibri"/>
              </a:rPr>
              <a:t>, удаленный репозиторий можно перезаписать с любой сохраненной копии.</a:t>
            </a:r>
          </a:p>
          <a:p>
            <a:pPr algn="just">
              <a:lnSpc>
                <a:spcPct val="100000"/>
              </a:lnSpc>
            </a:pPr>
            <a:endParaRPr lang="ru-RU" sz="1800" b="0" strike="noStrike" spc="-1" dirty="0">
              <a:solidFill>
                <a:srgbClr val="244061"/>
              </a:solidFill>
              <a:latin typeface="Calibri"/>
            </a:endParaRPr>
          </a:p>
          <a:p>
            <a:pPr algn="just">
              <a:lnSpc>
                <a:spcPct val="100000"/>
              </a:lnSpc>
            </a:pPr>
            <a:r>
              <a:rPr lang="ru-RU" spc="-1" dirty="0">
                <a:solidFill>
                  <a:srgbClr val="244061"/>
                </a:solidFill>
              </a:rPr>
              <a:t>Пример:</a:t>
            </a:r>
          </a:p>
          <a:p>
            <a:pPr algn="just">
              <a:lnSpc>
                <a:spcPct val="100000"/>
              </a:lnSpc>
            </a:pPr>
            <a:r>
              <a:rPr lang="en-US" spc="-1" dirty="0">
                <a:solidFill>
                  <a:srgbClr val="244061"/>
                </a:solidFill>
              </a:rPr>
              <a:t>Git, Mercurial </a:t>
            </a:r>
            <a:r>
              <a:rPr lang="ru-RU" spc="-1" dirty="0">
                <a:solidFill>
                  <a:srgbClr val="244061"/>
                </a:solidFill>
              </a:rPr>
              <a:t>и </a:t>
            </a:r>
            <a:r>
              <a:rPr lang="en-US" spc="-1" dirty="0">
                <a:solidFill>
                  <a:srgbClr val="244061"/>
                </a:solidFill>
              </a:rPr>
              <a:t>Bazaar</a:t>
            </a:r>
            <a:endParaRPr lang="ru-RU" spc="-1" dirty="0">
              <a:solidFill>
                <a:srgbClr val="000000"/>
              </a:solidFill>
              <a:latin typeface="Arial"/>
            </a:endParaRPr>
          </a:p>
        </p:txBody>
      </p:sp>
      <p:pic>
        <p:nvPicPr>
          <p:cNvPr id="102" name="Picture 2" descr="Распределённая система контроля версий"/>
          <p:cNvPicPr/>
          <p:nvPr/>
        </p:nvPicPr>
        <p:blipFill>
          <a:blip r:embed="rId3"/>
          <a:stretch/>
        </p:blipFill>
        <p:spPr>
          <a:xfrm>
            <a:off x="5976257" y="1900157"/>
            <a:ext cx="2710543" cy="1928186"/>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B89FD4FE-4341-4B61-A326-C975B79F9D3E}" type="slidenum">
              <a:t>8</a:t>
            </a:fld>
            <a:endParaRPr/>
          </a:p>
        </p:txBody>
      </p:sp>
      <p:sp>
        <p:nvSpPr>
          <p:cNvPr id="103" name="PlaceHolder 1"/>
          <p:cNvSpPr>
            <a:spLocks noGrp="1"/>
          </p:cNvSpPr>
          <p:nvPr>
            <p:ph type="title" idx="4294967295"/>
          </p:nvPr>
        </p:nvSpPr>
        <p:spPr>
          <a:xfrm>
            <a:off x="25164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Децентрализованные системы</a:t>
            </a:r>
            <a:endParaRPr lang="ru-RU" sz="4400" b="0" strike="noStrike" spc="-1" dirty="0">
              <a:solidFill>
                <a:srgbClr val="244061"/>
              </a:solidFill>
              <a:latin typeface="Calibri"/>
            </a:endParaRPr>
          </a:p>
        </p:txBody>
      </p:sp>
      <p:sp>
        <p:nvSpPr>
          <p:cNvPr id="104"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05" name="TextBox 6"/>
          <p:cNvSpPr/>
          <p:nvPr/>
        </p:nvSpPr>
        <p:spPr>
          <a:xfrm>
            <a:off x="251640" y="1357313"/>
            <a:ext cx="8640720" cy="286086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lgn="just">
              <a:lnSpc>
                <a:spcPct val="100000"/>
              </a:lnSpc>
              <a:buFont typeface="Wingdings" panose="05000000000000000000" pitchFamily="2" charset="2"/>
              <a:buChar char="ü"/>
            </a:pPr>
            <a:r>
              <a:rPr lang="ru-RU" sz="1800" b="0" strike="noStrike" spc="-1" dirty="0">
                <a:solidFill>
                  <a:srgbClr val="244061"/>
                </a:solidFill>
                <a:latin typeface="Calibri"/>
              </a:rPr>
              <a:t>возможность восстановления данных  из определенной версии (точно определяется по времени записи);</a:t>
            </a:r>
            <a:endParaRPr lang="ru-RU" sz="1800" b="0" strike="noStrike" spc="-1" dirty="0">
              <a:solidFill>
                <a:srgbClr val="000000"/>
              </a:solidFill>
              <a:latin typeface="Arial"/>
            </a:endParaRPr>
          </a:p>
          <a:p>
            <a:pPr marL="285750" indent="-285750" algn="just">
              <a:lnSpc>
                <a:spcPct val="100000"/>
              </a:lnSpc>
              <a:buFont typeface="Wingdings" panose="05000000000000000000" pitchFamily="2" charset="2"/>
              <a:buChar char="ü"/>
            </a:pPr>
            <a:r>
              <a:rPr lang="ru-RU" sz="1800" b="0" strike="noStrike" spc="-1" dirty="0">
                <a:solidFill>
                  <a:srgbClr val="244061"/>
                </a:solidFill>
                <a:latin typeface="Calibri"/>
              </a:rPr>
              <a:t>возможность ведения командной разработки проекта;</a:t>
            </a:r>
            <a:endParaRPr lang="ru-RU" sz="1800" b="0" strike="noStrike" spc="-1" dirty="0">
              <a:solidFill>
                <a:srgbClr val="000000"/>
              </a:solidFill>
              <a:latin typeface="Arial"/>
            </a:endParaRPr>
          </a:p>
          <a:p>
            <a:pPr marL="285750" indent="-285750" algn="just">
              <a:lnSpc>
                <a:spcPct val="100000"/>
              </a:lnSpc>
              <a:buFont typeface="Wingdings" panose="05000000000000000000" pitchFamily="2" charset="2"/>
              <a:buChar char="ü"/>
            </a:pPr>
            <a:r>
              <a:rPr lang="ru-RU" sz="1800" b="0" strike="noStrike" spc="-1" dirty="0">
                <a:solidFill>
                  <a:srgbClr val="244061"/>
                </a:solidFill>
                <a:latin typeface="Calibri"/>
              </a:rPr>
              <a:t>при сбое работы сервера система сохраняет данные в локальном репозитории, что позволяет эффективно вести процесс разработки, а после восстановления работы сервера, передать все изменения в удаленный репозиторий;</a:t>
            </a:r>
            <a:endParaRPr lang="ru-RU" sz="1800" b="0" strike="noStrike" spc="-1" dirty="0">
              <a:solidFill>
                <a:srgbClr val="000000"/>
              </a:solidFill>
              <a:latin typeface="Arial"/>
            </a:endParaRPr>
          </a:p>
          <a:p>
            <a:pPr marL="285750" indent="-285750" algn="just">
              <a:lnSpc>
                <a:spcPct val="100000"/>
              </a:lnSpc>
              <a:buFont typeface="Wingdings" panose="05000000000000000000" pitchFamily="2" charset="2"/>
              <a:buChar char="ü"/>
            </a:pPr>
            <a:r>
              <a:rPr lang="ru-RU" sz="1800" b="0" strike="noStrike" spc="-1" dirty="0">
                <a:solidFill>
                  <a:srgbClr val="244061"/>
                </a:solidFill>
                <a:latin typeface="Calibri"/>
              </a:rPr>
              <a:t>при физической поломке сервера данные можно легко перенести в новый удалённый репозиторий с любого локального репозитория;</a:t>
            </a:r>
            <a:endParaRPr lang="ru-RU" sz="1800" b="0" strike="noStrike" spc="-1" dirty="0">
              <a:solidFill>
                <a:srgbClr val="000000"/>
              </a:solidFill>
              <a:latin typeface="Arial"/>
            </a:endParaRPr>
          </a:p>
          <a:p>
            <a:pPr marL="285750" indent="-285750" algn="just">
              <a:lnSpc>
                <a:spcPct val="100000"/>
              </a:lnSpc>
              <a:buFont typeface="Wingdings" panose="05000000000000000000" pitchFamily="2" charset="2"/>
              <a:buChar char="ü"/>
            </a:pPr>
            <a:r>
              <a:rPr lang="ru-RU" sz="1800" b="0" strike="noStrike" spc="-1" dirty="0">
                <a:solidFill>
                  <a:srgbClr val="244061"/>
                </a:solidFill>
                <a:latin typeface="Calibri"/>
              </a:rPr>
              <a:t>высокая скорость работы (в ходе работы данные записываются и получаются из локального репозитория, поэтому сетевые задержки отсутствуют).</a:t>
            </a:r>
            <a:endParaRPr lang="ru-RU" sz="18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F94D4-8237-415A-8542-D0208BBBBFD0}"/>
              </a:ext>
            </a:extLst>
          </p:cNvPr>
          <p:cNvSpPr>
            <a:spLocks noGrp="1"/>
          </p:cNvSpPr>
          <p:nvPr>
            <p:ph type="title"/>
          </p:nvPr>
        </p:nvSpPr>
        <p:spPr>
          <a:xfrm>
            <a:off x="457200" y="728654"/>
            <a:ext cx="8229600" cy="857250"/>
          </a:xfrm>
        </p:spPr>
        <p:txBody>
          <a:bodyPr>
            <a:normAutofit fontScale="90000"/>
          </a:bodyPr>
          <a:lstStyle/>
          <a:p>
            <a:r>
              <a:rPr lang="ru-RU" dirty="0"/>
              <a:t>Принципы работы системы контроля версий</a:t>
            </a:r>
          </a:p>
        </p:txBody>
      </p:sp>
      <p:sp>
        <p:nvSpPr>
          <p:cNvPr id="3" name="Content Placeholder 2">
            <a:extLst>
              <a:ext uri="{FF2B5EF4-FFF2-40B4-BE49-F238E27FC236}">
                <a16:creationId xmlns:a16="http://schemas.microsoft.com/office/drawing/2014/main" id="{458FCA29-5EF3-4A10-B57D-C5A3C6E3D301}"/>
              </a:ext>
            </a:extLst>
          </p:cNvPr>
          <p:cNvSpPr>
            <a:spLocks noGrp="1"/>
          </p:cNvSpPr>
          <p:nvPr>
            <p:ph idx="1"/>
          </p:nvPr>
        </p:nvSpPr>
        <p:spPr>
          <a:xfrm>
            <a:off x="318407" y="1771642"/>
            <a:ext cx="5622535" cy="2865673"/>
          </a:xfrm>
        </p:spPr>
        <p:txBody>
          <a:bodyPr>
            <a:normAutofit fontScale="55000" lnSpcReduction="20000"/>
          </a:bodyPr>
          <a:lstStyle/>
          <a:p>
            <a:r>
              <a:rPr lang="ru-RU" b="1" dirty="0"/>
              <a:t>Репозиторий</a:t>
            </a:r>
            <a:r>
              <a:rPr lang="ru-RU" dirty="0"/>
              <a:t> — это централизованное хранилище всего процесса. Как правило, репозиторий находится на удаленном сервере в облачном хранилище.</a:t>
            </a:r>
          </a:p>
          <a:p>
            <a:r>
              <a:rPr lang="ru-RU" b="1" dirty="0" err="1"/>
              <a:t>Коммит</a:t>
            </a:r>
            <a:r>
              <a:rPr lang="ru-RU" dirty="0"/>
              <a:t> (</a:t>
            </a:r>
            <a:r>
              <a:rPr lang="ru-RU" b="1" dirty="0" err="1"/>
              <a:t>commit</a:t>
            </a:r>
            <a:r>
              <a:rPr lang="ru-RU" dirty="0"/>
              <a:t>) - это сохранение изменений в репозитории, своего рода "моментальный снимок" состояния проекта на определенный момент времени. Каждый </a:t>
            </a:r>
            <a:r>
              <a:rPr lang="ru-RU" dirty="0" err="1"/>
              <a:t>коммит</a:t>
            </a:r>
            <a:r>
              <a:rPr lang="ru-RU" dirty="0"/>
              <a:t> содержит информацию о внесенных изменениях, авторе, дате и времени, а также сообщение, описывающее эти изменения. </a:t>
            </a:r>
          </a:p>
          <a:p>
            <a:r>
              <a:rPr lang="ru-RU" b="1" i="1" dirty="0"/>
              <a:t>Ветка</a:t>
            </a:r>
            <a:r>
              <a:rPr lang="ru-RU" dirty="0"/>
              <a:t> — это специальная, созданная параллельно с основным репозиторием, копия проекта.</a:t>
            </a:r>
          </a:p>
        </p:txBody>
      </p:sp>
      <p:pic>
        <p:nvPicPr>
          <p:cNvPr id="5" name="Picture 4">
            <a:extLst>
              <a:ext uri="{FF2B5EF4-FFF2-40B4-BE49-F238E27FC236}">
                <a16:creationId xmlns:a16="http://schemas.microsoft.com/office/drawing/2014/main" id="{58293AF4-6F5A-4938-84F2-2B2759E79A1B}"/>
              </a:ext>
            </a:extLst>
          </p:cNvPr>
          <p:cNvPicPr>
            <a:picLocks noChangeAspect="1"/>
          </p:cNvPicPr>
          <p:nvPr/>
        </p:nvPicPr>
        <p:blipFill>
          <a:blip r:embed="rId3">
            <a:duotone>
              <a:schemeClr val="accent6">
                <a:shade val="45000"/>
                <a:satMod val="135000"/>
              </a:schemeClr>
              <a:prstClr val="white"/>
            </a:duotone>
          </a:blip>
          <a:stretch>
            <a:fillRect/>
          </a:stretch>
        </p:blipFill>
        <p:spPr>
          <a:xfrm>
            <a:off x="6079735" y="2326821"/>
            <a:ext cx="2956729" cy="1347108"/>
          </a:xfrm>
          <a:prstGeom prst="rect">
            <a:avLst/>
          </a:prstGeom>
        </p:spPr>
      </p:pic>
    </p:spTree>
    <p:extLst>
      <p:ext uri="{BB962C8B-B14F-4D97-AF65-F5344CB8AC3E}">
        <p14:creationId xmlns:p14="http://schemas.microsoft.com/office/powerpoint/2010/main" val="4095481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Дерево проекта</a:t>
            </a:r>
            <a:endParaRPr lang="ru-RU" sz="4400" b="0" strike="noStrike" spc="-1" dirty="0">
              <a:solidFill>
                <a:srgbClr val="244061"/>
              </a:solidFill>
              <a:latin typeface="Calibri"/>
            </a:endParaRPr>
          </a:p>
        </p:txBody>
      </p:sp>
      <p:sp>
        <p:nvSpPr>
          <p:cNvPr id="3" name="PlaceHolder 2"/>
          <p:cNvSpPr>
            <a:spLocks noGrp="1"/>
          </p:cNvSpPr>
          <p:nvPr>
            <p:ph type="sldNum" sz="quarter" idx="12"/>
          </p:nvPr>
        </p:nvSpPr>
        <p:spPr/>
        <p:txBody>
          <a:bodyPr/>
          <a:lstStyle/>
          <a:p>
            <a:fld id="{576C7862-79F7-4925-BC54-F06B12DBDB05}" type="slidenum">
              <a:t>10</a:t>
            </a:fld>
            <a:endParaRPr/>
          </a:p>
        </p:txBody>
      </p:sp>
      <p:sp>
        <p:nvSpPr>
          <p:cNvPr id="110"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dirty="0">
                <a:solidFill>
                  <a:srgbClr val="FFFFFF"/>
                </a:solidFill>
                <a:latin typeface="Calibri"/>
              </a:rPr>
              <a:t>Заголовок 1</a:t>
            </a:r>
            <a:endParaRPr lang="ru-RU" sz="1800" b="0" strike="noStrike" spc="-1" dirty="0">
              <a:solidFill>
                <a:srgbClr val="000000"/>
              </a:solidFill>
              <a:latin typeface="Arial"/>
            </a:endParaRPr>
          </a:p>
        </p:txBody>
      </p:sp>
      <p:pic>
        <p:nvPicPr>
          <p:cNvPr id="2050" name="Picture 2" descr="Utilizando o fluxo Git Flow">
            <a:extLst>
              <a:ext uri="{FF2B5EF4-FFF2-40B4-BE49-F238E27FC236}">
                <a16:creationId xmlns:a16="http://schemas.microsoft.com/office/drawing/2014/main" id="{2C86F409-3F57-46FF-9865-AA448D57A7E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3100285" y="1831637"/>
            <a:ext cx="3345982" cy="25252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CA37-EC41-43FB-B84E-4AC6EFB6F83A}"/>
              </a:ext>
            </a:extLst>
          </p:cNvPr>
          <p:cNvSpPr>
            <a:spLocks noGrp="1"/>
          </p:cNvSpPr>
          <p:nvPr>
            <p:ph type="title"/>
          </p:nvPr>
        </p:nvSpPr>
        <p:spPr/>
        <p:txBody>
          <a:bodyPr>
            <a:normAutofit/>
          </a:bodyPr>
          <a:lstStyle/>
          <a:p>
            <a:r>
              <a:rPr lang="ru-RU" dirty="0"/>
              <a:t>Популярные СКВ</a:t>
            </a:r>
          </a:p>
        </p:txBody>
      </p:sp>
      <p:sp>
        <p:nvSpPr>
          <p:cNvPr id="3" name="Content Placeholder 2">
            <a:extLst>
              <a:ext uri="{FF2B5EF4-FFF2-40B4-BE49-F238E27FC236}">
                <a16:creationId xmlns:a16="http://schemas.microsoft.com/office/drawing/2014/main" id="{B359B481-2C41-423D-985B-7D547C03269F}"/>
              </a:ext>
            </a:extLst>
          </p:cNvPr>
          <p:cNvSpPr>
            <a:spLocks noGrp="1"/>
          </p:cNvSpPr>
          <p:nvPr>
            <p:ph idx="1"/>
          </p:nvPr>
        </p:nvSpPr>
        <p:spPr>
          <a:xfrm>
            <a:off x="457200" y="1428741"/>
            <a:ext cx="8229600" cy="1510402"/>
          </a:xfrm>
        </p:spPr>
        <p:txBody>
          <a:bodyPr>
            <a:normAutofit fontScale="47500" lnSpcReduction="20000"/>
          </a:bodyPr>
          <a:lstStyle/>
          <a:p>
            <a:r>
              <a:rPr lang="ru-RU" dirty="0"/>
              <a:t>По данным </a:t>
            </a:r>
            <a:r>
              <a:rPr lang="ru-RU" dirty="0" err="1"/>
              <a:t>Fortune</a:t>
            </a:r>
            <a:r>
              <a:rPr lang="ru-RU" dirty="0"/>
              <a:t> </a:t>
            </a:r>
            <a:r>
              <a:rPr lang="ru-RU" dirty="0" err="1"/>
              <a:t>Business</a:t>
            </a:r>
            <a:r>
              <a:rPr lang="ru-RU" dirty="0"/>
              <a:t> </a:t>
            </a:r>
            <a:r>
              <a:rPr lang="ru-RU" dirty="0" err="1"/>
              <a:t>Insights</a:t>
            </a:r>
            <a:r>
              <a:rPr lang="ru-RU" dirty="0"/>
              <a:t> , около 90% технологических стартапов полагаются на системы контроля версий (VCS) как на основные инструменты разработки. </a:t>
            </a:r>
          </a:p>
          <a:p>
            <a:r>
              <a:rPr lang="ru-RU" dirty="0"/>
              <a:t>Кроме того, 72% разработчиков считают, что VCS помогают сократить время разработки до 30%.</a:t>
            </a:r>
          </a:p>
          <a:p>
            <a:r>
              <a:rPr lang="ru-RU" dirty="0"/>
              <a:t>За последнее десятилетие </a:t>
            </a:r>
            <a:r>
              <a:rPr lang="ru-RU" dirty="0" err="1"/>
              <a:t>Git</a:t>
            </a:r>
            <a:r>
              <a:rPr lang="ru-RU" dirty="0"/>
              <a:t> оставался доминирующим выбором среди разработчиков. В 2016 году 87,1% разработчиков предпочитали </a:t>
            </a:r>
            <a:r>
              <a:rPr lang="ru-RU" dirty="0" err="1"/>
              <a:t>Git</a:t>
            </a:r>
            <a:r>
              <a:rPr lang="ru-RU" dirty="0"/>
              <a:t>, а к 2025 году его использование возросло до 93,87%.</a:t>
            </a:r>
          </a:p>
        </p:txBody>
      </p:sp>
      <p:pic>
        <p:nvPicPr>
          <p:cNvPr id="5" name="Picture 4">
            <a:extLst>
              <a:ext uri="{FF2B5EF4-FFF2-40B4-BE49-F238E27FC236}">
                <a16:creationId xmlns:a16="http://schemas.microsoft.com/office/drawing/2014/main" id="{8CC5D40D-123E-4844-86D7-1DD4B790A8FC}"/>
              </a:ext>
            </a:extLst>
          </p:cNvPr>
          <p:cNvPicPr>
            <a:picLocks noChangeAspect="1"/>
          </p:cNvPicPr>
          <p:nvPr/>
        </p:nvPicPr>
        <p:blipFill>
          <a:blip r:embed="rId3"/>
          <a:stretch>
            <a:fillRect/>
          </a:stretch>
        </p:blipFill>
        <p:spPr>
          <a:xfrm>
            <a:off x="1865540" y="2834489"/>
            <a:ext cx="5412920" cy="1808957"/>
          </a:xfrm>
          <a:prstGeom prst="rect">
            <a:avLst/>
          </a:prstGeom>
        </p:spPr>
      </p:pic>
    </p:spTree>
    <p:extLst>
      <p:ext uri="{BB962C8B-B14F-4D97-AF65-F5344CB8AC3E}">
        <p14:creationId xmlns:p14="http://schemas.microsoft.com/office/powerpoint/2010/main" val="115963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47D-1FCA-4EC0-B726-61C6FAB73581}"/>
              </a:ext>
            </a:extLst>
          </p:cNvPr>
          <p:cNvSpPr>
            <a:spLocks noGrp="1"/>
          </p:cNvSpPr>
          <p:nvPr>
            <p:ph type="title"/>
          </p:nvPr>
        </p:nvSpPr>
        <p:spPr/>
        <p:txBody>
          <a:bodyPr/>
          <a:lstStyle/>
          <a:p>
            <a:r>
              <a:rPr lang="ru-RU" dirty="0"/>
              <a:t>Принцип работы </a:t>
            </a:r>
            <a:r>
              <a:rPr lang="en-US" dirty="0"/>
              <a:t>git</a:t>
            </a:r>
            <a:endParaRPr lang="ru-RU" dirty="0"/>
          </a:p>
        </p:txBody>
      </p:sp>
      <p:sp>
        <p:nvSpPr>
          <p:cNvPr id="4" name="Content Placeholder 3">
            <a:extLst>
              <a:ext uri="{FF2B5EF4-FFF2-40B4-BE49-F238E27FC236}">
                <a16:creationId xmlns:a16="http://schemas.microsoft.com/office/drawing/2014/main" id="{FE31C4B4-195A-4329-A8AF-ADF11DDC3307}"/>
              </a:ext>
            </a:extLst>
          </p:cNvPr>
          <p:cNvSpPr>
            <a:spLocks noGrp="1"/>
          </p:cNvSpPr>
          <p:nvPr>
            <p:ph sz="half" idx="1"/>
          </p:nvPr>
        </p:nvSpPr>
        <p:spPr/>
        <p:txBody>
          <a:bodyPr>
            <a:normAutofit fontScale="77500" lnSpcReduction="20000"/>
          </a:bodyPr>
          <a:lstStyle/>
          <a:p>
            <a:r>
              <a:rPr lang="ru-RU" dirty="0" err="1"/>
              <a:t>Git</a:t>
            </a:r>
            <a:r>
              <a:rPr lang="ru-RU" dirty="0"/>
              <a:t> хранит его в базе объектов, которая находится в скрытой папке .</a:t>
            </a:r>
            <a:r>
              <a:rPr lang="ru-RU" dirty="0" err="1"/>
              <a:t>git</a:t>
            </a:r>
            <a:r>
              <a:rPr lang="ru-RU" dirty="0"/>
              <a:t>/</a:t>
            </a:r>
            <a:r>
              <a:rPr lang="ru-RU" dirty="0" err="1"/>
              <a:t>objects</a:t>
            </a:r>
            <a:r>
              <a:rPr lang="ru-RU" dirty="0"/>
              <a:t>.</a:t>
            </a:r>
          </a:p>
          <a:p>
            <a:r>
              <a:rPr lang="ru-RU" dirty="0"/>
              <a:t>Имя файла — это сгенерированный хэш, а файл содержит сжатый контент. </a:t>
            </a:r>
          </a:p>
          <a:p>
            <a:r>
              <a:rPr lang="ru-RU" dirty="0"/>
              <a:t>Данные файлы называются </a:t>
            </a:r>
            <a:r>
              <a:rPr lang="ru-RU" dirty="0" err="1"/>
              <a:t>блобами</a:t>
            </a:r>
            <a:r>
              <a:rPr lang="ru-RU" dirty="0"/>
              <a:t> и создаются каждый раз при добавлении в репозиторий нового файла </a:t>
            </a:r>
          </a:p>
        </p:txBody>
      </p:sp>
      <p:pic>
        <p:nvPicPr>
          <p:cNvPr id="4098" name="Picture 2" descr="Упрощённая модель данных Git">
            <a:extLst>
              <a:ext uri="{FF2B5EF4-FFF2-40B4-BE49-F238E27FC236}">
                <a16:creationId xmlns:a16="http://schemas.microsoft.com/office/drawing/2014/main" id="{E1169C48-04CA-40F9-869E-01251848CE19}"/>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1400323"/>
            <a:ext cx="4038600" cy="2993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896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7DD59-1843-43D9-824E-894ABA1CE6BB}"/>
              </a:ext>
            </a:extLst>
          </p:cNvPr>
          <p:cNvSpPr>
            <a:spLocks noGrp="1"/>
          </p:cNvSpPr>
          <p:nvPr>
            <p:ph type="title"/>
          </p:nvPr>
        </p:nvSpPr>
        <p:spPr>
          <a:xfrm>
            <a:off x="457200" y="728654"/>
            <a:ext cx="8229600" cy="857250"/>
          </a:xfrm>
        </p:spPr>
        <p:txBody>
          <a:bodyPr>
            <a:normAutofit fontScale="90000"/>
          </a:bodyPr>
          <a:lstStyle/>
          <a:p>
            <a:r>
              <a:rPr lang="ru-RU" dirty="0"/>
              <a:t>Этапы работы с системой контроля версий</a:t>
            </a:r>
          </a:p>
        </p:txBody>
      </p:sp>
      <p:sp>
        <p:nvSpPr>
          <p:cNvPr id="5" name="Content Placeholder 4">
            <a:extLst>
              <a:ext uri="{FF2B5EF4-FFF2-40B4-BE49-F238E27FC236}">
                <a16:creationId xmlns:a16="http://schemas.microsoft.com/office/drawing/2014/main" id="{BE415F62-A212-4B5B-800C-06A6A3556D87}"/>
              </a:ext>
            </a:extLst>
          </p:cNvPr>
          <p:cNvSpPr>
            <a:spLocks noGrp="1"/>
          </p:cNvSpPr>
          <p:nvPr>
            <p:ph idx="1"/>
          </p:nvPr>
        </p:nvSpPr>
        <p:spPr>
          <a:xfrm>
            <a:off x="457200" y="1883229"/>
            <a:ext cx="8229600" cy="2874679"/>
          </a:xfrm>
        </p:spPr>
        <p:txBody>
          <a:bodyPr>
            <a:normAutofit fontScale="77500" lnSpcReduction="20000"/>
          </a:bodyPr>
          <a:lstStyle/>
          <a:p>
            <a:pPr marL="514350" indent="-514350">
              <a:buFont typeface="+mj-lt"/>
              <a:buAutoNum type="arabicPeriod"/>
            </a:pPr>
            <a:r>
              <a:rPr lang="ru-RU" dirty="0"/>
              <a:t>Создание репозитория.</a:t>
            </a:r>
            <a:endParaRPr lang="en-US" dirty="0"/>
          </a:p>
          <a:p>
            <a:pPr marL="514350" indent="-514350">
              <a:buFont typeface="+mj-lt"/>
              <a:buAutoNum type="arabicPeriod"/>
            </a:pPr>
            <a:r>
              <a:rPr lang="ru-RU" dirty="0"/>
              <a:t>Внесение изменений в файлы.</a:t>
            </a:r>
            <a:endParaRPr lang="en-US" dirty="0"/>
          </a:p>
          <a:p>
            <a:pPr marL="514350" indent="-514350">
              <a:buFont typeface="+mj-lt"/>
              <a:buAutoNum type="arabicPeriod"/>
            </a:pPr>
            <a:r>
              <a:rPr lang="ru-RU" dirty="0"/>
              <a:t>Добавление файлов.</a:t>
            </a:r>
            <a:endParaRPr lang="en-US" dirty="0"/>
          </a:p>
          <a:p>
            <a:pPr marL="514350" indent="-514350">
              <a:buFont typeface="+mj-lt"/>
              <a:buAutoNum type="arabicPeriod"/>
            </a:pPr>
            <a:r>
              <a:rPr lang="ru-RU" dirty="0" err="1"/>
              <a:t>Коммит</a:t>
            </a:r>
            <a:r>
              <a:rPr lang="ru-RU" dirty="0"/>
              <a:t> изменений.</a:t>
            </a:r>
            <a:endParaRPr lang="en-US" dirty="0"/>
          </a:p>
          <a:p>
            <a:pPr marL="514350" indent="-514350">
              <a:buFont typeface="+mj-lt"/>
              <a:buAutoNum type="arabicPeriod"/>
            </a:pPr>
            <a:r>
              <a:rPr lang="ru-RU" dirty="0"/>
              <a:t>Отправка изменений на сервер.</a:t>
            </a:r>
            <a:endParaRPr lang="en-US" dirty="0"/>
          </a:p>
          <a:p>
            <a:pPr marL="514350" indent="-514350">
              <a:buFont typeface="+mj-lt"/>
              <a:buAutoNum type="arabicPeriod"/>
            </a:pPr>
            <a:r>
              <a:rPr lang="ru-RU" dirty="0"/>
              <a:t>Объединение изменений.</a:t>
            </a:r>
            <a:endParaRPr lang="en-US" dirty="0"/>
          </a:p>
          <a:p>
            <a:pPr marL="514350" indent="-514350">
              <a:buFont typeface="+mj-lt"/>
              <a:buAutoNum type="arabicPeriod"/>
            </a:pPr>
            <a:r>
              <a:rPr lang="ru-RU" dirty="0"/>
              <a:t>Просмотр истории изменений.</a:t>
            </a:r>
          </a:p>
        </p:txBody>
      </p:sp>
    </p:spTree>
    <p:extLst>
      <p:ext uri="{BB962C8B-B14F-4D97-AF65-F5344CB8AC3E}">
        <p14:creationId xmlns:p14="http://schemas.microsoft.com/office/powerpoint/2010/main" val="1375626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947316B0-7892-4BFB-85BB-7721C034FCD2}" type="slidenum">
              <a:t>14</a:t>
            </a:fld>
            <a:endParaRPr/>
          </a:p>
        </p:txBody>
      </p:sp>
      <p:sp>
        <p:nvSpPr>
          <p:cNvPr id="127"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Git</a:t>
            </a:r>
            <a:r>
              <a:rPr lang="ru-RU" sz="4400" b="0" strike="noStrike" spc="-1">
                <a:solidFill>
                  <a:schemeClr val="accent6"/>
                </a:solidFill>
                <a:latin typeface="Calibri"/>
              </a:rPr>
              <a:t> основные команды</a:t>
            </a:r>
            <a:endParaRPr lang="ru-RU" sz="4400" b="0" strike="noStrike" spc="-1">
              <a:solidFill>
                <a:srgbClr val="244061"/>
              </a:solidFill>
              <a:latin typeface="Calibri"/>
            </a:endParaRPr>
          </a:p>
        </p:txBody>
      </p:sp>
      <p:sp>
        <p:nvSpPr>
          <p:cNvPr id="128"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29" name="TextBox 6"/>
          <p:cNvSpPr/>
          <p:nvPr/>
        </p:nvSpPr>
        <p:spPr>
          <a:xfrm>
            <a:off x="251640" y="1275480"/>
            <a:ext cx="8640720" cy="286086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init</a:t>
            </a:r>
            <a:r>
              <a:rPr lang="ru-RU" sz="1800" b="0" strike="noStrike" spc="-1" dirty="0">
                <a:solidFill>
                  <a:srgbClr val="244061"/>
                </a:solidFill>
                <a:latin typeface="Calibri"/>
              </a:rPr>
              <a:t>: инициализировать текущий каталог как репозиторий </a:t>
            </a:r>
            <a:r>
              <a:rPr lang="ru-RU" sz="1800" b="0" strike="noStrike" spc="-1" dirty="0" err="1">
                <a:solidFill>
                  <a:srgbClr val="244061"/>
                </a:solidFill>
                <a:latin typeface="Calibri"/>
              </a:rPr>
              <a:t>Git</a:t>
            </a:r>
            <a:r>
              <a:rPr lang="ru-RU" sz="1800" b="0" strike="noStrike" spc="-1" dirty="0">
                <a:solidFill>
                  <a:srgbClr val="244061"/>
                </a:solidFill>
                <a:latin typeface="Calibri"/>
              </a:rPr>
              <a:t> (создаётся скрытая папка .</a:t>
            </a:r>
            <a:r>
              <a:rPr lang="ru-RU" sz="1800" b="0" strike="noStrike" spc="-1" dirty="0" err="1">
                <a:solidFill>
                  <a:srgbClr val="244061"/>
                </a:solidFill>
                <a:latin typeface="Calibri"/>
              </a:rPr>
              <a:t>git</a:t>
            </a:r>
            <a:r>
              <a:rPr lang="ru-RU" sz="1800" b="0" strike="noStrike" spc="-1" dirty="0">
                <a:solidFill>
                  <a:srgbClr val="244061"/>
                </a:solidFill>
                <a:latin typeface="Calibri"/>
              </a:rPr>
              <a:t> и её содержимое).</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clone</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&lt;</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git-url</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&gt;</a:t>
            </a:r>
            <a:r>
              <a:rPr lang="ru-RU" sz="1800" b="0" strike="noStrike" spc="-1" dirty="0">
                <a:solidFill>
                  <a:srgbClr val="244061"/>
                </a:solidFill>
                <a:latin typeface="Calibri"/>
              </a:rPr>
              <a:t>: загрузить копию репозитория </a:t>
            </a:r>
            <a:r>
              <a:rPr lang="ru-RU" sz="1800" b="0" strike="noStrike" spc="-1" dirty="0" err="1">
                <a:solidFill>
                  <a:srgbClr val="244061"/>
                </a:solidFill>
                <a:latin typeface="Calibri"/>
              </a:rPr>
              <a:t>Git</a:t>
            </a:r>
            <a:r>
              <a:rPr lang="ru-RU" sz="1800" b="0" strike="noStrike" spc="-1" dirty="0">
                <a:solidFill>
                  <a:srgbClr val="244061"/>
                </a:solidFill>
                <a:latin typeface="Calibri"/>
              </a:rPr>
              <a:t> по указанному URL.</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add</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&lt;</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filename.ext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&gt;</a:t>
            </a:r>
            <a:r>
              <a:rPr lang="ru-RU" sz="1800" b="0" strike="noStrike" spc="-1" dirty="0">
                <a:solidFill>
                  <a:srgbClr val="244061"/>
                </a:solidFill>
                <a:latin typeface="Calibri"/>
              </a:rPr>
              <a:t>: добавить </a:t>
            </a:r>
            <a:r>
              <a:rPr lang="ru-RU" sz="1800" b="0" strike="noStrike" spc="-1" dirty="0" err="1">
                <a:solidFill>
                  <a:srgbClr val="244061"/>
                </a:solidFill>
                <a:latin typeface="Calibri"/>
              </a:rPr>
              <a:t>неотслеженный</a:t>
            </a:r>
            <a:r>
              <a:rPr lang="ru-RU" sz="1800" b="0" strike="noStrike" spc="-1" dirty="0">
                <a:solidFill>
                  <a:srgbClr val="244061"/>
                </a:solidFill>
                <a:latin typeface="Calibri"/>
              </a:rPr>
              <a:t> или изменённый файл в промежуточную область (создаёт соответствующие записи в базе данных объектов).</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commit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-m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Commit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message</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a:t>
            </a:r>
            <a:r>
              <a:rPr lang="ru-RU" sz="1800" b="0" strike="noStrike" spc="-1" dirty="0">
                <a:solidFill>
                  <a:srgbClr val="244061"/>
                </a:solidFill>
                <a:latin typeface="Calibri"/>
              </a:rPr>
              <a:t>: зафиксировать набор изменённых файлов и папок вместе с сообщением о </a:t>
            </a:r>
            <a:r>
              <a:rPr lang="ru-RU" sz="1800" b="0" strike="noStrike" spc="-1" dirty="0" err="1">
                <a:solidFill>
                  <a:srgbClr val="244061"/>
                </a:solidFill>
                <a:latin typeface="Calibri"/>
              </a:rPr>
              <a:t>коммите</a:t>
            </a:r>
            <a:r>
              <a:rPr lang="ru-RU" sz="1800" b="0" strike="noStrike" spc="-1" dirty="0">
                <a:solidFill>
                  <a:srgbClr val="244061"/>
                </a:solidFill>
                <a:latin typeface="Calibri"/>
              </a:rPr>
              <a:t>.</a:t>
            </a:r>
            <a:endParaRPr lang="ru-RU" sz="1800" b="0" strike="noStrike" spc="-1" dirty="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17699742-4BA8-4E01-A38B-83961593D9A6}" type="slidenum">
              <a:t>15</a:t>
            </a:fld>
            <a:endParaRPr/>
          </a:p>
        </p:txBody>
      </p:sp>
      <p:sp>
        <p:nvSpPr>
          <p:cNvPr id="130"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Git</a:t>
            </a:r>
            <a:r>
              <a:rPr lang="ru-RU" sz="4400" b="0" strike="noStrike" spc="-1">
                <a:solidFill>
                  <a:schemeClr val="accent6"/>
                </a:solidFill>
                <a:latin typeface="Calibri"/>
              </a:rPr>
              <a:t> основные команды</a:t>
            </a:r>
            <a:endParaRPr lang="ru-RU" sz="4400" b="0" strike="noStrike" spc="-1">
              <a:solidFill>
                <a:srgbClr val="244061"/>
              </a:solidFill>
              <a:latin typeface="Calibri"/>
            </a:endParaRPr>
          </a:p>
        </p:txBody>
      </p:sp>
      <p:sp>
        <p:nvSpPr>
          <p:cNvPr id="131"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32" name="TextBox 6"/>
          <p:cNvSpPr/>
          <p:nvPr/>
        </p:nvSpPr>
        <p:spPr>
          <a:xfrm>
            <a:off x="251640" y="1275480"/>
            <a:ext cx="8640720" cy="34148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status</a:t>
            </a:r>
            <a:r>
              <a:rPr lang="ru-RU" sz="1800" b="0" strike="noStrike" spc="-1" dirty="0">
                <a:solidFill>
                  <a:srgbClr val="244061"/>
                </a:solidFill>
                <a:latin typeface="Calibri"/>
              </a:rPr>
              <a:t>: показать статус рабочего каталога, текущей ветви, </a:t>
            </a:r>
            <a:r>
              <a:rPr lang="ru-RU" sz="1800" b="0" strike="noStrike" spc="-1" dirty="0" err="1">
                <a:solidFill>
                  <a:srgbClr val="244061"/>
                </a:solidFill>
                <a:latin typeface="Calibri"/>
              </a:rPr>
              <a:t>неотслеженных</a:t>
            </a:r>
            <a:r>
              <a:rPr lang="ru-RU" sz="1800" b="0" strike="noStrike" spc="-1" dirty="0">
                <a:solidFill>
                  <a:srgbClr val="244061"/>
                </a:solidFill>
                <a:latin typeface="Calibri"/>
              </a:rPr>
              <a:t> файлов, изменённых файлов и т. д.</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branch</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&lt;</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new-branch</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&gt;</a:t>
            </a:r>
            <a:r>
              <a:rPr lang="ru-RU" sz="1800" b="0" strike="noStrike" spc="-1" dirty="0">
                <a:solidFill>
                  <a:srgbClr val="244061"/>
                </a:solidFill>
                <a:latin typeface="Calibri"/>
              </a:rPr>
              <a:t>: создать новую ветвь на основе текущей ветви.</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checkout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&lt;</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branch</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&gt;</a:t>
            </a:r>
            <a:r>
              <a:rPr lang="ru-RU" sz="1800" b="0" strike="noStrike" spc="-1" dirty="0">
                <a:solidFill>
                  <a:srgbClr val="244061"/>
                </a:solidFill>
                <a:latin typeface="Calibri"/>
              </a:rPr>
              <a:t>: извлечь указанную ветвь в рабочий каталог.</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merge</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&lt;</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branch</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&gt;</a:t>
            </a:r>
            <a:r>
              <a:rPr lang="ru-RU" sz="1800" b="0" strike="noStrike" spc="-1" dirty="0">
                <a:solidFill>
                  <a:srgbClr val="244061"/>
                </a:solidFill>
                <a:latin typeface="Calibri"/>
              </a:rPr>
              <a:t>: объединить указанную ветвь с текущей, которая извлечена в рабочий каталог.</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pull</a:t>
            </a:r>
            <a:r>
              <a:rPr lang="ru-RU" sz="1800" b="0" strike="noStrike" spc="-1" dirty="0">
                <a:solidFill>
                  <a:srgbClr val="244061"/>
                </a:solidFill>
                <a:latin typeface="Calibri"/>
              </a:rPr>
              <a:t>: обновить рабочую копию, объединив в неё зафиксированные изменения, которые существуют в удалённом репозитории, но не в рабочей копии.</a:t>
            </a:r>
            <a:endParaRPr lang="ru-RU" sz="1800" b="0" strike="noStrike" spc="-1" dirty="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C169B710-83F0-465C-87F3-5EDBAB3ABD14}" type="slidenum">
              <a:t>16</a:t>
            </a:fld>
            <a:endParaRPr/>
          </a:p>
        </p:txBody>
      </p:sp>
      <p:sp>
        <p:nvSpPr>
          <p:cNvPr id="133"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Git</a:t>
            </a:r>
            <a:r>
              <a:rPr lang="ru-RU" sz="4400" b="0" strike="noStrike" spc="-1">
                <a:solidFill>
                  <a:schemeClr val="accent6"/>
                </a:solidFill>
                <a:latin typeface="Calibri"/>
              </a:rPr>
              <a:t> основные команды</a:t>
            </a:r>
            <a:endParaRPr lang="ru-RU" sz="4400" b="0" strike="noStrike" spc="-1">
              <a:solidFill>
                <a:srgbClr val="244061"/>
              </a:solidFill>
              <a:latin typeface="Calibri"/>
            </a:endParaRPr>
          </a:p>
        </p:txBody>
      </p:sp>
      <p:sp>
        <p:nvSpPr>
          <p:cNvPr id="134"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35" name="TextBox 6"/>
          <p:cNvSpPr/>
          <p:nvPr/>
        </p:nvSpPr>
        <p:spPr>
          <a:xfrm>
            <a:off x="251640" y="1275480"/>
            <a:ext cx="8640720" cy="23068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push</a:t>
            </a:r>
            <a:r>
              <a:rPr lang="ru-RU" sz="1800" b="0" strike="noStrike" spc="-1" dirty="0">
                <a:solidFill>
                  <a:srgbClr val="244061"/>
                </a:solidFill>
                <a:latin typeface="Calibri"/>
              </a:rPr>
              <a:t>: упаковать свободные объекты для локальных </a:t>
            </a:r>
            <a:r>
              <a:rPr lang="ru-RU" sz="1800" b="0" strike="noStrike" spc="-1" dirty="0" err="1">
                <a:solidFill>
                  <a:srgbClr val="244061"/>
                </a:solidFill>
                <a:latin typeface="Calibri"/>
              </a:rPr>
              <a:t>коммитов</a:t>
            </a:r>
            <a:r>
              <a:rPr lang="ru-RU" sz="1800" b="0" strike="noStrike" spc="-1" dirty="0">
                <a:solidFill>
                  <a:srgbClr val="244061"/>
                </a:solidFill>
                <a:latin typeface="Calibri"/>
              </a:rPr>
              <a:t> активной ветви в файлы пакета и перенести в удалённый репозиторий.</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log</a:t>
            </a:r>
            <a:r>
              <a:rPr lang="ru-RU" sz="1800" b="0" strike="noStrike" spc="-1" dirty="0">
                <a:solidFill>
                  <a:srgbClr val="244061"/>
                </a:solidFill>
                <a:latin typeface="Calibri"/>
              </a:rPr>
              <a:t>: показать историю </a:t>
            </a:r>
            <a:r>
              <a:rPr lang="ru-RU" sz="1800" b="0" strike="noStrike" spc="-1" dirty="0" err="1">
                <a:solidFill>
                  <a:srgbClr val="244061"/>
                </a:solidFill>
                <a:latin typeface="Calibri"/>
              </a:rPr>
              <a:t>коммитов</a:t>
            </a:r>
            <a:r>
              <a:rPr lang="ru-RU" sz="1800" b="0" strike="noStrike" spc="-1" dirty="0">
                <a:solidFill>
                  <a:srgbClr val="244061"/>
                </a:solidFill>
                <a:latin typeface="Calibri"/>
              </a:rPr>
              <a:t> и соответствующие сообщения для активной ветви.</a:t>
            </a:r>
            <a:endParaRPr lang="ru-RU" sz="1800" b="0" strike="noStrike" spc="-1" dirty="0">
              <a:solidFill>
                <a:srgbClr val="000000"/>
              </a:solidFill>
              <a:latin typeface="Arial"/>
            </a:endParaRPr>
          </a:p>
          <a:p>
            <a:pPr algn="just">
              <a:lnSpc>
                <a:spcPct val="100000"/>
              </a:lnSpc>
            </a:pPr>
            <a:endParaRPr lang="ru-RU" sz="1800" b="0" strike="noStrike" spc="-1" dirty="0">
              <a:solidFill>
                <a:srgbClr val="000000"/>
              </a:solidFill>
              <a:latin typeface="Arial"/>
            </a:endParaRPr>
          </a:p>
          <a:p>
            <a:pPr algn="just">
              <a:lnSpc>
                <a:spcPct val="100000"/>
              </a:lnSpc>
            </a:pP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git</a:t>
            </a:r>
            <a:r>
              <a:rPr lang="ru-RU" sz="1800" b="0" i="1" strike="noStrike" spc="-1" dirty="0">
                <a:solidFill>
                  <a:schemeClr val="accent4">
                    <a:lumMod val="10000"/>
                  </a:schemeClr>
                </a:solidFill>
                <a:latin typeface="Courier New" panose="02070309020205020404" pitchFamily="49" charset="0"/>
                <a:cs typeface="Courier New" panose="02070309020205020404" pitchFamily="49" charset="0"/>
              </a:rPr>
              <a:t> </a:t>
            </a:r>
            <a:r>
              <a:rPr lang="ru-RU" sz="1800" b="0" i="1" strike="noStrike" spc="-1" dirty="0" err="1">
                <a:solidFill>
                  <a:schemeClr val="accent4">
                    <a:lumMod val="10000"/>
                  </a:schemeClr>
                </a:solidFill>
                <a:latin typeface="Courier New" panose="02070309020205020404" pitchFamily="49" charset="0"/>
                <a:cs typeface="Courier New" panose="02070309020205020404" pitchFamily="49" charset="0"/>
              </a:rPr>
              <a:t>stash</a:t>
            </a:r>
            <a:r>
              <a:rPr lang="ru-RU" sz="1800" b="0" strike="noStrike" spc="-1" dirty="0">
                <a:solidFill>
                  <a:srgbClr val="244061"/>
                </a:solidFill>
                <a:latin typeface="Calibri"/>
              </a:rPr>
              <a:t>: сохранить все незафиксированные изменения из рабочего каталога в кэш, чтобы извлечь их позже.</a:t>
            </a:r>
            <a:endParaRPr lang="ru-RU" sz="1800" b="0" strike="noStrike" spc="-1" dirty="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Ветвления</a:t>
            </a:r>
            <a:endParaRPr lang="ru-RU" sz="4400" b="0" strike="noStrike" spc="-1">
              <a:solidFill>
                <a:srgbClr val="244061"/>
              </a:solidFill>
              <a:latin typeface="Calibri"/>
            </a:endParaRPr>
          </a:p>
        </p:txBody>
      </p:sp>
      <p:sp>
        <p:nvSpPr>
          <p:cNvPr id="2" name="Content Placeholder 1">
            <a:extLst>
              <a:ext uri="{FF2B5EF4-FFF2-40B4-BE49-F238E27FC236}">
                <a16:creationId xmlns:a16="http://schemas.microsoft.com/office/drawing/2014/main" id="{A278E231-3B01-476D-9B2C-6018AE7D4905}"/>
              </a:ext>
            </a:extLst>
          </p:cNvPr>
          <p:cNvSpPr>
            <a:spLocks noGrp="1"/>
          </p:cNvSpPr>
          <p:nvPr>
            <p:ph sz="half" idx="1"/>
          </p:nvPr>
        </p:nvSpPr>
        <p:spPr>
          <a:xfrm>
            <a:off x="457200" y="1273800"/>
            <a:ext cx="5573212" cy="3443295"/>
          </a:xfrm>
        </p:spPr>
        <p:txBody>
          <a:bodyPr>
            <a:noAutofit/>
          </a:bodyPr>
          <a:lstStyle/>
          <a:p>
            <a:r>
              <a:rPr lang="ru-RU" sz="1600" dirty="0"/>
              <a:t>Ветка представляет собой независимую последовательность </a:t>
            </a:r>
            <a:r>
              <a:rPr lang="ru-RU" sz="1600" dirty="0" err="1"/>
              <a:t>коммитов</a:t>
            </a:r>
            <a:endParaRPr lang="ru-RU" sz="1600" dirty="0"/>
          </a:p>
          <a:p>
            <a:r>
              <a:rPr lang="ru-RU" sz="1600" dirty="0"/>
              <a:t>Для любого изменения в программном проекте надо сначала создать новую ветвь</a:t>
            </a:r>
          </a:p>
          <a:p>
            <a:r>
              <a:rPr lang="ru-RU" sz="1600" dirty="0"/>
              <a:t>Рекомендуемые ветки проекта:</a:t>
            </a:r>
          </a:p>
          <a:p>
            <a:pPr marL="625475" lvl="1" indent="-266700"/>
            <a:r>
              <a:rPr lang="ru-RU" sz="1600" b="1" i="1" dirty="0" err="1"/>
              <a:t>main</a:t>
            </a:r>
            <a:r>
              <a:rPr lang="ru-RU" sz="1600" b="1" i="1" dirty="0"/>
              <a:t> (или </a:t>
            </a:r>
            <a:r>
              <a:rPr lang="ru-RU" sz="1600" b="1" i="1" dirty="0" err="1"/>
              <a:t>master</a:t>
            </a:r>
            <a:r>
              <a:rPr lang="ru-RU" sz="1600" b="1" i="1" dirty="0"/>
              <a:t>)</a:t>
            </a:r>
            <a:r>
              <a:rPr lang="ru-RU" sz="1600" i="1" dirty="0"/>
              <a:t> </a:t>
            </a:r>
            <a:r>
              <a:rPr lang="ru-RU" sz="1600" dirty="0"/>
              <a:t>– это как главная ветка, обычно является веткой по умолчанию</a:t>
            </a:r>
          </a:p>
          <a:p>
            <a:pPr marL="625475" lvl="1" indent="-266700"/>
            <a:r>
              <a:rPr lang="ru-RU" sz="1600" b="1" i="1" dirty="0" err="1"/>
              <a:t>dev</a:t>
            </a:r>
            <a:r>
              <a:rPr lang="ru-RU" sz="1600" b="1" i="1" dirty="0"/>
              <a:t> </a:t>
            </a:r>
            <a:r>
              <a:rPr lang="ru-RU" sz="1600" dirty="0"/>
              <a:t>– экспериментальная ветка, где тестируются нововведения</a:t>
            </a:r>
          </a:p>
          <a:p>
            <a:pPr marL="625475" lvl="1" indent="-266700"/>
            <a:r>
              <a:rPr lang="ru-RU" sz="1600" b="1" i="1" dirty="0" err="1"/>
              <a:t>feature</a:t>
            </a:r>
            <a:r>
              <a:rPr lang="ru-RU" sz="1600" b="1" i="1" dirty="0"/>
              <a:t>/*</a:t>
            </a:r>
            <a:r>
              <a:rPr lang="ru-RU" sz="1600" dirty="0"/>
              <a:t> – боковые ветки для разработки новых фич</a:t>
            </a:r>
          </a:p>
          <a:p>
            <a:pPr marL="625475" lvl="1" indent="-266700"/>
            <a:r>
              <a:rPr lang="ru-RU" sz="1600" b="1" i="1" dirty="0" err="1"/>
              <a:t>hotfix</a:t>
            </a:r>
            <a:r>
              <a:rPr lang="ru-RU" sz="1600" b="1" i="1" dirty="0"/>
              <a:t>/*</a:t>
            </a:r>
            <a:r>
              <a:rPr lang="ru-RU" sz="1600" dirty="0"/>
              <a:t> – экстренная аварийная ветвь для срочных исправлений</a:t>
            </a:r>
          </a:p>
        </p:txBody>
      </p:sp>
      <p:sp>
        <p:nvSpPr>
          <p:cNvPr id="3" name="PlaceHolder 2"/>
          <p:cNvSpPr>
            <a:spLocks noGrp="1"/>
          </p:cNvSpPr>
          <p:nvPr>
            <p:ph type="sldNum" sz="quarter" idx="12"/>
          </p:nvPr>
        </p:nvSpPr>
        <p:spPr/>
        <p:txBody>
          <a:bodyPr/>
          <a:lstStyle/>
          <a:p>
            <a:fld id="{859E6CEE-113F-45DA-9153-11E51B1293F5}" type="slidenum">
              <a:t>17</a:t>
            </a:fld>
            <a:endParaRPr/>
          </a:p>
        </p:txBody>
      </p:sp>
      <p:pic>
        <p:nvPicPr>
          <p:cNvPr id="1026" name="Picture 2" descr="Соглашения о присвоении имен веткам Git: методические рекомендации">
            <a:extLst>
              <a:ext uri="{FF2B5EF4-FFF2-40B4-BE49-F238E27FC236}">
                <a16:creationId xmlns:a16="http://schemas.microsoft.com/office/drawing/2014/main" id="{BCB4EA9B-6029-49B2-912D-B441655217DD}"/>
              </a:ext>
            </a:extLst>
          </p:cNvPr>
          <p:cNvPicPr>
            <a:picLocks noGrp="1" noChangeAspect="1" noChangeArrowheads="1"/>
          </p:cNvPicPr>
          <p:nvPr>
            <p:ph sz="half" idx="2"/>
          </p:nvPr>
        </p:nvPicPr>
        <p:blipFill rotWithShape="1">
          <a:blip r:embed="rId3" cstate="print">
            <a:extLst>
              <a:ext uri="{28A0092B-C50C-407E-A947-70E740481C1C}">
                <a14:useLocalDpi xmlns:a14="http://schemas.microsoft.com/office/drawing/2010/main" val="0"/>
              </a:ext>
            </a:extLst>
          </a:blip>
          <a:srcRect l="1535" t="961" r="1370" b="1422"/>
          <a:stretch/>
        </p:blipFill>
        <p:spPr bwMode="auto">
          <a:xfrm>
            <a:off x="5935717" y="1954924"/>
            <a:ext cx="2963917" cy="2081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DFF47-B92C-43C4-B42B-B91856718022}"/>
              </a:ext>
            </a:extLst>
          </p:cNvPr>
          <p:cNvSpPr>
            <a:spLocks noGrp="1"/>
          </p:cNvSpPr>
          <p:nvPr>
            <p:ph type="title"/>
          </p:nvPr>
        </p:nvSpPr>
        <p:spPr/>
        <p:txBody>
          <a:bodyPr>
            <a:normAutofit fontScale="90000"/>
          </a:bodyPr>
          <a:lstStyle/>
          <a:p>
            <a:r>
              <a:rPr lang="ru-RU" dirty="0"/>
              <a:t>Основные этапы работы с ветками</a:t>
            </a:r>
          </a:p>
        </p:txBody>
      </p:sp>
      <p:sp>
        <p:nvSpPr>
          <p:cNvPr id="3" name="Content Placeholder 2">
            <a:extLst>
              <a:ext uri="{FF2B5EF4-FFF2-40B4-BE49-F238E27FC236}">
                <a16:creationId xmlns:a16="http://schemas.microsoft.com/office/drawing/2014/main" id="{CC81A4EA-D02B-4325-8EDA-0EEE1E5683F4}"/>
              </a:ext>
            </a:extLst>
          </p:cNvPr>
          <p:cNvSpPr>
            <a:spLocks noGrp="1"/>
          </p:cNvSpPr>
          <p:nvPr>
            <p:ph idx="1"/>
          </p:nvPr>
        </p:nvSpPr>
        <p:spPr>
          <a:xfrm>
            <a:off x="457200" y="1477566"/>
            <a:ext cx="8229600" cy="1804478"/>
          </a:xfrm>
        </p:spPr>
        <p:txBody>
          <a:bodyPr>
            <a:normAutofit fontScale="62500" lnSpcReduction="20000"/>
          </a:bodyPr>
          <a:lstStyle/>
          <a:p>
            <a:r>
              <a:rPr lang="ru-RU" dirty="0"/>
              <a:t>Создание новой ветки в репозитории. </a:t>
            </a:r>
          </a:p>
          <a:p>
            <a:r>
              <a:rPr lang="ru-RU" dirty="0"/>
              <a:t>Работа с файлами проекта, сохранение изменений и создание </a:t>
            </a:r>
            <a:r>
              <a:rPr lang="ru-RU" dirty="0" err="1"/>
              <a:t>коммитов</a:t>
            </a:r>
            <a:r>
              <a:rPr lang="ru-RU" dirty="0"/>
              <a:t> в созданной ветке.</a:t>
            </a:r>
          </a:p>
          <a:p>
            <a:r>
              <a:rPr lang="ru-RU" dirty="0"/>
              <a:t>Создание </a:t>
            </a:r>
            <a:r>
              <a:rPr lang="ru-RU" dirty="0" err="1"/>
              <a:t>пулл</a:t>
            </a:r>
            <a:r>
              <a:rPr lang="ru-RU" dirty="0"/>
              <a:t> </a:t>
            </a:r>
            <a:r>
              <a:rPr lang="ru-RU" dirty="0" err="1"/>
              <a:t>реквеста</a:t>
            </a:r>
            <a:r>
              <a:rPr lang="ru-RU" dirty="0"/>
              <a:t> (</a:t>
            </a:r>
            <a:r>
              <a:rPr lang="ru-RU" dirty="0" err="1"/>
              <a:t>Pull</a:t>
            </a:r>
            <a:r>
              <a:rPr lang="ru-RU" dirty="0"/>
              <a:t> </a:t>
            </a:r>
            <a:r>
              <a:rPr lang="ru-RU" dirty="0" err="1"/>
              <a:t>Request</a:t>
            </a:r>
            <a:r>
              <a:rPr lang="ru-RU" dirty="0"/>
              <a:t>)</a:t>
            </a:r>
          </a:p>
          <a:p>
            <a:r>
              <a:rPr lang="ru-RU" dirty="0" err="1"/>
              <a:t>Мердж</a:t>
            </a:r>
            <a:r>
              <a:rPr lang="ru-RU" dirty="0"/>
              <a:t> (</a:t>
            </a:r>
            <a:r>
              <a:rPr lang="ru-RU" dirty="0" err="1"/>
              <a:t>Merge</a:t>
            </a:r>
            <a:r>
              <a:rPr lang="ru-RU" dirty="0"/>
              <a:t>) веток — рабочую ветку вливают в родительскую. </a:t>
            </a:r>
          </a:p>
        </p:txBody>
      </p:sp>
      <p:pic>
        <p:nvPicPr>
          <p:cNvPr id="5" name="Picture 4">
            <a:extLst>
              <a:ext uri="{FF2B5EF4-FFF2-40B4-BE49-F238E27FC236}">
                <a16:creationId xmlns:a16="http://schemas.microsoft.com/office/drawing/2014/main" id="{9DC7813D-8690-4C1F-9F3A-16D1313DA7F9}"/>
              </a:ext>
            </a:extLst>
          </p:cNvPr>
          <p:cNvPicPr>
            <a:picLocks noChangeAspect="1"/>
          </p:cNvPicPr>
          <p:nvPr/>
        </p:nvPicPr>
        <p:blipFill>
          <a:blip r:embed="rId3"/>
          <a:stretch>
            <a:fillRect/>
          </a:stretch>
        </p:blipFill>
        <p:spPr>
          <a:xfrm>
            <a:off x="2176803" y="3267549"/>
            <a:ext cx="4790394" cy="1375897"/>
          </a:xfrm>
          <a:prstGeom prst="rect">
            <a:avLst/>
          </a:prstGeom>
        </p:spPr>
      </p:pic>
    </p:spTree>
    <p:extLst>
      <p:ext uri="{BB962C8B-B14F-4D97-AF65-F5344CB8AC3E}">
        <p14:creationId xmlns:p14="http://schemas.microsoft.com/office/powerpoint/2010/main" val="1594532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Слияние версий</a:t>
            </a:r>
            <a:endParaRPr lang="ru-RU" sz="4400" b="0" strike="noStrike" spc="-1" dirty="0">
              <a:solidFill>
                <a:srgbClr val="244061"/>
              </a:solidFill>
              <a:latin typeface="Calibri"/>
            </a:endParaRPr>
          </a:p>
        </p:txBody>
      </p:sp>
      <p:sp>
        <p:nvSpPr>
          <p:cNvPr id="2" name="Content Placeholder 1">
            <a:extLst>
              <a:ext uri="{FF2B5EF4-FFF2-40B4-BE49-F238E27FC236}">
                <a16:creationId xmlns:a16="http://schemas.microsoft.com/office/drawing/2014/main" id="{E75C33BE-8439-48D3-B431-2DC2B2C52524}"/>
              </a:ext>
            </a:extLst>
          </p:cNvPr>
          <p:cNvSpPr>
            <a:spLocks noGrp="1"/>
          </p:cNvSpPr>
          <p:nvPr>
            <p:ph idx="1"/>
          </p:nvPr>
        </p:nvSpPr>
        <p:spPr>
          <a:xfrm>
            <a:off x="457200" y="1428742"/>
            <a:ext cx="8229600" cy="1404134"/>
          </a:xfrm>
        </p:spPr>
        <p:txBody>
          <a:bodyPr>
            <a:normAutofit fontScale="62500" lnSpcReduction="20000"/>
          </a:bodyPr>
          <a:lstStyle/>
          <a:p>
            <a:pPr marL="0" indent="0">
              <a:buNone/>
            </a:pPr>
            <a:r>
              <a:rPr lang="ru-RU" dirty="0"/>
              <a:t>Три вида операций, выполняемых в системе управления версиями, могут приводить к необходимости объединения изменений:</a:t>
            </a:r>
          </a:p>
          <a:p>
            <a:r>
              <a:rPr lang="ru-RU" dirty="0"/>
              <a:t>Обновление рабочей копии (изменения, сделанные в основной версии, сливаются с локальными).</a:t>
            </a:r>
          </a:p>
        </p:txBody>
      </p:sp>
      <p:sp>
        <p:nvSpPr>
          <p:cNvPr id="3" name="PlaceHolder 2"/>
          <p:cNvSpPr>
            <a:spLocks noGrp="1"/>
          </p:cNvSpPr>
          <p:nvPr>
            <p:ph type="sldNum" sz="quarter" idx="12"/>
          </p:nvPr>
        </p:nvSpPr>
        <p:spPr/>
        <p:txBody>
          <a:bodyPr/>
          <a:lstStyle/>
          <a:p>
            <a:fld id="{82E40DE2-BAD9-4DD8-AA6E-BD8E8AB4DB19}" type="slidenum">
              <a:t>19</a:t>
            </a:fld>
            <a:endParaRPr/>
          </a:p>
        </p:txBody>
      </p:sp>
      <p:pic>
        <p:nvPicPr>
          <p:cNvPr id="7" name="Picture 6">
            <a:extLst>
              <a:ext uri="{FF2B5EF4-FFF2-40B4-BE49-F238E27FC236}">
                <a16:creationId xmlns:a16="http://schemas.microsoft.com/office/drawing/2014/main" id="{58591C6C-F23A-41B8-BAE9-E5C210804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6758" y="2571750"/>
            <a:ext cx="3389586" cy="1906642"/>
          </a:xfrm>
          <a:prstGeom prst="rect">
            <a:avLst/>
          </a:prstGeom>
          <a:ln>
            <a:noFill/>
          </a:ln>
          <a:effectLst>
            <a:softEdge rad="112500"/>
          </a:effectLst>
        </p:spPr>
      </p:pic>
      <p:sp>
        <p:nvSpPr>
          <p:cNvPr id="8" name="TextBox 7">
            <a:extLst>
              <a:ext uri="{FF2B5EF4-FFF2-40B4-BE49-F238E27FC236}">
                <a16:creationId xmlns:a16="http://schemas.microsoft.com/office/drawing/2014/main" id="{E5B0DB96-AA28-4D85-B66B-FA52347168F5}"/>
              </a:ext>
            </a:extLst>
          </p:cNvPr>
          <p:cNvSpPr txBox="1"/>
          <p:nvPr/>
        </p:nvSpPr>
        <p:spPr>
          <a:xfrm>
            <a:off x="457200" y="2498834"/>
            <a:ext cx="5139558" cy="1938992"/>
          </a:xfrm>
          <a:prstGeom prst="rect">
            <a:avLst/>
          </a:prstGeom>
          <a:noFill/>
        </p:spPr>
        <p:txBody>
          <a:bodyPr wrap="square" rtlCol="0">
            <a:spAutoFit/>
          </a:bodyPr>
          <a:lstStyle/>
          <a:p>
            <a:pPr marL="285750" indent="-285750">
              <a:buFont typeface="Arial" panose="020B0604020202020204" pitchFamily="34" charset="0"/>
              <a:buChar char="•"/>
            </a:pPr>
            <a:r>
              <a:rPr lang="ru-RU" sz="2000" dirty="0"/>
              <a:t>Фиксация изменений (локальные изменения сливаются с изменениями, уже зафиксированными в основной версии).</a:t>
            </a:r>
          </a:p>
          <a:p>
            <a:pPr marL="285750" indent="-285750">
              <a:buFont typeface="Arial" panose="020B0604020202020204" pitchFamily="34" charset="0"/>
              <a:buChar char="•"/>
            </a:pPr>
            <a:r>
              <a:rPr lang="ru-RU" sz="2000" dirty="0"/>
              <a:t>Слияние ветвей (изменения, сделанные в одной ветви разработки, сливаются с изменениями, сделанными в другой).</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Слияние версий</a:t>
            </a:r>
            <a:endParaRPr lang="ru-RU" sz="4400" b="0" strike="noStrike" spc="-1">
              <a:solidFill>
                <a:srgbClr val="244061"/>
              </a:solidFill>
              <a:latin typeface="Calibri"/>
            </a:endParaRPr>
          </a:p>
        </p:txBody>
      </p:sp>
      <p:sp>
        <p:nvSpPr>
          <p:cNvPr id="2" name="Content Placeholder 1">
            <a:extLst>
              <a:ext uri="{FF2B5EF4-FFF2-40B4-BE49-F238E27FC236}">
                <a16:creationId xmlns:a16="http://schemas.microsoft.com/office/drawing/2014/main" id="{BC99793B-648C-4CF0-BDF3-986F0224E9BE}"/>
              </a:ext>
            </a:extLst>
          </p:cNvPr>
          <p:cNvSpPr>
            <a:spLocks noGrp="1"/>
          </p:cNvSpPr>
          <p:nvPr>
            <p:ph idx="1"/>
          </p:nvPr>
        </p:nvSpPr>
        <p:spPr>
          <a:xfrm>
            <a:off x="457200" y="1428741"/>
            <a:ext cx="8229600" cy="3403390"/>
          </a:xfrm>
        </p:spPr>
        <p:txBody>
          <a:bodyPr>
            <a:normAutofit fontScale="55000" lnSpcReduction="20000"/>
          </a:bodyPr>
          <a:lstStyle/>
          <a:p>
            <a:pPr marL="285750" indent="-285750" algn="just"/>
            <a:r>
              <a:rPr lang="ru-RU" spc="-1" dirty="0">
                <a:solidFill>
                  <a:srgbClr val="244061"/>
                </a:solidFill>
              </a:rPr>
              <a:t>Если изменения были внесены только в оригинал или только в копию, то достаточно скопировать изменённую часть туда, где изменений не было. Обычно выполняется автоматически.</a:t>
            </a:r>
          </a:p>
          <a:p>
            <a:pPr marL="285750" indent="-285750" algn="just"/>
            <a:r>
              <a:rPr lang="ru-RU" spc="-1" dirty="0">
                <a:solidFill>
                  <a:srgbClr val="244061"/>
                </a:solidFill>
              </a:rPr>
              <a:t>В противном случае слияние изменений требуют вмешательства разработчика.</a:t>
            </a:r>
          </a:p>
          <a:p>
            <a:pPr marL="268288" indent="-268288" algn="just"/>
            <a:r>
              <a:rPr lang="ru-RU" spc="-1" dirty="0">
                <a:solidFill>
                  <a:srgbClr val="244061"/>
                </a:solidFill>
              </a:rPr>
              <a:t>Конфликтующими обычно являются:</a:t>
            </a:r>
            <a:endParaRPr lang="ru-RU" spc="-1" dirty="0">
              <a:solidFill>
                <a:srgbClr val="000000"/>
              </a:solidFill>
              <a:latin typeface="Arial"/>
            </a:endParaRPr>
          </a:p>
          <a:p>
            <a:pPr lvl="1" algn="just"/>
            <a:r>
              <a:rPr lang="ru-RU" spc="-1" dirty="0">
                <a:solidFill>
                  <a:srgbClr val="244061"/>
                </a:solidFill>
              </a:rPr>
              <a:t>Удаление и изменение одного и того же файла или каталога.</a:t>
            </a:r>
            <a:endParaRPr lang="ru-RU" spc="-1" dirty="0">
              <a:solidFill>
                <a:srgbClr val="000000"/>
              </a:solidFill>
              <a:latin typeface="Arial"/>
            </a:endParaRPr>
          </a:p>
          <a:p>
            <a:pPr lvl="1" algn="just"/>
            <a:r>
              <a:rPr lang="ru-RU" spc="-1" dirty="0">
                <a:solidFill>
                  <a:srgbClr val="244061"/>
                </a:solidFill>
              </a:rPr>
              <a:t>Удаление и переименование одного и того же файла или каталога.</a:t>
            </a:r>
          </a:p>
          <a:p>
            <a:pPr lvl="1" algn="just"/>
            <a:r>
              <a:rPr lang="ru-RU" spc="-1" dirty="0">
                <a:solidFill>
                  <a:srgbClr val="244061"/>
                </a:solidFill>
              </a:rPr>
              <a:t>Создание в разных версиях файла с одним и тем же именем и разным содержимым.</a:t>
            </a:r>
            <a:endParaRPr lang="ru-RU" spc="-1" dirty="0">
              <a:solidFill>
                <a:srgbClr val="000000"/>
              </a:solidFill>
              <a:latin typeface="Arial"/>
            </a:endParaRPr>
          </a:p>
          <a:p>
            <a:pPr lvl="1" algn="just"/>
            <a:r>
              <a:rPr lang="ru-RU" spc="-1" dirty="0">
                <a:solidFill>
                  <a:srgbClr val="244061"/>
                </a:solidFill>
              </a:rPr>
              <a:t>Изменения в пределах одного текстового файла, сделанные в разных версиях, могут быть объединены, если они находятся в разных местах этого файла и не пересекаются. В этом случае в объединённую версию вносятся все сделанные изменения.</a:t>
            </a:r>
            <a:endParaRPr lang="ru-RU" spc="-1" dirty="0">
              <a:solidFill>
                <a:srgbClr val="000000"/>
              </a:solidFill>
              <a:latin typeface="Arial"/>
            </a:endParaRPr>
          </a:p>
          <a:p>
            <a:pPr lvl="1" algn="just"/>
            <a:r>
              <a:rPr lang="ru-RU" spc="-1" dirty="0">
                <a:solidFill>
                  <a:srgbClr val="244061"/>
                </a:solidFill>
              </a:rPr>
              <a:t>Изменения в пределах одного файла, если он не является текстовым, всегда являются конфликтующими и не могут быть объединены автоматически.</a:t>
            </a:r>
            <a:endParaRPr lang="ru-RU" spc="-1" dirty="0">
              <a:solidFill>
                <a:srgbClr val="000000"/>
              </a:solidFill>
              <a:latin typeface="Arial"/>
            </a:endParaRPr>
          </a:p>
        </p:txBody>
      </p:sp>
      <p:sp>
        <p:nvSpPr>
          <p:cNvPr id="3" name="PlaceHolder 2"/>
          <p:cNvSpPr>
            <a:spLocks noGrp="1"/>
          </p:cNvSpPr>
          <p:nvPr>
            <p:ph type="sldNum" sz="quarter" idx="12"/>
          </p:nvPr>
        </p:nvSpPr>
        <p:spPr/>
        <p:txBody>
          <a:bodyPr/>
          <a:lstStyle/>
          <a:p>
            <a:fld id="{697743C5-DEE9-44BD-8750-E70A5B534062}" type="slidenum">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Конфликты</a:t>
            </a:r>
            <a:endParaRPr lang="ru-RU" sz="4400" b="0" strike="noStrike" spc="-1" dirty="0">
              <a:solidFill>
                <a:srgbClr val="244061"/>
              </a:solidFill>
              <a:latin typeface="Calibri"/>
            </a:endParaRPr>
          </a:p>
        </p:txBody>
      </p:sp>
      <p:sp>
        <p:nvSpPr>
          <p:cNvPr id="2" name="Content Placeholder 1">
            <a:extLst>
              <a:ext uri="{FF2B5EF4-FFF2-40B4-BE49-F238E27FC236}">
                <a16:creationId xmlns:a16="http://schemas.microsoft.com/office/drawing/2014/main" id="{A021C6AB-5790-4A40-8D63-29D40473B9C6}"/>
              </a:ext>
            </a:extLst>
          </p:cNvPr>
          <p:cNvSpPr>
            <a:spLocks noGrp="1"/>
          </p:cNvSpPr>
          <p:nvPr>
            <p:ph idx="1"/>
          </p:nvPr>
        </p:nvSpPr>
        <p:spPr>
          <a:xfrm>
            <a:off x="457200" y="1357304"/>
            <a:ext cx="4926724" cy="3214705"/>
          </a:xfrm>
        </p:spPr>
        <p:txBody>
          <a:bodyPr>
            <a:noAutofit/>
          </a:bodyPr>
          <a:lstStyle/>
          <a:p>
            <a:pPr marL="285750" indent="-285750" algn="just"/>
            <a:r>
              <a:rPr lang="ru-RU" sz="1600" spc="-1" dirty="0">
                <a:solidFill>
                  <a:srgbClr val="244061"/>
                </a:solidFill>
              </a:rPr>
              <a:t>Ситуацию, когда при слиянии нескольких версий сделанные в них изменения пересекаются между собой, называют </a:t>
            </a:r>
            <a:r>
              <a:rPr lang="ru-RU" sz="1600" b="1" spc="-1" dirty="0">
                <a:solidFill>
                  <a:srgbClr val="244061"/>
                </a:solidFill>
              </a:rPr>
              <a:t>конфликтом</a:t>
            </a:r>
            <a:r>
              <a:rPr lang="ru-RU" sz="1600" spc="-1" dirty="0">
                <a:solidFill>
                  <a:srgbClr val="244061"/>
                </a:solidFill>
              </a:rPr>
              <a:t>. </a:t>
            </a:r>
          </a:p>
          <a:p>
            <a:pPr marL="285750" indent="-285750" algn="just"/>
            <a:r>
              <a:rPr lang="ru-RU" sz="1600" spc="-1" dirty="0">
                <a:solidFill>
                  <a:srgbClr val="244061"/>
                </a:solidFill>
              </a:rPr>
              <a:t>При конфликте изменений система управления версиями не может автоматически создать объединённый проект и вынуждена обращаться к разработчику. </a:t>
            </a:r>
          </a:p>
          <a:p>
            <a:pPr marL="285750" indent="-285750" algn="just"/>
            <a:r>
              <a:rPr lang="ru-RU" sz="1600" spc="-1" dirty="0">
                <a:solidFill>
                  <a:srgbClr val="244061"/>
                </a:solidFill>
              </a:rPr>
              <a:t>Конфликты могут возникать на этапах фиксации изменений, обновления или слияния ветвей. </a:t>
            </a:r>
          </a:p>
          <a:p>
            <a:pPr marL="285750" indent="-285750" algn="just"/>
            <a:r>
              <a:rPr lang="ru-RU" sz="1600" spc="-1" dirty="0">
                <a:solidFill>
                  <a:srgbClr val="244061"/>
                </a:solidFill>
              </a:rPr>
              <a:t>Во всех случаях при обнаружении конфликта соответствующая операция прекращается до его разрешения.</a:t>
            </a:r>
            <a:endParaRPr lang="ru-RU" sz="1600" spc="-1" dirty="0">
              <a:solidFill>
                <a:srgbClr val="000000"/>
              </a:solidFill>
              <a:latin typeface="Arial"/>
            </a:endParaRPr>
          </a:p>
        </p:txBody>
      </p:sp>
      <p:sp>
        <p:nvSpPr>
          <p:cNvPr id="3" name="PlaceHolder 2"/>
          <p:cNvSpPr>
            <a:spLocks noGrp="1"/>
          </p:cNvSpPr>
          <p:nvPr>
            <p:ph type="sldNum" sz="quarter" idx="12"/>
          </p:nvPr>
        </p:nvSpPr>
        <p:spPr/>
        <p:txBody>
          <a:bodyPr/>
          <a:lstStyle/>
          <a:p>
            <a:fld id="{59F68B2B-76FC-48C3-B4D1-363F3070A4FF}" type="slidenum">
              <a:t>21</a:t>
            </a:fld>
            <a:endParaRPr/>
          </a:p>
        </p:txBody>
      </p:sp>
      <p:pic>
        <p:nvPicPr>
          <p:cNvPr id="4" name="Picture 3">
            <a:extLst>
              <a:ext uri="{FF2B5EF4-FFF2-40B4-BE49-F238E27FC236}">
                <a16:creationId xmlns:a16="http://schemas.microsoft.com/office/drawing/2014/main" id="{46F77E67-214C-472A-BB38-D89A2A02C7AE}"/>
              </a:ext>
            </a:extLst>
          </p:cNvPr>
          <p:cNvPicPr>
            <a:picLocks noChangeAspect="1"/>
          </p:cNvPicPr>
          <p:nvPr/>
        </p:nvPicPr>
        <p:blipFill>
          <a:blip r:embed="rId3"/>
          <a:stretch>
            <a:fillRect/>
          </a:stretch>
        </p:blipFill>
        <p:spPr>
          <a:xfrm>
            <a:off x="5510041" y="1480203"/>
            <a:ext cx="3405355" cy="1915512"/>
          </a:xfrm>
          <a:prstGeom prst="rect">
            <a:avLst/>
          </a:prstGeom>
          <a:ln>
            <a:noFill/>
          </a:ln>
          <a:effectLst>
            <a:softEdge rad="112500"/>
          </a:effectLst>
        </p:spPr>
      </p:pic>
      <p:pic>
        <p:nvPicPr>
          <p:cNvPr id="5" name="Picture 4">
            <a:extLst>
              <a:ext uri="{FF2B5EF4-FFF2-40B4-BE49-F238E27FC236}">
                <a16:creationId xmlns:a16="http://schemas.microsoft.com/office/drawing/2014/main" id="{3F1745E1-04BC-4BF1-91EE-D91AD2E0E4AB}"/>
              </a:ext>
            </a:extLst>
          </p:cNvPr>
          <p:cNvPicPr>
            <a:picLocks noChangeAspect="1"/>
          </p:cNvPicPr>
          <p:nvPr/>
        </p:nvPicPr>
        <p:blipFill>
          <a:blip r:embed="rId4"/>
          <a:stretch>
            <a:fillRect/>
          </a:stretch>
        </p:blipFill>
        <p:spPr>
          <a:xfrm>
            <a:off x="5510042" y="3518614"/>
            <a:ext cx="3405355" cy="899227"/>
          </a:xfrm>
          <a:prstGeom prst="rect">
            <a:avLst/>
          </a:prstGeom>
          <a:ln>
            <a:noFill/>
          </a:ln>
          <a:effectLst>
            <a:softEdge rad="11250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2"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Блокировки</a:t>
            </a:r>
            <a:endParaRPr lang="ru-RU" sz="4400" b="0" strike="noStrike" spc="-1" dirty="0">
              <a:solidFill>
                <a:srgbClr val="244061"/>
              </a:solidFill>
              <a:latin typeface="Calibri"/>
            </a:endParaRPr>
          </a:p>
        </p:txBody>
      </p:sp>
      <p:sp>
        <p:nvSpPr>
          <p:cNvPr id="2" name="Content Placeholder 1">
            <a:extLst>
              <a:ext uri="{FF2B5EF4-FFF2-40B4-BE49-F238E27FC236}">
                <a16:creationId xmlns:a16="http://schemas.microsoft.com/office/drawing/2014/main" id="{6BDA42A5-E22A-4B24-8372-58DCF41057CD}"/>
              </a:ext>
            </a:extLst>
          </p:cNvPr>
          <p:cNvSpPr>
            <a:spLocks noGrp="1"/>
          </p:cNvSpPr>
          <p:nvPr>
            <p:ph idx="1"/>
          </p:nvPr>
        </p:nvSpPr>
        <p:spPr/>
        <p:txBody>
          <a:bodyPr>
            <a:normAutofit fontScale="40000" lnSpcReduction="20000"/>
          </a:bodyPr>
          <a:lstStyle/>
          <a:p>
            <a:pPr marL="285750" indent="-285750" algn="just"/>
            <a:r>
              <a:rPr lang="ru-RU" spc="-1" dirty="0">
                <a:solidFill>
                  <a:srgbClr val="244061"/>
                </a:solidFill>
              </a:rPr>
              <a:t>Механизм блокировки позволяет одному из разработчиков захватить в монопольное использование файл или группу файлов для внесения в них изменений. </a:t>
            </a:r>
            <a:endParaRPr lang="en-US" spc="-1" dirty="0">
              <a:solidFill>
                <a:srgbClr val="244061"/>
              </a:solidFill>
            </a:endParaRPr>
          </a:p>
          <a:p>
            <a:pPr marL="285750" indent="-285750" algn="just"/>
            <a:r>
              <a:rPr lang="ru-RU" spc="-1" dirty="0">
                <a:solidFill>
                  <a:srgbClr val="244061"/>
                </a:solidFill>
              </a:rPr>
              <a:t>На то время, пока файл заблокирован, он остаётся доступным всем остальным разработчикам только на чтение, и любая попытка внести в него изменения отвергается сервером. </a:t>
            </a:r>
            <a:endParaRPr lang="ru-RU" spc="-1" dirty="0">
              <a:solidFill>
                <a:srgbClr val="000000"/>
              </a:solidFill>
              <a:latin typeface="Arial"/>
            </a:endParaRPr>
          </a:p>
          <a:p>
            <a:pPr marL="285750" indent="-285750" algn="just"/>
            <a:r>
              <a:rPr lang="ru-RU" spc="-1" dirty="0">
                <a:solidFill>
                  <a:srgbClr val="244061"/>
                </a:solidFill>
              </a:rPr>
              <a:t>Файлы, для работы с которыми требуется блокировка, помечаются специальным флагом «блокируемый». </a:t>
            </a:r>
            <a:endParaRPr lang="en-US" spc="-1" dirty="0">
              <a:solidFill>
                <a:srgbClr val="244061"/>
              </a:solidFill>
            </a:endParaRPr>
          </a:p>
          <a:p>
            <a:pPr marL="285750" indent="-285750" algn="just"/>
            <a:r>
              <a:rPr lang="ru-RU" spc="-1" dirty="0">
                <a:solidFill>
                  <a:srgbClr val="244061"/>
                </a:solidFill>
              </a:rPr>
              <a:t>Разработчик, желающий изменить файл, вызывает специальную команду блокировки (</a:t>
            </a:r>
            <a:r>
              <a:rPr lang="ru-RU" spc="-1" dirty="0" err="1">
                <a:solidFill>
                  <a:srgbClr val="244061"/>
                </a:solidFill>
              </a:rPr>
              <a:t>lock</a:t>
            </a:r>
            <a:r>
              <a:rPr lang="ru-RU" spc="-1" dirty="0">
                <a:solidFill>
                  <a:srgbClr val="244061"/>
                </a:solidFill>
              </a:rPr>
              <a:t>) с указанием имени этого файла</a:t>
            </a:r>
            <a:endParaRPr lang="en-US" spc="-1" dirty="0">
              <a:solidFill>
                <a:srgbClr val="244061"/>
              </a:solidFill>
            </a:endParaRPr>
          </a:p>
          <a:p>
            <a:pPr marL="285750" indent="-285750" algn="just"/>
            <a:r>
              <a:rPr lang="ru-RU" spc="-1" dirty="0">
                <a:solidFill>
                  <a:srgbClr val="244061"/>
                </a:solidFill>
              </a:rPr>
              <a:t>Разработчик работает с заблокированным файлом. Если в процессе работы выясняется, что файл изменять не нужно, он может вызвать команду снятия блокировки (</a:t>
            </a:r>
            <a:r>
              <a:rPr lang="ru-RU" spc="-1" dirty="0" err="1">
                <a:solidFill>
                  <a:srgbClr val="244061"/>
                </a:solidFill>
              </a:rPr>
              <a:t>unlock</a:t>
            </a:r>
            <a:r>
              <a:rPr lang="ru-RU" spc="-1" dirty="0">
                <a:solidFill>
                  <a:srgbClr val="244061"/>
                </a:solidFill>
              </a:rPr>
              <a:t>, </a:t>
            </a:r>
            <a:r>
              <a:rPr lang="ru-RU" spc="-1" dirty="0" err="1">
                <a:solidFill>
                  <a:srgbClr val="244061"/>
                </a:solidFill>
              </a:rPr>
              <a:t>release</a:t>
            </a:r>
            <a:r>
              <a:rPr lang="ru-RU" spc="-1" dirty="0">
                <a:solidFill>
                  <a:srgbClr val="244061"/>
                </a:solidFill>
              </a:rPr>
              <a:t> </a:t>
            </a:r>
            <a:r>
              <a:rPr lang="ru-RU" spc="-1" dirty="0" err="1">
                <a:solidFill>
                  <a:srgbClr val="244061"/>
                </a:solidFill>
              </a:rPr>
              <a:t>lock</a:t>
            </a:r>
            <a:r>
              <a:rPr lang="ru-RU" spc="-1" dirty="0">
                <a:solidFill>
                  <a:srgbClr val="244061"/>
                </a:solidFill>
              </a:rPr>
              <a:t>). Все изменения файла будут отменены, локальный файл вернётся в состояние «только для чтения», с файла на сервере будет снят атрибут «заблокирован» и другие разработчики получат возможность изменять этот файл.</a:t>
            </a:r>
            <a:endParaRPr lang="en-US" spc="-1" dirty="0">
              <a:solidFill>
                <a:srgbClr val="244061"/>
              </a:solidFill>
            </a:endParaRPr>
          </a:p>
          <a:p>
            <a:pPr marL="285750" indent="-285750" algn="just"/>
            <a:r>
              <a:rPr lang="ru-RU" spc="-1" dirty="0">
                <a:solidFill>
                  <a:srgbClr val="244061"/>
                </a:solidFill>
              </a:rPr>
              <a:t>По завершении работы с блокируемым файлом разработчик фиксирует изменения. Обычно блокировка при этом снимается автоматически, хотя в некоторых системах блокировку требуется снимать вручную после фиксации, либо указывать в команде фиксации изменений соответствующий параметр.</a:t>
            </a:r>
            <a:endParaRPr lang="ru-RU" spc="-1" dirty="0">
              <a:solidFill>
                <a:srgbClr val="000000"/>
              </a:solidFill>
              <a:latin typeface="Arial"/>
            </a:endParaRPr>
          </a:p>
        </p:txBody>
      </p:sp>
      <p:sp>
        <p:nvSpPr>
          <p:cNvPr id="3" name="PlaceHolder 2"/>
          <p:cNvSpPr>
            <a:spLocks noGrp="1"/>
          </p:cNvSpPr>
          <p:nvPr>
            <p:ph type="sldNum" sz="quarter" idx="12"/>
          </p:nvPr>
        </p:nvSpPr>
        <p:spPr/>
        <p:txBody>
          <a:bodyPr/>
          <a:lstStyle/>
          <a:p>
            <a:fld id="{3FC8F0D7-25F3-4824-8741-A2A7C7817643}" type="slidenum">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EAA22739-6926-416C-8A8C-0AA808D9F5D4}" type="slidenum">
              <a:t>23</a:t>
            </a:fld>
            <a:endParaRPr/>
          </a:p>
        </p:txBody>
      </p:sp>
      <p:sp>
        <p:nvSpPr>
          <p:cNvPr id="194"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Блокировки</a:t>
            </a:r>
            <a:endParaRPr lang="ru-RU" sz="4400" b="0" strike="noStrike" spc="-1">
              <a:solidFill>
                <a:srgbClr val="244061"/>
              </a:solidFill>
              <a:latin typeface="Calibri"/>
            </a:endParaRPr>
          </a:p>
        </p:txBody>
      </p:sp>
      <p:sp>
        <p:nvSpPr>
          <p:cNvPr id="195"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96" name="TextBox 6"/>
          <p:cNvSpPr/>
          <p:nvPr/>
        </p:nvSpPr>
        <p:spPr>
          <a:xfrm>
            <a:off x="251640" y="1275480"/>
            <a:ext cx="864072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strike="noStrike" spc="-1">
                <a:solidFill>
                  <a:srgbClr val="244061"/>
                </a:solidFill>
                <a:latin typeface="Calibri"/>
              </a:rPr>
              <a:t>Недостатки использования блокировок очевидны:</a:t>
            </a:r>
            <a:endParaRPr lang="ru-RU" sz="1800" b="0" strike="noStrike" spc="-1">
              <a:solidFill>
                <a:srgbClr val="000000"/>
              </a:solidFill>
              <a:latin typeface="Arial"/>
            </a:endParaRPr>
          </a:p>
          <a:p>
            <a:pPr algn="just">
              <a:lnSpc>
                <a:spcPct val="100000"/>
              </a:lnSpc>
            </a:pPr>
            <a:endParaRPr lang="ru-RU" sz="1800" b="0" strike="noStrike" spc="-1">
              <a:solidFill>
                <a:srgbClr val="000000"/>
              </a:solidFill>
              <a:latin typeface="Arial"/>
            </a:endParaRPr>
          </a:p>
          <a:p>
            <a:pPr marL="285840" indent="-285840" algn="just">
              <a:lnSpc>
                <a:spcPct val="100000"/>
              </a:lnSpc>
              <a:buClr>
                <a:srgbClr val="244061"/>
              </a:buClr>
              <a:buFont typeface="OpenSymbol"/>
              <a:buChar char="-"/>
            </a:pPr>
            <a:r>
              <a:rPr lang="ru-RU" sz="1800" b="0" strike="noStrike" spc="-1">
                <a:solidFill>
                  <a:srgbClr val="244061"/>
                </a:solidFill>
                <a:latin typeface="Calibri"/>
              </a:rPr>
              <a:t>Блокировки просто мешают продуктивной работе, поскольку вынуждают ожидать освобождения блокированных файлов, хотя в большинстве случаев даже совместные изменения одних и тех же файлов, которые делаются в ходе разных по смыслу работ, не пересекаются и объединяются при слиянии автоматически.</a:t>
            </a:r>
            <a:endParaRPr lang="ru-RU" sz="1800" b="0" strike="noStrike" spc="-1">
              <a:solidFill>
                <a:srgbClr val="000000"/>
              </a:solidFill>
              <a:latin typeface="Arial"/>
            </a:endParaRPr>
          </a:p>
          <a:p>
            <a:pPr marL="285840" indent="-285840" algn="just">
              <a:lnSpc>
                <a:spcPct val="100000"/>
              </a:lnSpc>
              <a:buClr>
                <a:srgbClr val="244061"/>
              </a:buClr>
              <a:buFont typeface="OpenSymbol"/>
              <a:buChar char="-"/>
            </a:pPr>
            <a:r>
              <a:rPr lang="ru-RU" sz="1800" b="0" strike="noStrike" spc="-1">
                <a:solidFill>
                  <a:srgbClr val="244061"/>
                </a:solidFill>
                <a:latin typeface="Calibri"/>
              </a:rPr>
              <a:t>Частота возникновения конфликтов и сложность их разрешения в большинстве случаев не настолько велики, чтобы создать серьёзные затруднения. Возникновение же серьёзного конфликта изменений чаще всего сигнализирует либо о существенном расхождении во мнениях разных разработчиков относительно дизайна одного и того же фрагмента, либо о неправильной организации работы (когда два или более разработчиков делают одно и то же).</a:t>
            </a:r>
            <a:endParaRPr lang="ru-RU" sz="1800" b="0" strike="noStrike" spc="-1">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94DCBC69-B019-4E78-A2CB-4716F4FFABF6}" type="slidenum">
              <a:t>24</a:t>
            </a:fld>
            <a:endParaRPr/>
          </a:p>
        </p:txBody>
      </p:sp>
      <p:sp>
        <p:nvSpPr>
          <p:cNvPr id="197"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Блокировки</a:t>
            </a:r>
            <a:endParaRPr lang="ru-RU" sz="4400" b="0" strike="noStrike" spc="-1">
              <a:solidFill>
                <a:srgbClr val="244061"/>
              </a:solidFill>
              <a:latin typeface="Calibri"/>
            </a:endParaRPr>
          </a:p>
        </p:txBody>
      </p:sp>
      <p:sp>
        <p:nvSpPr>
          <p:cNvPr id="198" name="TextBox 5"/>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99" name="TextBox 6"/>
          <p:cNvSpPr/>
          <p:nvPr/>
        </p:nvSpPr>
        <p:spPr>
          <a:xfrm>
            <a:off x="251640" y="1275480"/>
            <a:ext cx="8640720" cy="310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strike="noStrike" spc="-1">
                <a:solidFill>
                  <a:srgbClr val="244061"/>
                </a:solidFill>
                <a:latin typeface="Calibri"/>
              </a:rPr>
              <a:t>Блокировки создают административные проблемы. Типичный пример: разработчик может забыть снять блокировку с занятых им файлов, уходя в отпуск. Для разрешения подобных проблем приходится применять административные меры, в том числе включать в систему технические средства для сброса неверных блокировок, но и при их наличии на приведение системы в порядок расходуется время.</a:t>
            </a:r>
            <a:endParaRPr lang="ru-RU" sz="1800" b="0" strike="noStrike" spc="-1">
              <a:solidFill>
                <a:srgbClr val="000000"/>
              </a:solidFill>
              <a:latin typeface="Arial"/>
            </a:endParaRPr>
          </a:p>
          <a:p>
            <a:pPr algn="just">
              <a:lnSpc>
                <a:spcPct val="100000"/>
              </a:lnSpc>
            </a:pPr>
            <a:r>
              <a:rPr lang="ru-RU" sz="1800" b="0" strike="noStrike" spc="-1">
                <a:solidFill>
                  <a:srgbClr val="244061"/>
                </a:solidFill>
                <a:latin typeface="Calibri"/>
              </a:rPr>
              <a:t>С другой стороны, в некоторых случаях использование блокировок вполне оправданно. Очевидным примером является организация работы с бинарными файлами, для которых нет инструментальных средств слияния изменений либо такое слияние принципиально невозможно (как, например, для файлов изображений). Если автоматическое слияние невозможно, то при обычном порядке работы любое параллельное изменение подобных файлов будет приводить к конфликту. </a:t>
            </a:r>
            <a:endParaRPr lang="ru-RU" sz="1800" b="0" strike="noStrike" spc="-1">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a:solidFill>
                  <a:schemeClr val="accent6"/>
                </a:solidFill>
                <a:latin typeface="Calibri"/>
              </a:rPr>
              <a:t>Версии проекта, теги</a:t>
            </a:r>
            <a:endParaRPr lang="ru-RU" sz="4400" b="0" strike="noStrike" spc="-1">
              <a:solidFill>
                <a:srgbClr val="244061"/>
              </a:solidFill>
              <a:latin typeface="Calibri"/>
            </a:endParaRPr>
          </a:p>
        </p:txBody>
      </p:sp>
      <p:sp>
        <p:nvSpPr>
          <p:cNvPr id="2" name="Content Placeholder 1">
            <a:extLst>
              <a:ext uri="{FF2B5EF4-FFF2-40B4-BE49-F238E27FC236}">
                <a16:creationId xmlns:a16="http://schemas.microsoft.com/office/drawing/2014/main" id="{DC46F141-EFD9-4502-BE2B-72D5FD7F8420}"/>
              </a:ext>
            </a:extLst>
          </p:cNvPr>
          <p:cNvSpPr>
            <a:spLocks noGrp="1"/>
          </p:cNvSpPr>
          <p:nvPr>
            <p:ph idx="1"/>
          </p:nvPr>
        </p:nvSpPr>
        <p:spPr>
          <a:xfrm>
            <a:off x="457200" y="1428741"/>
            <a:ext cx="8229600" cy="2173680"/>
          </a:xfrm>
        </p:spPr>
        <p:txBody>
          <a:bodyPr>
            <a:normAutofit/>
          </a:bodyPr>
          <a:lstStyle/>
          <a:p>
            <a:pPr algn="just">
              <a:lnSpc>
                <a:spcPct val="100000"/>
              </a:lnSpc>
            </a:pPr>
            <a:r>
              <a:rPr lang="ru-RU" sz="1600" spc="-1" dirty="0">
                <a:solidFill>
                  <a:srgbClr val="244061"/>
                </a:solidFill>
              </a:rPr>
              <a:t>Тег (</a:t>
            </a:r>
            <a:r>
              <a:rPr lang="ru-RU" sz="1600" spc="-1" dirty="0" err="1">
                <a:solidFill>
                  <a:srgbClr val="244061"/>
                </a:solidFill>
              </a:rPr>
              <a:t>tag</a:t>
            </a:r>
            <a:r>
              <a:rPr lang="ru-RU" sz="1600" spc="-1" dirty="0">
                <a:solidFill>
                  <a:srgbClr val="244061"/>
                </a:solidFill>
              </a:rPr>
              <a:t>) — это символическая метка, которая может быть связана с определённой версией файла и/или каталога в репозитории. </a:t>
            </a:r>
          </a:p>
          <a:p>
            <a:pPr algn="just">
              <a:lnSpc>
                <a:spcPct val="100000"/>
              </a:lnSpc>
            </a:pPr>
            <a:r>
              <a:rPr lang="ru-RU" sz="1600" spc="-1" dirty="0">
                <a:solidFill>
                  <a:srgbClr val="244061"/>
                </a:solidFill>
              </a:rPr>
              <a:t>С помощью соответствующей команды всем или части файлов проекта, отвечающим определённым условиям (например, входящим в головную версию главной ветви проекта на определённый момент времени) может быть присвоена заданная метка. </a:t>
            </a:r>
          </a:p>
          <a:p>
            <a:pPr algn="just">
              <a:lnSpc>
                <a:spcPct val="100000"/>
              </a:lnSpc>
            </a:pPr>
            <a:r>
              <a:rPr lang="ru-RU" sz="1600" spc="-1" dirty="0">
                <a:solidFill>
                  <a:srgbClr val="244061"/>
                </a:solidFill>
              </a:rPr>
              <a:t>Система тегов достаточно гибкая и позволяет пометить одним тегом и не одновременные версии файлов и каталогов. Это позволяет собрать «версию проекта» любым произвольным образом. </a:t>
            </a:r>
            <a:endParaRPr lang="ru-RU" sz="1600" spc="-1" dirty="0">
              <a:solidFill>
                <a:srgbClr val="000000"/>
              </a:solidFill>
              <a:latin typeface="Arial"/>
            </a:endParaRPr>
          </a:p>
        </p:txBody>
      </p:sp>
      <p:sp>
        <p:nvSpPr>
          <p:cNvPr id="3" name="PlaceHolder 2"/>
          <p:cNvSpPr>
            <a:spLocks noGrp="1"/>
          </p:cNvSpPr>
          <p:nvPr>
            <p:ph type="sldNum" sz="quarter" idx="12"/>
          </p:nvPr>
        </p:nvSpPr>
        <p:spPr/>
        <p:txBody>
          <a:bodyPr/>
          <a:lstStyle/>
          <a:p>
            <a:fld id="{9E33A87A-4ACB-4545-909E-273F7A004A93}" type="slidenum">
              <a:t>25</a:t>
            </a:fld>
            <a:endParaRPr/>
          </a:p>
        </p:txBody>
      </p:sp>
      <p:pic>
        <p:nvPicPr>
          <p:cNvPr id="5" name="Picture 4">
            <a:extLst>
              <a:ext uri="{FF2B5EF4-FFF2-40B4-BE49-F238E27FC236}">
                <a16:creationId xmlns:a16="http://schemas.microsoft.com/office/drawing/2014/main" id="{F5C0DAC9-DC9E-4CE4-A6BC-6D23F6029338}"/>
              </a:ext>
            </a:extLst>
          </p:cNvPr>
          <p:cNvPicPr>
            <a:picLocks noChangeAspect="1"/>
          </p:cNvPicPr>
          <p:nvPr/>
        </p:nvPicPr>
        <p:blipFill>
          <a:blip r:embed="rId3"/>
          <a:stretch>
            <a:fillRect/>
          </a:stretch>
        </p:blipFill>
        <p:spPr>
          <a:xfrm>
            <a:off x="2907260" y="3413234"/>
            <a:ext cx="3329480" cy="1285391"/>
          </a:xfrm>
          <a:prstGeom prst="rect">
            <a:avLst/>
          </a:prstGeom>
          <a:ln>
            <a:noFill/>
          </a:ln>
          <a:effectLst>
            <a:softEdge rad="112500"/>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2"/>
          <p:cNvSpPr>
            <a:spLocks noGrp="1"/>
          </p:cNvSpPr>
          <p:nvPr>
            <p:ph type="sldNum" sz="quarter" idx="12"/>
          </p:nvPr>
        </p:nvSpPr>
        <p:spPr/>
        <p:txBody>
          <a:bodyPr/>
          <a:lstStyle/>
          <a:p>
            <a:fld id="{30393D1A-8EA3-4C7A-A2D3-6C1741E65A81}" type="slidenum">
              <a:t>26</a:t>
            </a:fld>
            <a:endParaRPr/>
          </a:p>
        </p:txBody>
      </p:sp>
      <p:sp>
        <p:nvSpPr>
          <p:cNvPr id="136" name="PlaceHolder 1"/>
          <p:cNvSpPr>
            <a:spLocks noGrp="1"/>
          </p:cNvSpPr>
          <p:nvPr>
            <p:ph type="title" idx="4294967295"/>
          </p:nvPr>
        </p:nvSpPr>
        <p:spPr>
          <a:xfrm>
            <a:off x="0" y="500063"/>
            <a:ext cx="8229600" cy="857250"/>
          </a:xfrm>
          <a:prstGeom prst="rect">
            <a:avLst/>
          </a:prstGeom>
          <a:noFill/>
          <a:ln w="0">
            <a:noFill/>
          </a:ln>
        </p:spPr>
        <p:txBody>
          <a:bodyPr anchor="ctr">
            <a:noAutofit/>
          </a:bodyPr>
          <a:lstStyle/>
          <a:p>
            <a:pPr indent="0" algn="ctr">
              <a:lnSpc>
                <a:spcPct val="100000"/>
              </a:lnSpc>
              <a:buNone/>
            </a:pPr>
            <a:r>
              <a:rPr lang="en-US" sz="4400" b="0" strike="noStrike" spc="-1">
                <a:solidFill>
                  <a:schemeClr val="accent6"/>
                </a:solidFill>
                <a:latin typeface="Calibri"/>
              </a:rPr>
              <a:t>.git</a:t>
            </a:r>
            <a:r>
              <a:rPr lang="ru-RU" sz="4400" b="0" strike="noStrike" spc="-1">
                <a:solidFill>
                  <a:schemeClr val="accent6"/>
                </a:solidFill>
                <a:latin typeface="Calibri"/>
              </a:rPr>
              <a:t>ignore</a:t>
            </a:r>
            <a:endParaRPr lang="ru-RU" sz="4400" b="0" strike="noStrike" spc="-1">
              <a:solidFill>
                <a:srgbClr val="244061"/>
              </a:solidFill>
              <a:latin typeface="Calibri"/>
            </a:endParaRPr>
          </a:p>
        </p:txBody>
      </p:sp>
      <p:sp>
        <p:nvSpPr>
          <p:cNvPr id="137" name="TextBox 1"/>
          <p:cNvSpPr/>
          <p:nvPr/>
        </p:nvSpPr>
        <p:spPr>
          <a:xfrm>
            <a:off x="642960" y="1643040"/>
            <a:ext cx="2356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ru-RU" sz="1800" b="1" strike="noStrike" spc="-1">
                <a:solidFill>
                  <a:srgbClr val="FFFFFF"/>
                </a:solidFill>
                <a:latin typeface="Calibri"/>
              </a:rPr>
              <a:t>Заголовок 1</a:t>
            </a:r>
            <a:endParaRPr lang="ru-RU" sz="1800" b="0" strike="noStrike" spc="-1">
              <a:solidFill>
                <a:srgbClr val="000000"/>
              </a:solidFill>
              <a:latin typeface="Arial"/>
            </a:endParaRPr>
          </a:p>
        </p:txBody>
      </p:sp>
      <p:sp>
        <p:nvSpPr>
          <p:cNvPr id="138" name="TextBox 2"/>
          <p:cNvSpPr/>
          <p:nvPr/>
        </p:nvSpPr>
        <p:spPr>
          <a:xfrm>
            <a:off x="251640" y="1275480"/>
            <a:ext cx="8640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ru-RU" sz="1800" b="0" strike="noStrike" spc="-1">
                <a:solidFill>
                  <a:srgbClr val="244061"/>
                </a:solidFill>
                <a:latin typeface="Calibri"/>
              </a:rPr>
              <a:t>Для того, чтобы GIT игнорировал какие-либо файлы и не добавлял их в коммиты и, следовательно, на удаленный репозиторий, необходимо добавить в корневой каталог проекта файл .gitignore.</a:t>
            </a:r>
            <a:endParaRPr lang="ru-RU" sz="1800" b="0" strike="noStrike" spc="-1">
              <a:solidFill>
                <a:srgbClr val="000000"/>
              </a:solidFill>
              <a:latin typeface="Arial"/>
            </a:endParaRPr>
          </a:p>
        </p:txBody>
      </p:sp>
      <p:pic>
        <p:nvPicPr>
          <p:cNvPr id="139" name="Picture 138"/>
          <p:cNvPicPr/>
          <p:nvPr/>
        </p:nvPicPr>
        <p:blipFill>
          <a:blip r:embed="rId3"/>
          <a:stretch/>
        </p:blipFill>
        <p:spPr>
          <a:xfrm>
            <a:off x="2454480" y="2160000"/>
            <a:ext cx="4025520" cy="247968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prstGeom prst="rect">
            <a:avLst/>
          </a:prstGeom>
          <a:noFill/>
          <a:ln w="0">
            <a:noFill/>
          </a:ln>
        </p:spPr>
        <p:txBody>
          <a:bodyPr anchor="ctr">
            <a:noAutofit/>
          </a:bodyPr>
          <a:lstStyle/>
          <a:p>
            <a:pPr indent="0" algn="ctr">
              <a:lnSpc>
                <a:spcPct val="100000"/>
              </a:lnSpc>
              <a:buNone/>
            </a:pPr>
            <a:r>
              <a:rPr lang="ru-RU" sz="4400" b="0" strike="noStrike" spc="-1" dirty="0">
                <a:solidFill>
                  <a:schemeClr val="accent6"/>
                </a:solidFill>
                <a:latin typeface="Calibri"/>
              </a:rPr>
              <a:t>Базовые принципы разработки</a:t>
            </a:r>
            <a:endParaRPr lang="ru-RU" sz="4400" b="0" strike="noStrike" spc="-1" dirty="0">
              <a:solidFill>
                <a:srgbClr val="244061"/>
              </a:solidFill>
              <a:latin typeface="Calibri"/>
            </a:endParaRPr>
          </a:p>
        </p:txBody>
      </p:sp>
      <p:sp>
        <p:nvSpPr>
          <p:cNvPr id="2" name="Content Placeholder 1">
            <a:extLst>
              <a:ext uri="{FF2B5EF4-FFF2-40B4-BE49-F238E27FC236}">
                <a16:creationId xmlns:a16="http://schemas.microsoft.com/office/drawing/2014/main" id="{07A33EB2-8BB9-4316-8D75-454C5AD19E2F}"/>
              </a:ext>
            </a:extLst>
          </p:cNvPr>
          <p:cNvSpPr>
            <a:spLocks noGrp="1"/>
          </p:cNvSpPr>
          <p:nvPr>
            <p:ph idx="1"/>
          </p:nvPr>
        </p:nvSpPr>
        <p:spPr>
          <a:xfrm>
            <a:off x="457200" y="1428741"/>
            <a:ext cx="5415455" cy="3165881"/>
          </a:xfrm>
        </p:spPr>
        <p:txBody>
          <a:bodyPr>
            <a:noAutofit/>
          </a:bodyPr>
          <a:lstStyle/>
          <a:p>
            <a:r>
              <a:rPr lang="ru-RU" sz="1800" spc="-1" dirty="0">
                <a:solidFill>
                  <a:srgbClr val="244061"/>
                </a:solidFill>
              </a:rPr>
              <a:t>Любые рабочие, тестовые или демонстрационные версии проекта собираются только из репозитория системы.</a:t>
            </a:r>
          </a:p>
          <a:p>
            <a:pPr algn="just"/>
            <a:r>
              <a:rPr lang="ru-RU" sz="1800" spc="-1" dirty="0">
                <a:solidFill>
                  <a:srgbClr val="244061"/>
                </a:solidFill>
              </a:rPr>
              <a:t>Любое значимое изменение должно оформляться как отдельная ветвь. </a:t>
            </a:r>
            <a:endParaRPr lang="ru-RU" sz="1800" dirty="0"/>
          </a:p>
          <a:p>
            <a:pPr algn="just"/>
            <a:r>
              <a:rPr lang="ru-RU" sz="1800" dirty="0"/>
              <a:t>Регулярное обновление и </a:t>
            </a:r>
            <a:r>
              <a:rPr lang="ru-RU" sz="1800" dirty="0" err="1"/>
              <a:t>мердж</a:t>
            </a:r>
            <a:r>
              <a:rPr lang="ru-RU" sz="1800" dirty="0"/>
              <a:t> веток</a:t>
            </a:r>
            <a:r>
              <a:rPr lang="ru-RU" sz="1800" spc="-1" dirty="0">
                <a:solidFill>
                  <a:srgbClr val="244061"/>
                </a:solidFill>
              </a:rPr>
              <a:t> </a:t>
            </a:r>
          </a:p>
          <a:p>
            <a:pPr algn="just">
              <a:lnSpc>
                <a:spcPct val="100000"/>
              </a:lnSpc>
            </a:pPr>
            <a:r>
              <a:rPr lang="ru-RU" sz="1800" spc="-1" dirty="0">
                <a:solidFill>
                  <a:srgbClr val="244061"/>
                </a:solidFill>
              </a:rPr>
              <a:t>Версии проекта помечаются тегами. Выделенная и помеченная тегом версия более никогда не изменяется.</a:t>
            </a:r>
            <a:endParaRPr lang="ru-RU" sz="1800" spc="-1" dirty="0">
              <a:solidFill>
                <a:srgbClr val="000000"/>
              </a:solidFill>
            </a:endParaRPr>
          </a:p>
          <a:p>
            <a:r>
              <a:rPr lang="ru-RU" sz="1800" dirty="0"/>
              <a:t>Написание понятных </a:t>
            </a:r>
            <a:r>
              <a:rPr lang="ru-RU" sz="1800" dirty="0" err="1"/>
              <a:t>коммит</a:t>
            </a:r>
            <a:r>
              <a:rPr lang="ru-RU" sz="1800" dirty="0"/>
              <a:t>-сообщений</a:t>
            </a:r>
          </a:p>
        </p:txBody>
      </p:sp>
      <p:sp>
        <p:nvSpPr>
          <p:cNvPr id="3" name="PlaceHolder 2"/>
          <p:cNvSpPr>
            <a:spLocks noGrp="1"/>
          </p:cNvSpPr>
          <p:nvPr>
            <p:ph type="sldNum" sz="quarter" idx="12"/>
          </p:nvPr>
        </p:nvSpPr>
        <p:spPr/>
        <p:txBody>
          <a:bodyPr/>
          <a:lstStyle/>
          <a:p>
            <a:fld id="{D09781E2-682A-4885-B123-D0B003967953}" type="slidenum">
              <a:t>27</a:t>
            </a:fld>
            <a:endParaRPr/>
          </a:p>
        </p:txBody>
      </p:sp>
      <p:pic>
        <p:nvPicPr>
          <p:cNvPr id="4" name="Picture 3">
            <a:extLst>
              <a:ext uri="{FF2B5EF4-FFF2-40B4-BE49-F238E27FC236}">
                <a16:creationId xmlns:a16="http://schemas.microsoft.com/office/drawing/2014/main" id="{9245988B-F29D-4216-9CBA-924AC59F705C}"/>
              </a:ext>
            </a:extLst>
          </p:cNvPr>
          <p:cNvPicPr>
            <a:picLocks noChangeAspect="1"/>
          </p:cNvPicPr>
          <p:nvPr/>
        </p:nvPicPr>
        <p:blipFill>
          <a:blip r:embed="rId3">
            <a:duotone>
              <a:schemeClr val="accent6">
                <a:shade val="45000"/>
                <a:satMod val="135000"/>
              </a:schemeClr>
              <a:prstClr val="white"/>
            </a:duotone>
          </a:blip>
          <a:stretch>
            <a:fillRect/>
          </a:stretch>
        </p:blipFill>
        <p:spPr>
          <a:xfrm>
            <a:off x="6207766" y="2080114"/>
            <a:ext cx="2683985" cy="159162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25BED-6D11-4CB5-9B34-EF9611D4F692}"/>
              </a:ext>
            </a:extLst>
          </p:cNvPr>
          <p:cNvSpPr>
            <a:spLocks noGrp="1"/>
          </p:cNvSpPr>
          <p:nvPr>
            <p:ph type="title"/>
          </p:nvPr>
        </p:nvSpPr>
        <p:spPr/>
        <p:txBody>
          <a:bodyPr/>
          <a:lstStyle/>
          <a:p>
            <a:r>
              <a:rPr lang="ru-RU" dirty="0"/>
              <a:t>Инструменты для работы с СКВ</a:t>
            </a:r>
          </a:p>
        </p:txBody>
      </p:sp>
      <p:sp>
        <p:nvSpPr>
          <p:cNvPr id="3" name="Content Placeholder 2">
            <a:extLst>
              <a:ext uri="{FF2B5EF4-FFF2-40B4-BE49-F238E27FC236}">
                <a16:creationId xmlns:a16="http://schemas.microsoft.com/office/drawing/2014/main" id="{41141281-4F25-4545-865E-7A02636BA6ED}"/>
              </a:ext>
            </a:extLst>
          </p:cNvPr>
          <p:cNvSpPr>
            <a:spLocks noGrp="1"/>
          </p:cNvSpPr>
          <p:nvPr>
            <p:ph idx="1"/>
          </p:nvPr>
        </p:nvSpPr>
        <p:spPr>
          <a:xfrm>
            <a:off x="457201" y="1477565"/>
            <a:ext cx="4811486" cy="3165881"/>
          </a:xfrm>
        </p:spPr>
        <p:txBody>
          <a:bodyPr>
            <a:normAutofit/>
          </a:bodyPr>
          <a:lstStyle/>
          <a:p>
            <a:r>
              <a:rPr lang="ru-RU" sz="2000" dirty="0"/>
              <a:t>Интегрированные среды разработки (</a:t>
            </a:r>
            <a:r>
              <a:rPr lang="en-US" sz="2000" dirty="0"/>
              <a:t>IDE</a:t>
            </a:r>
            <a:r>
              <a:rPr lang="ru-RU" sz="2000" dirty="0"/>
              <a:t>) (</a:t>
            </a:r>
            <a:r>
              <a:rPr lang="es-ES" sz="2000" dirty="0"/>
              <a:t>Visual Studio </a:t>
            </a:r>
            <a:r>
              <a:rPr lang="es-ES" sz="2000" dirty="0" err="1"/>
              <a:t>Code</a:t>
            </a:r>
            <a:r>
              <a:rPr lang="es-ES" sz="2000" dirty="0"/>
              <a:t> , IntelliJ IDEA , Eclipse</a:t>
            </a:r>
            <a:r>
              <a:rPr lang="ru-RU" sz="2000" dirty="0"/>
              <a:t>)</a:t>
            </a:r>
          </a:p>
          <a:p>
            <a:r>
              <a:rPr lang="ru-RU" sz="2000" dirty="0"/>
              <a:t>Консольные клиенты (</a:t>
            </a:r>
            <a:r>
              <a:rPr lang="en-US" sz="2000" dirty="0"/>
              <a:t>Git Bash, Mercurial Workbench, TortoiseSVN</a:t>
            </a:r>
            <a:r>
              <a:rPr lang="ru-RU" sz="2000" dirty="0"/>
              <a:t>)</a:t>
            </a:r>
          </a:p>
          <a:p>
            <a:r>
              <a:rPr lang="ru-RU" sz="2000" dirty="0"/>
              <a:t>Веб-интерфейсы (</a:t>
            </a:r>
            <a:r>
              <a:rPr lang="en-US" sz="2000" dirty="0"/>
              <a:t>GitHub, GitLab, Bitbucket</a:t>
            </a:r>
            <a:r>
              <a:rPr lang="ru-RU" sz="2000" dirty="0"/>
              <a:t>)</a:t>
            </a:r>
          </a:p>
        </p:txBody>
      </p:sp>
      <p:pic>
        <p:nvPicPr>
          <p:cNvPr id="3078" name="Picture 6" descr="IntelliJ IDEA 2018.1 EAP: Partial Git commits and more | The IntelliJ IDEA  Blog">
            <a:extLst>
              <a:ext uri="{FF2B5EF4-FFF2-40B4-BE49-F238E27FC236}">
                <a16:creationId xmlns:a16="http://schemas.microsoft.com/office/drawing/2014/main" id="{B98EF527-7B9F-4BE3-84F5-F570D4234A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8345" y="1357304"/>
            <a:ext cx="1763486" cy="15753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6" name="Picture 4" descr="Git Bash - GeeksforGeeks">
            <a:extLst>
              <a:ext uri="{FF2B5EF4-FFF2-40B4-BE49-F238E27FC236}">
                <a16:creationId xmlns:a16="http://schemas.microsoft.com/office/drawing/2014/main" id="{E99F6CC7-8192-4DAC-9339-FEE30E2B16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2972" y="2510179"/>
            <a:ext cx="2247899" cy="136447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4" name="Picture 2" descr="What Is GitHub? A Beginner's Introduction to GitHub">
            <a:extLst>
              <a:ext uri="{FF2B5EF4-FFF2-40B4-BE49-F238E27FC236}">
                <a16:creationId xmlns:a16="http://schemas.microsoft.com/office/drawing/2014/main" id="{2751514E-1FB0-4F0E-9A9B-97E700C31F6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30143" y="3472266"/>
            <a:ext cx="1861456" cy="11560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421505"/>
      </p:ext>
    </p:extLst>
  </p:cSld>
  <p:clrMapOvr>
    <a:masterClrMapping/>
  </p:clrMapOvr>
</p:sld>
</file>

<file path=ppt/theme/theme1.xml><?xml version="1.0" encoding="utf-8"?>
<a:theme xmlns:a="http://schemas.openxmlformats.org/drawingml/2006/main" name="Тема Offic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4ABA2DA3-FC12-4F6D-A63F-F49808B2745D}" vid="{ED545FA1-F0DD-4A91-AB56-FB9C25E1D6C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8201</TotalTime>
  <Words>4702</Words>
  <Application>Microsoft Office PowerPoint</Application>
  <PresentationFormat>On-screen Show (16:9)</PresentationFormat>
  <Paragraphs>312</Paragraphs>
  <Slides>28</Slides>
  <Notes>21</Notes>
  <HiddenSlides>3</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28</vt:i4>
      </vt:variant>
    </vt:vector>
  </HeadingPairs>
  <TitlesOfParts>
    <vt:vector size="40" baseType="lpstr">
      <vt:lpstr>Arial</vt:lpstr>
      <vt:lpstr>Calibri</vt:lpstr>
      <vt:lpstr>Courier New</vt:lpstr>
      <vt:lpstr>DejaVu Sans</vt:lpstr>
      <vt:lpstr>JetBrains Mono</vt:lpstr>
      <vt:lpstr>OpenSymbol</vt:lpstr>
      <vt:lpstr>Symbol</vt:lpstr>
      <vt:lpstr>Times New Roman</vt:lpstr>
      <vt:lpstr>Wingdings</vt:lpstr>
      <vt:lpstr>YS Text</vt:lpstr>
      <vt:lpstr>Тема Office</vt:lpstr>
      <vt:lpstr>GIS_theme</vt:lpstr>
      <vt:lpstr>Системы контроля версий</vt:lpstr>
      <vt:lpstr>VCS</vt:lpstr>
      <vt:lpstr>VCS</vt:lpstr>
      <vt:lpstr>Преимущества использования системы контроля версий</vt:lpstr>
      <vt:lpstr>Локальные системы</vt:lpstr>
      <vt:lpstr>Централизованные системы</vt:lpstr>
      <vt:lpstr>Децентрализованные системы</vt:lpstr>
      <vt:lpstr>Децентрализованные системы</vt:lpstr>
      <vt:lpstr>Принципы работы системы контроля версий</vt:lpstr>
      <vt:lpstr>Дерево проекта</vt:lpstr>
      <vt:lpstr>Популярные СКВ</vt:lpstr>
      <vt:lpstr>Принцип работы git</vt:lpstr>
      <vt:lpstr>Этапы работы с системой контроля версий</vt:lpstr>
      <vt:lpstr>Git основные команды</vt:lpstr>
      <vt:lpstr>Git основные команды</vt:lpstr>
      <vt:lpstr>Git основные команды</vt:lpstr>
      <vt:lpstr>Ветвления</vt:lpstr>
      <vt:lpstr>Основные этапы работы с ветками</vt:lpstr>
      <vt:lpstr>Слияние версий</vt:lpstr>
      <vt:lpstr>Слияние версий</vt:lpstr>
      <vt:lpstr>Конфликты</vt:lpstr>
      <vt:lpstr>Блокировки</vt:lpstr>
      <vt:lpstr>Блокировки</vt:lpstr>
      <vt:lpstr>Блокировки</vt:lpstr>
      <vt:lpstr>Версии проекта, теги</vt:lpstr>
      <vt:lpstr>.gitignore</vt:lpstr>
      <vt:lpstr>Базовые принципы разработки</vt:lpstr>
      <vt:lpstr>Инструменты для работы с СКВ</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subject/>
  <dc:creator>HP</dc:creator>
  <dc:description/>
  <cp:lastModifiedBy>Yulia Filinskikh</cp:lastModifiedBy>
  <cp:revision>118</cp:revision>
  <dcterms:created xsi:type="dcterms:W3CDTF">2020-04-22T07:05:13Z</dcterms:created>
  <dcterms:modified xsi:type="dcterms:W3CDTF">2025-07-15T23:28:57Z</dcterms:modified>
  <dc:language>ru-RU</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Экран (16:9)</vt:lpwstr>
  </property>
  <property fmtid="{D5CDD505-2E9C-101B-9397-08002B2CF9AE}" pid="3" name="Slides">
    <vt:i4>43</vt:i4>
  </property>
</Properties>
</file>