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8" r:id="rId11"/>
    <p:sldId id="269" r:id="rId12"/>
    <p:sldId id="261" r:id="rId13"/>
    <p:sldId id="270" r:id="rId14"/>
    <p:sldId id="265" r:id="rId15"/>
    <p:sldId id="271" r:id="rId16"/>
    <p:sldId id="276" r:id="rId17"/>
    <p:sldId id="286" r:id="rId18"/>
    <p:sldId id="284" r:id="rId19"/>
    <p:sldId id="281" r:id="rId20"/>
    <p:sldId id="288" r:id="rId21"/>
    <p:sldId id="273" r:id="rId22"/>
    <p:sldId id="311" r:id="rId23"/>
    <p:sldId id="285" r:id="rId24"/>
    <p:sldId id="312" r:id="rId25"/>
    <p:sldId id="280" r:id="rId26"/>
    <p:sldId id="287" r:id="rId27"/>
    <p:sldId id="282" r:id="rId28"/>
    <p:sldId id="272" r:id="rId29"/>
    <p:sldId id="274" r:id="rId30"/>
    <p:sldId id="315" r:id="rId31"/>
    <p:sldId id="275" r:id="rId32"/>
    <p:sldId id="277" r:id="rId33"/>
    <p:sldId id="278" r:id="rId34"/>
    <p:sldId id="279" r:id="rId35"/>
    <p:sldId id="289" r:id="rId36"/>
    <p:sldId id="291" r:id="rId37"/>
    <p:sldId id="283" r:id="rId38"/>
    <p:sldId id="290" r:id="rId39"/>
    <p:sldId id="292" r:id="rId40"/>
    <p:sldId id="318" r:id="rId41"/>
    <p:sldId id="293" r:id="rId42"/>
    <p:sldId id="294" r:id="rId43"/>
    <p:sldId id="317" r:id="rId44"/>
    <p:sldId id="316" r:id="rId45"/>
    <p:sldId id="295" r:id="rId46"/>
    <p:sldId id="296" r:id="rId47"/>
    <p:sldId id="297" r:id="rId48"/>
    <p:sldId id="298" r:id="rId49"/>
    <p:sldId id="299" r:id="rId50"/>
    <p:sldId id="304" r:id="rId51"/>
    <p:sldId id="326" r:id="rId52"/>
    <p:sldId id="307" r:id="rId53"/>
    <p:sldId id="309" r:id="rId54"/>
    <p:sldId id="314" r:id="rId55"/>
    <p:sldId id="305" r:id="rId56"/>
    <p:sldId id="313" r:id="rId57"/>
    <p:sldId id="300" r:id="rId58"/>
    <p:sldId id="301" r:id="rId59"/>
    <p:sldId id="302" r:id="rId60"/>
    <p:sldId id="303" r:id="rId61"/>
    <p:sldId id="319" r:id="rId62"/>
    <p:sldId id="322" r:id="rId63"/>
    <p:sldId id="323" r:id="rId64"/>
    <p:sldId id="320" r:id="rId65"/>
    <p:sldId id="324" r:id="rId66"/>
    <p:sldId id="321" r:id="rId67"/>
    <p:sldId id="306" r:id="rId6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10775E-7C55-45AE-A17C-8D73022C09CA}">
          <p14:sldIdLst>
            <p14:sldId id="256"/>
            <p14:sldId id="257"/>
            <p14:sldId id="258"/>
            <p14:sldId id="259"/>
            <p14:sldId id="260"/>
            <p14:sldId id="262"/>
            <p14:sldId id="263"/>
            <p14:sldId id="264"/>
            <p14:sldId id="266"/>
            <p14:sldId id="268"/>
            <p14:sldId id="269"/>
            <p14:sldId id="261"/>
            <p14:sldId id="270"/>
            <p14:sldId id="265"/>
            <p14:sldId id="271"/>
            <p14:sldId id="276"/>
            <p14:sldId id="286"/>
            <p14:sldId id="284"/>
            <p14:sldId id="281"/>
            <p14:sldId id="288"/>
            <p14:sldId id="273"/>
            <p14:sldId id="311"/>
            <p14:sldId id="285"/>
            <p14:sldId id="312"/>
            <p14:sldId id="280"/>
            <p14:sldId id="287"/>
            <p14:sldId id="282"/>
            <p14:sldId id="272"/>
            <p14:sldId id="274"/>
            <p14:sldId id="315"/>
            <p14:sldId id="275"/>
            <p14:sldId id="277"/>
            <p14:sldId id="278"/>
            <p14:sldId id="279"/>
            <p14:sldId id="289"/>
            <p14:sldId id="291"/>
            <p14:sldId id="283"/>
            <p14:sldId id="290"/>
            <p14:sldId id="292"/>
            <p14:sldId id="318"/>
            <p14:sldId id="293"/>
            <p14:sldId id="294"/>
            <p14:sldId id="317"/>
            <p14:sldId id="316"/>
            <p14:sldId id="295"/>
            <p14:sldId id="296"/>
            <p14:sldId id="297"/>
            <p14:sldId id="298"/>
            <p14:sldId id="299"/>
            <p14:sldId id="304"/>
            <p14:sldId id="326"/>
            <p14:sldId id="307"/>
            <p14:sldId id="309"/>
            <p14:sldId id="314"/>
            <p14:sldId id="305"/>
            <p14:sldId id="313"/>
            <p14:sldId id="300"/>
            <p14:sldId id="301"/>
            <p14:sldId id="302"/>
            <p14:sldId id="303"/>
            <p14:sldId id="319"/>
            <p14:sldId id="322"/>
            <p14:sldId id="323"/>
            <p14:sldId id="320"/>
            <p14:sldId id="324"/>
            <p14:sldId id="321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65D"/>
    <a:srgbClr val="244061"/>
    <a:srgbClr val="802E2B"/>
    <a:srgbClr val="233D5E"/>
    <a:srgbClr val="203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5" autoAdjust="0"/>
    <p:restoredTop sz="81404" autoAdjust="0"/>
  </p:normalViewPr>
  <p:slideViewPr>
    <p:cSldViewPr snapToGrid="0">
      <p:cViewPr varScale="1">
        <p:scale>
          <a:sx n="89" d="100"/>
          <a:sy n="89" d="100"/>
        </p:scale>
        <p:origin x="1062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AABC57-4CB7-4362-B316-C0D225048E7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7249AE0-9F95-4FB3-BDF4-A45CD2F6E574}">
      <dgm:prSet phldrT="[Text]"/>
      <dgm:spPr/>
      <dgm:t>
        <a:bodyPr/>
        <a:lstStyle/>
        <a:p>
          <a:r>
            <a:rPr lang="ru-RU" dirty="0"/>
            <a:t>СУБД</a:t>
          </a:r>
        </a:p>
      </dgm:t>
    </dgm:pt>
    <dgm:pt modelId="{C5888CA3-C5E8-4653-95A3-F4073B2591A0}" type="parTrans" cxnId="{52F9A2F4-AF61-4664-896F-2B180C632C44}">
      <dgm:prSet/>
      <dgm:spPr/>
      <dgm:t>
        <a:bodyPr/>
        <a:lstStyle/>
        <a:p>
          <a:endParaRPr lang="ru-RU"/>
        </a:p>
      </dgm:t>
    </dgm:pt>
    <dgm:pt modelId="{DF098F8D-F8B9-4441-BEE8-C0C4A47DE4A3}" type="sibTrans" cxnId="{52F9A2F4-AF61-4664-896F-2B180C632C44}">
      <dgm:prSet/>
      <dgm:spPr/>
      <dgm:t>
        <a:bodyPr/>
        <a:lstStyle/>
        <a:p>
          <a:endParaRPr lang="ru-RU"/>
        </a:p>
      </dgm:t>
    </dgm:pt>
    <dgm:pt modelId="{2DE926BF-FFA6-4A1D-87CB-0315D67CEC27}">
      <dgm:prSet phldrT="[Text]"/>
      <dgm:spPr/>
      <dgm:t>
        <a:bodyPr/>
        <a:lstStyle/>
        <a:p>
          <a:r>
            <a:rPr lang="ru-RU" dirty="0"/>
            <a:t>По расположению баз данных</a:t>
          </a:r>
        </a:p>
      </dgm:t>
    </dgm:pt>
    <dgm:pt modelId="{4B91A1C6-DC2D-4BC9-A330-61CFC0D70A19}" type="parTrans" cxnId="{5031A334-6B1C-4529-84B2-4E2CA44F048B}">
      <dgm:prSet/>
      <dgm:spPr/>
      <dgm:t>
        <a:bodyPr/>
        <a:lstStyle/>
        <a:p>
          <a:endParaRPr lang="ru-RU"/>
        </a:p>
      </dgm:t>
    </dgm:pt>
    <dgm:pt modelId="{8C65B1D3-5871-47C4-AF5E-D34C2F2EA0D7}" type="sibTrans" cxnId="{5031A334-6B1C-4529-84B2-4E2CA44F048B}">
      <dgm:prSet/>
      <dgm:spPr/>
      <dgm:t>
        <a:bodyPr/>
        <a:lstStyle/>
        <a:p>
          <a:endParaRPr lang="ru-RU"/>
        </a:p>
      </dgm:t>
    </dgm:pt>
    <dgm:pt modelId="{DD54BDC2-CAC5-448D-A9F4-799A86E652EB}">
      <dgm:prSet phldrT="[Text]"/>
      <dgm:spPr/>
      <dgm:t>
        <a:bodyPr/>
        <a:lstStyle/>
        <a:p>
          <a:r>
            <a:rPr lang="ru-RU" dirty="0"/>
            <a:t>По хранению и обработке данных</a:t>
          </a:r>
        </a:p>
      </dgm:t>
    </dgm:pt>
    <dgm:pt modelId="{0AE2F6A1-CDFC-4290-AA7D-AC2A2AC0BAA3}" type="parTrans" cxnId="{E7F6A673-1AF0-4F3C-9EB9-960836A63542}">
      <dgm:prSet/>
      <dgm:spPr/>
      <dgm:t>
        <a:bodyPr/>
        <a:lstStyle/>
        <a:p>
          <a:endParaRPr lang="ru-RU"/>
        </a:p>
      </dgm:t>
    </dgm:pt>
    <dgm:pt modelId="{D2F15B0C-EAD9-47CC-9431-339D45EF308C}" type="sibTrans" cxnId="{E7F6A673-1AF0-4F3C-9EB9-960836A63542}">
      <dgm:prSet/>
      <dgm:spPr/>
      <dgm:t>
        <a:bodyPr/>
        <a:lstStyle/>
        <a:p>
          <a:endParaRPr lang="ru-RU"/>
        </a:p>
      </dgm:t>
    </dgm:pt>
    <dgm:pt modelId="{A0BD51EE-6F98-41D6-B732-DCCA2307E4A1}">
      <dgm:prSet phldrT="[Text]"/>
      <dgm:spPr/>
      <dgm:t>
        <a:bodyPr/>
        <a:lstStyle/>
        <a:p>
          <a:r>
            <a:rPr lang="ru-RU" dirty="0"/>
            <a:t>По языку запросов</a:t>
          </a:r>
        </a:p>
      </dgm:t>
    </dgm:pt>
    <dgm:pt modelId="{6FAD9489-9DCB-4E9A-90BA-7309A2D8E19F}" type="parTrans" cxnId="{9354426C-E1BA-434F-8F6C-AAD09BFAA2E1}">
      <dgm:prSet/>
      <dgm:spPr/>
      <dgm:t>
        <a:bodyPr/>
        <a:lstStyle/>
        <a:p>
          <a:endParaRPr lang="ru-RU"/>
        </a:p>
      </dgm:t>
    </dgm:pt>
    <dgm:pt modelId="{A7E6B3B7-A8AA-460C-A9B9-7A0E7281BAF0}" type="sibTrans" cxnId="{9354426C-E1BA-434F-8F6C-AAD09BFAA2E1}">
      <dgm:prSet/>
      <dgm:spPr/>
      <dgm:t>
        <a:bodyPr/>
        <a:lstStyle/>
        <a:p>
          <a:endParaRPr lang="ru-RU"/>
        </a:p>
      </dgm:t>
    </dgm:pt>
    <dgm:pt modelId="{2B53205A-0452-45A7-BABD-0773CA31747F}">
      <dgm:prSet phldrT="[Text]"/>
      <dgm:spPr/>
      <dgm:t>
        <a:bodyPr/>
        <a:lstStyle/>
        <a:p>
          <a:r>
            <a:rPr lang="ru-RU" b="1" i="0" u="none" dirty="0"/>
            <a:t>По структуре и организации данных</a:t>
          </a:r>
          <a:endParaRPr lang="ru-RU" dirty="0"/>
        </a:p>
      </dgm:t>
    </dgm:pt>
    <dgm:pt modelId="{A1D00B80-C51F-40AA-87C9-8FF94F624A36}" type="parTrans" cxnId="{7CD84F8E-7277-4E6C-A9B0-A6A9CBF85DB3}">
      <dgm:prSet/>
      <dgm:spPr/>
      <dgm:t>
        <a:bodyPr/>
        <a:lstStyle/>
        <a:p>
          <a:endParaRPr lang="ru-RU"/>
        </a:p>
      </dgm:t>
    </dgm:pt>
    <dgm:pt modelId="{FFD9D0D9-6A4F-4103-8E7B-4898432FF591}" type="sibTrans" cxnId="{7CD84F8E-7277-4E6C-A9B0-A6A9CBF85DB3}">
      <dgm:prSet/>
      <dgm:spPr/>
      <dgm:t>
        <a:bodyPr/>
        <a:lstStyle/>
        <a:p>
          <a:endParaRPr lang="ru-RU"/>
        </a:p>
      </dgm:t>
    </dgm:pt>
    <dgm:pt modelId="{AC5275B7-8FF0-4A4B-A9CE-CA2BD2BD20F4}">
      <dgm:prSet phldrT="[Text]"/>
      <dgm:spPr/>
      <dgm:t>
        <a:bodyPr/>
        <a:lstStyle/>
        <a:p>
          <a:r>
            <a:rPr lang="ru-RU" dirty="0"/>
            <a:t>Локальные</a:t>
          </a:r>
        </a:p>
      </dgm:t>
    </dgm:pt>
    <dgm:pt modelId="{487D2C57-056E-495F-B99A-8A00EE6ED956}" type="parTrans" cxnId="{662CD04B-4E3F-4C0C-A70A-81FFC51043A2}">
      <dgm:prSet/>
      <dgm:spPr/>
      <dgm:t>
        <a:bodyPr/>
        <a:lstStyle/>
        <a:p>
          <a:endParaRPr lang="ru-RU"/>
        </a:p>
      </dgm:t>
    </dgm:pt>
    <dgm:pt modelId="{822D0B30-2D00-49FF-A39B-99FABBB2EC9F}" type="sibTrans" cxnId="{662CD04B-4E3F-4C0C-A70A-81FFC51043A2}">
      <dgm:prSet/>
      <dgm:spPr/>
      <dgm:t>
        <a:bodyPr/>
        <a:lstStyle/>
        <a:p>
          <a:endParaRPr lang="ru-RU"/>
        </a:p>
      </dgm:t>
    </dgm:pt>
    <dgm:pt modelId="{565DA2F0-91BF-4EBD-8DA6-10821F593EFB}">
      <dgm:prSet phldrT="[Text]"/>
      <dgm:spPr/>
      <dgm:t>
        <a:bodyPr/>
        <a:lstStyle/>
        <a:p>
          <a:r>
            <a:rPr lang="ru-RU" dirty="0"/>
            <a:t>Распределённые</a:t>
          </a:r>
        </a:p>
      </dgm:t>
    </dgm:pt>
    <dgm:pt modelId="{F2336E12-CE64-4C2C-95AD-DDBA1C859EE8}" type="parTrans" cxnId="{9FF130A9-BED5-40E8-A836-804E6BBD6ABB}">
      <dgm:prSet/>
      <dgm:spPr/>
      <dgm:t>
        <a:bodyPr/>
        <a:lstStyle/>
        <a:p>
          <a:endParaRPr lang="ru-RU"/>
        </a:p>
      </dgm:t>
    </dgm:pt>
    <dgm:pt modelId="{90D8563F-AFB0-4800-840F-FFF5323F007D}" type="sibTrans" cxnId="{9FF130A9-BED5-40E8-A836-804E6BBD6ABB}">
      <dgm:prSet/>
      <dgm:spPr/>
      <dgm:t>
        <a:bodyPr/>
        <a:lstStyle/>
        <a:p>
          <a:endParaRPr lang="ru-RU"/>
        </a:p>
      </dgm:t>
    </dgm:pt>
    <dgm:pt modelId="{C5286A8C-6CAC-4F8C-A537-45CFEAB1656B}">
      <dgm:prSet phldrT="[Text]"/>
      <dgm:spPr/>
      <dgm:t>
        <a:bodyPr/>
        <a:lstStyle/>
        <a:p>
          <a:r>
            <a:rPr lang="ru-RU" dirty="0"/>
            <a:t>Клиент-серверные</a:t>
          </a:r>
        </a:p>
      </dgm:t>
    </dgm:pt>
    <dgm:pt modelId="{5EABE8E7-4865-4BE5-982F-72AA303819F5}" type="parTrans" cxnId="{17C911FE-D25A-4990-92E1-38097C0580F1}">
      <dgm:prSet/>
      <dgm:spPr/>
      <dgm:t>
        <a:bodyPr/>
        <a:lstStyle/>
        <a:p>
          <a:endParaRPr lang="ru-RU"/>
        </a:p>
      </dgm:t>
    </dgm:pt>
    <dgm:pt modelId="{983D790F-FE7A-40C2-9DB6-6EA99CB535E6}" type="sibTrans" cxnId="{17C911FE-D25A-4990-92E1-38097C0580F1}">
      <dgm:prSet/>
      <dgm:spPr/>
      <dgm:t>
        <a:bodyPr/>
        <a:lstStyle/>
        <a:p>
          <a:endParaRPr lang="ru-RU"/>
        </a:p>
      </dgm:t>
    </dgm:pt>
    <dgm:pt modelId="{628721F6-2EB2-4BFE-A8D3-239949FB915B}">
      <dgm:prSet phldrT="[Text]"/>
      <dgm:spPr/>
      <dgm:t>
        <a:bodyPr/>
        <a:lstStyle/>
        <a:p>
          <a:r>
            <a:rPr lang="ru-RU" dirty="0"/>
            <a:t>Файл-серверные</a:t>
          </a:r>
        </a:p>
      </dgm:t>
    </dgm:pt>
    <dgm:pt modelId="{92D68BF5-65DC-4558-8439-B0200893F15F}" type="parTrans" cxnId="{9FC7AE05-67D8-4BAE-8666-92423CF69CC2}">
      <dgm:prSet/>
      <dgm:spPr/>
      <dgm:t>
        <a:bodyPr/>
        <a:lstStyle/>
        <a:p>
          <a:endParaRPr lang="ru-RU"/>
        </a:p>
      </dgm:t>
    </dgm:pt>
    <dgm:pt modelId="{C6421790-CA9D-4E20-B58B-CE41CEA6DF4C}" type="sibTrans" cxnId="{9FC7AE05-67D8-4BAE-8666-92423CF69CC2}">
      <dgm:prSet/>
      <dgm:spPr/>
      <dgm:t>
        <a:bodyPr/>
        <a:lstStyle/>
        <a:p>
          <a:endParaRPr lang="ru-RU"/>
        </a:p>
      </dgm:t>
    </dgm:pt>
    <dgm:pt modelId="{B68D6443-80F0-457F-81F5-3023EAFE83C7}">
      <dgm:prSet phldrT="[Text]"/>
      <dgm:spPr/>
      <dgm:t>
        <a:bodyPr/>
        <a:lstStyle/>
        <a:p>
          <a:r>
            <a:rPr lang="ru-RU" dirty="0"/>
            <a:t>Встраиваемые</a:t>
          </a:r>
        </a:p>
      </dgm:t>
    </dgm:pt>
    <dgm:pt modelId="{2C8311B4-908B-4237-8BA2-46253EC5D9F1}" type="parTrans" cxnId="{CA6AB29A-9CED-4416-B6CD-B651D4AA2743}">
      <dgm:prSet/>
      <dgm:spPr/>
      <dgm:t>
        <a:bodyPr/>
        <a:lstStyle/>
        <a:p>
          <a:endParaRPr lang="ru-RU"/>
        </a:p>
      </dgm:t>
    </dgm:pt>
    <dgm:pt modelId="{3F4E9E17-F635-4858-8D54-DE4E6BC5084C}" type="sibTrans" cxnId="{CA6AB29A-9CED-4416-B6CD-B651D4AA2743}">
      <dgm:prSet/>
      <dgm:spPr/>
      <dgm:t>
        <a:bodyPr/>
        <a:lstStyle/>
        <a:p>
          <a:endParaRPr lang="ru-RU"/>
        </a:p>
      </dgm:t>
    </dgm:pt>
    <dgm:pt modelId="{CD11ED26-AEFE-4495-B80E-FE9B3A4A5C9B}">
      <dgm:prSet phldrT="[Text]"/>
      <dgm:spPr/>
      <dgm:t>
        <a:bodyPr/>
        <a:lstStyle/>
        <a:p>
          <a:r>
            <a:rPr lang="en-US" dirty="0"/>
            <a:t>SQL</a:t>
          </a:r>
          <a:endParaRPr lang="ru-RU" dirty="0"/>
        </a:p>
      </dgm:t>
    </dgm:pt>
    <dgm:pt modelId="{BD017319-2D2C-48DF-9E48-DA16B61ECAF7}" type="parTrans" cxnId="{6D5FF915-78AD-4D89-B249-6EFF01FC1DC5}">
      <dgm:prSet/>
      <dgm:spPr/>
      <dgm:t>
        <a:bodyPr/>
        <a:lstStyle/>
        <a:p>
          <a:endParaRPr lang="ru-RU"/>
        </a:p>
      </dgm:t>
    </dgm:pt>
    <dgm:pt modelId="{2392B920-EF07-442F-A5EC-FEDD5A000836}" type="sibTrans" cxnId="{6D5FF915-78AD-4D89-B249-6EFF01FC1DC5}">
      <dgm:prSet/>
      <dgm:spPr/>
      <dgm:t>
        <a:bodyPr/>
        <a:lstStyle/>
        <a:p>
          <a:endParaRPr lang="ru-RU"/>
        </a:p>
      </dgm:t>
    </dgm:pt>
    <dgm:pt modelId="{144B9E58-3AB0-4925-920E-E21055663A94}">
      <dgm:prSet phldrT="[Text]"/>
      <dgm:spPr/>
      <dgm:t>
        <a:bodyPr/>
        <a:lstStyle/>
        <a:p>
          <a:r>
            <a:rPr lang="en-US" dirty="0"/>
            <a:t>NoSQL</a:t>
          </a:r>
          <a:endParaRPr lang="ru-RU" dirty="0"/>
        </a:p>
      </dgm:t>
    </dgm:pt>
    <dgm:pt modelId="{7000A8C0-46EC-45E6-AAC6-295A805D8B6B}" type="parTrans" cxnId="{70608E50-89E4-47D0-ADBB-254FD1A6E2FB}">
      <dgm:prSet/>
      <dgm:spPr/>
      <dgm:t>
        <a:bodyPr/>
        <a:lstStyle/>
        <a:p>
          <a:endParaRPr lang="ru-RU"/>
        </a:p>
      </dgm:t>
    </dgm:pt>
    <dgm:pt modelId="{0F15018B-0673-4627-BAE2-C8455677DA30}" type="sibTrans" cxnId="{70608E50-89E4-47D0-ADBB-254FD1A6E2FB}">
      <dgm:prSet/>
      <dgm:spPr/>
      <dgm:t>
        <a:bodyPr/>
        <a:lstStyle/>
        <a:p>
          <a:endParaRPr lang="ru-RU"/>
        </a:p>
      </dgm:t>
    </dgm:pt>
    <dgm:pt modelId="{6F098555-0FEC-41B6-982C-FA1662693277}">
      <dgm:prSet phldrT="[Text]"/>
      <dgm:spPr/>
      <dgm:t>
        <a:bodyPr/>
        <a:lstStyle/>
        <a:p>
          <a:r>
            <a:rPr lang="ru-RU" dirty="0"/>
            <a:t>Реляционные</a:t>
          </a:r>
        </a:p>
      </dgm:t>
    </dgm:pt>
    <dgm:pt modelId="{7FFC702E-F3FB-4A5A-9EA9-55452C4C4644}" type="parTrans" cxnId="{31A7440B-83D4-4EEE-9A03-7C9C98F81EA5}">
      <dgm:prSet/>
      <dgm:spPr/>
      <dgm:t>
        <a:bodyPr/>
        <a:lstStyle/>
        <a:p>
          <a:endParaRPr lang="ru-RU"/>
        </a:p>
      </dgm:t>
    </dgm:pt>
    <dgm:pt modelId="{C864128C-322D-465D-9213-F9F0A2DD41D1}" type="sibTrans" cxnId="{31A7440B-83D4-4EEE-9A03-7C9C98F81EA5}">
      <dgm:prSet/>
      <dgm:spPr/>
      <dgm:t>
        <a:bodyPr/>
        <a:lstStyle/>
        <a:p>
          <a:endParaRPr lang="ru-RU"/>
        </a:p>
      </dgm:t>
    </dgm:pt>
    <dgm:pt modelId="{79C35C46-97AA-4D94-88CB-61B9035ADCD0}">
      <dgm:prSet phldrT="[Text]"/>
      <dgm:spPr/>
      <dgm:t>
        <a:bodyPr/>
        <a:lstStyle/>
        <a:p>
          <a:r>
            <a:rPr lang="ru-RU" dirty="0"/>
            <a:t>Ключ — значение</a:t>
          </a:r>
        </a:p>
      </dgm:t>
    </dgm:pt>
    <dgm:pt modelId="{33E845C6-54B1-4752-9914-EFE56B1A5C01}" type="parTrans" cxnId="{97F6284B-ABD2-4991-8E01-BF47910BC227}">
      <dgm:prSet/>
      <dgm:spPr/>
      <dgm:t>
        <a:bodyPr/>
        <a:lstStyle/>
        <a:p>
          <a:endParaRPr lang="ru-RU"/>
        </a:p>
      </dgm:t>
    </dgm:pt>
    <dgm:pt modelId="{C3640670-ED05-434D-A075-B5B928402D7B}" type="sibTrans" cxnId="{97F6284B-ABD2-4991-8E01-BF47910BC227}">
      <dgm:prSet/>
      <dgm:spPr/>
      <dgm:t>
        <a:bodyPr/>
        <a:lstStyle/>
        <a:p>
          <a:endParaRPr lang="ru-RU"/>
        </a:p>
      </dgm:t>
    </dgm:pt>
    <dgm:pt modelId="{37A8269D-9DA7-49E7-B354-E5397B17AACA}">
      <dgm:prSet phldrT="[Text]"/>
      <dgm:spPr/>
      <dgm:t>
        <a:bodyPr/>
        <a:lstStyle/>
        <a:p>
          <a:r>
            <a:rPr lang="ru-RU" dirty="0"/>
            <a:t>Документные</a:t>
          </a:r>
        </a:p>
      </dgm:t>
    </dgm:pt>
    <dgm:pt modelId="{88B9CE8B-26BC-4C05-9C2B-93C590834E94}" type="parTrans" cxnId="{D50342AB-D914-48DC-BD70-5B1E592DFC71}">
      <dgm:prSet/>
      <dgm:spPr/>
      <dgm:t>
        <a:bodyPr/>
        <a:lstStyle/>
        <a:p>
          <a:endParaRPr lang="ru-RU"/>
        </a:p>
      </dgm:t>
    </dgm:pt>
    <dgm:pt modelId="{BFBD8420-2F90-45B1-810E-9D1992D05D13}" type="sibTrans" cxnId="{D50342AB-D914-48DC-BD70-5B1E592DFC71}">
      <dgm:prSet/>
      <dgm:spPr/>
      <dgm:t>
        <a:bodyPr/>
        <a:lstStyle/>
        <a:p>
          <a:endParaRPr lang="ru-RU"/>
        </a:p>
      </dgm:t>
    </dgm:pt>
    <dgm:pt modelId="{408DD8AC-6AA1-4D54-8BBF-D0F37A531E1A}">
      <dgm:prSet phldrT="[Text]"/>
      <dgm:spPr/>
      <dgm:t>
        <a:bodyPr/>
        <a:lstStyle/>
        <a:p>
          <a:r>
            <a:rPr lang="ru-RU" dirty="0" err="1"/>
            <a:t>Графовые</a:t>
          </a:r>
          <a:endParaRPr lang="ru-RU" dirty="0"/>
        </a:p>
      </dgm:t>
    </dgm:pt>
    <dgm:pt modelId="{A20B3E16-5ADC-4E84-A1B3-70EDCFA95704}" type="parTrans" cxnId="{39106BA4-F418-4CAD-AD9A-B7EE24AB95B2}">
      <dgm:prSet/>
      <dgm:spPr/>
      <dgm:t>
        <a:bodyPr/>
        <a:lstStyle/>
        <a:p>
          <a:endParaRPr lang="ru-RU"/>
        </a:p>
      </dgm:t>
    </dgm:pt>
    <dgm:pt modelId="{6D2D6A44-947F-464D-8D25-F729E65D435C}" type="sibTrans" cxnId="{39106BA4-F418-4CAD-AD9A-B7EE24AB95B2}">
      <dgm:prSet/>
      <dgm:spPr/>
      <dgm:t>
        <a:bodyPr/>
        <a:lstStyle/>
        <a:p>
          <a:endParaRPr lang="ru-RU"/>
        </a:p>
      </dgm:t>
    </dgm:pt>
    <dgm:pt modelId="{861C9873-2B9E-47B5-AA15-650802342F53}">
      <dgm:prSet phldrT="[Text]"/>
      <dgm:spPr/>
      <dgm:t>
        <a:bodyPr/>
        <a:lstStyle/>
        <a:p>
          <a:r>
            <a:rPr lang="ru-RU" dirty="0"/>
            <a:t>Колоночные</a:t>
          </a:r>
        </a:p>
      </dgm:t>
    </dgm:pt>
    <dgm:pt modelId="{4F29574D-2AD3-435F-9828-03B23B5864E5}" type="parTrans" cxnId="{938A6CB6-2EAA-4A98-976F-58C7E1D97D89}">
      <dgm:prSet/>
      <dgm:spPr/>
      <dgm:t>
        <a:bodyPr/>
        <a:lstStyle/>
        <a:p>
          <a:endParaRPr lang="ru-RU"/>
        </a:p>
      </dgm:t>
    </dgm:pt>
    <dgm:pt modelId="{8BA8D548-1F13-4B4F-8598-305798E0C423}" type="sibTrans" cxnId="{938A6CB6-2EAA-4A98-976F-58C7E1D97D89}">
      <dgm:prSet/>
      <dgm:spPr/>
      <dgm:t>
        <a:bodyPr/>
        <a:lstStyle/>
        <a:p>
          <a:endParaRPr lang="ru-RU"/>
        </a:p>
      </dgm:t>
    </dgm:pt>
    <dgm:pt modelId="{48328FDE-6618-4F08-B7E3-C74B605E6D47}" type="pres">
      <dgm:prSet presAssocID="{A1AABC57-4CB7-4362-B316-C0D225048E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2E5417-C331-4799-B6F7-00604BCFAB0E}" type="pres">
      <dgm:prSet presAssocID="{87249AE0-9F95-4FB3-BDF4-A45CD2F6E574}" presName="hierRoot1" presStyleCnt="0"/>
      <dgm:spPr/>
    </dgm:pt>
    <dgm:pt modelId="{B19F1688-19E2-4555-A1E0-69765137D55A}" type="pres">
      <dgm:prSet presAssocID="{87249AE0-9F95-4FB3-BDF4-A45CD2F6E574}" presName="composite" presStyleCnt="0"/>
      <dgm:spPr/>
    </dgm:pt>
    <dgm:pt modelId="{596E4966-6BB7-4B24-A82C-D47E71D4FCFE}" type="pres">
      <dgm:prSet presAssocID="{87249AE0-9F95-4FB3-BDF4-A45CD2F6E574}" presName="background" presStyleLbl="node0" presStyleIdx="0" presStyleCnt="1"/>
      <dgm:spPr/>
    </dgm:pt>
    <dgm:pt modelId="{A0C3AC23-C8A9-4171-A2F4-661EF9078F3E}" type="pres">
      <dgm:prSet presAssocID="{87249AE0-9F95-4FB3-BDF4-A45CD2F6E574}" presName="text" presStyleLbl="fgAcc0" presStyleIdx="0" presStyleCnt="1" custLinFactY="-91122" custLinFactNeighborX="86111" custLinFactNeighborY="-100000">
        <dgm:presLayoutVars>
          <dgm:chPref val="3"/>
        </dgm:presLayoutVars>
      </dgm:prSet>
      <dgm:spPr/>
    </dgm:pt>
    <dgm:pt modelId="{10FB0A04-9F62-415C-9F79-FD98105B0025}" type="pres">
      <dgm:prSet presAssocID="{87249AE0-9F95-4FB3-BDF4-A45CD2F6E574}" presName="hierChild2" presStyleCnt="0"/>
      <dgm:spPr/>
    </dgm:pt>
    <dgm:pt modelId="{76E92E53-67AD-4222-AC37-B64AB6DA5439}" type="pres">
      <dgm:prSet presAssocID="{4B91A1C6-DC2D-4BC9-A330-61CFC0D70A19}" presName="Name10" presStyleLbl="parChTrans1D2" presStyleIdx="0" presStyleCnt="4"/>
      <dgm:spPr/>
    </dgm:pt>
    <dgm:pt modelId="{E9B92E7B-26E5-4BEA-B1D7-5D3098CC6469}" type="pres">
      <dgm:prSet presAssocID="{2DE926BF-FFA6-4A1D-87CB-0315D67CEC27}" presName="hierRoot2" presStyleCnt="0"/>
      <dgm:spPr/>
    </dgm:pt>
    <dgm:pt modelId="{1FDC01C9-CEC4-4E92-A6D1-D02CEA1E9BBA}" type="pres">
      <dgm:prSet presAssocID="{2DE926BF-FFA6-4A1D-87CB-0315D67CEC27}" presName="composite2" presStyleCnt="0"/>
      <dgm:spPr/>
    </dgm:pt>
    <dgm:pt modelId="{A1B5046E-D3A4-4591-946E-D13039D05242}" type="pres">
      <dgm:prSet presAssocID="{2DE926BF-FFA6-4A1D-87CB-0315D67CEC27}" presName="background2" presStyleLbl="node2" presStyleIdx="0" presStyleCnt="4"/>
      <dgm:spPr/>
    </dgm:pt>
    <dgm:pt modelId="{51618A4B-F55F-4D01-84D5-5293B2331716}" type="pres">
      <dgm:prSet presAssocID="{2DE926BF-FFA6-4A1D-87CB-0315D67CEC27}" presName="text2" presStyleLbl="fgAcc2" presStyleIdx="0" presStyleCnt="4" custLinFactNeighborX="-8091" custLinFactNeighborY="-80915">
        <dgm:presLayoutVars>
          <dgm:chPref val="3"/>
        </dgm:presLayoutVars>
      </dgm:prSet>
      <dgm:spPr/>
    </dgm:pt>
    <dgm:pt modelId="{7F48ED26-7E8C-4192-AACA-12111F5EE6B9}" type="pres">
      <dgm:prSet presAssocID="{2DE926BF-FFA6-4A1D-87CB-0315D67CEC27}" presName="hierChild3" presStyleCnt="0"/>
      <dgm:spPr/>
    </dgm:pt>
    <dgm:pt modelId="{4A06C511-3495-407A-951D-0102512580F6}" type="pres">
      <dgm:prSet presAssocID="{487D2C57-056E-495F-B99A-8A00EE6ED956}" presName="Name17" presStyleLbl="parChTrans1D3" presStyleIdx="0" presStyleCnt="12"/>
      <dgm:spPr/>
    </dgm:pt>
    <dgm:pt modelId="{87F509D3-05F5-4EA7-AF69-46E30C382128}" type="pres">
      <dgm:prSet presAssocID="{AC5275B7-8FF0-4A4B-A9CE-CA2BD2BD20F4}" presName="hierRoot3" presStyleCnt="0"/>
      <dgm:spPr/>
    </dgm:pt>
    <dgm:pt modelId="{7724E8A1-59DF-4EF4-8884-0C5A43295B95}" type="pres">
      <dgm:prSet presAssocID="{AC5275B7-8FF0-4A4B-A9CE-CA2BD2BD20F4}" presName="composite3" presStyleCnt="0"/>
      <dgm:spPr/>
    </dgm:pt>
    <dgm:pt modelId="{D0AC9805-B0DB-48B6-9433-1551CA38B821}" type="pres">
      <dgm:prSet presAssocID="{AC5275B7-8FF0-4A4B-A9CE-CA2BD2BD20F4}" presName="background3" presStyleLbl="node3" presStyleIdx="0" presStyleCnt="12"/>
      <dgm:spPr/>
    </dgm:pt>
    <dgm:pt modelId="{5BE63609-72A1-42AE-BE19-0B8D2EA4A512}" type="pres">
      <dgm:prSet presAssocID="{AC5275B7-8FF0-4A4B-A9CE-CA2BD2BD20F4}" presName="text3" presStyleLbl="fgAcc3" presStyleIdx="0" presStyleCnt="12">
        <dgm:presLayoutVars>
          <dgm:chPref val="3"/>
        </dgm:presLayoutVars>
      </dgm:prSet>
      <dgm:spPr/>
    </dgm:pt>
    <dgm:pt modelId="{FE001765-B906-40D9-95C6-F14117F83839}" type="pres">
      <dgm:prSet presAssocID="{AC5275B7-8FF0-4A4B-A9CE-CA2BD2BD20F4}" presName="hierChild4" presStyleCnt="0"/>
      <dgm:spPr/>
    </dgm:pt>
    <dgm:pt modelId="{620D2598-A08F-41E4-B251-5311EC267C9D}" type="pres">
      <dgm:prSet presAssocID="{F2336E12-CE64-4C2C-95AD-DDBA1C859EE8}" presName="Name17" presStyleLbl="parChTrans1D3" presStyleIdx="1" presStyleCnt="12"/>
      <dgm:spPr/>
    </dgm:pt>
    <dgm:pt modelId="{EB6230D5-F688-44ED-9D4B-68453D26AB6A}" type="pres">
      <dgm:prSet presAssocID="{565DA2F0-91BF-4EBD-8DA6-10821F593EFB}" presName="hierRoot3" presStyleCnt="0"/>
      <dgm:spPr/>
    </dgm:pt>
    <dgm:pt modelId="{2E0DF594-BDFB-4F50-A89B-FD6260F1C721}" type="pres">
      <dgm:prSet presAssocID="{565DA2F0-91BF-4EBD-8DA6-10821F593EFB}" presName="composite3" presStyleCnt="0"/>
      <dgm:spPr/>
    </dgm:pt>
    <dgm:pt modelId="{17EF21C6-1A57-48FE-9B35-92278AD560FA}" type="pres">
      <dgm:prSet presAssocID="{565DA2F0-91BF-4EBD-8DA6-10821F593EFB}" presName="background3" presStyleLbl="node3" presStyleIdx="1" presStyleCnt="12"/>
      <dgm:spPr/>
    </dgm:pt>
    <dgm:pt modelId="{33B15C2E-3EB6-47C3-B605-5748672DD9E5}" type="pres">
      <dgm:prSet presAssocID="{565DA2F0-91BF-4EBD-8DA6-10821F593EFB}" presName="text3" presStyleLbl="fgAcc3" presStyleIdx="1" presStyleCnt="12">
        <dgm:presLayoutVars>
          <dgm:chPref val="3"/>
        </dgm:presLayoutVars>
      </dgm:prSet>
      <dgm:spPr/>
    </dgm:pt>
    <dgm:pt modelId="{D85162FA-2E9F-4C68-B6D1-02C47D117425}" type="pres">
      <dgm:prSet presAssocID="{565DA2F0-91BF-4EBD-8DA6-10821F593EFB}" presName="hierChild4" presStyleCnt="0"/>
      <dgm:spPr/>
    </dgm:pt>
    <dgm:pt modelId="{B3988332-8894-45C6-9B2E-84DFF19C19B4}" type="pres">
      <dgm:prSet presAssocID="{0AE2F6A1-CDFC-4290-AA7D-AC2A2AC0BAA3}" presName="Name10" presStyleLbl="parChTrans1D2" presStyleIdx="1" presStyleCnt="4"/>
      <dgm:spPr/>
    </dgm:pt>
    <dgm:pt modelId="{5E975734-F250-48A5-8704-FD98F2BEE838}" type="pres">
      <dgm:prSet presAssocID="{DD54BDC2-CAC5-448D-A9F4-799A86E652EB}" presName="hierRoot2" presStyleCnt="0"/>
      <dgm:spPr/>
    </dgm:pt>
    <dgm:pt modelId="{019AFA40-8FD2-4442-AEA8-2D91C35BCB17}" type="pres">
      <dgm:prSet presAssocID="{DD54BDC2-CAC5-448D-A9F4-799A86E652EB}" presName="composite2" presStyleCnt="0"/>
      <dgm:spPr/>
    </dgm:pt>
    <dgm:pt modelId="{154E85B8-DDB2-43B9-B9DF-0557EB5C6FF1}" type="pres">
      <dgm:prSet presAssocID="{DD54BDC2-CAC5-448D-A9F4-799A86E652EB}" presName="background2" presStyleLbl="node2" presStyleIdx="1" presStyleCnt="4"/>
      <dgm:spPr/>
    </dgm:pt>
    <dgm:pt modelId="{F2BD6ED4-615C-4E8C-9A3F-38D97347CD21}" type="pres">
      <dgm:prSet presAssocID="{DD54BDC2-CAC5-448D-A9F4-799A86E652EB}" presName="text2" presStyleLbl="fgAcc2" presStyleIdx="1" presStyleCnt="4" custLinFactNeighborX="-8091" custLinFactNeighborY="-80915">
        <dgm:presLayoutVars>
          <dgm:chPref val="3"/>
        </dgm:presLayoutVars>
      </dgm:prSet>
      <dgm:spPr/>
    </dgm:pt>
    <dgm:pt modelId="{61FC3ABB-3E2F-4A50-8FD8-A5515EE64970}" type="pres">
      <dgm:prSet presAssocID="{DD54BDC2-CAC5-448D-A9F4-799A86E652EB}" presName="hierChild3" presStyleCnt="0"/>
      <dgm:spPr/>
    </dgm:pt>
    <dgm:pt modelId="{0E7BE9A5-F26A-4320-823F-7D376373232F}" type="pres">
      <dgm:prSet presAssocID="{5EABE8E7-4865-4BE5-982F-72AA303819F5}" presName="Name17" presStyleLbl="parChTrans1D3" presStyleIdx="2" presStyleCnt="12"/>
      <dgm:spPr/>
    </dgm:pt>
    <dgm:pt modelId="{A7ECEB47-CF80-4C17-BD63-184C6A0455AF}" type="pres">
      <dgm:prSet presAssocID="{C5286A8C-6CAC-4F8C-A537-45CFEAB1656B}" presName="hierRoot3" presStyleCnt="0"/>
      <dgm:spPr/>
    </dgm:pt>
    <dgm:pt modelId="{597E0909-092C-476F-8D5B-A96FBE0C00D7}" type="pres">
      <dgm:prSet presAssocID="{C5286A8C-6CAC-4F8C-A537-45CFEAB1656B}" presName="composite3" presStyleCnt="0"/>
      <dgm:spPr/>
    </dgm:pt>
    <dgm:pt modelId="{725507A4-6B79-42DF-9F71-D93419B03990}" type="pres">
      <dgm:prSet presAssocID="{C5286A8C-6CAC-4F8C-A537-45CFEAB1656B}" presName="background3" presStyleLbl="node3" presStyleIdx="2" presStyleCnt="12"/>
      <dgm:spPr/>
    </dgm:pt>
    <dgm:pt modelId="{3CB5692E-C59F-48EA-AAE1-D0E7C55454F2}" type="pres">
      <dgm:prSet presAssocID="{C5286A8C-6CAC-4F8C-A537-45CFEAB1656B}" presName="text3" presStyleLbl="fgAcc3" presStyleIdx="2" presStyleCnt="12">
        <dgm:presLayoutVars>
          <dgm:chPref val="3"/>
        </dgm:presLayoutVars>
      </dgm:prSet>
      <dgm:spPr/>
    </dgm:pt>
    <dgm:pt modelId="{7E0679A6-BF99-4F22-BF31-3306B388D584}" type="pres">
      <dgm:prSet presAssocID="{C5286A8C-6CAC-4F8C-A537-45CFEAB1656B}" presName="hierChild4" presStyleCnt="0"/>
      <dgm:spPr/>
    </dgm:pt>
    <dgm:pt modelId="{9B070076-E560-4D32-9105-36D73641AA1C}" type="pres">
      <dgm:prSet presAssocID="{92D68BF5-65DC-4558-8439-B0200893F15F}" presName="Name17" presStyleLbl="parChTrans1D3" presStyleIdx="3" presStyleCnt="12"/>
      <dgm:spPr/>
    </dgm:pt>
    <dgm:pt modelId="{C4210CE1-0F0D-4F01-AAD4-1ED102E92F4E}" type="pres">
      <dgm:prSet presAssocID="{628721F6-2EB2-4BFE-A8D3-239949FB915B}" presName="hierRoot3" presStyleCnt="0"/>
      <dgm:spPr/>
    </dgm:pt>
    <dgm:pt modelId="{6E97AB75-4E41-4B01-BEBF-BAEC1811D27A}" type="pres">
      <dgm:prSet presAssocID="{628721F6-2EB2-4BFE-A8D3-239949FB915B}" presName="composite3" presStyleCnt="0"/>
      <dgm:spPr/>
    </dgm:pt>
    <dgm:pt modelId="{0A1051D5-F0BB-4ED1-996C-006AD71958EF}" type="pres">
      <dgm:prSet presAssocID="{628721F6-2EB2-4BFE-A8D3-239949FB915B}" presName="background3" presStyleLbl="node3" presStyleIdx="3" presStyleCnt="12"/>
      <dgm:spPr/>
    </dgm:pt>
    <dgm:pt modelId="{5ED76468-3A70-4425-8282-53880CA8C6AD}" type="pres">
      <dgm:prSet presAssocID="{628721F6-2EB2-4BFE-A8D3-239949FB915B}" presName="text3" presStyleLbl="fgAcc3" presStyleIdx="3" presStyleCnt="12">
        <dgm:presLayoutVars>
          <dgm:chPref val="3"/>
        </dgm:presLayoutVars>
      </dgm:prSet>
      <dgm:spPr/>
    </dgm:pt>
    <dgm:pt modelId="{6DBFCE53-6EDA-4D7E-9947-0FBD9C0F6B23}" type="pres">
      <dgm:prSet presAssocID="{628721F6-2EB2-4BFE-A8D3-239949FB915B}" presName="hierChild4" presStyleCnt="0"/>
      <dgm:spPr/>
    </dgm:pt>
    <dgm:pt modelId="{61C9534A-4E7D-4DF5-9031-811D085BB195}" type="pres">
      <dgm:prSet presAssocID="{2C8311B4-908B-4237-8BA2-46253EC5D9F1}" presName="Name17" presStyleLbl="parChTrans1D3" presStyleIdx="4" presStyleCnt="12"/>
      <dgm:spPr/>
    </dgm:pt>
    <dgm:pt modelId="{A673D564-625B-40EA-918F-81FE3AB66E97}" type="pres">
      <dgm:prSet presAssocID="{B68D6443-80F0-457F-81F5-3023EAFE83C7}" presName="hierRoot3" presStyleCnt="0"/>
      <dgm:spPr/>
    </dgm:pt>
    <dgm:pt modelId="{874CE4BA-972C-468D-ACEF-64F5B07439A1}" type="pres">
      <dgm:prSet presAssocID="{B68D6443-80F0-457F-81F5-3023EAFE83C7}" presName="composite3" presStyleCnt="0"/>
      <dgm:spPr/>
    </dgm:pt>
    <dgm:pt modelId="{C1B89B49-2C05-4ED4-9DDB-1884E38680AA}" type="pres">
      <dgm:prSet presAssocID="{B68D6443-80F0-457F-81F5-3023EAFE83C7}" presName="background3" presStyleLbl="node3" presStyleIdx="4" presStyleCnt="12"/>
      <dgm:spPr/>
    </dgm:pt>
    <dgm:pt modelId="{01721DFE-6F6F-40B9-9EE4-F45B5D5BECAD}" type="pres">
      <dgm:prSet presAssocID="{B68D6443-80F0-457F-81F5-3023EAFE83C7}" presName="text3" presStyleLbl="fgAcc3" presStyleIdx="4" presStyleCnt="12">
        <dgm:presLayoutVars>
          <dgm:chPref val="3"/>
        </dgm:presLayoutVars>
      </dgm:prSet>
      <dgm:spPr/>
    </dgm:pt>
    <dgm:pt modelId="{C3524F58-1586-47CA-BA30-07411C0FBB68}" type="pres">
      <dgm:prSet presAssocID="{B68D6443-80F0-457F-81F5-3023EAFE83C7}" presName="hierChild4" presStyleCnt="0"/>
      <dgm:spPr/>
    </dgm:pt>
    <dgm:pt modelId="{DACC96C2-A888-4336-803B-94A86C0A9717}" type="pres">
      <dgm:prSet presAssocID="{6FAD9489-9DCB-4E9A-90BA-7309A2D8E19F}" presName="Name10" presStyleLbl="parChTrans1D2" presStyleIdx="2" presStyleCnt="4"/>
      <dgm:spPr/>
    </dgm:pt>
    <dgm:pt modelId="{C39B4AA7-7834-4DF5-B49F-01A31A8842CB}" type="pres">
      <dgm:prSet presAssocID="{A0BD51EE-6F98-41D6-B732-DCCA2307E4A1}" presName="hierRoot2" presStyleCnt="0"/>
      <dgm:spPr/>
    </dgm:pt>
    <dgm:pt modelId="{9CB6E305-907B-48C9-BA5B-17872FC0C266}" type="pres">
      <dgm:prSet presAssocID="{A0BD51EE-6F98-41D6-B732-DCCA2307E4A1}" presName="composite2" presStyleCnt="0"/>
      <dgm:spPr/>
    </dgm:pt>
    <dgm:pt modelId="{043D3A77-26E0-4FB6-ACFC-FC0FCDEB6FED}" type="pres">
      <dgm:prSet presAssocID="{A0BD51EE-6F98-41D6-B732-DCCA2307E4A1}" presName="background2" presStyleLbl="node2" presStyleIdx="2" presStyleCnt="4"/>
      <dgm:spPr/>
    </dgm:pt>
    <dgm:pt modelId="{9AE14E65-8C6E-4F0B-8C0F-9E93978CA290}" type="pres">
      <dgm:prSet presAssocID="{A0BD51EE-6F98-41D6-B732-DCCA2307E4A1}" presName="text2" presStyleLbl="fgAcc2" presStyleIdx="2" presStyleCnt="4" custLinFactNeighborX="-8091" custLinFactNeighborY="-80915">
        <dgm:presLayoutVars>
          <dgm:chPref val="3"/>
        </dgm:presLayoutVars>
      </dgm:prSet>
      <dgm:spPr/>
    </dgm:pt>
    <dgm:pt modelId="{CF43722D-AF1A-41E8-9723-5E348B856941}" type="pres">
      <dgm:prSet presAssocID="{A0BD51EE-6F98-41D6-B732-DCCA2307E4A1}" presName="hierChild3" presStyleCnt="0"/>
      <dgm:spPr/>
    </dgm:pt>
    <dgm:pt modelId="{E01A42D0-92F1-424F-84B6-A3324AE62CF8}" type="pres">
      <dgm:prSet presAssocID="{BD017319-2D2C-48DF-9E48-DA16B61ECAF7}" presName="Name17" presStyleLbl="parChTrans1D3" presStyleIdx="5" presStyleCnt="12"/>
      <dgm:spPr/>
    </dgm:pt>
    <dgm:pt modelId="{58ACB889-1AAF-409A-ACF6-0B8547736A47}" type="pres">
      <dgm:prSet presAssocID="{CD11ED26-AEFE-4495-B80E-FE9B3A4A5C9B}" presName="hierRoot3" presStyleCnt="0"/>
      <dgm:spPr/>
    </dgm:pt>
    <dgm:pt modelId="{F41158BF-2527-43E7-AA28-263F9CC49CA5}" type="pres">
      <dgm:prSet presAssocID="{CD11ED26-AEFE-4495-B80E-FE9B3A4A5C9B}" presName="composite3" presStyleCnt="0"/>
      <dgm:spPr/>
    </dgm:pt>
    <dgm:pt modelId="{3B04F1DD-4864-4A3B-94E0-94AABE2E1905}" type="pres">
      <dgm:prSet presAssocID="{CD11ED26-AEFE-4495-B80E-FE9B3A4A5C9B}" presName="background3" presStyleLbl="node3" presStyleIdx="5" presStyleCnt="12"/>
      <dgm:spPr/>
    </dgm:pt>
    <dgm:pt modelId="{2FE8AC46-CAF7-4B96-9760-A4D3A77C1202}" type="pres">
      <dgm:prSet presAssocID="{CD11ED26-AEFE-4495-B80E-FE9B3A4A5C9B}" presName="text3" presStyleLbl="fgAcc3" presStyleIdx="5" presStyleCnt="12">
        <dgm:presLayoutVars>
          <dgm:chPref val="3"/>
        </dgm:presLayoutVars>
      </dgm:prSet>
      <dgm:spPr/>
    </dgm:pt>
    <dgm:pt modelId="{0903AB51-7B23-4F5B-BD52-718B0A1B2363}" type="pres">
      <dgm:prSet presAssocID="{CD11ED26-AEFE-4495-B80E-FE9B3A4A5C9B}" presName="hierChild4" presStyleCnt="0"/>
      <dgm:spPr/>
    </dgm:pt>
    <dgm:pt modelId="{57FBEF77-35A5-48C5-B82A-EFB8F98737AB}" type="pres">
      <dgm:prSet presAssocID="{7000A8C0-46EC-45E6-AAC6-295A805D8B6B}" presName="Name17" presStyleLbl="parChTrans1D3" presStyleIdx="6" presStyleCnt="12"/>
      <dgm:spPr/>
    </dgm:pt>
    <dgm:pt modelId="{0F771D02-13F1-4E46-B208-0495E35CE2FD}" type="pres">
      <dgm:prSet presAssocID="{144B9E58-3AB0-4925-920E-E21055663A94}" presName="hierRoot3" presStyleCnt="0"/>
      <dgm:spPr/>
    </dgm:pt>
    <dgm:pt modelId="{60B6D4A6-CB61-47BA-829D-926D34A9C13A}" type="pres">
      <dgm:prSet presAssocID="{144B9E58-3AB0-4925-920E-E21055663A94}" presName="composite3" presStyleCnt="0"/>
      <dgm:spPr/>
    </dgm:pt>
    <dgm:pt modelId="{D1DA3247-32E1-4957-ABA1-70480A70A643}" type="pres">
      <dgm:prSet presAssocID="{144B9E58-3AB0-4925-920E-E21055663A94}" presName="background3" presStyleLbl="node3" presStyleIdx="6" presStyleCnt="12"/>
      <dgm:spPr/>
    </dgm:pt>
    <dgm:pt modelId="{BCB97430-7F3D-4245-8E97-6A0A253E8BAF}" type="pres">
      <dgm:prSet presAssocID="{144B9E58-3AB0-4925-920E-E21055663A94}" presName="text3" presStyleLbl="fgAcc3" presStyleIdx="6" presStyleCnt="12">
        <dgm:presLayoutVars>
          <dgm:chPref val="3"/>
        </dgm:presLayoutVars>
      </dgm:prSet>
      <dgm:spPr/>
    </dgm:pt>
    <dgm:pt modelId="{ACDB7BC1-10C5-4C82-B8E1-FAA2E7B71DCC}" type="pres">
      <dgm:prSet presAssocID="{144B9E58-3AB0-4925-920E-E21055663A94}" presName="hierChild4" presStyleCnt="0"/>
      <dgm:spPr/>
    </dgm:pt>
    <dgm:pt modelId="{9EAA451D-69A6-4AFC-9B16-E8B781B263C0}" type="pres">
      <dgm:prSet presAssocID="{A1D00B80-C51F-40AA-87C9-8FF94F624A36}" presName="Name10" presStyleLbl="parChTrans1D2" presStyleIdx="3" presStyleCnt="4"/>
      <dgm:spPr/>
    </dgm:pt>
    <dgm:pt modelId="{BBB70675-8DED-4DDA-9C55-C0AFE324D5FD}" type="pres">
      <dgm:prSet presAssocID="{2B53205A-0452-45A7-BABD-0773CA31747F}" presName="hierRoot2" presStyleCnt="0"/>
      <dgm:spPr/>
    </dgm:pt>
    <dgm:pt modelId="{8587916F-DFF7-4C35-9C4F-5F89B9DBA903}" type="pres">
      <dgm:prSet presAssocID="{2B53205A-0452-45A7-BABD-0773CA31747F}" presName="composite2" presStyleCnt="0"/>
      <dgm:spPr/>
    </dgm:pt>
    <dgm:pt modelId="{73F8D88A-5951-40B8-83E2-B159F2B11DDB}" type="pres">
      <dgm:prSet presAssocID="{2B53205A-0452-45A7-BABD-0773CA31747F}" presName="background2" presStyleLbl="node2" presStyleIdx="3" presStyleCnt="4"/>
      <dgm:spPr/>
    </dgm:pt>
    <dgm:pt modelId="{72A968C3-3788-4FDF-99EB-D8FCFD7EA9D3}" type="pres">
      <dgm:prSet presAssocID="{2B53205A-0452-45A7-BABD-0773CA31747F}" presName="text2" presStyleLbl="fgAcc2" presStyleIdx="3" presStyleCnt="4" custLinFactNeighborX="-8091" custLinFactNeighborY="-80915">
        <dgm:presLayoutVars>
          <dgm:chPref val="3"/>
        </dgm:presLayoutVars>
      </dgm:prSet>
      <dgm:spPr/>
    </dgm:pt>
    <dgm:pt modelId="{843095AD-6DD5-4D47-B073-108BE38DB165}" type="pres">
      <dgm:prSet presAssocID="{2B53205A-0452-45A7-BABD-0773CA31747F}" presName="hierChild3" presStyleCnt="0"/>
      <dgm:spPr/>
    </dgm:pt>
    <dgm:pt modelId="{1AB03422-3DD2-4AB8-9E10-5EE34A088479}" type="pres">
      <dgm:prSet presAssocID="{7FFC702E-F3FB-4A5A-9EA9-55452C4C4644}" presName="Name17" presStyleLbl="parChTrans1D3" presStyleIdx="7" presStyleCnt="12"/>
      <dgm:spPr/>
    </dgm:pt>
    <dgm:pt modelId="{37CD8942-3346-43DB-B299-A8C95279B9C0}" type="pres">
      <dgm:prSet presAssocID="{6F098555-0FEC-41B6-982C-FA1662693277}" presName="hierRoot3" presStyleCnt="0"/>
      <dgm:spPr/>
    </dgm:pt>
    <dgm:pt modelId="{86130527-D64B-4EBD-84EA-7C68D785B95B}" type="pres">
      <dgm:prSet presAssocID="{6F098555-0FEC-41B6-982C-FA1662693277}" presName="composite3" presStyleCnt="0"/>
      <dgm:spPr/>
    </dgm:pt>
    <dgm:pt modelId="{8723FBB4-C8A6-43F3-91A1-8233808A3E1E}" type="pres">
      <dgm:prSet presAssocID="{6F098555-0FEC-41B6-982C-FA1662693277}" presName="background3" presStyleLbl="node3" presStyleIdx="7" presStyleCnt="12"/>
      <dgm:spPr/>
    </dgm:pt>
    <dgm:pt modelId="{937DBB15-CC9E-4B50-97AD-194EC2E51840}" type="pres">
      <dgm:prSet presAssocID="{6F098555-0FEC-41B6-982C-FA1662693277}" presName="text3" presStyleLbl="fgAcc3" presStyleIdx="7" presStyleCnt="12">
        <dgm:presLayoutVars>
          <dgm:chPref val="3"/>
        </dgm:presLayoutVars>
      </dgm:prSet>
      <dgm:spPr/>
    </dgm:pt>
    <dgm:pt modelId="{4C3226AD-E53B-4B31-B14B-76E7004B30DE}" type="pres">
      <dgm:prSet presAssocID="{6F098555-0FEC-41B6-982C-FA1662693277}" presName="hierChild4" presStyleCnt="0"/>
      <dgm:spPr/>
    </dgm:pt>
    <dgm:pt modelId="{1189ED21-A0FC-4BEC-BCED-4D7F3F259564}" type="pres">
      <dgm:prSet presAssocID="{33E845C6-54B1-4752-9914-EFE56B1A5C01}" presName="Name17" presStyleLbl="parChTrans1D3" presStyleIdx="8" presStyleCnt="12"/>
      <dgm:spPr/>
    </dgm:pt>
    <dgm:pt modelId="{48E5E8D0-E614-45E7-B8BB-8A16AC66DCA5}" type="pres">
      <dgm:prSet presAssocID="{79C35C46-97AA-4D94-88CB-61B9035ADCD0}" presName="hierRoot3" presStyleCnt="0"/>
      <dgm:spPr/>
    </dgm:pt>
    <dgm:pt modelId="{DB1CC333-7FE8-439D-89F2-A032FD6AA9A2}" type="pres">
      <dgm:prSet presAssocID="{79C35C46-97AA-4D94-88CB-61B9035ADCD0}" presName="composite3" presStyleCnt="0"/>
      <dgm:spPr/>
    </dgm:pt>
    <dgm:pt modelId="{19C58F84-5CBF-4D08-A5B4-2942C647C74E}" type="pres">
      <dgm:prSet presAssocID="{79C35C46-97AA-4D94-88CB-61B9035ADCD0}" presName="background3" presStyleLbl="node3" presStyleIdx="8" presStyleCnt="12"/>
      <dgm:spPr/>
    </dgm:pt>
    <dgm:pt modelId="{16BCC846-C540-4D81-BA10-C4927EFB110B}" type="pres">
      <dgm:prSet presAssocID="{79C35C46-97AA-4D94-88CB-61B9035ADCD0}" presName="text3" presStyleLbl="fgAcc3" presStyleIdx="8" presStyleCnt="12">
        <dgm:presLayoutVars>
          <dgm:chPref val="3"/>
        </dgm:presLayoutVars>
      </dgm:prSet>
      <dgm:spPr/>
    </dgm:pt>
    <dgm:pt modelId="{E7A3D4F8-872C-45F3-BEC1-8CD7C6199515}" type="pres">
      <dgm:prSet presAssocID="{79C35C46-97AA-4D94-88CB-61B9035ADCD0}" presName="hierChild4" presStyleCnt="0"/>
      <dgm:spPr/>
    </dgm:pt>
    <dgm:pt modelId="{110132D5-5B06-4A01-88E4-7F06E742D1B5}" type="pres">
      <dgm:prSet presAssocID="{88B9CE8B-26BC-4C05-9C2B-93C590834E94}" presName="Name17" presStyleLbl="parChTrans1D3" presStyleIdx="9" presStyleCnt="12"/>
      <dgm:spPr/>
    </dgm:pt>
    <dgm:pt modelId="{7BAB099B-7FB2-4AB1-A3D4-EDE64699A4B7}" type="pres">
      <dgm:prSet presAssocID="{37A8269D-9DA7-49E7-B354-E5397B17AACA}" presName="hierRoot3" presStyleCnt="0"/>
      <dgm:spPr/>
    </dgm:pt>
    <dgm:pt modelId="{43292B0C-18D8-4908-AE04-848E0F4073D6}" type="pres">
      <dgm:prSet presAssocID="{37A8269D-9DA7-49E7-B354-E5397B17AACA}" presName="composite3" presStyleCnt="0"/>
      <dgm:spPr/>
    </dgm:pt>
    <dgm:pt modelId="{F9D7F22E-0556-4E01-8ABD-CF8390E6A14A}" type="pres">
      <dgm:prSet presAssocID="{37A8269D-9DA7-49E7-B354-E5397B17AACA}" presName="background3" presStyleLbl="node3" presStyleIdx="9" presStyleCnt="12"/>
      <dgm:spPr/>
    </dgm:pt>
    <dgm:pt modelId="{5DC2646E-521C-4934-A649-75F3776342AA}" type="pres">
      <dgm:prSet presAssocID="{37A8269D-9DA7-49E7-B354-E5397B17AACA}" presName="text3" presStyleLbl="fgAcc3" presStyleIdx="9" presStyleCnt="12">
        <dgm:presLayoutVars>
          <dgm:chPref val="3"/>
        </dgm:presLayoutVars>
      </dgm:prSet>
      <dgm:spPr/>
    </dgm:pt>
    <dgm:pt modelId="{3E85E549-D7CD-4055-99AB-CFF63F095E98}" type="pres">
      <dgm:prSet presAssocID="{37A8269D-9DA7-49E7-B354-E5397B17AACA}" presName="hierChild4" presStyleCnt="0"/>
      <dgm:spPr/>
    </dgm:pt>
    <dgm:pt modelId="{CCAC4E62-7620-478A-9733-6085A1B88C19}" type="pres">
      <dgm:prSet presAssocID="{A20B3E16-5ADC-4E84-A1B3-70EDCFA95704}" presName="Name17" presStyleLbl="parChTrans1D3" presStyleIdx="10" presStyleCnt="12"/>
      <dgm:spPr/>
    </dgm:pt>
    <dgm:pt modelId="{F4F94FCD-B03E-4D81-88C3-2248123A5756}" type="pres">
      <dgm:prSet presAssocID="{408DD8AC-6AA1-4D54-8BBF-D0F37A531E1A}" presName="hierRoot3" presStyleCnt="0"/>
      <dgm:spPr/>
    </dgm:pt>
    <dgm:pt modelId="{D38A8529-5C2D-4E93-9290-5D69A0FC3118}" type="pres">
      <dgm:prSet presAssocID="{408DD8AC-6AA1-4D54-8BBF-D0F37A531E1A}" presName="composite3" presStyleCnt="0"/>
      <dgm:spPr/>
    </dgm:pt>
    <dgm:pt modelId="{D11A9316-8D97-4B3E-BB16-18B21B92DD9B}" type="pres">
      <dgm:prSet presAssocID="{408DD8AC-6AA1-4D54-8BBF-D0F37A531E1A}" presName="background3" presStyleLbl="node3" presStyleIdx="10" presStyleCnt="12"/>
      <dgm:spPr/>
    </dgm:pt>
    <dgm:pt modelId="{7809793C-D7F6-4D01-9957-9BC421DBBE5F}" type="pres">
      <dgm:prSet presAssocID="{408DD8AC-6AA1-4D54-8BBF-D0F37A531E1A}" presName="text3" presStyleLbl="fgAcc3" presStyleIdx="10" presStyleCnt="12">
        <dgm:presLayoutVars>
          <dgm:chPref val="3"/>
        </dgm:presLayoutVars>
      </dgm:prSet>
      <dgm:spPr/>
    </dgm:pt>
    <dgm:pt modelId="{56021B7F-FE22-4845-B061-16E993CEB84D}" type="pres">
      <dgm:prSet presAssocID="{408DD8AC-6AA1-4D54-8BBF-D0F37A531E1A}" presName="hierChild4" presStyleCnt="0"/>
      <dgm:spPr/>
    </dgm:pt>
    <dgm:pt modelId="{F76A1BF1-9128-4075-BA6E-FCDCC0D4C427}" type="pres">
      <dgm:prSet presAssocID="{4F29574D-2AD3-435F-9828-03B23B5864E5}" presName="Name17" presStyleLbl="parChTrans1D3" presStyleIdx="11" presStyleCnt="12"/>
      <dgm:spPr/>
    </dgm:pt>
    <dgm:pt modelId="{7A300DCB-EC16-4F19-B56E-C8800F09FF5C}" type="pres">
      <dgm:prSet presAssocID="{861C9873-2B9E-47B5-AA15-650802342F53}" presName="hierRoot3" presStyleCnt="0"/>
      <dgm:spPr/>
    </dgm:pt>
    <dgm:pt modelId="{D8395841-C3E1-40B3-9A35-5580F02DA8FC}" type="pres">
      <dgm:prSet presAssocID="{861C9873-2B9E-47B5-AA15-650802342F53}" presName="composite3" presStyleCnt="0"/>
      <dgm:spPr/>
    </dgm:pt>
    <dgm:pt modelId="{144526C8-FB2C-431A-91F9-F150183E3AE2}" type="pres">
      <dgm:prSet presAssocID="{861C9873-2B9E-47B5-AA15-650802342F53}" presName="background3" presStyleLbl="node3" presStyleIdx="11" presStyleCnt="12"/>
      <dgm:spPr/>
    </dgm:pt>
    <dgm:pt modelId="{9A5B31A6-F770-49E1-8EEB-6B920827176B}" type="pres">
      <dgm:prSet presAssocID="{861C9873-2B9E-47B5-AA15-650802342F53}" presName="text3" presStyleLbl="fgAcc3" presStyleIdx="11" presStyleCnt="12">
        <dgm:presLayoutVars>
          <dgm:chPref val="3"/>
        </dgm:presLayoutVars>
      </dgm:prSet>
      <dgm:spPr/>
    </dgm:pt>
    <dgm:pt modelId="{84B706D7-190B-44D2-BA15-A25B36731943}" type="pres">
      <dgm:prSet presAssocID="{861C9873-2B9E-47B5-AA15-650802342F53}" presName="hierChild4" presStyleCnt="0"/>
      <dgm:spPr/>
    </dgm:pt>
  </dgm:ptLst>
  <dgm:cxnLst>
    <dgm:cxn modelId="{23829703-2F15-4AD8-BE5B-E91ACB0D0A67}" type="presOf" srcId="{33E845C6-54B1-4752-9914-EFE56B1A5C01}" destId="{1189ED21-A0FC-4BEC-BCED-4D7F3F259564}" srcOrd="0" destOrd="0" presId="urn:microsoft.com/office/officeart/2005/8/layout/hierarchy1"/>
    <dgm:cxn modelId="{9FC7AE05-67D8-4BAE-8666-92423CF69CC2}" srcId="{DD54BDC2-CAC5-448D-A9F4-799A86E652EB}" destId="{628721F6-2EB2-4BFE-A8D3-239949FB915B}" srcOrd="1" destOrd="0" parTransId="{92D68BF5-65DC-4558-8439-B0200893F15F}" sibTransId="{C6421790-CA9D-4E20-B58B-CE41CEA6DF4C}"/>
    <dgm:cxn modelId="{26115609-719B-4F1D-A47A-4899929D8541}" type="presOf" srcId="{5EABE8E7-4865-4BE5-982F-72AA303819F5}" destId="{0E7BE9A5-F26A-4320-823F-7D376373232F}" srcOrd="0" destOrd="0" presId="urn:microsoft.com/office/officeart/2005/8/layout/hierarchy1"/>
    <dgm:cxn modelId="{31A7440B-83D4-4EEE-9A03-7C9C98F81EA5}" srcId="{2B53205A-0452-45A7-BABD-0773CA31747F}" destId="{6F098555-0FEC-41B6-982C-FA1662693277}" srcOrd="0" destOrd="0" parTransId="{7FFC702E-F3FB-4A5A-9EA9-55452C4C4644}" sibTransId="{C864128C-322D-465D-9213-F9F0A2DD41D1}"/>
    <dgm:cxn modelId="{3CD6B50D-E1CB-44A1-9C1F-DB4B51152688}" type="presOf" srcId="{6FAD9489-9DCB-4E9A-90BA-7309A2D8E19F}" destId="{DACC96C2-A888-4336-803B-94A86C0A9717}" srcOrd="0" destOrd="0" presId="urn:microsoft.com/office/officeart/2005/8/layout/hierarchy1"/>
    <dgm:cxn modelId="{17B53015-1D97-4527-82FE-AF14955A98A5}" type="presOf" srcId="{2C8311B4-908B-4237-8BA2-46253EC5D9F1}" destId="{61C9534A-4E7D-4DF5-9031-811D085BB195}" srcOrd="0" destOrd="0" presId="urn:microsoft.com/office/officeart/2005/8/layout/hierarchy1"/>
    <dgm:cxn modelId="{6D5FF915-78AD-4D89-B249-6EFF01FC1DC5}" srcId="{A0BD51EE-6F98-41D6-B732-DCCA2307E4A1}" destId="{CD11ED26-AEFE-4495-B80E-FE9B3A4A5C9B}" srcOrd="0" destOrd="0" parTransId="{BD017319-2D2C-48DF-9E48-DA16B61ECAF7}" sibTransId="{2392B920-EF07-442F-A5EC-FEDD5A000836}"/>
    <dgm:cxn modelId="{996B3419-4DA1-462A-98F3-1F50E5F672F5}" type="presOf" srcId="{A0BD51EE-6F98-41D6-B732-DCCA2307E4A1}" destId="{9AE14E65-8C6E-4F0B-8C0F-9E93978CA290}" srcOrd="0" destOrd="0" presId="urn:microsoft.com/office/officeart/2005/8/layout/hierarchy1"/>
    <dgm:cxn modelId="{187A9C1B-2ABA-4A8B-B591-A68E6ACBE310}" type="presOf" srcId="{408DD8AC-6AA1-4D54-8BBF-D0F37A531E1A}" destId="{7809793C-D7F6-4D01-9957-9BC421DBBE5F}" srcOrd="0" destOrd="0" presId="urn:microsoft.com/office/officeart/2005/8/layout/hierarchy1"/>
    <dgm:cxn modelId="{5C3AFF2D-AF4F-4CBC-A7FD-C76BC7EEB48A}" type="presOf" srcId="{B68D6443-80F0-457F-81F5-3023EAFE83C7}" destId="{01721DFE-6F6F-40B9-9EE4-F45B5D5BECAD}" srcOrd="0" destOrd="0" presId="urn:microsoft.com/office/officeart/2005/8/layout/hierarchy1"/>
    <dgm:cxn modelId="{5031A334-6B1C-4529-84B2-4E2CA44F048B}" srcId="{87249AE0-9F95-4FB3-BDF4-A45CD2F6E574}" destId="{2DE926BF-FFA6-4A1D-87CB-0315D67CEC27}" srcOrd="0" destOrd="0" parTransId="{4B91A1C6-DC2D-4BC9-A330-61CFC0D70A19}" sibTransId="{8C65B1D3-5871-47C4-AF5E-D34C2F2EA0D7}"/>
    <dgm:cxn modelId="{7FE5755F-D8FB-49CC-9FA4-A7E7FCC6FE07}" type="presOf" srcId="{487D2C57-056E-495F-B99A-8A00EE6ED956}" destId="{4A06C511-3495-407A-951D-0102512580F6}" srcOrd="0" destOrd="0" presId="urn:microsoft.com/office/officeart/2005/8/layout/hierarchy1"/>
    <dgm:cxn modelId="{0674F141-B6A7-4F13-8C6C-949B39E01291}" type="presOf" srcId="{A1AABC57-4CB7-4362-B316-C0D225048E7F}" destId="{48328FDE-6618-4F08-B7E3-C74B605E6D47}" srcOrd="0" destOrd="0" presId="urn:microsoft.com/office/officeart/2005/8/layout/hierarchy1"/>
    <dgm:cxn modelId="{B8E94B66-1ABE-49F6-82D0-625A0DCAD78E}" type="presOf" srcId="{CD11ED26-AEFE-4495-B80E-FE9B3A4A5C9B}" destId="{2FE8AC46-CAF7-4B96-9760-A4D3A77C1202}" srcOrd="0" destOrd="0" presId="urn:microsoft.com/office/officeart/2005/8/layout/hierarchy1"/>
    <dgm:cxn modelId="{8DA06348-327E-44CA-95F2-7DD545164E5A}" type="presOf" srcId="{F2336E12-CE64-4C2C-95AD-DDBA1C859EE8}" destId="{620D2598-A08F-41E4-B251-5311EC267C9D}" srcOrd="0" destOrd="0" presId="urn:microsoft.com/office/officeart/2005/8/layout/hierarchy1"/>
    <dgm:cxn modelId="{97F6284B-ABD2-4991-8E01-BF47910BC227}" srcId="{2B53205A-0452-45A7-BABD-0773CA31747F}" destId="{79C35C46-97AA-4D94-88CB-61B9035ADCD0}" srcOrd="1" destOrd="0" parTransId="{33E845C6-54B1-4752-9914-EFE56B1A5C01}" sibTransId="{C3640670-ED05-434D-A075-B5B928402D7B}"/>
    <dgm:cxn modelId="{E0C6B66B-4E5B-4C21-B025-00DE19268A70}" type="presOf" srcId="{A1D00B80-C51F-40AA-87C9-8FF94F624A36}" destId="{9EAA451D-69A6-4AFC-9B16-E8B781B263C0}" srcOrd="0" destOrd="0" presId="urn:microsoft.com/office/officeart/2005/8/layout/hierarchy1"/>
    <dgm:cxn modelId="{662CD04B-4E3F-4C0C-A70A-81FFC51043A2}" srcId="{2DE926BF-FFA6-4A1D-87CB-0315D67CEC27}" destId="{AC5275B7-8FF0-4A4B-A9CE-CA2BD2BD20F4}" srcOrd="0" destOrd="0" parTransId="{487D2C57-056E-495F-B99A-8A00EE6ED956}" sibTransId="{822D0B30-2D00-49FF-A39B-99FABBB2EC9F}"/>
    <dgm:cxn modelId="{9354426C-E1BA-434F-8F6C-AAD09BFAA2E1}" srcId="{87249AE0-9F95-4FB3-BDF4-A45CD2F6E574}" destId="{A0BD51EE-6F98-41D6-B732-DCCA2307E4A1}" srcOrd="2" destOrd="0" parTransId="{6FAD9489-9DCB-4E9A-90BA-7309A2D8E19F}" sibTransId="{A7E6B3B7-A8AA-460C-A9B9-7A0E7281BAF0}"/>
    <dgm:cxn modelId="{B14E216D-2E2D-4FA9-B4C1-FD94C2CAAE2D}" type="presOf" srcId="{87249AE0-9F95-4FB3-BDF4-A45CD2F6E574}" destId="{A0C3AC23-C8A9-4171-A2F4-661EF9078F3E}" srcOrd="0" destOrd="0" presId="urn:microsoft.com/office/officeart/2005/8/layout/hierarchy1"/>
    <dgm:cxn modelId="{3EE4506F-78D4-40B9-A545-DCD9F678179F}" type="presOf" srcId="{DD54BDC2-CAC5-448D-A9F4-799A86E652EB}" destId="{F2BD6ED4-615C-4E8C-9A3F-38D97347CD21}" srcOrd="0" destOrd="0" presId="urn:microsoft.com/office/officeart/2005/8/layout/hierarchy1"/>
    <dgm:cxn modelId="{296FF06F-9657-4484-AFE1-AE032957F08D}" type="presOf" srcId="{861C9873-2B9E-47B5-AA15-650802342F53}" destId="{9A5B31A6-F770-49E1-8EEB-6B920827176B}" srcOrd="0" destOrd="0" presId="urn:microsoft.com/office/officeart/2005/8/layout/hierarchy1"/>
    <dgm:cxn modelId="{70608E50-89E4-47D0-ADBB-254FD1A6E2FB}" srcId="{A0BD51EE-6F98-41D6-B732-DCCA2307E4A1}" destId="{144B9E58-3AB0-4925-920E-E21055663A94}" srcOrd="1" destOrd="0" parTransId="{7000A8C0-46EC-45E6-AAC6-295A805D8B6B}" sibTransId="{0F15018B-0673-4627-BAE2-C8455677DA30}"/>
    <dgm:cxn modelId="{25A8AC50-D7A1-4AD9-9F1C-23CACD3F7C58}" type="presOf" srcId="{2DE926BF-FFA6-4A1D-87CB-0315D67CEC27}" destId="{51618A4B-F55F-4D01-84D5-5293B2331716}" srcOrd="0" destOrd="0" presId="urn:microsoft.com/office/officeart/2005/8/layout/hierarchy1"/>
    <dgm:cxn modelId="{E7F6A673-1AF0-4F3C-9EB9-960836A63542}" srcId="{87249AE0-9F95-4FB3-BDF4-A45CD2F6E574}" destId="{DD54BDC2-CAC5-448D-A9F4-799A86E652EB}" srcOrd="1" destOrd="0" parTransId="{0AE2F6A1-CDFC-4290-AA7D-AC2A2AC0BAA3}" sibTransId="{D2F15B0C-EAD9-47CC-9431-339D45EF308C}"/>
    <dgm:cxn modelId="{4C02B259-B910-47AA-A044-6DCF0B9374E5}" type="presOf" srcId="{4B91A1C6-DC2D-4BC9-A330-61CFC0D70A19}" destId="{76E92E53-67AD-4222-AC37-B64AB6DA5439}" srcOrd="0" destOrd="0" presId="urn:microsoft.com/office/officeart/2005/8/layout/hierarchy1"/>
    <dgm:cxn modelId="{EE41EA79-B299-4163-8F30-A4B198835BCC}" type="presOf" srcId="{7000A8C0-46EC-45E6-AAC6-295A805D8B6B}" destId="{57FBEF77-35A5-48C5-B82A-EFB8F98737AB}" srcOrd="0" destOrd="0" presId="urn:microsoft.com/office/officeart/2005/8/layout/hierarchy1"/>
    <dgm:cxn modelId="{1E8E905A-C305-43EF-AEB5-81D9CEB5FFFA}" type="presOf" srcId="{AC5275B7-8FF0-4A4B-A9CE-CA2BD2BD20F4}" destId="{5BE63609-72A1-42AE-BE19-0B8D2EA4A512}" srcOrd="0" destOrd="0" presId="urn:microsoft.com/office/officeart/2005/8/layout/hierarchy1"/>
    <dgm:cxn modelId="{D0BC9B86-513D-4C0E-8107-F294CBAA2B21}" type="presOf" srcId="{565DA2F0-91BF-4EBD-8DA6-10821F593EFB}" destId="{33B15C2E-3EB6-47C3-B605-5748672DD9E5}" srcOrd="0" destOrd="0" presId="urn:microsoft.com/office/officeart/2005/8/layout/hierarchy1"/>
    <dgm:cxn modelId="{7CD84F8E-7277-4E6C-A9B0-A6A9CBF85DB3}" srcId="{87249AE0-9F95-4FB3-BDF4-A45CD2F6E574}" destId="{2B53205A-0452-45A7-BABD-0773CA31747F}" srcOrd="3" destOrd="0" parTransId="{A1D00B80-C51F-40AA-87C9-8FF94F624A36}" sibTransId="{FFD9D0D9-6A4F-4103-8E7B-4898432FF591}"/>
    <dgm:cxn modelId="{BBE44493-89F2-4264-ABD8-FEA98E906C6D}" type="presOf" srcId="{79C35C46-97AA-4D94-88CB-61B9035ADCD0}" destId="{16BCC846-C540-4D81-BA10-C4927EFB110B}" srcOrd="0" destOrd="0" presId="urn:microsoft.com/office/officeart/2005/8/layout/hierarchy1"/>
    <dgm:cxn modelId="{71594894-E3BA-43F4-AF31-E91EED2AB1E8}" type="presOf" srcId="{37A8269D-9DA7-49E7-B354-E5397B17AACA}" destId="{5DC2646E-521C-4934-A649-75F3776342AA}" srcOrd="0" destOrd="0" presId="urn:microsoft.com/office/officeart/2005/8/layout/hierarchy1"/>
    <dgm:cxn modelId="{CA6AB29A-9CED-4416-B6CD-B651D4AA2743}" srcId="{DD54BDC2-CAC5-448D-A9F4-799A86E652EB}" destId="{B68D6443-80F0-457F-81F5-3023EAFE83C7}" srcOrd="2" destOrd="0" parTransId="{2C8311B4-908B-4237-8BA2-46253EC5D9F1}" sibTransId="{3F4E9E17-F635-4858-8D54-DE4E6BC5084C}"/>
    <dgm:cxn modelId="{39106BA4-F418-4CAD-AD9A-B7EE24AB95B2}" srcId="{2B53205A-0452-45A7-BABD-0773CA31747F}" destId="{408DD8AC-6AA1-4D54-8BBF-D0F37A531E1A}" srcOrd="3" destOrd="0" parTransId="{A20B3E16-5ADC-4E84-A1B3-70EDCFA95704}" sibTransId="{6D2D6A44-947F-464D-8D25-F729E65D435C}"/>
    <dgm:cxn modelId="{9FF130A9-BED5-40E8-A836-804E6BBD6ABB}" srcId="{2DE926BF-FFA6-4A1D-87CB-0315D67CEC27}" destId="{565DA2F0-91BF-4EBD-8DA6-10821F593EFB}" srcOrd="1" destOrd="0" parTransId="{F2336E12-CE64-4C2C-95AD-DDBA1C859EE8}" sibTransId="{90D8563F-AFB0-4800-840F-FFF5323F007D}"/>
    <dgm:cxn modelId="{D50342AB-D914-48DC-BD70-5B1E592DFC71}" srcId="{2B53205A-0452-45A7-BABD-0773CA31747F}" destId="{37A8269D-9DA7-49E7-B354-E5397B17AACA}" srcOrd="2" destOrd="0" parTransId="{88B9CE8B-26BC-4C05-9C2B-93C590834E94}" sibTransId="{BFBD8420-2F90-45B1-810E-9D1992D05D13}"/>
    <dgm:cxn modelId="{46E975B2-7561-4EBD-9FD0-BC44D1775E13}" type="presOf" srcId="{0AE2F6A1-CDFC-4290-AA7D-AC2A2AC0BAA3}" destId="{B3988332-8894-45C6-9B2E-84DFF19C19B4}" srcOrd="0" destOrd="0" presId="urn:microsoft.com/office/officeart/2005/8/layout/hierarchy1"/>
    <dgm:cxn modelId="{938A6CB6-2EAA-4A98-976F-58C7E1D97D89}" srcId="{2B53205A-0452-45A7-BABD-0773CA31747F}" destId="{861C9873-2B9E-47B5-AA15-650802342F53}" srcOrd="4" destOrd="0" parTransId="{4F29574D-2AD3-435F-9828-03B23B5864E5}" sibTransId="{8BA8D548-1F13-4B4F-8598-305798E0C423}"/>
    <dgm:cxn modelId="{7C2D8DBA-B210-47D8-8525-F21C409D2FFD}" type="presOf" srcId="{628721F6-2EB2-4BFE-A8D3-239949FB915B}" destId="{5ED76468-3A70-4425-8282-53880CA8C6AD}" srcOrd="0" destOrd="0" presId="urn:microsoft.com/office/officeart/2005/8/layout/hierarchy1"/>
    <dgm:cxn modelId="{64ADD9BB-2162-4F3D-BCBC-F1E173874049}" type="presOf" srcId="{7FFC702E-F3FB-4A5A-9EA9-55452C4C4644}" destId="{1AB03422-3DD2-4AB8-9E10-5EE34A088479}" srcOrd="0" destOrd="0" presId="urn:microsoft.com/office/officeart/2005/8/layout/hierarchy1"/>
    <dgm:cxn modelId="{83A05ABE-84D4-4F42-A708-0CB193ED049E}" type="presOf" srcId="{A20B3E16-5ADC-4E84-A1B3-70EDCFA95704}" destId="{CCAC4E62-7620-478A-9733-6085A1B88C19}" srcOrd="0" destOrd="0" presId="urn:microsoft.com/office/officeart/2005/8/layout/hierarchy1"/>
    <dgm:cxn modelId="{078B03C6-CDE4-491D-81E3-3FEC9D51E217}" type="presOf" srcId="{92D68BF5-65DC-4558-8439-B0200893F15F}" destId="{9B070076-E560-4D32-9105-36D73641AA1C}" srcOrd="0" destOrd="0" presId="urn:microsoft.com/office/officeart/2005/8/layout/hierarchy1"/>
    <dgm:cxn modelId="{063A5CC6-F5EF-46B6-A96C-68E6A997E925}" type="presOf" srcId="{144B9E58-3AB0-4925-920E-E21055663A94}" destId="{BCB97430-7F3D-4245-8E97-6A0A253E8BAF}" srcOrd="0" destOrd="0" presId="urn:microsoft.com/office/officeart/2005/8/layout/hierarchy1"/>
    <dgm:cxn modelId="{75A7E8C8-10D7-4EE3-A597-76AFF2E30F0E}" type="presOf" srcId="{6F098555-0FEC-41B6-982C-FA1662693277}" destId="{937DBB15-CC9E-4B50-97AD-194EC2E51840}" srcOrd="0" destOrd="0" presId="urn:microsoft.com/office/officeart/2005/8/layout/hierarchy1"/>
    <dgm:cxn modelId="{ECA332C9-3751-41C3-BF2E-6B6474DD8270}" type="presOf" srcId="{88B9CE8B-26BC-4C05-9C2B-93C590834E94}" destId="{110132D5-5B06-4A01-88E4-7F06E742D1B5}" srcOrd="0" destOrd="0" presId="urn:microsoft.com/office/officeart/2005/8/layout/hierarchy1"/>
    <dgm:cxn modelId="{51B4C0D2-B167-48CC-9DC5-B9B24CBE01A8}" type="presOf" srcId="{BD017319-2D2C-48DF-9E48-DA16B61ECAF7}" destId="{E01A42D0-92F1-424F-84B6-A3324AE62CF8}" srcOrd="0" destOrd="0" presId="urn:microsoft.com/office/officeart/2005/8/layout/hierarchy1"/>
    <dgm:cxn modelId="{930D01D5-D067-4A6C-9466-FF1E1968B1C7}" type="presOf" srcId="{C5286A8C-6CAC-4F8C-A537-45CFEAB1656B}" destId="{3CB5692E-C59F-48EA-AAE1-D0E7C55454F2}" srcOrd="0" destOrd="0" presId="urn:microsoft.com/office/officeart/2005/8/layout/hierarchy1"/>
    <dgm:cxn modelId="{D4CAE4F3-4C5E-4967-BBE5-5500C8C01EAD}" type="presOf" srcId="{2B53205A-0452-45A7-BABD-0773CA31747F}" destId="{72A968C3-3788-4FDF-99EB-D8FCFD7EA9D3}" srcOrd="0" destOrd="0" presId="urn:microsoft.com/office/officeart/2005/8/layout/hierarchy1"/>
    <dgm:cxn modelId="{52F9A2F4-AF61-4664-896F-2B180C632C44}" srcId="{A1AABC57-4CB7-4362-B316-C0D225048E7F}" destId="{87249AE0-9F95-4FB3-BDF4-A45CD2F6E574}" srcOrd="0" destOrd="0" parTransId="{C5888CA3-C5E8-4653-95A3-F4073B2591A0}" sibTransId="{DF098F8D-F8B9-4441-BEE8-C0C4A47DE4A3}"/>
    <dgm:cxn modelId="{1F16F0F8-D87D-4754-815B-C9BC3FA50AB1}" type="presOf" srcId="{4F29574D-2AD3-435F-9828-03B23B5864E5}" destId="{F76A1BF1-9128-4075-BA6E-FCDCC0D4C427}" srcOrd="0" destOrd="0" presId="urn:microsoft.com/office/officeart/2005/8/layout/hierarchy1"/>
    <dgm:cxn modelId="{17C911FE-D25A-4990-92E1-38097C0580F1}" srcId="{DD54BDC2-CAC5-448D-A9F4-799A86E652EB}" destId="{C5286A8C-6CAC-4F8C-A537-45CFEAB1656B}" srcOrd="0" destOrd="0" parTransId="{5EABE8E7-4865-4BE5-982F-72AA303819F5}" sibTransId="{983D790F-FE7A-40C2-9DB6-6EA99CB535E6}"/>
    <dgm:cxn modelId="{9DFAF857-E34C-46DF-B093-2D8EB8E1758C}" type="presParOf" srcId="{48328FDE-6618-4F08-B7E3-C74B605E6D47}" destId="{522E5417-C331-4799-B6F7-00604BCFAB0E}" srcOrd="0" destOrd="0" presId="urn:microsoft.com/office/officeart/2005/8/layout/hierarchy1"/>
    <dgm:cxn modelId="{7812426B-40CA-4605-92C9-9E1B2003B991}" type="presParOf" srcId="{522E5417-C331-4799-B6F7-00604BCFAB0E}" destId="{B19F1688-19E2-4555-A1E0-69765137D55A}" srcOrd="0" destOrd="0" presId="urn:microsoft.com/office/officeart/2005/8/layout/hierarchy1"/>
    <dgm:cxn modelId="{59DCF0A3-32E4-47D8-B0BB-2E460FD49151}" type="presParOf" srcId="{B19F1688-19E2-4555-A1E0-69765137D55A}" destId="{596E4966-6BB7-4B24-A82C-D47E71D4FCFE}" srcOrd="0" destOrd="0" presId="urn:microsoft.com/office/officeart/2005/8/layout/hierarchy1"/>
    <dgm:cxn modelId="{1E437209-7CA6-4F82-970C-68482DA1B470}" type="presParOf" srcId="{B19F1688-19E2-4555-A1E0-69765137D55A}" destId="{A0C3AC23-C8A9-4171-A2F4-661EF9078F3E}" srcOrd="1" destOrd="0" presId="urn:microsoft.com/office/officeart/2005/8/layout/hierarchy1"/>
    <dgm:cxn modelId="{B4EDAF47-1085-4B07-B046-E2FE1BE2FCF6}" type="presParOf" srcId="{522E5417-C331-4799-B6F7-00604BCFAB0E}" destId="{10FB0A04-9F62-415C-9F79-FD98105B0025}" srcOrd="1" destOrd="0" presId="urn:microsoft.com/office/officeart/2005/8/layout/hierarchy1"/>
    <dgm:cxn modelId="{A65ADC1A-DA27-42E8-9343-5BD65297AE36}" type="presParOf" srcId="{10FB0A04-9F62-415C-9F79-FD98105B0025}" destId="{76E92E53-67AD-4222-AC37-B64AB6DA5439}" srcOrd="0" destOrd="0" presId="urn:microsoft.com/office/officeart/2005/8/layout/hierarchy1"/>
    <dgm:cxn modelId="{A3DC8AE1-6D4D-4FFA-A66B-114B4A139876}" type="presParOf" srcId="{10FB0A04-9F62-415C-9F79-FD98105B0025}" destId="{E9B92E7B-26E5-4BEA-B1D7-5D3098CC6469}" srcOrd="1" destOrd="0" presId="urn:microsoft.com/office/officeart/2005/8/layout/hierarchy1"/>
    <dgm:cxn modelId="{55FEC5D7-1B1F-45C4-AA69-CE060EAA3B22}" type="presParOf" srcId="{E9B92E7B-26E5-4BEA-B1D7-5D3098CC6469}" destId="{1FDC01C9-CEC4-4E92-A6D1-D02CEA1E9BBA}" srcOrd="0" destOrd="0" presId="urn:microsoft.com/office/officeart/2005/8/layout/hierarchy1"/>
    <dgm:cxn modelId="{78F40342-1AA4-4955-844D-CAB9DBA2D2CF}" type="presParOf" srcId="{1FDC01C9-CEC4-4E92-A6D1-D02CEA1E9BBA}" destId="{A1B5046E-D3A4-4591-946E-D13039D05242}" srcOrd="0" destOrd="0" presId="urn:microsoft.com/office/officeart/2005/8/layout/hierarchy1"/>
    <dgm:cxn modelId="{CD9F8E75-F348-4808-A570-E06DB8A2DECA}" type="presParOf" srcId="{1FDC01C9-CEC4-4E92-A6D1-D02CEA1E9BBA}" destId="{51618A4B-F55F-4D01-84D5-5293B2331716}" srcOrd="1" destOrd="0" presId="urn:microsoft.com/office/officeart/2005/8/layout/hierarchy1"/>
    <dgm:cxn modelId="{86844647-30B5-4FA9-A4F4-DCEE28337DE3}" type="presParOf" srcId="{E9B92E7B-26E5-4BEA-B1D7-5D3098CC6469}" destId="{7F48ED26-7E8C-4192-AACA-12111F5EE6B9}" srcOrd="1" destOrd="0" presId="urn:microsoft.com/office/officeart/2005/8/layout/hierarchy1"/>
    <dgm:cxn modelId="{A6792E89-44E1-447B-9D3F-7942F6DC9BD8}" type="presParOf" srcId="{7F48ED26-7E8C-4192-AACA-12111F5EE6B9}" destId="{4A06C511-3495-407A-951D-0102512580F6}" srcOrd="0" destOrd="0" presId="urn:microsoft.com/office/officeart/2005/8/layout/hierarchy1"/>
    <dgm:cxn modelId="{0975E5F3-9E7C-4035-8987-0310BC695CF1}" type="presParOf" srcId="{7F48ED26-7E8C-4192-AACA-12111F5EE6B9}" destId="{87F509D3-05F5-4EA7-AF69-46E30C382128}" srcOrd="1" destOrd="0" presId="urn:microsoft.com/office/officeart/2005/8/layout/hierarchy1"/>
    <dgm:cxn modelId="{069BB5EF-8D94-45E7-87FE-689411AFD046}" type="presParOf" srcId="{87F509D3-05F5-4EA7-AF69-46E30C382128}" destId="{7724E8A1-59DF-4EF4-8884-0C5A43295B95}" srcOrd="0" destOrd="0" presId="urn:microsoft.com/office/officeart/2005/8/layout/hierarchy1"/>
    <dgm:cxn modelId="{F76C1DCB-820C-4387-AA1A-36102886EA12}" type="presParOf" srcId="{7724E8A1-59DF-4EF4-8884-0C5A43295B95}" destId="{D0AC9805-B0DB-48B6-9433-1551CA38B821}" srcOrd="0" destOrd="0" presId="urn:microsoft.com/office/officeart/2005/8/layout/hierarchy1"/>
    <dgm:cxn modelId="{918BDCC0-C80D-458E-AFD9-C22203CC436F}" type="presParOf" srcId="{7724E8A1-59DF-4EF4-8884-0C5A43295B95}" destId="{5BE63609-72A1-42AE-BE19-0B8D2EA4A512}" srcOrd="1" destOrd="0" presId="urn:microsoft.com/office/officeart/2005/8/layout/hierarchy1"/>
    <dgm:cxn modelId="{218D27C0-7475-4B45-B0EB-FC09C65FB1BF}" type="presParOf" srcId="{87F509D3-05F5-4EA7-AF69-46E30C382128}" destId="{FE001765-B906-40D9-95C6-F14117F83839}" srcOrd="1" destOrd="0" presId="urn:microsoft.com/office/officeart/2005/8/layout/hierarchy1"/>
    <dgm:cxn modelId="{31F03283-431D-4000-A80F-102E655E12D1}" type="presParOf" srcId="{7F48ED26-7E8C-4192-AACA-12111F5EE6B9}" destId="{620D2598-A08F-41E4-B251-5311EC267C9D}" srcOrd="2" destOrd="0" presId="urn:microsoft.com/office/officeart/2005/8/layout/hierarchy1"/>
    <dgm:cxn modelId="{F37EC1B8-23DD-49CD-84EC-ED1B3ADEC0B1}" type="presParOf" srcId="{7F48ED26-7E8C-4192-AACA-12111F5EE6B9}" destId="{EB6230D5-F688-44ED-9D4B-68453D26AB6A}" srcOrd="3" destOrd="0" presId="urn:microsoft.com/office/officeart/2005/8/layout/hierarchy1"/>
    <dgm:cxn modelId="{BE7CE32E-2DB9-4FCA-87E3-EFAB73B14946}" type="presParOf" srcId="{EB6230D5-F688-44ED-9D4B-68453D26AB6A}" destId="{2E0DF594-BDFB-4F50-A89B-FD6260F1C721}" srcOrd="0" destOrd="0" presId="urn:microsoft.com/office/officeart/2005/8/layout/hierarchy1"/>
    <dgm:cxn modelId="{F0B76134-E19F-450E-B2F0-411ABE3DC39A}" type="presParOf" srcId="{2E0DF594-BDFB-4F50-A89B-FD6260F1C721}" destId="{17EF21C6-1A57-48FE-9B35-92278AD560FA}" srcOrd="0" destOrd="0" presId="urn:microsoft.com/office/officeart/2005/8/layout/hierarchy1"/>
    <dgm:cxn modelId="{2BA45BEC-FF80-4F72-B8F5-FD274344D5BE}" type="presParOf" srcId="{2E0DF594-BDFB-4F50-A89B-FD6260F1C721}" destId="{33B15C2E-3EB6-47C3-B605-5748672DD9E5}" srcOrd="1" destOrd="0" presId="urn:microsoft.com/office/officeart/2005/8/layout/hierarchy1"/>
    <dgm:cxn modelId="{5C7D4BA4-0A60-4047-9178-CD0A4E2BA960}" type="presParOf" srcId="{EB6230D5-F688-44ED-9D4B-68453D26AB6A}" destId="{D85162FA-2E9F-4C68-B6D1-02C47D117425}" srcOrd="1" destOrd="0" presId="urn:microsoft.com/office/officeart/2005/8/layout/hierarchy1"/>
    <dgm:cxn modelId="{34B424BE-02D3-44BE-8C1A-58088EA72E1D}" type="presParOf" srcId="{10FB0A04-9F62-415C-9F79-FD98105B0025}" destId="{B3988332-8894-45C6-9B2E-84DFF19C19B4}" srcOrd="2" destOrd="0" presId="urn:microsoft.com/office/officeart/2005/8/layout/hierarchy1"/>
    <dgm:cxn modelId="{F4E2B200-6A4D-46F6-83A0-76281DDEA1CA}" type="presParOf" srcId="{10FB0A04-9F62-415C-9F79-FD98105B0025}" destId="{5E975734-F250-48A5-8704-FD98F2BEE838}" srcOrd="3" destOrd="0" presId="urn:microsoft.com/office/officeart/2005/8/layout/hierarchy1"/>
    <dgm:cxn modelId="{FAE61D05-BE46-40C7-839B-4A7A9190D6F3}" type="presParOf" srcId="{5E975734-F250-48A5-8704-FD98F2BEE838}" destId="{019AFA40-8FD2-4442-AEA8-2D91C35BCB17}" srcOrd="0" destOrd="0" presId="urn:microsoft.com/office/officeart/2005/8/layout/hierarchy1"/>
    <dgm:cxn modelId="{2B640F0E-8B62-4503-95D8-0DC65DABD1A3}" type="presParOf" srcId="{019AFA40-8FD2-4442-AEA8-2D91C35BCB17}" destId="{154E85B8-DDB2-43B9-B9DF-0557EB5C6FF1}" srcOrd="0" destOrd="0" presId="urn:microsoft.com/office/officeart/2005/8/layout/hierarchy1"/>
    <dgm:cxn modelId="{4DD30B17-5DCC-40DC-BFAB-D47FD6B9F487}" type="presParOf" srcId="{019AFA40-8FD2-4442-AEA8-2D91C35BCB17}" destId="{F2BD6ED4-615C-4E8C-9A3F-38D97347CD21}" srcOrd="1" destOrd="0" presId="urn:microsoft.com/office/officeart/2005/8/layout/hierarchy1"/>
    <dgm:cxn modelId="{FE13AB6F-9834-4531-9DDF-FF04C73178CA}" type="presParOf" srcId="{5E975734-F250-48A5-8704-FD98F2BEE838}" destId="{61FC3ABB-3E2F-4A50-8FD8-A5515EE64970}" srcOrd="1" destOrd="0" presId="urn:microsoft.com/office/officeart/2005/8/layout/hierarchy1"/>
    <dgm:cxn modelId="{99426C32-FCA5-4974-A894-940D5FD832B7}" type="presParOf" srcId="{61FC3ABB-3E2F-4A50-8FD8-A5515EE64970}" destId="{0E7BE9A5-F26A-4320-823F-7D376373232F}" srcOrd="0" destOrd="0" presId="urn:microsoft.com/office/officeart/2005/8/layout/hierarchy1"/>
    <dgm:cxn modelId="{B9FA3058-471A-48A6-B723-D25FE659DA0A}" type="presParOf" srcId="{61FC3ABB-3E2F-4A50-8FD8-A5515EE64970}" destId="{A7ECEB47-CF80-4C17-BD63-184C6A0455AF}" srcOrd="1" destOrd="0" presId="urn:microsoft.com/office/officeart/2005/8/layout/hierarchy1"/>
    <dgm:cxn modelId="{EB62E866-8CC1-4C82-9BCE-145D8BAD8CF2}" type="presParOf" srcId="{A7ECEB47-CF80-4C17-BD63-184C6A0455AF}" destId="{597E0909-092C-476F-8D5B-A96FBE0C00D7}" srcOrd="0" destOrd="0" presId="urn:microsoft.com/office/officeart/2005/8/layout/hierarchy1"/>
    <dgm:cxn modelId="{D92A59C5-5C53-4D16-8D5D-436A3B972BA9}" type="presParOf" srcId="{597E0909-092C-476F-8D5B-A96FBE0C00D7}" destId="{725507A4-6B79-42DF-9F71-D93419B03990}" srcOrd="0" destOrd="0" presId="urn:microsoft.com/office/officeart/2005/8/layout/hierarchy1"/>
    <dgm:cxn modelId="{D46A3D41-3DB1-440B-A6FF-245671EC26F6}" type="presParOf" srcId="{597E0909-092C-476F-8D5B-A96FBE0C00D7}" destId="{3CB5692E-C59F-48EA-AAE1-D0E7C55454F2}" srcOrd="1" destOrd="0" presId="urn:microsoft.com/office/officeart/2005/8/layout/hierarchy1"/>
    <dgm:cxn modelId="{4D9C79F0-B936-45E3-AC8E-C679C2395C75}" type="presParOf" srcId="{A7ECEB47-CF80-4C17-BD63-184C6A0455AF}" destId="{7E0679A6-BF99-4F22-BF31-3306B388D584}" srcOrd="1" destOrd="0" presId="urn:microsoft.com/office/officeart/2005/8/layout/hierarchy1"/>
    <dgm:cxn modelId="{CDB70DA5-7975-46B7-A973-41AE7D0742F1}" type="presParOf" srcId="{61FC3ABB-3E2F-4A50-8FD8-A5515EE64970}" destId="{9B070076-E560-4D32-9105-36D73641AA1C}" srcOrd="2" destOrd="0" presId="urn:microsoft.com/office/officeart/2005/8/layout/hierarchy1"/>
    <dgm:cxn modelId="{7F8F39F5-8728-43F7-94E5-963239E3BB5A}" type="presParOf" srcId="{61FC3ABB-3E2F-4A50-8FD8-A5515EE64970}" destId="{C4210CE1-0F0D-4F01-AAD4-1ED102E92F4E}" srcOrd="3" destOrd="0" presId="urn:microsoft.com/office/officeart/2005/8/layout/hierarchy1"/>
    <dgm:cxn modelId="{DAA96106-5281-4CF5-9985-3FFB29F81B61}" type="presParOf" srcId="{C4210CE1-0F0D-4F01-AAD4-1ED102E92F4E}" destId="{6E97AB75-4E41-4B01-BEBF-BAEC1811D27A}" srcOrd="0" destOrd="0" presId="urn:microsoft.com/office/officeart/2005/8/layout/hierarchy1"/>
    <dgm:cxn modelId="{F4C1174F-32F9-437F-AB8F-3F743CF28D3F}" type="presParOf" srcId="{6E97AB75-4E41-4B01-BEBF-BAEC1811D27A}" destId="{0A1051D5-F0BB-4ED1-996C-006AD71958EF}" srcOrd="0" destOrd="0" presId="urn:microsoft.com/office/officeart/2005/8/layout/hierarchy1"/>
    <dgm:cxn modelId="{E34A85D6-16B5-45E3-949A-5269AEA126E7}" type="presParOf" srcId="{6E97AB75-4E41-4B01-BEBF-BAEC1811D27A}" destId="{5ED76468-3A70-4425-8282-53880CA8C6AD}" srcOrd="1" destOrd="0" presId="urn:microsoft.com/office/officeart/2005/8/layout/hierarchy1"/>
    <dgm:cxn modelId="{EE758FFF-9470-4019-B9E5-AEA29BCEED49}" type="presParOf" srcId="{C4210CE1-0F0D-4F01-AAD4-1ED102E92F4E}" destId="{6DBFCE53-6EDA-4D7E-9947-0FBD9C0F6B23}" srcOrd="1" destOrd="0" presId="urn:microsoft.com/office/officeart/2005/8/layout/hierarchy1"/>
    <dgm:cxn modelId="{70CBF966-5FDB-44E8-86C4-B3805F707EFD}" type="presParOf" srcId="{61FC3ABB-3E2F-4A50-8FD8-A5515EE64970}" destId="{61C9534A-4E7D-4DF5-9031-811D085BB195}" srcOrd="4" destOrd="0" presId="urn:microsoft.com/office/officeart/2005/8/layout/hierarchy1"/>
    <dgm:cxn modelId="{9C46BA65-B136-474A-9518-895380875AE6}" type="presParOf" srcId="{61FC3ABB-3E2F-4A50-8FD8-A5515EE64970}" destId="{A673D564-625B-40EA-918F-81FE3AB66E97}" srcOrd="5" destOrd="0" presId="urn:microsoft.com/office/officeart/2005/8/layout/hierarchy1"/>
    <dgm:cxn modelId="{02D2DB9A-8752-4646-AB17-70777F5228F5}" type="presParOf" srcId="{A673D564-625B-40EA-918F-81FE3AB66E97}" destId="{874CE4BA-972C-468D-ACEF-64F5B07439A1}" srcOrd="0" destOrd="0" presId="urn:microsoft.com/office/officeart/2005/8/layout/hierarchy1"/>
    <dgm:cxn modelId="{DB90A356-5A4A-4755-9392-9B0AC34545FD}" type="presParOf" srcId="{874CE4BA-972C-468D-ACEF-64F5B07439A1}" destId="{C1B89B49-2C05-4ED4-9DDB-1884E38680AA}" srcOrd="0" destOrd="0" presId="urn:microsoft.com/office/officeart/2005/8/layout/hierarchy1"/>
    <dgm:cxn modelId="{FF11F457-5216-4C25-8090-80EC1761FCEB}" type="presParOf" srcId="{874CE4BA-972C-468D-ACEF-64F5B07439A1}" destId="{01721DFE-6F6F-40B9-9EE4-F45B5D5BECAD}" srcOrd="1" destOrd="0" presId="urn:microsoft.com/office/officeart/2005/8/layout/hierarchy1"/>
    <dgm:cxn modelId="{946E9C18-B3B4-475C-90ED-E7438D832C53}" type="presParOf" srcId="{A673D564-625B-40EA-918F-81FE3AB66E97}" destId="{C3524F58-1586-47CA-BA30-07411C0FBB68}" srcOrd="1" destOrd="0" presId="urn:microsoft.com/office/officeart/2005/8/layout/hierarchy1"/>
    <dgm:cxn modelId="{D32DDB0D-0305-49A4-8473-65174D06D85D}" type="presParOf" srcId="{10FB0A04-9F62-415C-9F79-FD98105B0025}" destId="{DACC96C2-A888-4336-803B-94A86C0A9717}" srcOrd="4" destOrd="0" presId="urn:microsoft.com/office/officeart/2005/8/layout/hierarchy1"/>
    <dgm:cxn modelId="{4BCA9C7E-2ECA-4A58-848A-651859044A08}" type="presParOf" srcId="{10FB0A04-9F62-415C-9F79-FD98105B0025}" destId="{C39B4AA7-7834-4DF5-B49F-01A31A8842CB}" srcOrd="5" destOrd="0" presId="urn:microsoft.com/office/officeart/2005/8/layout/hierarchy1"/>
    <dgm:cxn modelId="{0E57EEA5-035B-4FD0-9ABC-809F0E1BC5A7}" type="presParOf" srcId="{C39B4AA7-7834-4DF5-B49F-01A31A8842CB}" destId="{9CB6E305-907B-48C9-BA5B-17872FC0C266}" srcOrd="0" destOrd="0" presId="urn:microsoft.com/office/officeart/2005/8/layout/hierarchy1"/>
    <dgm:cxn modelId="{FB00E602-C673-4581-BF08-982B84B915F9}" type="presParOf" srcId="{9CB6E305-907B-48C9-BA5B-17872FC0C266}" destId="{043D3A77-26E0-4FB6-ACFC-FC0FCDEB6FED}" srcOrd="0" destOrd="0" presId="urn:microsoft.com/office/officeart/2005/8/layout/hierarchy1"/>
    <dgm:cxn modelId="{A315AC6D-AB36-41E2-9416-B9EA30C8CB01}" type="presParOf" srcId="{9CB6E305-907B-48C9-BA5B-17872FC0C266}" destId="{9AE14E65-8C6E-4F0B-8C0F-9E93978CA290}" srcOrd="1" destOrd="0" presId="urn:microsoft.com/office/officeart/2005/8/layout/hierarchy1"/>
    <dgm:cxn modelId="{FD84D944-D3EE-43BA-96CC-D95C5ACF5B9D}" type="presParOf" srcId="{C39B4AA7-7834-4DF5-B49F-01A31A8842CB}" destId="{CF43722D-AF1A-41E8-9723-5E348B856941}" srcOrd="1" destOrd="0" presId="urn:microsoft.com/office/officeart/2005/8/layout/hierarchy1"/>
    <dgm:cxn modelId="{9CF5F8DE-582D-4D80-B2C5-BA46484F06AD}" type="presParOf" srcId="{CF43722D-AF1A-41E8-9723-5E348B856941}" destId="{E01A42D0-92F1-424F-84B6-A3324AE62CF8}" srcOrd="0" destOrd="0" presId="urn:microsoft.com/office/officeart/2005/8/layout/hierarchy1"/>
    <dgm:cxn modelId="{08AB6AB0-A66B-4462-98D3-619BAD870D44}" type="presParOf" srcId="{CF43722D-AF1A-41E8-9723-5E348B856941}" destId="{58ACB889-1AAF-409A-ACF6-0B8547736A47}" srcOrd="1" destOrd="0" presId="urn:microsoft.com/office/officeart/2005/8/layout/hierarchy1"/>
    <dgm:cxn modelId="{8C41BE4F-1462-4AD2-93C3-CB7517F33363}" type="presParOf" srcId="{58ACB889-1AAF-409A-ACF6-0B8547736A47}" destId="{F41158BF-2527-43E7-AA28-263F9CC49CA5}" srcOrd="0" destOrd="0" presId="urn:microsoft.com/office/officeart/2005/8/layout/hierarchy1"/>
    <dgm:cxn modelId="{7B6EF8F7-66D2-4C4F-8E0D-79A7A726F433}" type="presParOf" srcId="{F41158BF-2527-43E7-AA28-263F9CC49CA5}" destId="{3B04F1DD-4864-4A3B-94E0-94AABE2E1905}" srcOrd="0" destOrd="0" presId="urn:microsoft.com/office/officeart/2005/8/layout/hierarchy1"/>
    <dgm:cxn modelId="{D735707C-5A01-4B53-9F80-4BE8DC832AC1}" type="presParOf" srcId="{F41158BF-2527-43E7-AA28-263F9CC49CA5}" destId="{2FE8AC46-CAF7-4B96-9760-A4D3A77C1202}" srcOrd="1" destOrd="0" presId="urn:microsoft.com/office/officeart/2005/8/layout/hierarchy1"/>
    <dgm:cxn modelId="{E25A4DB1-9D72-4F30-81C7-5EB25850B2E4}" type="presParOf" srcId="{58ACB889-1AAF-409A-ACF6-0B8547736A47}" destId="{0903AB51-7B23-4F5B-BD52-718B0A1B2363}" srcOrd="1" destOrd="0" presId="urn:microsoft.com/office/officeart/2005/8/layout/hierarchy1"/>
    <dgm:cxn modelId="{B388801F-98B3-4A04-A889-1E19741CA990}" type="presParOf" srcId="{CF43722D-AF1A-41E8-9723-5E348B856941}" destId="{57FBEF77-35A5-48C5-B82A-EFB8F98737AB}" srcOrd="2" destOrd="0" presId="urn:microsoft.com/office/officeart/2005/8/layout/hierarchy1"/>
    <dgm:cxn modelId="{F81CE062-3D0B-4CED-86EF-AB1B6F86BEEF}" type="presParOf" srcId="{CF43722D-AF1A-41E8-9723-5E348B856941}" destId="{0F771D02-13F1-4E46-B208-0495E35CE2FD}" srcOrd="3" destOrd="0" presId="urn:microsoft.com/office/officeart/2005/8/layout/hierarchy1"/>
    <dgm:cxn modelId="{BB70A4C9-1BCA-49CC-88D7-D42692506EA7}" type="presParOf" srcId="{0F771D02-13F1-4E46-B208-0495E35CE2FD}" destId="{60B6D4A6-CB61-47BA-829D-926D34A9C13A}" srcOrd="0" destOrd="0" presId="urn:microsoft.com/office/officeart/2005/8/layout/hierarchy1"/>
    <dgm:cxn modelId="{B09D4263-E8D7-4234-8501-4BD2DA7C514B}" type="presParOf" srcId="{60B6D4A6-CB61-47BA-829D-926D34A9C13A}" destId="{D1DA3247-32E1-4957-ABA1-70480A70A643}" srcOrd="0" destOrd="0" presId="urn:microsoft.com/office/officeart/2005/8/layout/hierarchy1"/>
    <dgm:cxn modelId="{A37D222E-5602-46C0-8120-02D63B6D8058}" type="presParOf" srcId="{60B6D4A6-CB61-47BA-829D-926D34A9C13A}" destId="{BCB97430-7F3D-4245-8E97-6A0A253E8BAF}" srcOrd="1" destOrd="0" presId="urn:microsoft.com/office/officeart/2005/8/layout/hierarchy1"/>
    <dgm:cxn modelId="{E3B7BCDB-795A-4475-86B0-FC0CB2C6D861}" type="presParOf" srcId="{0F771D02-13F1-4E46-B208-0495E35CE2FD}" destId="{ACDB7BC1-10C5-4C82-B8E1-FAA2E7B71DCC}" srcOrd="1" destOrd="0" presId="urn:microsoft.com/office/officeart/2005/8/layout/hierarchy1"/>
    <dgm:cxn modelId="{35A51D4F-3131-47AA-BB89-7AD46DB9DFDD}" type="presParOf" srcId="{10FB0A04-9F62-415C-9F79-FD98105B0025}" destId="{9EAA451D-69A6-4AFC-9B16-E8B781B263C0}" srcOrd="6" destOrd="0" presId="urn:microsoft.com/office/officeart/2005/8/layout/hierarchy1"/>
    <dgm:cxn modelId="{01281BA2-1F06-4799-8EDA-F219BD7A9004}" type="presParOf" srcId="{10FB0A04-9F62-415C-9F79-FD98105B0025}" destId="{BBB70675-8DED-4DDA-9C55-C0AFE324D5FD}" srcOrd="7" destOrd="0" presId="urn:microsoft.com/office/officeart/2005/8/layout/hierarchy1"/>
    <dgm:cxn modelId="{7765A5A6-05FA-46AB-B271-AAB645110333}" type="presParOf" srcId="{BBB70675-8DED-4DDA-9C55-C0AFE324D5FD}" destId="{8587916F-DFF7-4C35-9C4F-5F89B9DBA903}" srcOrd="0" destOrd="0" presId="urn:microsoft.com/office/officeart/2005/8/layout/hierarchy1"/>
    <dgm:cxn modelId="{1C8BFDAF-24A4-4D4E-BEB4-E7E117DE5D87}" type="presParOf" srcId="{8587916F-DFF7-4C35-9C4F-5F89B9DBA903}" destId="{73F8D88A-5951-40B8-83E2-B159F2B11DDB}" srcOrd="0" destOrd="0" presId="urn:microsoft.com/office/officeart/2005/8/layout/hierarchy1"/>
    <dgm:cxn modelId="{08F0A936-BFE8-4A1D-ABC4-BA09DE8390AE}" type="presParOf" srcId="{8587916F-DFF7-4C35-9C4F-5F89B9DBA903}" destId="{72A968C3-3788-4FDF-99EB-D8FCFD7EA9D3}" srcOrd="1" destOrd="0" presId="urn:microsoft.com/office/officeart/2005/8/layout/hierarchy1"/>
    <dgm:cxn modelId="{0E80BD69-4256-4107-8752-24740B7D2C05}" type="presParOf" srcId="{BBB70675-8DED-4DDA-9C55-C0AFE324D5FD}" destId="{843095AD-6DD5-4D47-B073-108BE38DB165}" srcOrd="1" destOrd="0" presId="urn:microsoft.com/office/officeart/2005/8/layout/hierarchy1"/>
    <dgm:cxn modelId="{A28485F7-A0D6-448E-827C-2D8B8D034DC6}" type="presParOf" srcId="{843095AD-6DD5-4D47-B073-108BE38DB165}" destId="{1AB03422-3DD2-4AB8-9E10-5EE34A088479}" srcOrd="0" destOrd="0" presId="urn:microsoft.com/office/officeart/2005/8/layout/hierarchy1"/>
    <dgm:cxn modelId="{7571B5FB-31C8-473E-A248-018C21C19073}" type="presParOf" srcId="{843095AD-6DD5-4D47-B073-108BE38DB165}" destId="{37CD8942-3346-43DB-B299-A8C95279B9C0}" srcOrd="1" destOrd="0" presId="urn:microsoft.com/office/officeart/2005/8/layout/hierarchy1"/>
    <dgm:cxn modelId="{8F2E308F-95E1-4322-97DA-755CDBCF5A22}" type="presParOf" srcId="{37CD8942-3346-43DB-B299-A8C95279B9C0}" destId="{86130527-D64B-4EBD-84EA-7C68D785B95B}" srcOrd="0" destOrd="0" presId="urn:microsoft.com/office/officeart/2005/8/layout/hierarchy1"/>
    <dgm:cxn modelId="{02E8A2AF-B97C-420B-8E63-56E1A2281119}" type="presParOf" srcId="{86130527-D64B-4EBD-84EA-7C68D785B95B}" destId="{8723FBB4-C8A6-43F3-91A1-8233808A3E1E}" srcOrd="0" destOrd="0" presId="urn:microsoft.com/office/officeart/2005/8/layout/hierarchy1"/>
    <dgm:cxn modelId="{FE1206E7-92F9-4668-88FD-25E0921F323A}" type="presParOf" srcId="{86130527-D64B-4EBD-84EA-7C68D785B95B}" destId="{937DBB15-CC9E-4B50-97AD-194EC2E51840}" srcOrd="1" destOrd="0" presId="urn:microsoft.com/office/officeart/2005/8/layout/hierarchy1"/>
    <dgm:cxn modelId="{EA32EAA5-332F-4D34-B9FB-C4DAFE76118B}" type="presParOf" srcId="{37CD8942-3346-43DB-B299-A8C95279B9C0}" destId="{4C3226AD-E53B-4B31-B14B-76E7004B30DE}" srcOrd="1" destOrd="0" presId="urn:microsoft.com/office/officeart/2005/8/layout/hierarchy1"/>
    <dgm:cxn modelId="{770C7611-D1EA-4865-8A51-6FAA4D5C7473}" type="presParOf" srcId="{843095AD-6DD5-4D47-B073-108BE38DB165}" destId="{1189ED21-A0FC-4BEC-BCED-4D7F3F259564}" srcOrd="2" destOrd="0" presId="urn:microsoft.com/office/officeart/2005/8/layout/hierarchy1"/>
    <dgm:cxn modelId="{455781CF-006E-4AEF-8DD2-44187B01DBFD}" type="presParOf" srcId="{843095AD-6DD5-4D47-B073-108BE38DB165}" destId="{48E5E8D0-E614-45E7-B8BB-8A16AC66DCA5}" srcOrd="3" destOrd="0" presId="urn:microsoft.com/office/officeart/2005/8/layout/hierarchy1"/>
    <dgm:cxn modelId="{C044BA3A-9D7C-458B-9EA7-CB9739DD4EF6}" type="presParOf" srcId="{48E5E8D0-E614-45E7-B8BB-8A16AC66DCA5}" destId="{DB1CC333-7FE8-439D-89F2-A032FD6AA9A2}" srcOrd="0" destOrd="0" presId="urn:microsoft.com/office/officeart/2005/8/layout/hierarchy1"/>
    <dgm:cxn modelId="{3D83C68B-74F4-421C-89F0-DB9E7CBC518E}" type="presParOf" srcId="{DB1CC333-7FE8-439D-89F2-A032FD6AA9A2}" destId="{19C58F84-5CBF-4D08-A5B4-2942C647C74E}" srcOrd="0" destOrd="0" presId="urn:microsoft.com/office/officeart/2005/8/layout/hierarchy1"/>
    <dgm:cxn modelId="{5ABC2EE0-C18B-412C-96E1-273972F0FB96}" type="presParOf" srcId="{DB1CC333-7FE8-439D-89F2-A032FD6AA9A2}" destId="{16BCC846-C540-4D81-BA10-C4927EFB110B}" srcOrd="1" destOrd="0" presId="urn:microsoft.com/office/officeart/2005/8/layout/hierarchy1"/>
    <dgm:cxn modelId="{72C76B20-219D-427A-A51B-678D98D3BF2E}" type="presParOf" srcId="{48E5E8D0-E614-45E7-B8BB-8A16AC66DCA5}" destId="{E7A3D4F8-872C-45F3-BEC1-8CD7C6199515}" srcOrd="1" destOrd="0" presId="urn:microsoft.com/office/officeart/2005/8/layout/hierarchy1"/>
    <dgm:cxn modelId="{6CE2E01A-D3A7-453D-9108-7ACC962AF81B}" type="presParOf" srcId="{843095AD-6DD5-4D47-B073-108BE38DB165}" destId="{110132D5-5B06-4A01-88E4-7F06E742D1B5}" srcOrd="4" destOrd="0" presId="urn:microsoft.com/office/officeart/2005/8/layout/hierarchy1"/>
    <dgm:cxn modelId="{001ABEA7-8D3B-40EB-8429-A725F9BF5ABD}" type="presParOf" srcId="{843095AD-6DD5-4D47-B073-108BE38DB165}" destId="{7BAB099B-7FB2-4AB1-A3D4-EDE64699A4B7}" srcOrd="5" destOrd="0" presId="urn:microsoft.com/office/officeart/2005/8/layout/hierarchy1"/>
    <dgm:cxn modelId="{D8C5978C-DDE3-4AF6-87D3-E305A9F916EB}" type="presParOf" srcId="{7BAB099B-7FB2-4AB1-A3D4-EDE64699A4B7}" destId="{43292B0C-18D8-4908-AE04-848E0F4073D6}" srcOrd="0" destOrd="0" presId="urn:microsoft.com/office/officeart/2005/8/layout/hierarchy1"/>
    <dgm:cxn modelId="{AE86DA37-03BD-4D14-8DA0-97A648A030F6}" type="presParOf" srcId="{43292B0C-18D8-4908-AE04-848E0F4073D6}" destId="{F9D7F22E-0556-4E01-8ABD-CF8390E6A14A}" srcOrd="0" destOrd="0" presId="urn:microsoft.com/office/officeart/2005/8/layout/hierarchy1"/>
    <dgm:cxn modelId="{6C70F2D8-81A7-436C-8305-00582B6C5F46}" type="presParOf" srcId="{43292B0C-18D8-4908-AE04-848E0F4073D6}" destId="{5DC2646E-521C-4934-A649-75F3776342AA}" srcOrd="1" destOrd="0" presId="urn:microsoft.com/office/officeart/2005/8/layout/hierarchy1"/>
    <dgm:cxn modelId="{5DACE8E2-148E-4DEE-B603-8293E90DA0C2}" type="presParOf" srcId="{7BAB099B-7FB2-4AB1-A3D4-EDE64699A4B7}" destId="{3E85E549-D7CD-4055-99AB-CFF63F095E98}" srcOrd="1" destOrd="0" presId="urn:microsoft.com/office/officeart/2005/8/layout/hierarchy1"/>
    <dgm:cxn modelId="{431DC63B-7F9A-46E7-AF51-6C15F86F9AA3}" type="presParOf" srcId="{843095AD-6DD5-4D47-B073-108BE38DB165}" destId="{CCAC4E62-7620-478A-9733-6085A1B88C19}" srcOrd="6" destOrd="0" presId="urn:microsoft.com/office/officeart/2005/8/layout/hierarchy1"/>
    <dgm:cxn modelId="{02237065-6192-457C-B539-E1C8A2551004}" type="presParOf" srcId="{843095AD-6DD5-4D47-B073-108BE38DB165}" destId="{F4F94FCD-B03E-4D81-88C3-2248123A5756}" srcOrd="7" destOrd="0" presId="urn:microsoft.com/office/officeart/2005/8/layout/hierarchy1"/>
    <dgm:cxn modelId="{B36BD9A9-712D-41E2-9B52-6640AE13E7BD}" type="presParOf" srcId="{F4F94FCD-B03E-4D81-88C3-2248123A5756}" destId="{D38A8529-5C2D-4E93-9290-5D69A0FC3118}" srcOrd="0" destOrd="0" presId="urn:microsoft.com/office/officeart/2005/8/layout/hierarchy1"/>
    <dgm:cxn modelId="{5A653CF4-9F98-490F-B957-29C632EA0F1E}" type="presParOf" srcId="{D38A8529-5C2D-4E93-9290-5D69A0FC3118}" destId="{D11A9316-8D97-4B3E-BB16-18B21B92DD9B}" srcOrd="0" destOrd="0" presId="urn:microsoft.com/office/officeart/2005/8/layout/hierarchy1"/>
    <dgm:cxn modelId="{63B6ED96-C023-47FB-B305-4BFCDA493964}" type="presParOf" srcId="{D38A8529-5C2D-4E93-9290-5D69A0FC3118}" destId="{7809793C-D7F6-4D01-9957-9BC421DBBE5F}" srcOrd="1" destOrd="0" presId="urn:microsoft.com/office/officeart/2005/8/layout/hierarchy1"/>
    <dgm:cxn modelId="{E9CB907C-2744-4DBF-B4C9-0295FEF2AA4B}" type="presParOf" srcId="{F4F94FCD-B03E-4D81-88C3-2248123A5756}" destId="{56021B7F-FE22-4845-B061-16E993CEB84D}" srcOrd="1" destOrd="0" presId="urn:microsoft.com/office/officeart/2005/8/layout/hierarchy1"/>
    <dgm:cxn modelId="{9B81970F-CBFB-4969-97E2-D3AB8DC8F35D}" type="presParOf" srcId="{843095AD-6DD5-4D47-B073-108BE38DB165}" destId="{F76A1BF1-9128-4075-BA6E-FCDCC0D4C427}" srcOrd="8" destOrd="0" presId="urn:microsoft.com/office/officeart/2005/8/layout/hierarchy1"/>
    <dgm:cxn modelId="{9F6BE43C-3748-42B0-8D70-1958FDD987EA}" type="presParOf" srcId="{843095AD-6DD5-4D47-B073-108BE38DB165}" destId="{7A300DCB-EC16-4F19-B56E-C8800F09FF5C}" srcOrd="9" destOrd="0" presId="urn:microsoft.com/office/officeart/2005/8/layout/hierarchy1"/>
    <dgm:cxn modelId="{F74CECEE-9861-41EF-849A-FDE36F0B1694}" type="presParOf" srcId="{7A300DCB-EC16-4F19-B56E-C8800F09FF5C}" destId="{D8395841-C3E1-40B3-9A35-5580F02DA8FC}" srcOrd="0" destOrd="0" presId="urn:microsoft.com/office/officeart/2005/8/layout/hierarchy1"/>
    <dgm:cxn modelId="{9F443DB6-0818-47B9-9B55-4CFD11A42911}" type="presParOf" srcId="{D8395841-C3E1-40B3-9A35-5580F02DA8FC}" destId="{144526C8-FB2C-431A-91F9-F150183E3AE2}" srcOrd="0" destOrd="0" presId="urn:microsoft.com/office/officeart/2005/8/layout/hierarchy1"/>
    <dgm:cxn modelId="{93647679-9093-41A7-9AF9-017D4239DC94}" type="presParOf" srcId="{D8395841-C3E1-40B3-9A35-5580F02DA8FC}" destId="{9A5B31A6-F770-49E1-8EEB-6B920827176B}" srcOrd="1" destOrd="0" presId="urn:microsoft.com/office/officeart/2005/8/layout/hierarchy1"/>
    <dgm:cxn modelId="{5AD738EC-A56C-485C-939D-F1DE15DF20A7}" type="presParOf" srcId="{7A300DCB-EC16-4F19-B56E-C8800F09FF5C}" destId="{84B706D7-190B-44D2-BA15-A25B367319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A1BF1-9128-4075-BA6E-FCDCC0D4C427}">
      <dsp:nvSpPr>
        <dsp:cNvPr id="0" name=""/>
        <dsp:cNvSpPr/>
      </dsp:nvSpPr>
      <dsp:spPr>
        <a:xfrm>
          <a:off x="8606640" y="1922908"/>
          <a:ext cx="1902709" cy="60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454"/>
              </a:lnTo>
              <a:lnTo>
                <a:pt x="1902709" y="536454"/>
              </a:lnTo>
              <a:lnTo>
                <a:pt x="1902709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AC4E62-7620-478A-9733-6085A1B88C19}">
      <dsp:nvSpPr>
        <dsp:cNvPr id="0" name=""/>
        <dsp:cNvSpPr/>
      </dsp:nvSpPr>
      <dsp:spPr>
        <a:xfrm>
          <a:off x="8606640" y="1922908"/>
          <a:ext cx="981835" cy="60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454"/>
              </a:lnTo>
              <a:lnTo>
                <a:pt x="981835" y="536454"/>
              </a:lnTo>
              <a:lnTo>
                <a:pt x="981835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0132D5-5B06-4A01-88E4-7F06E742D1B5}">
      <dsp:nvSpPr>
        <dsp:cNvPr id="0" name=""/>
        <dsp:cNvSpPr/>
      </dsp:nvSpPr>
      <dsp:spPr>
        <a:xfrm>
          <a:off x="8560920" y="1922908"/>
          <a:ext cx="91440" cy="6062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6454"/>
              </a:lnTo>
              <a:lnTo>
                <a:pt x="106681" y="536454"/>
              </a:lnTo>
              <a:lnTo>
                <a:pt x="106681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9ED21-A0FC-4BEC-BCED-4D7F3F259564}">
      <dsp:nvSpPr>
        <dsp:cNvPr id="0" name=""/>
        <dsp:cNvSpPr/>
      </dsp:nvSpPr>
      <dsp:spPr>
        <a:xfrm>
          <a:off x="7746727" y="1922908"/>
          <a:ext cx="859913" cy="606252"/>
        </a:xfrm>
        <a:custGeom>
          <a:avLst/>
          <a:gdLst/>
          <a:ahLst/>
          <a:cxnLst/>
          <a:rect l="0" t="0" r="0" b="0"/>
          <a:pathLst>
            <a:path>
              <a:moveTo>
                <a:pt x="859913" y="0"/>
              </a:moveTo>
              <a:lnTo>
                <a:pt x="859913" y="536454"/>
              </a:lnTo>
              <a:lnTo>
                <a:pt x="0" y="536454"/>
              </a:lnTo>
              <a:lnTo>
                <a:pt x="0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B03422-3DD2-4AB8-9E10-5EE34A088479}">
      <dsp:nvSpPr>
        <dsp:cNvPr id="0" name=""/>
        <dsp:cNvSpPr/>
      </dsp:nvSpPr>
      <dsp:spPr>
        <a:xfrm>
          <a:off x="6825853" y="1922908"/>
          <a:ext cx="1780787" cy="606252"/>
        </a:xfrm>
        <a:custGeom>
          <a:avLst/>
          <a:gdLst/>
          <a:ahLst/>
          <a:cxnLst/>
          <a:rect l="0" t="0" r="0" b="0"/>
          <a:pathLst>
            <a:path>
              <a:moveTo>
                <a:pt x="1780787" y="0"/>
              </a:moveTo>
              <a:lnTo>
                <a:pt x="1780787" y="536454"/>
              </a:lnTo>
              <a:lnTo>
                <a:pt x="0" y="536454"/>
              </a:lnTo>
              <a:lnTo>
                <a:pt x="0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A451D-69A6-4AFC-9B16-E8B781B263C0}">
      <dsp:nvSpPr>
        <dsp:cNvPr id="0" name=""/>
        <dsp:cNvSpPr/>
      </dsp:nvSpPr>
      <dsp:spPr>
        <a:xfrm>
          <a:off x="5402683" y="698076"/>
          <a:ext cx="3203956" cy="74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6597"/>
              </a:lnTo>
              <a:lnTo>
                <a:pt x="3203956" y="676597"/>
              </a:lnTo>
              <a:lnTo>
                <a:pt x="3203956" y="7463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BEF77-35A5-48C5-B82A-EFB8F98737AB}">
      <dsp:nvSpPr>
        <dsp:cNvPr id="0" name=""/>
        <dsp:cNvSpPr/>
      </dsp:nvSpPr>
      <dsp:spPr>
        <a:xfrm>
          <a:off x="5383581" y="1922908"/>
          <a:ext cx="521398" cy="60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454"/>
              </a:lnTo>
              <a:lnTo>
                <a:pt x="521398" y="536454"/>
              </a:lnTo>
              <a:lnTo>
                <a:pt x="521398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A42D0-92F1-424F-84B6-A3324AE62CF8}">
      <dsp:nvSpPr>
        <dsp:cNvPr id="0" name=""/>
        <dsp:cNvSpPr/>
      </dsp:nvSpPr>
      <dsp:spPr>
        <a:xfrm>
          <a:off x="4984105" y="1922908"/>
          <a:ext cx="399475" cy="606252"/>
        </a:xfrm>
        <a:custGeom>
          <a:avLst/>
          <a:gdLst/>
          <a:ahLst/>
          <a:cxnLst/>
          <a:rect l="0" t="0" r="0" b="0"/>
          <a:pathLst>
            <a:path>
              <a:moveTo>
                <a:pt x="399475" y="0"/>
              </a:moveTo>
              <a:lnTo>
                <a:pt x="399475" y="536454"/>
              </a:lnTo>
              <a:lnTo>
                <a:pt x="0" y="536454"/>
              </a:lnTo>
              <a:lnTo>
                <a:pt x="0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CC96C2-A888-4336-803B-94A86C0A9717}">
      <dsp:nvSpPr>
        <dsp:cNvPr id="0" name=""/>
        <dsp:cNvSpPr/>
      </dsp:nvSpPr>
      <dsp:spPr>
        <a:xfrm>
          <a:off x="5337861" y="698076"/>
          <a:ext cx="91440" cy="746396"/>
        </a:xfrm>
        <a:custGeom>
          <a:avLst/>
          <a:gdLst/>
          <a:ahLst/>
          <a:cxnLst/>
          <a:rect l="0" t="0" r="0" b="0"/>
          <a:pathLst>
            <a:path>
              <a:moveTo>
                <a:pt x="64822" y="0"/>
              </a:moveTo>
              <a:lnTo>
                <a:pt x="64822" y="676597"/>
              </a:lnTo>
              <a:lnTo>
                <a:pt x="45720" y="676597"/>
              </a:lnTo>
              <a:lnTo>
                <a:pt x="45720" y="7463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C9534A-4E7D-4DF5-9031-811D085BB195}">
      <dsp:nvSpPr>
        <dsp:cNvPr id="0" name=""/>
        <dsp:cNvSpPr/>
      </dsp:nvSpPr>
      <dsp:spPr>
        <a:xfrm>
          <a:off x="3081396" y="1922908"/>
          <a:ext cx="981835" cy="60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454"/>
              </a:lnTo>
              <a:lnTo>
                <a:pt x="981835" y="536454"/>
              </a:lnTo>
              <a:lnTo>
                <a:pt x="981835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070076-E560-4D32-9105-36D73641AA1C}">
      <dsp:nvSpPr>
        <dsp:cNvPr id="0" name=""/>
        <dsp:cNvSpPr/>
      </dsp:nvSpPr>
      <dsp:spPr>
        <a:xfrm>
          <a:off x="3035676" y="1922908"/>
          <a:ext cx="91440" cy="6062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6454"/>
              </a:lnTo>
              <a:lnTo>
                <a:pt x="106681" y="536454"/>
              </a:lnTo>
              <a:lnTo>
                <a:pt x="106681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7BE9A5-F26A-4320-823F-7D376373232F}">
      <dsp:nvSpPr>
        <dsp:cNvPr id="0" name=""/>
        <dsp:cNvSpPr/>
      </dsp:nvSpPr>
      <dsp:spPr>
        <a:xfrm>
          <a:off x="2221483" y="1922908"/>
          <a:ext cx="859913" cy="606252"/>
        </a:xfrm>
        <a:custGeom>
          <a:avLst/>
          <a:gdLst/>
          <a:ahLst/>
          <a:cxnLst/>
          <a:rect l="0" t="0" r="0" b="0"/>
          <a:pathLst>
            <a:path>
              <a:moveTo>
                <a:pt x="859913" y="0"/>
              </a:moveTo>
              <a:lnTo>
                <a:pt x="859913" y="536454"/>
              </a:lnTo>
              <a:lnTo>
                <a:pt x="0" y="536454"/>
              </a:lnTo>
              <a:lnTo>
                <a:pt x="0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988332-8894-45C6-9B2E-84DFF19C19B4}">
      <dsp:nvSpPr>
        <dsp:cNvPr id="0" name=""/>
        <dsp:cNvSpPr/>
      </dsp:nvSpPr>
      <dsp:spPr>
        <a:xfrm>
          <a:off x="3081396" y="698076"/>
          <a:ext cx="2321287" cy="746396"/>
        </a:xfrm>
        <a:custGeom>
          <a:avLst/>
          <a:gdLst/>
          <a:ahLst/>
          <a:cxnLst/>
          <a:rect l="0" t="0" r="0" b="0"/>
          <a:pathLst>
            <a:path>
              <a:moveTo>
                <a:pt x="2321287" y="0"/>
              </a:moveTo>
              <a:lnTo>
                <a:pt x="2321287" y="676597"/>
              </a:lnTo>
              <a:lnTo>
                <a:pt x="0" y="676597"/>
              </a:lnTo>
              <a:lnTo>
                <a:pt x="0" y="7463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0D2598-A08F-41E4-B251-5311EC267C9D}">
      <dsp:nvSpPr>
        <dsp:cNvPr id="0" name=""/>
        <dsp:cNvSpPr/>
      </dsp:nvSpPr>
      <dsp:spPr>
        <a:xfrm>
          <a:off x="779210" y="1922908"/>
          <a:ext cx="521398" cy="60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6454"/>
              </a:lnTo>
              <a:lnTo>
                <a:pt x="521398" y="536454"/>
              </a:lnTo>
              <a:lnTo>
                <a:pt x="521398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6C511-3495-407A-951D-0102512580F6}">
      <dsp:nvSpPr>
        <dsp:cNvPr id="0" name=""/>
        <dsp:cNvSpPr/>
      </dsp:nvSpPr>
      <dsp:spPr>
        <a:xfrm>
          <a:off x="379734" y="1922908"/>
          <a:ext cx="399475" cy="606252"/>
        </a:xfrm>
        <a:custGeom>
          <a:avLst/>
          <a:gdLst/>
          <a:ahLst/>
          <a:cxnLst/>
          <a:rect l="0" t="0" r="0" b="0"/>
          <a:pathLst>
            <a:path>
              <a:moveTo>
                <a:pt x="399475" y="0"/>
              </a:moveTo>
              <a:lnTo>
                <a:pt x="399475" y="536454"/>
              </a:lnTo>
              <a:lnTo>
                <a:pt x="0" y="536454"/>
              </a:lnTo>
              <a:lnTo>
                <a:pt x="0" y="6062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92E53-67AD-4222-AC37-B64AB6DA5439}">
      <dsp:nvSpPr>
        <dsp:cNvPr id="0" name=""/>
        <dsp:cNvSpPr/>
      </dsp:nvSpPr>
      <dsp:spPr>
        <a:xfrm>
          <a:off x="779210" y="698076"/>
          <a:ext cx="4623472" cy="746396"/>
        </a:xfrm>
        <a:custGeom>
          <a:avLst/>
          <a:gdLst/>
          <a:ahLst/>
          <a:cxnLst/>
          <a:rect l="0" t="0" r="0" b="0"/>
          <a:pathLst>
            <a:path>
              <a:moveTo>
                <a:pt x="4623472" y="0"/>
              </a:moveTo>
              <a:lnTo>
                <a:pt x="4623472" y="676597"/>
              </a:lnTo>
              <a:lnTo>
                <a:pt x="0" y="676597"/>
              </a:lnTo>
              <a:lnTo>
                <a:pt x="0" y="7463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E4966-6BB7-4B24-A82C-D47E71D4FCFE}">
      <dsp:nvSpPr>
        <dsp:cNvPr id="0" name=""/>
        <dsp:cNvSpPr/>
      </dsp:nvSpPr>
      <dsp:spPr>
        <a:xfrm>
          <a:off x="5025962" y="21964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3AC23-C8A9-4171-A2F4-661EF9078F3E}">
      <dsp:nvSpPr>
        <dsp:cNvPr id="0" name=""/>
        <dsp:cNvSpPr/>
      </dsp:nvSpPr>
      <dsp:spPr>
        <a:xfrm>
          <a:off x="5109677" y="29917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СУБД</a:t>
          </a:r>
        </a:p>
      </dsp:txBody>
      <dsp:txXfrm>
        <a:off x="5123690" y="313183"/>
        <a:ext cx="725416" cy="450409"/>
      </dsp:txXfrm>
    </dsp:sp>
    <dsp:sp modelId="{A1B5046E-D3A4-4591-946E-D13039D05242}">
      <dsp:nvSpPr>
        <dsp:cNvPr id="0" name=""/>
        <dsp:cNvSpPr/>
      </dsp:nvSpPr>
      <dsp:spPr>
        <a:xfrm>
          <a:off x="402489" y="1444472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18A4B-F55F-4D01-84D5-5293B2331716}">
      <dsp:nvSpPr>
        <dsp:cNvPr id="0" name=""/>
        <dsp:cNvSpPr/>
      </dsp:nvSpPr>
      <dsp:spPr>
        <a:xfrm>
          <a:off x="486205" y="1524002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По расположению баз данных</a:t>
          </a:r>
        </a:p>
      </dsp:txBody>
      <dsp:txXfrm>
        <a:off x="500218" y="1538015"/>
        <a:ext cx="725416" cy="450409"/>
      </dsp:txXfrm>
    </dsp:sp>
    <dsp:sp modelId="{D0AC9805-B0DB-48B6-9433-1551CA38B821}">
      <dsp:nvSpPr>
        <dsp:cNvPr id="0" name=""/>
        <dsp:cNvSpPr/>
      </dsp:nvSpPr>
      <dsp:spPr>
        <a:xfrm>
          <a:off x="3013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63609-72A1-42AE-BE19-0B8D2EA4A512}">
      <dsp:nvSpPr>
        <dsp:cNvPr id="0" name=""/>
        <dsp:cNvSpPr/>
      </dsp:nvSpPr>
      <dsp:spPr>
        <a:xfrm>
          <a:off x="86729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Локальные</a:t>
          </a:r>
        </a:p>
      </dsp:txBody>
      <dsp:txXfrm>
        <a:off x="100742" y="2622703"/>
        <a:ext cx="725416" cy="450409"/>
      </dsp:txXfrm>
    </dsp:sp>
    <dsp:sp modelId="{17EF21C6-1A57-48FE-9B35-92278AD560FA}">
      <dsp:nvSpPr>
        <dsp:cNvPr id="0" name=""/>
        <dsp:cNvSpPr/>
      </dsp:nvSpPr>
      <dsp:spPr>
        <a:xfrm>
          <a:off x="923887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15C2E-3EB6-47C3-B605-5748672DD9E5}">
      <dsp:nvSpPr>
        <dsp:cNvPr id="0" name=""/>
        <dsp:cNvSpPr/>
      </dsp:nvSpPr>
      <dsp:spPr>
        <a:xfrm>
          <a:off x="1007603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Распределённые</a:t>
          </a:r>
        </a:p>
      </dsp:txBody>
      <dsp:txXfrm>
        <a:off x="1021616" y="2622703"/>
        <a:ext cx="725416" cy="450409"/>
      </dsp:txXfrm>
    </dsp:sp>
    <dsp:sp modelId="{154E85B8-DDB2-43B9-B9DF-0557EB5C6FF1}">
      <dsp:nvSpPr>
        <dsp:cNvPr id="0" name=""/>
        <dsp:cNvSpPr/>
      </dsp:nvSpPr>
      <dsp:spPr>
        <a:xfrm>
          <a:off x="2704674" y="1444472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D6ED4-615C-4E8C-9A3F-38D97347CD21}">
      <dsp:nvSpPr>
        <dsp:cNvPr id="0" name=""/>
        <dsp:cNvSpPr/>
      </dsp:nvSpPr>
      <dsp:spPr>
        <a:xfrm>
          <a:off x="2788390" y="1524002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По хранению и обработке данных</a:t>
          </a:r>
        </a:p>
      </dsp:txBody>
      <dsp:txXfrm>
        <a:off x="2802403" y="1538015"/>
        <a:ext cx="725416" cy="450409"/>
      </dsp:txXfrm>
    </dsp:sp>
    <dsp:sp modelId="{725507A4-6B79-42DF-9F71-D93419B03990}">
      <dsp:nvSpPr>
        <dsp:cNvPr id="0" name=""/>
        <dsp:cNvSpPr/>
      </dsp:nvSpPr>
      <dsp:spPr>
        <a:xfrm>
          <a:off x="1844761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5692E-C59F-48EA-AAE1-D0E7C55454F2}">
      <dsp:nvSpPr>
        <dsp:cNvPr id="0" name=""/>
        <dsp:cNvSpPr/>
      </dsp:nvSpPr>
      <dsp:spPr>
        <a:xfrm>
          <a:off x="1928477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Клиент-серверные</a:t>
          </a:r>
        </a:p>
      </dsp:txBody>
      <dsp:txXfrm>
        <a:off x="1942490" y="2622703"/>
        <a:ext cx="725416" cy="450409"/>
      </dsp:txXfrm>
    </dsp:sp>
    <dsp:sp modelId="{0A1051D5-F0BB-4ED1-996C-006AD71958EF}">
      <dsp:nvSpPr>
        <dsp:cNvPr id="0" name=""/>
        <dsp:cNvSpPr/>
      </dsp:nvSpPr>
      <dsp:spPr>
        <a:xfrm>
          <a:off x="2765635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76468-3A70-4425-8282-53880CA8C6AD}">
      <dsp:nvSpPr>
        <dsp:cNvPr id="0" name=""/>
        <dsp:cNvSpPr/>
      </dsp:nvSpPr>
      <dsp:spPr>
        <a:xfrm>
          <a:off x="2849351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Файл-серверные</a:t>
          </a:r>
        </a:p>
      </dsp:txBody>
      <dsp:txXfrm>
        <a:off x="2863364" y="2622703"/>
        <a:ext cx="725416" cy="450409"/>
      </dsp:txXfrm>
    </dsp:sp>
    <dsp:sp modelId="{C1B89B49-2C05-4ED4-9DDB-1884E38680AA}">
      <dsp:nvSpPr>
        <dsp:cNvPr id="0" name=""/>
        <dsp:cNvSpPr/>
      </dsp:nvSpPr>
      <dsp:spPr>
        <a:xfrm>
          <a:off x="3686509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21DFE-6F6F-40B9-9EE4-F45B5D5BECAD}">
      <dsp:nvSpPr>
        <dsp:cNvPr id="0" name=""/>
        <dsp:cNvSpPr/>
      </dsp:nvSpPr>
      <dsp:spPr>
        <a:xfrm>
          <a:off x="3770225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Встраиваемые</a:t>
          </a:r>
        </a:p>
      </dsp:txBody>
      <dsp:txXfrm>
        <a:off x="3784238" y="2622703"/>
        <a:ext cx="725416" cy="450409"/>
      </dsp:txXfrm>
    </dsp:sp>
    <dsp:sp modelId="{043D3A77-26E0-4FB6-ACFC-FC0FCDEB6FED}">
      <dsp:nvSpPr>
        <dsp:cNvPr id="0" name=""/>
        <dsp:cNvSpPr/>
      </dsp:nvSpPr>
      <dsp:spPr>
        <a:xfrm>
          <a:off x="5006859" y="1444472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14E65-8C6E-4F0B-8C0F-9E93978CA290}">
      <dsp:nvSpPr>
        <dsp:cNvPr id="0" name=""/>
        <dsp:cNvSpPr/>
      </dsp:nvSpPr>
      <dsp:spPr>
        <a:xfrm>
          <a:off x="5090575" y="1524002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По языку запросов</a:t>
          </a:r>
        </a:p>
      </dsp:txBody>
      <dsp:txXfrm>
        <a:off x="5104588" y="1538015"/>
        <a:ext cx="725416" cy="450409"/>
      </dsp:txXfrm>
    </dsp:sp>
    <dsp:sp modelId="{3B04F1DD-4864-4A3B-94E0-94AABE2E1905}">
      <dsp:nvSpPr>
        <dsp:cNvPr id="0" name=""/>
        <dsp:cNvSpPr/>
      </dsp:nvSpPr>
      <dsp:spPr>
        <a:xfrm>
          <a:off x="4607383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8AC46-CAF7-4B96-9760-A4D3A77C1202}">
      <dsp:nvSpPr>
        <dsp:cNvPr id="0" name=""/>
        <dsp:cNvSpPr/>
      </dsp:nvSpPr>
      <dsp:spPr>
        <a:xfrm>
          <a:off x="4691099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SQL</a:t>
          </a:r>
          <a:endParaRPr lang="ru-RU" sz="700" kern="1200" dirty="0"/>
        </a:p>
      </dsp:txBody>
      <dsp:txXfrm>
        <a:off x="4705112" y="2622703"/>
        <a:ext cx="725416" cy="450409"/>
      </dsp:txXfrm>
    </dsp:sp>
    <dsp:sp modelId="{D1DA3247-32E1-4957-ABA1-70480A70A643}">
      <dsp:nvSpPr>
        <dsp:cNvPr id="0" name=""/>
        <dsp:cNvSpPr/>
      </dsp:nvSpPr>
      <dsp:spPr>
        <a:xfrm>
          <a:off x="5528257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97430-7F3D-4245-8E97-6A0A253E8BAF}">
      <dsp:nvSpPr>
        <dsp:cNvPr id="0" name=""/>
        <dsp:cNvSpPr/>
      </dsp:nvSpPr>
      <dsp:spPr>
        <a:xfrm>
          <a:off x="5611973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NoSQL</a:t>
          </a:r>
          <a:endParaRPr lang="ru-RU" sz="700" kern="1200" dirty="0"/>
        </a:p>
      </dsp:txBody>
      <dsp:txXfrm>
        <a:off x="5625986" y="2622703"/>
        <a:ext cx="725416" cy="450409"/>
      </dsp:txXfrm>
    </dsp:sp>
    <dsp:sp modelId="{73F8D88A-5951-40B8-83E2-B159F2B11DDB}">
      <dsp:nvSpPr>
        <dsp:cNvPr id="0" name=""/>
        <dsp:cNvSpPr/>
      </dsp:nvSpPr>
      <dsp:spPr>
        <a:xfrm>
          <a:off x="8229918" y="1444472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968C3-3788-4FDF-99EB-D8FCFD7EA9D3}">
      <dsp:nvSpPr>
        <dsp:cNvPr id="0" name=""/>
        <dsp:cNvSpPr/>
      </dsp:nvSpPr>
      <dsp:spPr>
        <a:xfrm>
          <a:off x="8313634" y="1524002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b="1" i="0" u="none" kern="1200" dirty="0"/>
            <a:t>По структуре и организации данных</a:t>
          </a:r>
          <a:endParaRPr lang="ru-RU" sz="700" kern="1200" dirty="0"/>
        </a:p>
      </dsp:txBody>
      <dsp:txXfrm>
        <a:off x="8327647" y="1538015"/>
        <a:ext cx="725416" cy="450409"/>
      </dsp:txXfrm>
    </dsp:sp>
    <dsp:sp modelId="{8723FBB4-C8A6-43F3-91A1-8233808A3E1E}">
      <dsp:nvSpPr>
        <dsp:cNvPr id="0" name=""/>
        <dsp:cNvSpPr/>
      </dsp:nvSpPr>
      <dsp:spPr>
        <a:xfrm>
          <a:off x="6449131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DBB15-CC9E-4B50-97AD-194EC2E51840}">
      <dsp:nvSpPr>
        <dsp:cNvPr id="0" name=""/>
        <dsp:cNvSpPr/>
      </dsp:nvSpPr>
      <dsp:spPr>
        <a:xfrm>
          <a:off x="6532847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Реляционные</a:t>
          </a:r>
        </a:p>
      </dsp:txBody>
      <dsp:txXfrm>
        <a:off x="6546860" y="2622703"/>
        <a:ext cx="725416" cy="450409"/>
      </dsp:txXfrm>
    </dsp:sp>
    <dsp:sp modelId="{19C58F84-5CBF-4D08-A5B4-2942C647C74E}">
      <dsp:nvSpPr>
        <dsp:cNvPr id="0" name=""/>
        <dsp:cNvSpPr/>
      </dsp:nvSpPr>
      <dsp:spPr>
        <a:xfrm>
          <a:off x="7370005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CC846-C540-4D81-BA10-C4927EFB110B}">
      <dsp:nvSpPr>
        <dsp:cNvPr id="0" name=""/>
        <dsp:cNvSpPr/>
      </dsp:nvSpPr>
      <dsp:spPr>
        <a:xfrm>
          <a:off x="7453721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Ключ — значение</a:t>
          </a:r>
        </a:p>
      </dsp:txBody>
      <dsp:txXfrm>
        <a:off x="7467734" y="2622703"/>
        <a:ext cx="725416" cy="450409"/>
      </dsp:txXfrm>
    </dsp:sp>
    <dsp:sp modelId="{F9D7F22E-0556-4E01-8ABD-CF8390E6A14A}">
      <dsp:nvSpPr>
        <dsp:cNvPr id="0" name=""/>
        <dsp:cNvSpPr/>
      </dsp:nvSpPr>
      <dsp:spPr>
        <a:xfrm>
          <a:off x="8290879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2646E-521C-4934-A649-75F3776342AA}">
      <dsp:nvSpPr>
        <dsp:cNvPr id="0" name=""/>
        <dsp:cNvSpPr/>
      </dsp:nvSpPr>
      <dsp:spPr>
        <a:xfrm>
          <a:off x="8374595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Документные</a:t>
          </a:r>
        </a:p>
      </dsp:txBody>
      <dsp:txXfrm>
        <a:off x="8388608" y="2622703"/>
        <a:ext cx="725416" cy="450409"/>
      </dsp:txXfrm>
    </dsp:sp>
    <dsp:sp modelId="{D11A9316-8D97-4B3E-BB16-18B21B92DD9B}">
      <dsp:nvSpPr>
        <dsp:cNvPr id="0" name=""/>
        <dsp:cNvSpPr/>
      </dsp:nvSpPr>
      <dsp:spPr>
        <a:xfrm>
          <a:off x="9211754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9793C-D7F6-4D01-9957-9BC421DBBE5F}">
      <dsp:nvSpPr>
        <dsp:cNvPr id="0" name=""/>
        <dsp:cNvSpPr/>
      </dsp:nvSpPr>
      <dsp:spPr>
        <a:xfrm>
          <a:off x="9295469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 err="1"/>
            <a:t>Графовые</a:t>
          </a:r>
          <a:endParaRPr lang="ru-RU" sz="700" kern="1200" dirty="0"/>
        </a:p>
      </dsp:txBody>
      <dsp:txXfrm>
        <a:off x="9309482" y="2622703"/>
        <a:ext cx="725416" cy="450409"/>
      </dsp:txXfrm>
    </dsp:sp>
    <dsp:sp modelId="{144526C8-FB2C-431A-91F9-F150183E3AE2}">
      <dsp:nvSpPr>
        <dsp:cNvPr id="0" name=""/>
        <dsp:cNvSpPr/>
      </dsp:nvSpPr>
      <dsp:spPr>
        <a:xfrm>
          <a:off x="10132628" y="2529160"/>
          <a:ext cx="753442" cy="478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B31A6-F770-49E1-8EEB-6B920827176B}">
      <dsp:nvSpPr>
        <dsp:cNvPr id="0" name=""/>
        <dsp:cNvSpPr/>
      </dsp:nvSpPr>
      <dsp:spPr>
        <a:xfrm>
          <a:off x="10216343" y="2608690"/>
          <a:ext cx="753442" cy="47843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/>
            <a:t>Колоночные</a:t>
          </a:r>
        </a:p>
      </dsp:txBody>
      <dsp:txXfrm>
        <a:off x="10230356" y="2622703"/>
        <a:ext cx="725416" cy="450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8EBFF-7C2E-4420-B02C-9B897D8A804A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C434A-2F62-473F-BB67-9B5ED0D6A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22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6/datatype-character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ithub.com/postgres/postgres/blob/871fe4917e1e92304bdcc2ab779de7416492c6de/src/include/datatype/timestamp.h#L235" TargetMode="External"/><Relationship Id="rId4" Type="http://schemas.openxmlformats.org/officeDocument/2006/relationships/hyperlink" Target="https://postgrespro.ru/docs/postgresql/16/datatype-datetime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mvnrepository.com/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базах данных сегодня хранится буквально всё — ваши переписки, данные паспорта на «Госуслугах», пароли от сайтов, видео на хостингах, треки на музыкальных платформах. Но чтобы вся эта информация не потерялась, а данными было удобно управлять, придумали СУБД.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упростить, то Базы данных — это просто файлы на диске компьютера, куда можно записывать новые элементы. Но сами БД ничего не умеют и для них нужно писать свои методы для управления — например, для добавления нового элемента или поиска нужной записи. Чтобы облегчить работу программистам, придумали СУБД.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СУБД можно представить как прослойку между базой данных и пользовательскими запросами к ней. Без СУБД разработчикам пришлось бы самостоятельно искать в файлах баз данных информацию, которая им нужна.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94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Суть и цель этой программы — организовать централизованный доступ к данным.  А именно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93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По расположению баз данных</a:t>
            </a:r>
          </a:p>
          <a:p>
            <a:r>
              <a:rPr lang="ru-RU" dirty="0"/>
              <a:t>СУБД бывают локальные и распределённые.</a:t>
            </a:r>
          </a:p>
          <a:p>
            <a:r>
              <a:rPr lang="ru-RU" b="1" dirty="0"/>
              <a:t>Локальные</a:t>
            </a:r>
            <a:r>
              <a:rPr lang="ru-RU" dirty="0"/>
              <a:t>. Это когда всё содержимое базы данных располагается на одном компьютере — обычно на сервере компании.</a:t>
            </a:r>
          </a:p>
          <a:p>
            <a:r>
              <a:rPr lang="ru-RU" b="1" dirty="0"/>
              <a:t>Распределённые</a:t>
            </a:r>
            <a:r>
              <a:rPr lang="ru-RU" dirty="0"/>
              <a:t>. Это когда база данных частично находится на разных компьютерах — например, в облаке.</a:t>
            </a:r>
          </a:p>
          <a:p>
            <a:r>
              <a:rPr lang="ru-RU" dirty="0"/>
              <a:t>Современные СУБД могут быть одновременно локальными и распределёнными.</a:t>
            </a:r>
            <a:endParaRPr lang="en-US" dirty="0"/>
          </a:p>
          <a:p>
            <a:endParaRPr lang="en-US" dirty="0"/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 хранению и обработке данных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СУБД делятся на клиент-серверные, файл-серверные и встраиваемые.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Клиент-серверные.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когда СУБД с базой данных находятся на одном компьютере, к которому пользователи обращаются с запросами. Получить доступ к такой СУБД можно с любого компьютера.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Многие интернет-магазины заводят именно такую базу данных, чтобы пользователи могли быстро получать свежую информацию об их товарах.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Файл-серверные.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когда база данных находится на одном сервере, а СУБД — на устройствах, с которых к базе отправляют запросы. Чтобы получить данные, у пользователя должна быть установлена и настроена СУБД.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Файл-серверные СУБД используют для локальных сервисов компаний — например, CRM-систем, где находятся данные о клиентах и документообороте.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Встраиваемые.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локальные СУБД, которые представляют собой отдельный модуль для управления данными внутри приложений. Обычно они написаны в виде библиотек для разных языков программирования.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«1С:Бухгалтерия» имеют такой тип СУБД.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 языку запросов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СУБД поддерживают язык структурированных запросов и неструктурированных.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язык для создания структурированных запросов к базам данных. Такие СУБД самые популярные в использовании.</a:t>
            </a:r>
          </a:p>
          <a:p>
            <a:pPr fontAlgn="base" latinLnBrk="0"/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язык для запросов, который основан на другом языке программирования — например,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СУБД с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обычно используют при работе с большими данными.</a:t>
            </a:r>
          </a:p>
          <a:p>
            <a:pPr fontAlgn="base" latinLnBrk="0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По структуре и организации данных</a:t>
            </a:r>
          </a:p>
          <a:p>
            <a:r>
              <a:rPr lang="ru-RU" dirty="0"/>
              <a:t>И последнее свойство, по которому делятся СУБД, — то, как они представляют информацию внутри баз данных.</a:t>
            </a:r>
          </a:p>
          <a:p>
            <a:pPr fontAlgn="base" latinLnBrk="0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643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Реляционные. Данные в виде таблиц, которые связаны друг с другом через сквозные параметры. Такая архитектура обеспечивает построчное хранение данных и нужна для создания строгой структуры. </a:t>
            </a:r>
          </a:p>
          <a:p>
            <a:r>
              <a:rPr lang="ru-RU" dirty="0"/>
              <a:t>Ещё одна их особенность: за одно обращение к базе пользователь сможет получить лишь небольшое число элементов.</a:t>
            </a:r>
          </a:p>
          <a:p>
            <a:endParaRPr lang="ru-RU" dirty="0"/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 строка имеет уникальный идентификатор, или ключ. Поэтому найти нужные данные и связать их между собой в такой базе данных легко.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Реляционные базы данных используют, когда объём данных не превышает нескольких терабайт. Это делает их подходящими практически любому проекту.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Самые популярные среди реляционных баз данных —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499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Такие базы данных используют по принципу логов, когда новые записи заносят в конец хранилища. Удаляют элементы с помощью добавления специальной записи.</a:t>
            </a:r>
          </a:p>
          <a:p>
            <a:endParaRPr lang="ru-RU" dirty="0"/>
          </a:p>
          <a:p>
            <a:r>
              <a:rPr lang="ru-RU" dirty="0"/>
              <a:t>Ещё несколько способов использования баз данных типа «ключ — значение» — очереди, кэш и логирование.</a:t>
            </a:r>
          </a:p>
          <a:p>
            <a:endParaRPr lang="ru-RU" dirty="0"/>
          </a:p>
          <a:p>
            <a:r>
              <a:rPr lang="ru-RU" dirty="0"/>
              <a:t>Популярные базы данных типа «ключ — значение» — </a:t>
            </a:r>
            <a:r>
              <a:rPr lang="ru-RU" dirty="0" err="1"/>
              <a:t>Redis</a:t>
            </a:r>
            <a:r>
              <a:rPr lang="ru-RU" dirty="0"/>
              <a:t>, </a:t>
            </a:r>
            <a:r>
              <a:rPr lang="ru-RU" dirty="0" err="1"/>
              <a:t>DynamoDB</a:t>
            </a:r>
            <a:r>
              <a:rPr lang="ru-RU" dirty="0"/>
              <a:t> и </a:t>
            </a:r>
            <a:r>
              <a:rPr lang="ru-RU" dirty="0" err="1"/>
              <a:t>Aerospike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46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отличие от реляционных баз данных,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документоориентированные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хранят информацию в виде «документов», а не таблиц и строк. Главное преимущество документных баз данных — возможность хранить информацию без строгого ограничения по структуре.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Документные базы данных умеют хранить информацию целиком и получать её одним запросом. Даже если структура элементов будет разной. Ещё документные базы данных позволяют использовать ссылки на другие записи в базе, что чем-то напоминает реляционную модель.</a:t>
            </a:r>
          </a:p>
          <a:p>
            <a:pPr fontAlgn="base" latinLnBrk="0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вам может подойти, если вы не хотите задумываться (до разумных пределов, разумеется) о структуре хранения, иерархии, связях,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Популярные документные базы данных —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CouchDB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DocumentDB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040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Колоночные базы данных (также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нереляционные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колоночные хранилища или базы данных с широкими столбцами) принадлежат к семейству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БД, но внешне похож на реляционные БД. Как и реляционные, колоночные БД хранят данные, используя строки и столбцы, но с иной связью между элементами.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реляционных БД все строки должны соответствовать фиксированной схеме. Схема определяет, какие столбцы будут в таблице, типы данных и другие критерии. В колоночных базах вместо таблиц имеются структуры – «колоночные семейства». Семейства содержат строки, каждая из которых определяет собственный формат. Строка состоит из уникального идентификатора, используемого для поиска, за которым следуют наборы имён и значений столбцов.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Следствия: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БД удобны при работе с приложениями, требующими высокой производительности;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и метаданные записи доступны по одному идентификатору;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гарантировано размещение всех данных из строки в одном кластере, что упрощает сегментацию и масштабирование данных.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область применения колоночных баз данных — анализ данных. Такие базы аналитики и менеджеры компаний используют, чтобы хранить историю событий.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760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если вам нужно анализировать отношения данных, их связи или просто упростить запросы с километровыми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имеет смысл использовать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графовые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базы данных.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и их связи представляются как вершины и ребра графа соответственно. 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способом можно легко представить денежные переводы (для определения различных мошеннических схем), связи в социальной сети  или рекомендательных сервисах.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088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Изменение типов хранимых данных, требования к скорости и производительности привели и к продолжающемуся расширению типов баз данных. При этом каждый из них продолжает быть нужным в своей нише, где взаимосвязи между данными ассоциируются с определенной схемой строения базы данных.</a:t>
            </a:r>
          </a:p>
          <a:p>
            <a:r>
              <a:rPr lang="ru-RU" dirty="0"/>
              <a:t>СУБД существует много, но часто программисты пользуются семью самыми популярными — </a:t>
            </a:r>
            <a:r>
              <a:rPr lang="en-US" dirty="0"/>
              <a:t>PostgreSQL, Microsoft SQL Server, MySQL, SQLite, MongoDB, Redis </a:t>
            </a:r>
            <a:r>
              <a:rPr lang="ru-RU" dirty="0"/>
              <a:t>и </a:t>
            </a:r>
            <a:r>
              <a:rPr lang="en-US" dirty="0"/>
              <a:t>Oracle.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33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хорошая альтернатива коммерческим СУБД, таким как </a:t>
            </a:r>
            <a:r>
              <a:rPr lang="ru-RU" dirty="0" err="1"/>
              <a:t>Oracle</a:t>
            </a:r>
            <a:r>
              <a:rPr lang="ru-RU" dirty="0"/>
              <a:t> </a:t>
            </a:r>
            <a:r>
              <a:rPr lang="ru-RU" dirty="0" err="1"/>
              <a:t>Database</a:t>
            </a:r>
            <a:r>
              <a:rPr lang="ru-RU" dirty="0"/>
              <a:t> или </a:t>
            </a:r>
            <a:r>
              <a:rPr lang="ru-RU" dirty="0" err="1"/>
              <a:t>Microsoft</a:t>
            </a:r>
            <a:r>
              <a:rPr lang="ru-RU" dirty="0"/>
              <a:t> SQL </a:t>
            </a:r>
            <a:r>
              <a:rPr lang="ru-RU" dirty="0" err="1"/>
              <a:t>Server</a:t>
            </a:r>
            <a:r>
              <a:rPr lang="ru-RU" dirty="0"/>
              <a:t>. Сегодня система управления базами данных </a:t>
            </a:r>
            <a:r>
              <a:rPr lang="ru-RU" dirty="0" err="1"/>
              <a:t>PostgreSQL</a:t>
            </a:r>
            <a:r>
              <a:rPr lang="ru-RU" dirty="0"/>
              <a:t> существует в реализациях для разных платформ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522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Схема помогает организовать данные в базе данных, делая их более удобными для управления и обеспечивая логическую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разделяемость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 базы данных.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358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Проектирование базы данных </a:t>
            </a:r>
            <a:r>
              <a:rPr lang="ru-RU" dirty="0" err="1"/>
              <a:t>PostgreSQL</a:t>
            </a:r>
            <a:r>
              <a:rPr lang="ru-RU" dirty="0"/>
              <a:t> является критически важной задачей, поскольку оно определяет, как будут храниться данные, доступ к ним и их обслуживание. Следование лучшим практикам гарантирует, что ваша база данных будет эффективной, масштабируемой и безопасной. </a:t>
            </a:r>
            <a:endParaRPr lang="en-US" dirty="0"/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Целью нормализации является минимизация дублирования и упрощение структуры, что делает ее более удобной для обслуживания и запросов.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52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Проектирование базы данных </a:t>
            </a:r>
            <a:r>
              <a:rPr lang="ru-RU" dirty="0" err="1"/>
              <a:t>PostgreSQL</a:t>
            </a:r>
            <a:r>
              <a:rPr lang="ru-RU" dirty="0"/>
              <a:t> является критически важной задачей, поскольку оно определяет, как будут храниться данные, доступ к ним и их обслуживание. Следование лучшим практикам гарантирует, что ваша база данных будет эффективной, масштабируемой и безопасной. </a:t>
            </a:r>
            <a:endParaRPr lang="en-US" dirty="0"/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Целью нормализации является минимизация дублирования и упрощение структуры, что делает ее более удобной для обслуживания и запросов.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796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Основа обеспечения целостности данных</a:t>
            </a:r>
          </a:p>
          <a:p>
            <a:r>
              <a:rPr lang="ru-RU" dirty="0"/>
              <a:t>Транзакции представляют собой последовательности операций, которые должны удовлетворять требованиям ACID (</a:t>
            </a:r>
            <a:r>
              <a:rPr lang="ru-RU" dirty="0" err="1"/>
              <a:t>atomicity</a:t>
            </a:r>
            <a:r>
              <a:rPr lang="ru-RU" dirty="0"/>
              <a:t>, </a:t>
            </a:r>
            <a:r>
              <a:rPr lang="ru-RU" dirty="0" err="1"/>
              <a:t>consistency</a:t>
            </a:r>
            <a:r>
              <a:rPr lang="ru-RU" dirty="0"/>
              <a:t>, </a:t>
            </a:r>
            <a:r>
              <a:rPr lang="ru-RU" dirty="0" err="1"/>
              <a:t>isolation</a:t>
            </a:r>
            <a:r>
              <a:rPr lang="ru-RU" dirty="0"/>
              <a:t>, </a:t>
            </a:r>
            <a:r>
              <a:rPr lang="ru-RU" dirty="0" err="1"/>
              <a:t>durability</a:t>
            </a:r>
            <a:r>
              <a:rPr lang="ru-RU" dirty="0"/>
              <a:t>).</a:t>
            </a:r>
          </a:p>
          <a:p>
            <a:r>
              <a:rPr lang="ru-RU" dirty="0"/>
              <a:t>Атомарность подразумевает возможность зафиксировать или откатить изменения, сделанные в транзакции.</a:t>
            </a:r>
          </a:p>
          <a:p>
            <a:r>
              <a:rPr lang="ru-RU" dirty="0"/>
              <a:t>Согласованность обеспечивается проверкой правил, обеспечивающих целостность данных.</a:t>
            </a:r>
          </a:p>
          <a:p>
            <a:r>
              <a:rPr lang="ru-RU" dirty="0"/>
              <a:t>Изоляция может иметь несколько различных уровней, но так или иначе она должна защищать транзакции от воздействия работающих одновременно с ними других транзакций.</a:t>
            </a:r>
          </a:p>
          <a:p>
            <a:r>
              <a:rPr lang="ru-RU" dirty="0"/>
              <a:t>Эти три свойства достаточно тесно связаны друг с другом. </a:t>
            </a:r>
            <a:br>
              <a:rPr lang="ru-RU" dirty="0"/>
            </a:br>
            <a:r>
              <a:rPr lang="ru-RU" dirty="0"/>
              <a:t>Долговечность подразумевает возможность восстановить базу данных после сбоя в согласованном состоянии.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763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 обеспечивают правила целостности данных в столбцах или таблицах, предотвращая вставку недопустимых данных. Они являются важной частью проектирования базы данных, так как помогают гарантировать, что ваши данные остаются последовательными и точными. 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проектировании базы данных тщательно продумайте, какие ограничения необходимы для поддержания целостности данных, и применяйте их последовательно к связанным таблицам.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124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 плюсов можно отметить, что человеку легче с работать с естественным ключом, так как используются уже существующие данные (атрибуты), дающие смысловую информацию.</a:t>
            </a:r>
          </a:p>
          <a:p>
            <a:r>
              <a:rPr lang="ru-RU" dirty="0"/>
              <a:t>Но есть и ряд недостатков. Естественный ключ может повториться по ошибке оператора. Также естественный ключ может изменить владельца (например, номер машины). 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Искусственный ключ гарантирует уникальность без ссылки на комбинацию атрибутов. Он более стабилен, так как не изменяется при изменении других данных.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Очевидный недостаток – отсутствие связи с данными. Искусственный ключ не информативен для пользователя из-за отсутствия смысловой информации. Могут потребоваться дополнительные усилия при установлении связей между таблицами.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735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Числовые типы в </a:t>
            </a:r>
            <a:r>
              <a:rPr lang="ru-RU" dirty="0" err="1"/>
              <a:t>PostgreSQL</a:t>
            </a:r>
            <a:r>
              <a:rPr lang="ru-RU" dirty="0"/>
              <a:t> определяются своей разрядностью: 2-, 4- и 8-байтные целочисленные, 4- и 8-байтовые с переменной точностью (с плавающей точкой) и </a:t>
            </a:r>
            <a:r>
              <a:rPr lang="ru-RU" dirty="0" err="1"/>
              <a:t>numeric</a:t>
            </a:r>
            <a:r>
              <a:rPr lang="ru-RU" dirty="0"/>
              <a:t>/</a:t>
            </a:r>
            <a:r>
              <a:rPr lang="ru-RU" dirty="0" err="1"/>
              <a:t>decimal</a:t>
            </a:r>
            <a:r>
              <a:rPr lang="ru-RU" dirty="0"/>
              <a:t> с указанной точностью (хранится посимвольно).</a:t>
            </a:r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 между целочисленными типами достаточно прост: если все ожидаемые значения в пределах сотни, то не надо резервировать под них 8-байтовый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bigint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Как правило, стандартного 4-байтового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достаточно для большинства задач.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стоит использовать для различных "денежных" вещей, где недопустимо "потерять копейку на округлениях“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Символьные/строковые типы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представлены парой описанных в стандарте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парой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-специфичных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не предполагаете перенос вашего приложения на другую СУБД, то можете спокойно использовать тип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везде, поскольку указание ограничения длины не дает никаких бонусов. Конечно, за исключением случаев, когда вам действительно требуется ограничить длину записываемого в поле - например, для 2-буквенного кода страны.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Дата и время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технически, хранятся как целочисленные, со значением от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POSTGRES_EPOCH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(01.01.2000) в соответствующих единицах (микросекундах или сутках):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 подходящих типов данных для столбцов очень важен, так как он влияет на объем памяти, производительность и целостность данных.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предлагает широкий спектр типов данных, включая числовые, символьные, двоичные, дата/время и другие. При выборе типов данных для столбцов следуйте следующим рекомендациям: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Выбирайте наименьший тип данных, который может вместить ваши данные, чтобы сэкономить место в хранилище и повысить производительность.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Избегайте использования текстового типа данных для столбцов с известной максимальной длиной, вместо него используйте тип данных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 заданным ограничением длины.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соответствующие типы данных даты/времени(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т.д.) для значений даты и времени, а не храните их в виде строк.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Рассмотрите возможность использования типа данных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столбцов со значениями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вместо использования целых чисел или символов.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201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 подходящих типов данных для столбцов очень важен, так как он влияет на объем памяти, производительность и целостность данных.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предлагает широкий спектр типов данных, включая числовые, символьные, двоичные, дата/время и другие. При выборе типов данных для столбцов следуйте следующим рекомендациям: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Выбирайте наименьший тип данных, который может вместить ваши данные, чтобы сэкономить место в хранилище и повысить производительность.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Избегайте использования текстового типа данных для столбцов с известной максимальной длиной, вместо него используйте тип данных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 заданным ограничением длины.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соответствующие типы данных даты/времени(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т.д.) для значений даты и времени, а не храните их в виде строк.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Рассмотрите возможность использования типа данных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столбцов со значениями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вместо использования целых чисел или символов.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381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последовательного соглашения об именовании объектов базы данных (таблиц, столбцов, индексов и т.д.) улучшает читаемость и облегчает разработчикам понимание и обслуживание базы данных. Вот несколько лучших практик для соглашений об именовании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384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базу данных студентов, в которой будет видно, кто на каком курсе учится. Для простоты будем считать, что каждый студент может учиться только на одном курсе.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Очевидно, что для этих целей понадобится две таблицы: в одной будет храниться информация о курсах, а во второй — о студентах.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Сделаем так, чтобы столбец </a:t>
            </a:r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ссылался на таблицу </a:t>
            </a:r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этого перейдите во вкладку </a:t>
            </a:r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(«Ограничения») → </a:t>
            </a:r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Foreign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(«Внешний ключ») и нажмите на 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068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чистом SQL нельзя написать программу — он предназначен только для взаимодействия с базами данных: получения, добавления, изменения и удаления информации в них, управления доступом и так далее.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01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Запросы в SQL похожи на 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естественный английский язык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выглядят как полноценные предложения.</a:t>
            </a:r>
            <a:endParaRPr lang="ru-RU" dirty="0"/>
          </a:p>
          <a:p>
            <a:r>
              <a:rPr lang="ru-RU" dirty="0"/>
              <a:t>А вместе все операторы, которые приведены на этом слайде, покрывают 99.9% всех типовых задач. То есть 99% - SELECT, а 0.9% - всякие CREATE, ALTER, INSERT, ... Потому что самая основная задача любой базы данных - это не столько хранение данных или их прием, сколько отдача.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636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для того, чтобы что-то создать в SQL, нам необходима команда </a:t>
            </a:r>
            <a:r>
              <a:rPr lang="ru-RU" dirty="0"/>
              <a:t>CREATE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она отвечает за создание в SQL любого типа объектов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dirty="0"/>
              <a:t>CREATE DATABASE, чтобы создать базу, и CREATE TABLE, чтобы создать таблицу в ней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8022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указываем, в какую таблицу и в какие поля должны быть добавлены данные, и, в простейшей форме INSERT … VALUES, прямо перечисляем те строки, которые хотим вставить. Значения в них позиционно соответствуют указанным полям таблицы.</a:t>
            </a:r>
          </a:p>
          <a:p>
            <a:endParaRPr lang="ru-RU" dirty="0"/>
          </a:p>
          <a:p>
            <a:r>
              <a:rPr lang="ru-RU" dirty="0"/>
              <a:t>Замечу, что пустая строка и NULL – совсем разные значения.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79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 изменение каких-то данных в SQL отвечает команда UPDATE</a:t>
            </a:r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мы указываем, в какой таблице (а таблица - это ключевой момент работы с SQL, и практически все, что придется делать, мы будем делать именно с таблицей) и как мы хотим изменить поля.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этом полей можно менять сразу несколько. 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И, дополнительно, описываем условие, которое должно отобрать только те строки, для которых наша операция должна отработать. В данном случае мы для строки с </a:t>
            </a:r>
            <a:r>
              <a:rPr lang="ru-RU" dirty="0"/>
              <a:t>k = 10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215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2280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 позволяют производить с данными дополнительные операции и указываются вместо атрибутов. Агрегатные функции записываются в формате FUNCTION (ATTRIBUTE).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783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не указать количество пропущенных записей, то их отсчёт будет вестись с начала таблицы.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Оператор LIMIT реализован не во всех СУБД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5922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Нередко может возникать ситуация, когда надо </a:t>
            </a:r>
            <a:r>
              <a:rPr lang="ru-RU" dirty="0" err="1"/>
              <a:t>промэппить</a:t>
            </a:r>
            <a:r>
              <a:rPr lang="ru-RU" dirty="0"/>
              <a:t> одну таблицу значениями из другой. В зависимости от задачи, могут использоваться разные типы присоединений. INNER JOIN — пересечение, RIGHT/LEFT JOIN для </a:t>
            </a:r>
            <a:r>
              <a:rPr lang="ru-RU" dirty="0" err="1"/>
              <a:t>мэппинга</a:t>
            </a:r>
            <a:r>
              <a:rPr lang="ru-RU" dirty="0"/>
              <a:t> одной таблицы </a:t>
            </a:r>
            <a:r>
              <a:rPr lang="ru-RU" dirty="0" err="1"/>
              <a:t>знаениями</a:t>
            </a:r>
            <a:r>
              <a:rPr lang="ru-RU" dirty="0"/>
              <a:t> из другой,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6136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 JOIN используется для возвращения только тех строк, которые имеют совпадения в обеих таблицах. Возвращаются только те строки, где ключевые значения совпадают в обеих таблицах.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 JOIN чаще всего используется для объединения таблиц, чтобы получить подмножества данных, которые присутствуют в обеих таблицах.</a:t>
            </a:r>
          </a:p>
          <a:p>
            <a:endParaRPr lang="ru-RU" dirty="0"/>
          </a:p>
          <a:p>
            <a:r>
              <a:rPr lang="ru-RU" dirty="0"/>
              <a:t>LEFT OUTER JOIN используется для объединения двух таблиц, но с сохранением всех записей из левой таблицы, в том числе и тех, для которых нет соответствующих записей в правой таблице.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OUTER JOIN используется для объединения двух таблиц, но для сохранения всех записей из правой таблицы, в том числе и тех, для которых нет соответствующих записей в левой таблице.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возвращает все строки из правой таблицы и совпадающие строки из левой таблицы. Если совпадений нет, то для столбцов левой таблицы используются значения NULL.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OUTER JOIN используется для объединения двух таблиц с сохранением всех записей, включая те, для которых нет соответствующих записей в другой таблице.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возвращает все строки, если есть совпадение либо в левой, либо в правой таблице. Если совпадения нет, то в столбцах таблицы, в которой нет совпадения, используются значения NULL.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4040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JDBC представляет собой описание интерфейсов и некоторых классов, которые позволяют работать с базами данных из </a:t>
            </a:r>
            <a:r>
              <a:rPr lang="ru-RU" dirty="0" err="1"/>
              <a:t>Java</a:t>
            </a:r>
            <a:r>
              <a:rPr lang="ru-RU" dirty="0"/>
              <a:t>. </a:t>
            </a:r>
          </a:p>
          <a:p>
            <a:r>
              <a:rPr lang="ru-RU" dirty="0"/>
              <a:t>Главным принципом архитектуры является унифицированный (универсальный, стандартный) способ общения с разными базами данных. Т.е. с точки зрения приложения на </a:t>
            </a:r>
            <a:r>
              <a:rPr lang="ru-RU" dirty="0" err="1"/>
              <a:t>Java</a:t>
            </a:r>
            <a:r>
              <a:rPr lang="ru-RU" dirty="0"/>
              <a:t> общение с </a:t>
            </a:r>
            <a:r>
              <a:rPr lang="ru-RU" dirty="0" err="1"/>
              <a:t>Oracle</a:t>
            </a:r>
            <a:r>
              <a:rPr lang="ru-RU" dirty="0"/>
              <a:t> или </a:t>
            </a:r>
            <a:r>
              <a:rPr lang="ru-RU" dirty="0" err="1"/>
              <a:t>MySQL</a:t>
            </a:r>
            <a:r>
              <a:rPr lang="ru-RU" dirty="0"/>
              <a:t> не должно отличаться. По возможности совсем не должно отличаться.</a:t>
            </a:r>
          </a:p>
          <a:p>
            <a:r>
              <a:rPr lang="ru-RU" dirty="0"/>
              <a:t>Сами SQL-запросы могут отличаться за счет разного набора функций для дат, строк и других. Но это уже строка запроса другая, а алгоритм и набор команд для доставки запроса на SQL-сервер и получение данных от SQL-сервера отличаться не должны.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Приложение не должно думать над тем, с какой базе оно работает — все базы должны выглядеть одинаково. При этом внутреннее устройство передачи данных для разных СУБД разное. Правила передачи байтов для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Oracle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 отличается от правил передачи байтов для 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</a:rPr>
              <a:t>Postgres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. В итоге — с одной стороны все выглядят одинаково, но с другой реализации будут разные. Вопрос разрешается через полиморфизм через интерфейсы. Именно на этом и строится архитектура JDBC. 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2192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мы видим, и это логично, база данных является внешним компонентом, которого нет изначально в </a:t>
            </a:r>
            <a:r>
              <a:rPr lang="ru-RU" dirty="0" err="1"/>
              <a:t>Java</a:t>
            </a:r>
            <a:r>
              <a:rPr lang="en-US" dirty="0"/>
              <a:t>. </a:t>
            </a:r>
            <a:r>
              <a:rPr lang="ru-RU" dirty="0"/>
              <a:t>существует огромное количество баз данных и работать вы можете захотеть с любой. Каждая из этих баз данных поставляется отдельной компанией, которые называются поставщиками баз данных или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vendors</a:t>
            </a:r>
            <a:r>
              <a:rPr lang="ru-RU" dirty="0"/>
              <a:t>. Каждая база данных написана на каком-то своём языке программирования (не обязательно </a:t>
            </a:r>
            <a:r>
              <a:rPr lang="ru-RU" dirty="0" err="1"/>
              <a:t>Java</a:t>
            </a:r>
            <a:r>
              <a:rPr lang="ru-RU" dirty="0"/>
              <a:t>). Чтобы с базой данных можно было работать из </a:t>
            </a:r>
            <a:r>
              <a:rPr lang="ru-RU" dirty="0" err="1"/>
              <a:t>Java</a:t>
            </a:r>
            <a:r>
              <a:rPr lang="ru-RU" dirty="0"/>
              <a:t> приложения поставщик базы данных пишет особый драйвер, который является своего образа адаптером. Каждый такой JDBC драйвер — это некоторый артефакт, библиотека, </a:t>
            </a:r>
            <a:r>
              <a:rPr lang="ru-RU" dirty="0" err="1"/>
              <a:t>jar</a:t>
            </a:r>
            <a:r>
              <a:rPr lang="ru-RU" dirty="0"/>
              <a:t> файл.</a:t>
            </a:r>
            <a:endParaRPr lang="en-US" dirty="0"/>
          </a:p>
          <a:p>
            <a:endParaRPr lang="en-US" dirty="0"/>
          </a:p>
          <a:p>
            <a:pPr algn="just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Пакет JDBC состоит из двух главных компонентов:</a:t>
            </a:r>
          </a:p>
          <a:p>
            <a:pPr algn="just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ru-RU" sz="1200" b="0" strike="noStrike" spc="-1" dirty="0">
              <a:solidFill>
                <a:srgbClr val="24406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API (программного интерфейса), который поддерживает связь между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-приложением и менеджером JDBC;</a:t>
            </a:r>
          </a:p>
          <a:p>
            <a:pPr algn="just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Драйвера JDBC, который поддерживает связь между менеджером JDBC и СУБД.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6204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Соединение с базой устанавливается по особому URL. При этом разработчику не нужно знать специфику конкретной базы — API выступает в качестве посредника между базой и приложением. Это упрощает как процесс создания приложения, так и переход на базу данных другого типа.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0031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650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Maven</a:t>
            </a:r>
            <a:r>
              <a:rPr lang="ru-RU" dirty="0"/>
              <a:t>, </a:t>
            </a:r>
            <a:r>
              <a:rPr lang="ru-RU" dirty="0" err="1"/>
              <a:t>Ant</a:t>
            </a:r>
            <a:r>
              <a:rPr lang="ru-RU" dirty="0"/>
              <a:t> и </a:t>
            </a:r>
            <a:r>
              <a:rPr lang="ru-RU" dirty="0" err="1"/>
              <a:t>Gradle</a:t>
            </a:r>
            <a:r>
              <a:rPr lang="ru-RU" dirty="0"/>
              <a:t> - это инструменты для автоматизации сборки и управления проектами на </a:t>
            </a:r>
            <a:r>
              <a:rPr lang="ru-RU" dirty="0" err="1"/>
              <a:t>Java</a:t>
            </a:r>
            <a:r>
              <a:rPr lang="ru-RU" dirty="0"/>
              <a:t>. Они предоставляют множество функций, которые помогают упростить и ускорить процесс разработки программного обеспечения.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9160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573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 для программного проекта, поддерживаемого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содержится в XML-файле с именем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pom.xml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(от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При исполнении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проверяет прежде всего, содержит ли этот файл все необходимые данные и все ли данные синтаксически правильно записаны.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Корневой элемент &lt;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&gt;, в котором прописана схема облегчающая редактирование и проверку, и версия POM.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Заголовок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тега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содержится основная и обязательная информация о проекте.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каждый проект идентифицируется парой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 избежание конфликта имён,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наименование организации или подразделения и обычно действуют такие же правила, как и при именовании пакетов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записывают доменное имя организации или сайта проекта.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название проекта.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тега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хранится версия проекта.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Тройкой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(далее -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GAV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можно однозначно идентифицировать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файл приложения или библиотеки. Если состояние кода для проекта не зафиксировано, то в конце к имени версии добавляется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"-SNAPSHOT"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что обозначает, что версия в разработке и результирующий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файл может меняться.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packaging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определяет какого типа файл будет создаваться как результат сборки. Возможные варианты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 является необязательным. Если его нет, используется значение по умолчанию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 проекта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добавляется информация, которая не используется самим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нужна для программиста, чтобы понять, о чём этот проект: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Зависимости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следующая очень важная часть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pom.xml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тут хранится список всех библиотек (зависимостей) которые используются в проекте. Каждая библиотека идентифицируется так же как и сам проект - тройкой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(GAV). Объявление зависимостей заключено в теге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&gt;...&lt;/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обязательный, так как существуют значения по умолчанию. Этот раздел содержит информацию по самой сборке: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находятся исходные файлы,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находятся ресурсы,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плагины используются. </a:t>
            </a: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sourceDirectory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определяет, откуда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будет брать файлы исходного кода. По умолчанию это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вы можете определить, где это вам удобно. Директория может быть только одна (без использования специальных плагинов).</a:t>
            </a: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recources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вложенные в неё теги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recource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определяют, одну или несколько директорий, где хранятся файлы ресурсов. Ресурсы в отличие от файлов исходного кода при сборке просто копируются. Директория по умолчанию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outputDirectory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определяет, в какую директорию компилятор будет сохранять результаты компиляции -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*.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файлы. Значение по умолчанию -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finalName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имя результирующего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...)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файла с соответствующим типу расширением, который создаётся на фазе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Значение по умолчанию —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artifactId-version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плагины позволяют задать дополнительные действия, которые будут выполняться при сборке. Например, в приведённом примере добавлен плагин, который автоматически делает проверку кода на наличие "плохого" кода и потенциальных ошибок.</a:t>
            </a: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7821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Мавену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нужно тратить кучу времени на поиски нужной библиотеки в интернете, качать ее, а потом подключать к проекту: достаточно добавить необходимую в список зависимостей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Мавена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Зависимости записываются в XML-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ноду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всегда задаются три параметра: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Узнать эти параметры можно двумя способами: На сайте библиотеки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https://jdbc.postgresql.org/download/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ее можно просто скопировать и добавить в наш раздел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</a:t>
            </a:r>
            <a:r>
              <a:rPr lang="ru-RU" sz="1200" b="0" i="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Maven</a:t>
            </a:r>
            <a:r>
              <a:rPr lang="ru-RU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-репозитории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поиске введи 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и ты увидишь все доступные версии библиотеки.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https://mvnrepository.com/artifact/org.postgresql/postgresql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13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Прежде всего нужно соединиться с базой данных.</a:t>
            </a:r>
            <a:r>
              <a:rPr lang="en-US" dirty="0"/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это нужны три вещи: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имя компьютера, на котором расположен сервер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Логин и пароль пользователя</a:t>
            </a:r>
          </a:p>
          <a:p>
            <a:r>
              <a:rPr lang="ru-RU" dirty="0"/>
              <a:t> А еще класс </a:t>
            </a:r>
            <a:r>
              <a:rPr lang="ru-RU" dirty="0" err="1"/>
              <a:t>DriverManager</a:t>
            </a:r>
            <a:r>
              <a:rPr lang="ru-RU" dirty="0"/>
              <a:t>. Он поддерживает список реализаций JDBC и обеспечивает создание соединений с базами данных на основе сообщаемых ему JDBC URL. URL для JDBC имеет вид </a:t>
            </a:r>
            <a:r>
              <a:rPr lang="ru-RU" dirty="0" err="1"/>
              <a:t>jdbc:protocol</a:t>
            </a:r>
            <a:r>
              <a:rPr lang="ru-RU" dirty="0"/>
              <a:t>:. Он сообщает </a:t>
            </a:r>
            <a:r>
              <a:rPr lang="ru-RU" dirty="0" err="1"/>
              <a:t>DriverManager</a:t>
            </a:r>
            <a:r>
              <a:rPr lang="ru-RU" dirty="0"/>
              <a:t>, с какой СУБД нужно соединиться.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JDBC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анализирует URL и определяет имя JDBC-драйвера по имени протокола</a:t>
            </a: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Coтnection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это физическое подключение к БД. Его создание и закрытие - довольно "дорогая" работа.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7511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Взаимодействовать с БД мы можем с помощью трёх интерфейсов, которые имплементируются каждым драйвером</a:t>
            </a:r>
            <a:r>
              <a:rPr lang="en-US" dirty="0"/>
              <a:t>. </a:t>
            </a:r>
            <a:r>
              <a:rPr lang="ru-RU" dirty="0"/>
              <a:t>Чтобы</a:t>
            </a:r>
            <a:r>
              <a:rPr lang="en-US" dirty="0"/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 экземпляр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выполнения SQL – запросов, нам необходимо создать такой экземпляр. Для этого используется метод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Connection.createStatement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7897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результате метод </a:t>
            </a:r>
            <a:r>
              <a:rPr lang="ru-RU" dirty="0" err="1"/>
              <a:t>executeQuery</a:t>
            </a:r>
            <a:r>
              <a:rPr lang="ru-RU" dirty="0"/>
              <a:t>() вернул нам объект </a:t>
            </a:r>
            <a:r>
              <a:rPr lang="ru-RU" dirty="0" err="1"/>
              <a:t>ResultSet</a:t>
            </a:r>
            <a:r>
              <a:rPr lang="ru-RU" dirty="0"/>
              <a:t>, который содержит все результаты запроса.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 запроса может содержать тысячи строк и сотни колонок различных типов например, в базе могут храниться картинки, тогда ты можешь получить картинку в виде набора байт или же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ее загрузки.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строк у результата может быть много, то объект </a:t>
            </a:r>
            <a:r>
              <a:rPr lang="ru-RU" dirty="0" err="1"/>
              <a:t>ResultSet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имеет у себя внутри указатель на текущую строку. И последовательно переключает строки для их чтения с помощью метода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 изначально текущая строка находится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первой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строкой результата. И чтобы получить первую строку, нужно хотя бы раз вызвать 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 подход в первую очередь сделан для оптимизации. JDBC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может не загружать строки из базы, пока ты последовательно не дойдешь до их чтения.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8650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Тип TYPE_FORWARD_ONLY используется по умолчанию.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7239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получения и редактирования данных, в интерфейса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существует множество </a:t>
            </a:r>
            <a:r>
              <a:rPr lang="ru-RU" dirty="0"/>
              <a:t>специальных методы, которые все можно описать одним шаблоном:</a:t>
            </a:r>
          </a:p>
          <a:p>
            <a:r>
              <a:rPr lang="ru-RU" dirty="0" err="1"/>
              <a:t>getType</a:t>
            </a:r>
            <a:r>
              <a:rPr lang="ru-RU" dirty="0"/>
              <a:t>(</a:t>
            </a:r>
            <a:r>
              <a:rPr lang="ru-RU" dirty="0" err="1"/>
              <a:t>номерКолонки</a:t>
            </a:r>
            <a:r>
              <a:rPr lang="ru-RU" dirty="0"/>
              <a:t>) или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имяКолонки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Колонки нумеруются с 1. Строки, кстати, тоже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7165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JDBC есть специальный объект – интерфейс 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ResultSetMetaData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Колонки нумеруются с 1. Строки, кстати, тоже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7591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Результирующий набор данных </a:t>
            </a:r>
            <a:r>
              <a:rPr lang="ru-RU" dirty="0" err="1"/>
              <a:t>ResultSet</a:t>
            </a:r>
            <a:r>
              <a:rPr lang="ru-RU" dirty="0"/>
              <a:t> можно не закрывать. Это делается автоматически родительским объектом </a:t>
            </a:r>
            <a:r>
              <a:rPr lang="ru-RU" dirty="0" err="1"/>
              <a:t>Statement</a:t>
            </a:r>
            <a:r>
              <a:rPr lang="ru-RU" dirty="0"/>
              <a:t>, когда он закрывается, начинает выполняться повторно или используется для извлечения следующего результата в последовательности нескольких результатов. Но лучше все же закрывать и не надеяться, что это сделает разработчик драйвера JDBC.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C434A-2F62-473F-BB67-9B5ED0D6A9B6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62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80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04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8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73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82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35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63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52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48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667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904989"/>
            <a:ext cx="10972800" cy="422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fld id="{37DFA496-8697-438C-B988-0A86CF6DD095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1F18D27A-FC76-48D4-A7AA-280D0CAEB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12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2E30-4BBE-44A4-A937-DB5C188E1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1263E-0F7B-40C3-9502-DACA75E0A2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13022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31B858-C80B-4434-9876-7B0DA85E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Система управления базами данных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3F3354-552D-4DE8-8270-4C2B4C3B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04989"/>
            <a:ext cx="6277507" cy="4221175"/>
          </a:xfrm>
        </p:spPr>
        <p:txBody>
          <a:bodyPr>
            <a:noAutofit/>
          </a:bodyPr>
          <a:lstStyle/>
          <a:p>
            <a:pPr marL="455613" indent="-455613">
              <a:tabLst>
                <a:tab pos="622300" algn="l"/>
              </a:tabLst>
            </a:pPr>
            <a:r>
              <a:rPr lang="ru-RU" sz="2400" b="1" dirty="0"/>
              <a:t>База данных </a:t>
            </a:r>
            <a:r>
              <a:rPr lang="ru-RU" sz="2400" dirty="0"/>
              <a:t>— это набор упорядоченных и структурированных данных, которые хранятся на определённом компьютере.</a:t>
            </a:r>
          </a:p>
          <a:p>
            <a:r>
              <a:rPr lang="ru-RU" sz="2400" b="1" dirty="0"/>
              <a:t>Система управления базами данных (СУБД)</a:t>
            </a:r>
            <a:r>
              <a:rPr lang="ru-RU" sz="2400" dirty="0"/>
              <a:t> — это набор инструментов, которые позволяют удобно управлять базами данных: удалять, добавлять, фильтровать и находить элементы, менять их структуру, создавать резервные копии, осуществлять многопользовательский доступ.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CD0A0-27A6-4D41-8B71-0ED9C2321E1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87106" y="2695406"/>
            <a:ext cx="4695293" cy="26403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6061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C4CC-F92C-4B9A-A4CC-152BF9A4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СУБД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C1120-BC4B-4178-87C2-2345AE06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7315200" cy="4221175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создавать базы данных и администрировать их: удалять, изменять и объединять;</a:t>
            </a:r>
          </a:p>
          <a:p>
            <a:r>
              <a:rPr lang="ru-RU" dirty="0"/>
              <a:t>держать данные в структурированном виде и необходимом формате;</a:t>
            </a:r>
          </a:p>
          <a:p>
            <a:r>
              <a:rPr lang="ru-RU" dirty="0"/>
              <a:t>защищать данные от нежелательных изменений и попыток взлома;</a:t>
            </a:r>
          </a:p>
          <a:p>
            <a:r>
              <a:rPr lang="ru-RU" dirty="0"/>
              <a:t>загружать и сортировать данные с помощью фильтров;</a:t>
            </a:r>
          </a:p>
          <a:p>
            <a:r>
              <a:rPr lang="ru-RU" dirty="0"/>
              <a:t>делать резервные копии, восстанавливать базы данных после </a:t>
            </a:r>
            <a:r>
              <a:rPr lang="ru-RU" dirty="0" err="1"/>
              <a:t>сбоёв</a:t>
            </a:r>
            <a:r>
              <a:rPr lang="ru-RU" dirty="0"/>
              <a:t> и поддерживать общую целостность.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7E0BD6-190C-4442-A620-0E452540C1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50"/>
          <a:stretch/>
        </p:blipFill>
        <p:spPr>
          <a:xfrm>
            <a:off x="8129308" y="2536909"/>
            <a:ext cx="3453092" cy="29573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9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5322-CDEC-491B-B245-998A928D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СУБД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A0934-9524-486F-B447-CE298DFF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7722870" cy="422117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набор команд, который позволит записывать и получать данные</a:t>
            </a:r>
          </a:p>
          <a:p>
            <a:r>
              <a:rPr lang="ru-RU" dirty="0"/>
              <a:t>работа с файловой системой (нередко у нее бывает своя собственная файловая система для скорости)</a:t>
            </a:r>
          </a:p>
          <a:p>
            <a:r>
              <a:rPr lang="ru-RU" dirty="0"/>
              <a:t>механизмы разграничения доступа к разным данным</a:t>
            </a:r>
          </a:p>
          <a:p>
            <a:r>
              <a:rPr lang="ru-RU" dirty="0"/>
              <a:t>решение задачи одновременного доступа к данным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BB14C-CEC1-461F-9568-B78682F3D8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714"/>
          <a:stretch/>
        </p:blipFill>
        <p:spPr>
          <a:xfrm>
            <a:off x="8431530" y="2095500"/>
            <a:ext cx="2952750" cy="2667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5059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1984-E589-4DF0-A58D-7673570C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СУБД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95690-6028-4597-83E1-6266E56D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/>
              <a:t>В итоге мы получаем достаточно ясную архитектуру — есть СУБД, которая сосредоточена на работе с данными и есть клиенты, которые могут посылать запросы к СУБД.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0C17A-F12C-4724-9C17-F52E53FA3A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85431" y="2902035"/>
            <a:ext cx="4221137" cy="32241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297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5BD4-F9CB-4518-B6AD-33BE62F3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СУБД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A3BADBC-C5FE-47A8-BDBE-A94C74EED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175992"/>
              </p:ext>
            </p:extLst>
          </p:nvPr>
        </p:nvGraphicFramePr>
        <p:xfrm>
          <a:off x="609600" y="1905000"/>
          <a:ext cx="10972800" cy="4221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955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3FBC-1F20-4EC4-A7CC-9DA330F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Реляционные СУБД</a:t>
            </a:r>
          </a:p>
        </p:txBody>
      </p:sp>
      <p:pic>
        <p:nvPicPr>
          <p:cNvPr id="2050" name="Picture 2" descr="Основы SQL. Тема 1.1: История возникновения">
            <a:extLst>
              <a:ext uri="{FF2B5EF4-FFF2-40B4-BE49-F238E27FC236}">
                <a16:creationId xmlns:a16="http://schemas.microsoft.com/office/drawing/2014/main" id="{9A1BC770-783C-417E-810B-B70EB4A974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09739"/>
            <a:ext cx="2317537" cy="228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29CD3E-8F45-4A18-8ACE-F7EB27AEE1E2}"/>
              </a:ext>
            </a:extLst>
          </p:cNvPr>
          <p:cNvSpPr txBox="1"/>
          <p:nvPr/>
        </p:nvSpPr>
        <p:spPr>
          <a:xfrm>
            <a:off x="3499104" y="2010128"/>
            <a:ext cx="77019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Набор данных с заданными взаимосвязями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Реляционная модель объединяет данные в таблицы, где каждая строка представляет собой отдельную запись, а каждый столбец состоит из атрибутов, содержащих значения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DF081E-A867-4DA8-8F2C-48319DE46484}"/>
              </a:ext>
            </a:extLst>
          </p:cNvPr>
          <p:cNvSpPr/>
          <p:nvPr/>
        </p:nvSpPr>
        <p:spPr>
          <a:xfrm>
            <a:off x="528627" y="5679011"/>
            <a:ext cx="4797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PostgreSQL, Microsoft SQL Server, MySQL, Oracle</a:t>
            </a:r>
            <a:endParaRPr lang="ru-RU" i="1" dirty="0"/>
          </a:p>
        </p:txBody>
      </p:sp>
      <p:pic>
        <p:nvPicPr>
          <p:cNvPr id="2052" name="Picture 4" descr="11 типов современных баз данных: краткие описания, схемы и примеры БД">
            <a:extLst>
              <a:ext uri="{FF2B5EF4-FFF2-40B4-BE49-F238E27FC236}">
                <a16:creationId xmlns:a16="http://schemas.microsoft.com/office/drawing/2014/main" id="{CB8FA784-9E8A-4B46-AA5B-2B444F476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8" b="56734"/>
          <a:stretch/>
        </p:blipFill>
        <p:spPr bwMode="auto">
          <a:xfrm>
            <a:off x="6760999" y="3593277"/>
            <a:ext cx="4076221" cy="259798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833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5D47-FC28-4244-9918-A0E78AE4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Ключ-значение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24D77-78E8-432D-AC5C-010AD8631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6480" t="54745" r="55485" b="5115"/>
          <a:stretch/>
        </p:blipFill>
        <p:spPr>
          <a:xfrm>
            <a:off x="609600" y="1839446"/>
            <a:ext cx="2058728" cy="1781590"/>
          </a:xfrm>
          <a:prstGeom prst="rect">
            <a:avLst/>
          </a:prstGeom>
          <a:ln w="38100" cap="rnd">
            <a:solidFill>
              <a:srgbClr val="802E2B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763CE3-E4E2-484A-9E60-CD0496ED18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37632" y="3817163"/>
            <a:ext cx="4486656" cy="29730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78E5-D431-425B-ADED-E5A07DBD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112" y="1839446"/>
            <a:ext cx="8400288" cy="2427754"/>
          </a:xfrm>
        </p:spPr>
        <p:txBody>
          <a:bodyPr>
            <a:noAutofit/>
          </a:bodyPr>
          <a:lstStyle/>
          <a:p>
            <a:r>
              <a:rPr lang="ru-RU" sz="2400" dirty="0"/>
              <a:t>Записи хранятся и извлекаются с использованием ключа, который однозначно идентифицирует запись и используется для быстрого поиска данных</a:t>
            </a:r>
          </a:p>
          <a:p>
            <a:r>
              <a:rPr lang="ru-RU" sz="2400" dirty="0"/>
              <a:t>Жёстких ограничений по структуре элементов нет</a:t>
            </a:r>
          </a:p>
          <a:p>
            <a:r>
              <a:rPr lang="ru-RU" sz="2400" dirty="0"/>
              <a:t>Предназначен для осуществления быстрых, почти мгновенных запросов</a:t>
            </a:r>
          </a:p>
          <a:p>
            <a:endParaRPr lang="ru-RU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98209-A578-4707-9DC7-18D69064329D}"/>
              </a:ext>
            </a:extLst>
          </p:cNvPr>
          <p:cNvSpPr/>
          <p:nvPr/>
        </p:nvSpPr>
        <p:spPr>
          <a:xfrm>
            <a:off x="426720" y="5681472"/>
            <a:ext cx="2995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Redis, DynamoDB</a:t>
            </a:r>
            <a:r>
              <a:rPr lang="ru-RU" i="1" dirty="0"/>
              <a:t>, </a:t>
            </a:r>
            <a:r>
              <a:rPr lang="en-US" i="1" dirty="0" err="1"/>
              <a:t>Memcache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29298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5D47-FC28-4244-9918-A0E78AE4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Документные</a:t>
            </a:r>
            <a:r>
              <a:rPr lang="en-US" dirty="0"/>
              <a:t> </a:t>
            </a:r>
            <a:r>
              <a:rPr lang="ru-RU" dirty="0"/>
              <a:t>СУБД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24D77-78E8-432D-AC5C-010AD8631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51079" t="45302" r="3422" b="4944"/>
          <a:stretch/>
        </p:blipFill>
        <p:spPr>
          <a:xfrm>
            <a:off x="451104" y="1934320"/>
            <a:ext cx="2462784" cy="2208298"/>
          </a:xfrm>
          <a:prstGeom prst="rect">
            <a:avLst/>
          </a:prstGeom>
          <a:ln w="38100" cap="rnd">
            <a:solidFill>
              <a:srgbClr val="802E2B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78E5-D431-425B-ADED-E5A07DBD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112" y="1839446"/>
            <a:ext cx="8400288" cy="2427754"/>
          </a:xfrm>
        </p:spPr>
        <p:txBody>
          <a:bodyPr>
            <a:noAutofit/>
          </a:bodyPr>
          <a:lstStyle/>
          <a:p>
            <a:r>
              <a:rPr lang="ru-RU" sz="2400" dirty="0"/>
              <a:t>Хранят информацию в виде «документов»</a:t>
            </a:r>
            <a:endParaRPr lang="en-US" sz="2400" dirty="0"/>
          </a:p>
          <a:p>
            <a:r>
              <a:rPr lang="ru-RU" sz="2400" dirty="0"/>
              <a:t>Возможность хранить информацию без строгого ограничения по структуре</a:t>
            </a:r>
            <a:endParaRPr lang="en-US" sz="2400" dirty="0"/>
          </a:p>
          <a:p>
            <a:r>
              <a:rPr lang="ru-RU" sz="2400" dirty="0"/>
              <a:t>Предназначен для осуществления быстрых, почти мгновенных запросов</a:t>
            </a:r>
          </a:p>
          <a:p>
            <a:endParaRPr lang="ru-RU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98209-A578-4707-9DC7-18D69064329D}"/>
              </a:ext>
            </a:extLst>
          </p:cNvPr>
          <p:cNvSpPr/>
          <p:nvPr/>
        </p:nvSpPr>
        <p:spPr>
          <a:xfrm>
            <a:off x="326797" y="5693664"/>
            <a:ext cx="4708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MongoDB, Elasticsearch </a:t>
            </a:r>
            <a:r>
              <a:rPr lang="ru-RU" i="1" dirty="0"/>
              <a:t>и </a:t>
            </a:r>
            <a:r>
              <a:rPr lang="en-US" i="1" dirty="0"/>
              <a:t>Amazon </a:t>
            </a:r>
            <a:r>
              <a:rPr lang="en-US" i="1" dirty="0" err="1"/>
              <a:t>DocumentDB</a:t>
            </a:r>
            <a:endParaRPr lang="ru-RU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8179AD-BFE2-4015-A313-D87F72A52ED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27756" y="3900869"/>
            <a:ext cx="5239825" cy="27839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657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5D47-FC28-4244-9918-A0E78AE4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Колоночные базы данных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24D77-78E8-432D-AC5C-010AD8631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7417" t="8494" r="57670" b="41752"/>
          <a:stretch/>
        </p:blipFill>
        <p:spPr>
          <a:xfrm>
            <a:off x="609600" y="1839446"/>
            <a:ext cx="1889760" cy="2208298"/>
          </a:xfrm>
          <a:prstGeom prst="rect">
            <a:avLst/>
          </a:prstGeom>
          <a:ln w="38100" cap="rnd">
            <a:solidFill>
              <a:srgbClr val="802E2B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78E5-D431-425B-ADED-E5A07DBD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112" y="1839446"/>
            <a:ext cx="8400288" cy="2427754"/>
          </a:xfrm>
        </p:spPr>
        <p:txBody>
          <a:bodyPr>
            <a:noAutofit/>
          </a:bodyPr>
          <a:lstStyle/>
          <a:p>
            <a:r>
              <a:rPr lang="ru-RU" sz="2400" dirty="0"/>
              <a:t>Данные хранятся последовательно в виде одной колонки</a:t>
            </a:r>
          </a:p>
          <a:p>
            <a:r>
              <a:rPr lang="ru-RU" sz="2400" dirty="0"/>
              <a:t>Строки определяют собственный формат.</a:t>
            </a:r>
          </a:p>
          <a:p>
            <a:r>
              <a:rPr lang="ru-RU" sz="2400" dirty="0"/>
              <a:t>Строка состоит из уникального идентификатора, используемого для поиска, за которым следуют наборы имён и значений столбцов.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98209-A578-4707-9DC7-18D69064329D}"/>
              </a:ext>
            </a:extLst>
          </p:cNvPr>
          <p:cNvSpPr/>
          <p:nvPr/>
        </p:nvSpPr>
        <p:spPr>
          <a:xfrm>
            <a:off x="512064" y="5669280"/>
            <a:ext cx="1765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Casandra, HBase</a:t>
            </a:r>
            <a:endParaRPr lang="ru-RU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65830-4B85-4DEF-9C23-168CCDF6F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534134"/>
            <a:ext cx="4303776" cy="30818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9358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5D47-FC28-4244-9918-A0E78AE4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Графовые</a:t>
            </a:r>
            <a:r>
              <a:rPr lang="ru-RU" dirty="0"/>
              <a:t> СУБД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24D77-78E8-432D-AC5C-010AD8631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60122" t="4950" r="7650" b="54945"/>
          <a:stretch/>
        </p:blipFill>
        <p:spPr>
          <a:xfrm>
            <a:off x="609600" y="1809739"/>
            <a:ext cx="1744452" cy="1780032"/>
          </a:xfrm>
          <a:prstGeom prst="rect">
            <a:avLst/>
          </a:prstGeom>
          <a:ln w="38100" cap="rnd">
            <a:solidFill>
              <a:srgbClr val="802E2B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78E5-D431-425B-ADED-E5A07DBD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9042" y="1809739"/>
            <a:ext cx="8925122" cy="24277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Данные и их связи представляются как вершины и ребра графа соответственно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98209-A578-4707-9DC7-18D69064329D}"/>
              </a:ext>
            </a:extLst>
          </p:cNvPr>
          <p:cNvSpPr/>
          <p:nvPr/>
        </p:nvSpPr>
        <p:spPr>
          <a:xfrm>
            <a:off x="462220" y="5633579"/>
            <a:ext cx="402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244061"/>
                </a:solidFill>
              </a:rPr>
              <a:t>Amazon Neptune, Neo4j </a:t>
            </a:r>
            <a:r>
              <a:rPr lang="ru-RU" i="1" dirty="0">
                <a:solidFill>
                  <a:srgbClr val="244061"/>
                </a:solidFill>
              </a:rPr>
              <a:t>и </a:t>
            </a:r>
            <a:r>
              <a:rPr lang="en-US" i="1" dirty="0" err="1">
                <a:solidFill>
                  <a:srgbClr val="244061"/>
                </a:solidFill>
              </a:rPr>
              <a:t>InfiniteGraph</a:t>
            </a:r>
            <a:endParaRPr lang="ru-RU" i="1" dirty="0">
              <a:solidFill>
                <a:srgbClr val="244061"/>
              </a:solidFill>
            </a:endParaRPr>
          </a:p>
        </p:txBody>
      </p:sp>
      <p:pic>
        <p:nvPicPr>
          <p:cNvPr id="4098" name="Picture 2" descr="https://media.proglib.io/posts/2020/01/06/b24ee335f9c4f1ae5a20588ed9bfb83a.png">
            <a:extLst>
              <a:ext uri="{FF2B5EF4-FFF2-40B4-BE49-F238E27FC236}">
                <a16:creationId xmlns:a16="http://schemas.microsoft.com/office/drawing/2014/main" id="{19BD35B5-A2CC-4081-9F1C-A326AB5D5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667" y="2566518"/>
            <a:ext cx="5411589" cy="374594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454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F24B-38D5-4EF3-8F57-A7BC6A75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Популярные СУБД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FC0286-FDE2-4A32-81BA-A57D59671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8730" y="1905000"/>
            <a:ext cx="7574539" cy="42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B122-D362-44C8-B1D1-46D1F89C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PostgreSQL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FFBA0-ADD9-431E-8488-66AACF2A57E8}"/>
              </a:ext>
            </a:extLst>
          </p:cNvPr>
          <p:cNvSpPr/>
          <p:nvPr/>
        </p:nvSpPr>
        <p:spPr>
          <a:xfrm>
            <a:off x="7786298" y="5721323"/>
            <a:ext cx="3911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https://www.postgresql.org/download/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DE59DD-0E4A-4351-87A3-A1B365BD073A}"/>
              </a:ext>
            </a:extLst>
          </p:cNvPr>
          <p:cNvSpPr/>
          <p:nvPr/>
        </p:nvSpPr>
        <p:spPr>
          <a:xfrm>
            <a:off x="707136" y="1990358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Тип</a:t>
            </a:r>
            <a:r>
              <a:rPr lang="en-US" sz="2000" b="1" dirty="0"/>
              <a:t>:</a:t>
            </a:r>
            <a:r>
              <a:rPr lang="ru-RU" sz="2000" dirty="0"/>
              <a:t> Реляционная СУБД клиент-серверного вида.</a:t>
            </a:r>
          </a:p>
          <a:p>
            <a:endParaRPr lang="ru-RU" sz="2000" dirty="0"/>
          </a:p>
          <a:p>
            <a:r>
              <a:rPr lang="ru-RU" sz="2000" b="1" dirty="0"/>
              <a:t>Стоимость</a:t>
            </a:r>
            <a:r>
              <a:rPr lang="en-US" sz="2000" b="1" dirty="0"/>
              <a:t>:</a:t>
            </a:r>
            <a:r>
              <a:rPr lang="ru-RU" sz="2000" dirty="0"/>
              <a:t> Бесплатно.</a:t>
            </a:r>
          </a:p>
          <a:p>
            <a:endParaRPr lang="ru-RU" sz="2000" dirty="0"/>
          </a:p>
          <a:p>
            <a:r>
              <a:rPr lang="ru-RU" sz="2000" b="1" dirty="0"/>
              <a:t>Для кого</a:t>
            </a:r>
            <a:r>
              <a:rPr lang="en-US" sz="2000" b="1" dirty="0"/>
              <a:t>:</a:t>
            </a:r>
            <a:r>
              <a:rPr lang="ru-RU" sz="2000" dirty="0"/>
              <a:t> Подходит для проектов любой сложности и объёма.</a:t>
            </a:r>
          </a:p>
          <a:p>
            <a:endParaRPr lang="ru-RU" sz="2000" dirty="0"/>
          </a:p>
          <a:p>
            <a:r>
              <a:rPr lang="ru-RU" sz="2000" b="1" dirty="0"/>
              <a:t>Преимущества:</a:t>
            </a:r>
            <a:r>
              <a:rPr lang="ru-RU" sz="2000" dirty="0"/>
              <a:t> СУБД имеет большую функциональность и высокую производительность — например, она без проблем может работать с большими данными под высокой нагрузкой.</a:t>
            </a:r>
            <a:r>
              <a:rPr lang="en-US" sz="2000" dirty="0"/>
              <a:t> </a:t>
            </a:r>
            <a:r>
              <a:rPr lang="ru-RU" sz="2000" dirty="0"/>
              <a:t>В ней нет лимита по размеру баз данных и числу записей в таблицах.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825AF7-3DA4-4612-AE01-017742C7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98" y="1809739"/>
            <a:ext cx="3698566" cy="369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5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26F3-7641-4C58-8C2A-01682C4C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Характеристики реляционных СУБД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F94-F663-425E-86FA-8BC721E33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Реляционные базы данных применяют, когда важны следующие характеристики:</a:t>
            </a:r>
          </a:p>
          <a:p>
            <a:r>
              <a:rPr lang="ru-RU" b="1" dirty="0" err="1"/>
              <a:t>Транзакционность</a:t>
            </a:r>
            <a:r>
              <a:rPr lang="ru-RU" dirty="0"/>
              <a:t>. Для выполнения операции нужно сделать несколько запросов к базе данных. Это может быть, например, перевод денег с одной карты на другую через приложение банка.</a:t>
            </a:r>
          </a:p>
          <a:p>
            <a:r>
              <a:rPr lang="ru-RU" b="1" dirty="0"/>
              <a:t>Частые изменения данных</a:t>
            </a:r>
            <a:r>
              <a:rPr lang="ru-RU" dirty="0"/>
              <a:t>. Так как в реляционных базах данных строгая структура.</a:t>
            </a:r>
          </a:p>
          <a:p>
            <a:r>
              <a:rPr lang="ru-RU" b="1" dirty="0"/>
              <a:t>Поиск по индексам</a:t>
            </a:r>
            <a:r>
              <a:rPr lang="ru-RU" dirty="0"/>
              <a:t>. Каждый элемент такой базы данных — это строка, а искать элементы по строкам удобно.</a:t>
            </a:r>
          </a:p>
          <a:p>
            <a:r>
              <a:rPr lang="ru-RU" b="1" dirty="0"/>
              <a:t>Запросы небольшого количества записей за раз</a:t>
            </a:r>
            <a:r>
              <a:rPr lang="ru-RU" dirty="0"/>
              <a:t>. Реляционные базы данных работают как раз по этому принципу.</a:t>
            </a:r>
          </a:p>
          <a:p>
            <a:r>
              <a:rPr lang="ru-RU" b="1" dirty="0"/>
              <a:t>Объём данных не превышает нескольких терабайт.</a:t>
            </a:r>
            <a:r>
              <a:rPr lang="ru-RU" dirty="0"/>
              <a:t> Если будет больше, такая база данных будет работать медленнее.</a:t>
            </a:r>
          </a:p>
        </p:txBody>
      </p:sp>
    </p:spTree>
    <p:extLst>
      <p:ext uri="{BB962C8B-B14F-4D97-AF65-F5344CB8AC3E}">
        <p14:creationId xmlns:p14="http://schemas.microsoft.com/office/powerpoint/2010/main" val="45825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9372-9A52-480B-9B39-403DDDEB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0859-9094-4C92-9D13-88CD6BCE8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9740"/>
            <a:ext cx="9448800" cy="3754766"/>
          </a:xfrm>
        </p:spPr>
        <p:txBody>
          <a:bodyPr>
            <a:normAutofit fontScale="85000" lnSpcReduction="20000"/>
          </a:bodyPr>
          <a:lstStyle/>
          <a:p>
            <a:r>
              <a:rPr lang="ru-RU" sz="3800" b="1" dirty="0"/>
              <a:t>База данных </a:t>
            </a:r>
            <a:r>
              <a:rPr lang="ru-RU" sz="3800" dirty="0"/>
              <a:t>-  физическое объединение таблиц</a:t>
            </a:r>
          </a:p>
          <a:p>
            <a:r>
              <a:rPr lang="ru-RU" sz="3800" b="1" dirty="0"/>
              <a:t>Схема</a:t>
            </a:r>
            <a:r>
              <a:rPr lang="ru-RU" sz="3800" dirty="0"/>
              <a:t> - это логическая структура, которая представляет собой набор таблиц, индексов, представлений, функций и других объектов базы данных, организованных в единую группу. </a:t>
            </a:r>
          </a:p>
          <a:p>
            <a:r>
              <a:rPr lang="ru-RU" sz="3800" dirty="0"/>
              <a:t>Столбец называется </a:t>
            </a:r>
            <a:r>
              <a:rPr lang="ru-RU" sz="3800" b="1" dirty="0"/>
              <a:t>атрибутом</a:t>
            </a:r>
            <a:r>
              <a:rPr lang="ru-RU" sz="3800" dirty="0"/>
              <a:t>, строка — </a:t>
            </a:r>
            <a:r>
              <a:rPr lang="ru-RU" sz="3800" b="1" dirty="0"/>
              <a:t>записью</a:t>
            </a:r>
            <a:r>
              <a:rPr lang="ru-RU" sz="3800" dirty="0"/>
              <a:t> или </a:t>
            </a:r>
            <a:r>
              <a:rPr lang="ru-RU" sz="3800" b="1" dirty="0"/>
              <a:t>кортежем</a:t>
            </a:r>
            <a:r>
              <a:rPr lang="ru-RU" sz="3800" dirty="0"/>
              <a:t>, а сама БД — их </a:t>
            </a:r>
            <a:r>
              <a:rPr lang="ru-RU" sz="3800" b="1" dirty="0"/>
              <a:t>отношением</a:t>
            </a:r>
            <a:r>
              <a:rPr lang="ru-RU" sz="3800" dirty="0"/>
              <a:t> друг к другу.</a:t>
            </a:r>
            <a:endParaRPr lang="en-US" sz="3800" dirty="0"/>
          </a:p>
          <a:p>
            <a:pPr marL="0" indent="0">
              <a:buNone/>
            </a:pPr>
            <a:endParaRPr lang="ru-RU" sz="5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A352C-81B1-4E2D-B4E6-A0CF1FB3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541722"/>
            <a:ext cx="3095625" cy="1476375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97980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5ECB-C8BF-4193-8449-98792B50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Этапы проектирования базы данных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641D0F-A2F6-496C-B79D-50C57A2FE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107" r="6643" b="2835"/>
          <a:stretch/>
        </p:blipFill>
        <p:spPr>
          <a:xfrm>
            <a:off x="7717536" y="1970099"/>
            <a:ext cx="3767328" cy="4101518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396540-6529-4E1E-A02C-68FD625AE050}"/>
              </a:ext>
            </a:extLst>
          </p:cNvPr>
          <p:cNvSpPr/>
          <p:nvPr/>
        </p:nvSpPr>
        <p:spPr>
          <a:xfrm>
            <a:off x="609600" y="1970098"/>
            <a:ext cx="7217664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1. Концептуальная модель</a:t>
            </a:r>
            <a:endParaRPr lang="ru-RU" dirty="0"/>
          </a:p>
          <a:p>
            <a:r>
              <a:rPr lang="ru-RU" dirty="0"/>
              <a:t>На этом этапе нужно определиться с сущностями (что храним, как храним), определить связи между сущностями, атрибуты каждой сущности и набор атрибутов, делающих запись уникальной</a:t>
            </a:r>
          </a:p>
          <a:p>
            <a:endParaRPr lang="ru-RU" dirty="0"/>
          </a:p>
          <a:p>
            <a:r>
              <a:rPr lang="ru-RU" b="1" dirty="0"/>
              <a:t>2. Логическая модель</a:t>
            </a:r>
            <a:endParaRPr lang="ru-RU" dirty="0"/>
          </a:p>
          <a:p>
            <a:r>
              <a:rPr lang="ru-RU" dirty="0"/>
              <a:t>На этом этапе определяется набор таблиц , прописываются типы данных. Проводится </a:t>
            </a:r>
            <a:r>
              <a:rPr lang="ru-RU" b="1" dirty="0"/>
              <a:t>декомпозиция</a:t>
            </a:r>
            <a:r>
              <a:rPr lang="ru-RU" dirty="0"/>
              <a:t> (создание атомарных объектов, которые потом связываются между собой), </a:t>
            </a:r>
            <a:r>
              <a:rPr lang="ru-RU" b="1" dirty="0"/>
              <a:t>нормализация</a:t>
            </a:r>
            <a:r>
              <a:rPr lang="ru-RU" dirty="0"/>
              <a:t>. Также определяются набор поддерживаемых </a:t>
            </a:r>
            <a:r>
              <a:rPr lang="ru-RU" b="1" dirty="0"/>
              <a:t>транзакций</a:t>
            </a:r>
            <a:r>
              <a:rPr lang="ru-RU" dirty="0"/>
              <a:t> и соответствие ему структуры данных, требования поддержки целостности данных</a:t>
            </a:r>
          </a:p>
          <a:p>
            <a:endParaRPr lang="ru-RU" sz="2400" dirty="0"/>
          </a:p>
          <a:p>
            <a:r>
              <a:rPr lang="en-US" b="1" dirty="0"/>
              <a:t>3</a:t>
            </a:r>
            <a:r>
              <a:rPr lang="ru-RU" b="1" dirty="0"/>
              <a:t>. Физическая модель</a:t>
            </a:r>
            <a:endParaRPr lang="ru-RU" dirty="0"/>
          </a:p>
          <a:p>
            <a:r>
              <a:rPr lang="ru-RU" dirty="0"/>
              <a:t>На этом этапе проектируются таблицы средствами выбранной СУБД</a:t>
            </a:r>
            <a:br>
              <a:rPr lang="ru-RU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5311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5ECB-C8BF-4193-8449-98792B50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Нормализация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396540-6529-4E1E-A02C-68FD625AE050}"/>
              </a:ext>
            </a:extLst>
          </p:cNvPr>
          <p:cNvSpPr/>
          <p:nvPr/>
        </p:nvSpPr>
        <p:spPr>
          <a:xfrm>
            <a:off x="609600" y="1970098"/>
            <a:ext cx="5486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При проектировании схемы базы данных следует руководствоваться концепцией нормализации</a:t>
            </a:r>
          </a:p>
          <a:p>
            <a:endParaRPr lang="en-US" sz="2400" b="1" dirty="0"/>
          </a:p>
          <a:p>
            <a:r>
              <a:rPr lang="ru-RU" sz="2400" b="1" dirty="0"/>
              <a:t>Нормализация -</a:t>
            </a:r>
            <a:r>
              <a:rPr lang="ru-RU" sz="2400" dirty="0"/>
              <a:t> это процесс, который уменьшает избыточность данных и улучшает их целостность путем организации данных в таблицы и установления связей между ними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60209C7-5454-4DE6-AD05-AC22DEF5A6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2152380"/>
              </p:ext>
            </p:extLst>
          </p:nvPr>
        </p:nvGraphicFramePr>
        <p:xfrm>
          <a:off x="7229038" y="1809739"/>
          <a:ext cx="4048562" cy="190843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33856">
                  <a:extLst>
                    <a:ext uri="{9D8B030D-6E8A-4147-A177-3AD203B41FA5}">
                      <a16:colId xmlns:a16="http://schemas.microsoft.com/office/drawing/2014/main" val="4201833400"/>
                    </a:ext>
                  </a:extLst>
                </a:gridCol>
                <a:gridCol w="1537313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  <a:gridCol w="1377393">
                  <a:extLst>
                    <a:ext uri="{9D8B030D-6E8A-4147-A177-3AD203B41FA5}">
                      <a16:colId xmlns:a16="http://schemas.microsoft.com/office/drawing/2014/main" val="4044727754"/>
                    </a:ext>
                  </a:extLst>
                </a:gridCol>
              </a:tblGrid>
              <a:tr h="262901">
                <a:tc>
                  <a:txBody>
                    <a:bodyPr/>
                    <a:lstStyle/>
                    <a:p>
                      <a:r>
                        <a:rPr lang="ru-RU" sz="1600" dirty="0"/>
                        <a:t>Студент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Курс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Кол-во часов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618937"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Проф. программист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618937">
                <a:tc>
                  <a:txBody>
                    <a:bodyPr/>
                    <a:lstStyle/>
                    <a:p>
                      <a:r>
                        <a:rPr lang="ru-RU" sz="1600" dirty="0"/>
                        <a:t>Петров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Проф. программист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168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18811"/>
                  </a:ext>
                </a:extLst>
              </a:tr>
              <a:tr h="323475">
                <a:tc>
                  <a:txBody>
                    <a:bodyPr/>
                    <a:lstStyle/>
                    <a:p>
                      <a:r>
                        <a:rPr lang="ru-RU" sz="1600" dirty="0"/>
                        <a:t>Алексеев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Систем.  админ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97CE0D4-E122-4FAB-A5DA-38BE22ABA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476453"/>
              </p:ext>
            </p:extLst>
          </p:nvPr>
        </p:nvGraphicFramePr>
        <p:xfrm>
          <a:off x="9253319" y="4509827"/>
          <a:ext cx="2914706" cy="12935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37313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  <a:gridCol w="1377393">
                  <a:extLst>
                    <a:ext uri="{9D8B030D-6E8A-4147-A177-3AD203B41FA5}">
                      <a16:colId xmlns:a16="http://schemas.microsoft.com/office/drawing/2014/main" val="4044727754"/>
                    </a:ext>
                  </a:extLst>
                </a:gridCol>
              </a:tblGrid>
              <a:tr h="262901">
                <a:tc>
                  <a:txBody>
                    <a:bodyPr/>
                    <a:lstStyle/>
                    <a:p>
                      <a:r>
                        <a:rPr lang="ru-RU" sz="1600" dirty="0"/>
                        <a:t>Курс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Кол-во часов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618937">
                <a:tc>
                  <a:txBody>
                    <a:bodyPr/>
                    <a:lstStyle/>
                    <a:p>
                      <a:r>
                        <a:rPr lang="ru-RU" sz="1600" dirty="0"/>
                        <a:t>Проф. программист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339347">
                <a:tc>
                  <a:txBody>
                    <a:bodyPr/>
                    <a:lstStyle/>
                    <a:p>
                      <a:r>
                        <a:rPr lang="ru-RU" sz="1600" dirty="0"/>
                        <a:t>Систем. админ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FDCF880A-A6CC-4197-871E-DF61FBD483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6348573"/>
              </p:ext>
            </p:extLst>
          </p:nvPr>
        </p:nvGraphicFramePr>
        <p:xfrm>
          <a:off x="6156142" y="4509827"/>
          <a:ext cx="2914706" cy="19275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37232">
                  <a:extLst>
                    <a:ext uri="{9D8B030D-6E8A-4147-A177-3AD203B41FA5}">
                      <a16:colId xmlns:a16="http://schemas.microsoft.com/office/drawing/2014/main" val="4201833400"/>
                    </a:ext>
                  </a:extLst>
                </a:gridCol>
                <a:gridCol w="1677474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</a:tblGrid>
              <a:tr h="262901">
                <a:tc>
                  <a:txBody>
                    <a:bodyPr/>
                    <a:lstStyle/>
                    <a:p>
                      <a:r>
                        <a:rPr lang="ru-RU" sz="1600" dirty="0"/>
                        <a:t>Студент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Курс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618937"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Проф. программист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618937">
                <a:tc>
                  <a:txBody>
                    <a:bodyPr/>
                    <a:lstStyle/>
                    <a:p>
                      <a:r>
                        <a:rPr lang="ru-RU" sz="1600" dirty="0"/>
                        <a:t>Петров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Проф. программист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18811"/>
                  </a:ext>
                </a:extLst>
              </a:tr>
              <a:tr h="354394">
                <a:tc>
                  <a:txBody>
                    <a:bodyPr/>
                    <a:lstStyle/>
                    <a:p>
                      <a:r>
                        <a:rPr lang="ru-RU" sz="1600" dirty="0"/>
                        <a:t>Алексеев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Систем.  админ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</a:tbl>
          </a:graphicData>
        </a:graphic>
      </p:graphicFrame>
      <p:sp>
        <p:nvSpPr>
          <p:cNvPr id="19" name="Arrow: Down 18">
            <a:extLst>
              <a:ext uri="{FF2B5EF4-FFF2-40B4-BE49-F238E27FC236}">
                <a16:creationId xmlns:a16="http://schemas.microsoft.com/office/drawing/2014/main" id="{5E172E77-84CB-40F0-A17C-34BD147C691B}"/>
              </a:ext>
            </a:extLst>
          </p:cNvPr>
          <p:cNvSpPr/>
          <p:nvPr/>
        </p:nvSpPr>
        <p:spPr>
          <a:xfrm>
            <a:off x="9130990" y="3893744"/>
            <a:ext cx="256032" cy="304800"/>
          </a:xfrm>
          <a:prstGeom prst="down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111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3292-6A0F-4743-9F4B-F94CFB05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56C5-37B7-40EE-B14B-12B66131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7437120" cy="42211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/>
              <a:t>Транзакция</a:t>
            </a:r>
            <a:r>
              <a:rPr lang="ru-RU" dirty="0"/>
              <a:t> - последовательность операций, составляющая логическую единицу работы</a:t>
            </a:r>
          </a:p>
          <a:p>
            <a:r>
              <a:rPr lang="ru-RU" b="1" dirty="0"/>
              <a:t>Атомарность</a:t>
            </a:r>
            <a:r>
              <a:rPr lang="ru-RU" dirty="0"/>
              <a:t> – все или ничего при фиксации выполняются все операции, при откате не выполняется ни одна </a:t>
            </a:r>
          </a:p>
          <a:p>
            <a:r>
              <a:rPr lang="ru-RU" b="1" dirty="0"/>
              <a:t>Согласованность</a:t>
            </a:r>
            <a:r>
              <a:rPr lang="ru-RU" dirty="0"/>
              <a:t> – целостность данных система переходит из одного согласованного состояния в другое </a:t>
            </a:r>
          </a:p>
          <a:p>
            <a:r>
              <a:rPr lang="ru-RU" b="1" dirty="0"/>
              <a:t>Изоляция</a:t>
            </a:r>
            <a:r>
              <a:rPr lang="ru-RU" dirty="0"/>
              <a:t> – от других транзакций на результат не должны оказывать влияние другие параллельно работающие транзакции </a:t>
            </a:r>
          </a:p>
          <a:p>
            <a:r>
              <a:rPr lang="ru-RU" b="1" dirty="0"/>
              <a:t>Долговечность</a:t>
            </a:r>
            <a:r>
              <a:rPr lang="ru-RU" dirty="0"/>
              <a:t> – даже после сбоя зафиксированные изменения никогда не теряются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B6CE6-6FFA-4995-BF15-2DE088606D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lum/>
          </a:blip>
          <a:srcRect b="2676"/>
          <a:stretch/>
        </p:blipFill>
        <p:spPr>
          <a:xfrm>
            <a:off x="8289680" y="2754282"/>
            <a:ext cx="3147296" cy="3585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E67686-8DE4-4561-BB94-2F2C374CD3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417"/>
          <a:stretch/>
        </p:blipFill>
        <p:spPr>
          <a:xfrm>
            <a:off x="8583168" y="1409134"/>
            <a:ext cx="2560320" cy="1345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26706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782B-03F2-4CDD-92F1-F833D3F8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Ограничения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748D3-789E-4658-B041-A96619BA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Первичный ключ:</a:t>
            </a:r>
            <a:r>
              <a:rPr lang="ru-RU" dirty="0"/>
              <a:t> Уникально идентифицирует каждую строку в таблице и гарантирует отсутствие дубликатов строк</a:t>
            </a:r>
          </a:p>
          <a:p>
            <a:r>
              <a:rPr lang="ru-RU" b="1" dirty="0"/>
              <a:t>Внешний ключ:</a:t>
            </a:r>
            <a:r>
              <a:rPr lang="ru-RU" dirty="0"/>
              <a:t> Устанавливает связь между двумя таблицами и гарантирует, что данные в ссылающейся таблице соответствуют данным в ссылочной таблице</a:t>
            </a:r>
          </a:p>
          <a:p>
            <a:r>
              <a:rPr lang="ru-RU" b="1" dirty="0"/>
              <a:t>Уникальность:</a:t>
            </a:r>
            <a:r>
              <a:rPr lang="ru-RU" dirty="0"/>
              <a:t> Обеспечивает отсутствие дубликатов значений в указанном столбце (столбцах)</a:t>
            </a:r>
          </a:p>
          <a:p>
            <a:r>
              <a:rPr lang="ru-RU" b="1" dirty="0"/>
              <a:t>Проверка:</a:t>
            </a:r>
            <a:r>
              <a:rPr lang="ru-RU" dirty="0"/>
              <a:t> Обеспечивает выполнение определенного условия для данных в столбце</a:t>
            </a:r>
          </a:p>
          <a:p>
            <a:r>
              <a:rPr lang="ru-RU" b="1" dirty="0" err="1"/>
              <a:t>Not</a:t>
            </a:r>
            <a:r>
              <a:rPr lang="ru-RU" b="1" dirty="0"/>
              <a:t> </a:t>
            </a:r>
            <a:r>
              <a:rPr lang="ru-RU" b="1" dirty="0" err="1"/>
              <a:t>Null</a:t>
            </a:r>
            <a:r>
              <a:rPr lang="ru-RU" b="1" dirty="0"/>
              <a:t>:</a:t>
            </a:r>
            <a:r>
              <a:rPr lang="ru-RU" dirty="0"/>
              <a:t> Гарантирует, что столбец не может содержать значения NULL</a:t>
            </a:r>
          </a:p>
        </p:txBody>
      </p:sp>
    </p:spTree>
    <p:extLst>
      <p:ext uri="{BB962C8B-B14F-4D97-AF65-F5344CB8AC3E}">
        <p14:creationId xmlns:p14="http://schemas.microsoft.com/office/powerpoint/2010/main" val="3574787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9D108-8A88-447A-BDF4-4BF1D18A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Первичный ключ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66549-2241-4B72-892C-7D7AADDD1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6022848" cy="4221175"/>
          </a:xfrm>
        </p:spPr>
        <p:txBody>
          <a:bodyPr>
            <a:normAutofit/>
          </a:bodyPr>
          <a:lstStyle/>
          <a:p>
            <a:r>
              <a:rPr lang="ru-RU" sz="3200" dirty="0"/>
              <a:t>Естественный – использование уже существующих данных, которые однозначно определяют запись (ИНН, государственный номер машины и т. д.)</a:t>
            </a:r>
          </a:p>
          <a:p>
            <a:r>
              <a:rPr lang="ru-RU" sz="3200" dirty="0"/>
              <a:t>Искусственный - генерируется самой базой данных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D6052-916D-4937-8C0C-1CCC6087F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392" y="2197597"/>
            <a:ext cx="4515119" cy="33863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5989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3574-B15B-4AC2-88A3-DB7C85C5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pic>
        <p:nvPicPr>
          <p:cNvPr id="6146" name="Picture 2" descr="Числовые типы данных">
            <a:extLst>
              <a:ext uri="{FF2B5EF4-FFF2-40B4-BE49-F238E27FC236}">
                <a16:creationId xmlns:a16="http://schemas.microsoft.com/office/drawing/2014/main" id="{1E615AFC-A571-48F1-BD87-D296BA29F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97" y="1809739"/>
            <a:ext cx="7271049" cy="25428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970E5-01CE-4AB5-BC2E-FC952080A4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-1031" t="-17314" r="738" b="-1105"/>
          <a:stretch/>
        </p:blipFill>
        <p:spPr>
          <a:xfrm>
            <a:off x="280797" y="4361678"/>
            <a:ext cx="7348728" cy="2182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32F20-D763-41CD-B37A-98AED9BAF82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61248" y="5286370"/>
            <a:ext cx="2773456" cy="53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D0FBB2-F926-4971-90EF-57DD3450B70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-2523" b="-1"/>
          <a:stretch/>
        </p:blipFill>
        <p:spPr>
          <a:xfrm>
            <a:off x="7050247" y="3581019"/>
            <a:ext cx="5141753" cy="1133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0896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2FB5-B0BE-4C02-AA24-C2C28F18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типа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483E-7DF0-434E-8AA5-FB28D77A2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3592841"/>
          </a:xfrm>
        </p:spPr>
        <p:txBody>
          <a:bodyPr>
            <a:normAutofit fontScale="55000" lnSpcReduction="20000"/>
          </a:bodyPr>
          <a:lstStyle/>
          <a:p>
            <a:r>
              <a:rPr lang="ru-RU" sz="4400" dirty="0"/>
              <a:t>Выбирайте наименьший тип данных, который может вместить ваши данные, чтобы сэкономить место в хранилище и повысить производительность.</a:t>
            </a:r>
          </a:p>
          <a:p>
            <a:r>
              <a:rPr lang="ru-RU" sz="4400" dirty="0"/>
              <a:t>Избегайте использования текстового типа данных для столбцов с известной максимальной длиной, вместо него используйте тип данных </a:t>
            </a:r>
            <a:r>
              <a:rPr lang="ru-RU" sz="4400" dirty="0" err="1"/>
              <a:t>varchar</a:t>
            </a:r>
            <a:r>
              <a:rPr lang="ru-RU" sz="4400" dirty="0"/>
              <a:t> с заданным ограничением длины.</a:t>
            </a:r>
          </a:p>
          <a:p>
            <a:r>
              <a:rPr lang="ru-RU" sz="4400" dirty="0"/>
              <a:t>Используйте соответствующие типы данных даты/времени(</a:t>
            </a:r>
            <a:r>
              <a:rPr lang="ru-RU" sz="4400" dirty="0" err="1"/>
              <a:t>timestamp</a:t>
            </a:r>
            <a:r>
              <a:rPr lang="ru-RU" sz="4400" dirty="0"/>
              <a:t>, </a:t>
            </a:r>
            <a:r>
              <a:rPr lang="ru-RU" sz="4400" dirty="0" err="1"/>
              <a:t>date</a:t>
            </a:r>
            <a:r>
              <a:rPr lang="ru-RU" sz="4400" dirty="0"/>
              <a:t>, </a:t>
            </a:r>
            <a:r>
              <a:rPr lang="ru-RU" sz="4400" dirty="0" err="1"/>
              <a:t>time</a:t>
            </a:r>
            <a:r>
              <a:rPr lang="ru-RU" sz="4400" dirty="0"/>
              <a:t> и т.д.) для значений даты и времени, а не храните их в виде строк.</a:t>
            </a:r>
          </a:p>
          <a:p>
            <a:r>
              <a:rPr lang="ru-RU" sz="4400" dirty="0"/>
              <a:t>Рассмотрите возможность использования типа данных </a:t>
            </a:r>
            <a:r>
              <a:rPr lang="ru-RU" sz="4400" dirty="0" err="1"/>
              <a:t>boolean</a:t>
            </a:r>
            <a:r>
              <a:rPr lang="ru-RU" sz="4400" dirty="0"/>
              <a:t> для столбцов со значениями </a:t>
            </a:r>
            <a:r>
              <a:rPr lang="ru-RU" sz="4400" dirty="0" err="1"/>
              <a:t>true</a:t>
            </a:r>
            <a:r>
              <a:rPr lang="ru-RU" sz="4400" dirty="0"/>
              <a:t>/</a:t>
            </a:r>
            <a:r>
              <a:rPr lang="ru-RU" sz="4400" dirty="0" err="1"/>
              <a:t>false</a:t>
            </a:r>
            <a:r>
              <a:rPr lang="ru-RU" sz="4400" dirty="0"/>
              <a:t> вместо использования целых чисел или символов.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0075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19FD-8171-47A6-BDCA-2BE2DEFD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Соглашения об именовании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1EA4A-8970-4065-900F-F38C4948E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Используйте строчные буквы в именах объектов, так как </a:t>
            </a:r>
            <a:r>
              <a:rPr lang="ru-RU" dirty="0" err="1"/>
              <a:t>PostgreSQL</a:t>
            </a:r>
            <a:r>
              <a:rPr lang="ru-RU" dirty="0"/>
              <a:t> автоматически преобразует идентификаторы без кавычек в строчные.</a:t>
            </a:r>
          </a:p>
          <a:p>
            <a:r>
              <a:rPr lang="ru-RU" dirty="0"/>
              <a:t>Разделяйте слова в именах объектов символами подчеркивания (_), а не используйте </a:t>
            </a:r>
            <a:r>
              <a:rPr lang="ru-RU" dirty="0" err="1"/>
              <a:t>camelCase</a:t>
            </a:r>
            <a:r>
              <a:rPr lang="ru-RU" dirty="0"/>
              <a:t> или </a:t>
            </a:r>
            <a:r>
              <a:rPr lang="ru-RU" dirty="0" err="1"/>
              <a:t>PascalCase</a:t>
            </a:r>
            <a:r>
              <a:rPr lang="ru-RU" dirty="0"/>
              <a:t>.</a:t>
            </a:r>
          </a:p>
          <a:p>
            <a:r>
              <a:rPr lang="ru-RU" dirty="0"/>
              <a:t>Будьте описательны и избегайте использования аббревиатур, которые могут быть непонятны другим.</a:t>
            </a:r>
          </a:p>
          <a:p>
            <a:r>
              <a:rPr lang="ru-RU" dirty="0"/>
              <a:t>Для столбцов внешнего ключа используйте формат </a:t>
            </a:r>
            <a:r>
              <a:rPr lang="ru-RU" sz="3400" dirty="0" err="1">
                <a:latin typeface="Consolas" panose="020B0609020204030204" pitchFamily="49" charset="0"/>
              </a:rPr>
              <a:t>referenced_table_singular_form_id</a:t>
            </a:r>
            <a:r>
              <a:rPr lang="ru-RU" sz="3400" dirty="0">
                <a:latin typeface="Consolas" panose="020B0609020204030204" pitchFamily="49" charset="0"/>
              </a:rPr>
              <a:t> </a:t>
            </a:r>
            <a:r>
              <a:rPr lang="ru-RU" dirty="0"/>
              <a:t>(например, </a:t>
            </a:r>
            <a:r>
              <a:rPr lang="ru-RU" sz="3400" dirty="0" err="1">
                <a:latin typeface="Consolas" panose="020B0609020204030204" pitchFamily="49" charset="0"/>
              </a:rPr>
              <a:t>user_id</a:t>
            </a:r>
            <a:r>
              <a:rPr lang="ru-RU" dirty="0"/>
              <a:t> для внешнего ключа, ссылающегося на таблицу </a:t>
            </a:r>
            <a:r>
              <a:rPr lang="ru-RU" sz="3400" dirty="0" err="1">
                <a:latin typeface="Consolas" panose="020B0609020204030204" pitchFamily="49" charset="0"/>
              </a:rPr>
              <a:t>users</a:t>
            </a:r>
            <a:r>
              <a:rPr lang="ru-RU" dirty="0"/>
              <a:t> ).</a:t>
            </a:r>
          </a:p>
        </p:txBody>
      </p:sp>
    </p:spTree>
    <p:extLst>
      <p:ext uri="{BB962C8B-B14F-4D97-AF65-F5344CB8AC3E}">
        <p14:creationId xmlns:p14="http://schemas.microsoft.com/office/powerpoint/2010/main" val="4160744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8F7D-39A8-46CE-B438-7286CBEE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насущном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A5285-FC89-4007-9083-C2C8169D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2" y="1562100"/>
            <a:ext cx="6810375" cy="3733800"/>
          </a:xfrm>
          <a:prstGeom prst="rect">
            <a:avLst/>
          </a:prstGeom>
        </p:spPr>
      </p:pic>
      <p:pic>
        <p:nvPicPr>
          <p:cNvPr id="3076" name="Picture 4" descr="https://img.brodude.ru/huQpDavno8UIp3MfInMbFnJqeucKbj3Nbf-VnGAgrv4/rs:fill:1090:650:0/g:ce:0:0/c:0:0/aHR0cHM6Ly9icm9kdWRlLnJ1L3dwLWNvbnRlbnQvdXBsb2Fkcy8yMDE4LzA0LzI2L2Jyb2R1ZGUucnVfMjYuMDQuMjAxOF82R1pReHE3YlRzTWhhLmdpZg">
            <a:extLst>
              <a:ext uri="{FF2B5EF4-FFF2-40B4-BE49-F238E27FC236}">
                <a16:creationId xmlns:a16="http://schemas.microsoft.com/office/drawing/2014/main" id="{9B8D7EFD-7B2C-4C55-B987-B17087C3BC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757" y="3906220"/>
            <a:ext cx="4988243" cy="297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977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DDD8-5D7A-4C22-ACA0-F006D526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базы данных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1528E1-985E-492B-91F8-D66F14B9E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4734914"/>
              </p:ext>
            </p:extLst>
          </p:nvPr>
        </p:nvGraphicFramePr>
        <p:xfrm>
          <a:off x="4131656" y="3155012"/>
          <a:ext cx="3617516" cy="2133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02383">
                  <a:extLst>
                    <a:ext uri="{9D8B030D-6E8A-4147-A177-3AD203B41FA5}">
                      <a16:colId xmlns:a16="http://schemas.microsoft.com/office/drawing/2014/main" val="4201833400"/>
                    </a:ext>
                  </a:extLst>
                </a:gridCol>
                <a:gridCol w="2515133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r>
                        <a:rPr lang="ru-RU" sz="1400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273974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1303338"/>
                      <a:r>
                        <a:rPr lang="en-US" sz="1400" dirty="0"/>
                        <a:t>integer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 </a:t>
                      </a:r>
                      <a:r>
                        <a:rPr lang="en-US" sz="1400" dirty="0"/>
                        <a:t>PRIMARY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266354">
                <a:tc>
                  <a:txBody>
                    <a:bodyPr/>
                    <a:lstStyle/>
                    <a:p>
                      <a:r>
                        <a:rPr lang="en-US" sz="1400"/>
                        <a:t>name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18811"/>
                  </a:ext>
                </a:extLst>
              </a:tr>
              <a:tr h="304454"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min_age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  <a:tr h="296834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max_age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378892"/>
                  </a:ext>
                </a:extLst>
              </a:tr>
              <a:tr h="289214">
                <a:tc>
                  <a:txBody>
                    <a:bodyPr/>
                    <a:lstStyle/>
                    <a:p>
                      <a:r>
                        <a:rPr lang="en-US" sz="1400" dirty="0"/>
                        <a:t>price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672949"/>
                  </a:ext>
                </a:extLst>
              </a:tr>
              <a:tr h="271514">
                <a:tc>
                  <a:txBody>
                    <a:bodyPr/>
                    <a:lstStyle/>
                    <a:p>
                      <a:r>
                        <a:rPr lang="en-US" sz="1400" dirty="0" err="1"/>
                        <a:t>category_id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 FORIGN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589137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6E180F4-6410-4C9D-A298-DB9BCE75C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811078"/>
              </p:ext>
            </p:extLst>
          </p:nvPr>
        </p:nvGraphicFramePr>
        <p:xfrm>
          <a:off x="261287" y="2333614"/>
          <a:ext cx="3617516" cy="123635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029695">
                  <a:extLst>
                    <a:ext uri="{9D8B030D-6E8A-4147-A177-3AD203B41FA5}">
                      <a16:colId xmlns:a16="http://schemas.microsoft.com/office/drawing/2014/main" val="4201833400"/>
                    </a:ext>
                  </a:extLst>
                </a:gridCol>
                <a:gridCol w="2587821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r>
                        <a:rPr lang="ru-RU" sz="1400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321956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 </a:t>
                      </a:r>
                      <a:r>
                        <a:rPr lang="en-US" sz="1400" dirty="0"/>
                        <a:t>PRIMARY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27776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varchar(50)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18811"/>
                  </a:ext>
                </a:extLst>
              </a:tr>
              <a:tr h="269378"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43269AD-9035-4E63-9684-26782A1566E1}"/>
              </a:ext>
            </a:extLst>
          </p:cNvPr>
          <p:cNvSpPr txBox="1"/>
          <p:nvPr/>
        </p:nvSpPr>
        <p:spPr>
          <a:xfrm>
            <a:off x="1001951" y="1786117"/>
            <a:ext cx="2663952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Категории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D525F4-5F82-400E-907A-57ADFF0674BC}"/>
              </a:ext>
            </a:extLst>
          </p:cNvPr>
          <p:cNvSpPr txBox="1"/>
          <p:nvPr/>
        </p:nvSpPr>
        <p:spPr>
          <a:xfrm>
            <a:off x="4614395" y="2758301"/>
            <a:ext cx="2663952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Подарки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415D8C1F-53B0-4E7E-9F1B-47AA8FA865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080997"/>
              </p:ext>
            </p:extLst>
          </p:nvPr>
        </p:nvGraphicFramePr>
        <p:xfrm>
          <a:off x="8313197" y="2272348"/>
          <a:ext cx="3617516" cy="1219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3752">
                  <a:extLst>
                    <a:ext uri="{9D8B030D-6E8A-4147-A177-3AD203B41FA5}">
                      <a16:colId xmlns:a16="http://schemas.microsoft.com/office/drawing/2014/main" val="4201833400"/>
                    </a:ext>
                  </a:extLst>
                </a:gridCol>
                <a:gridCol w="2623764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r>
                        <a:rPr lang="ru-RU" sz="1400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268922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 </a:t>
                      </a:r>
                      <a:r>
                        <a:rPr lang="en-US" sz="1400" dirty="0"/>
                        <a:t>PRIMARY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259016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18811"/>
                  </a:ext>
                </a:extLst>
              </a:tr>
              <a:tr h="250634">
                <a:tc>
                  <a:txBody>
                    <a:bodyPr/>
                    <a:lstStyle/>
                    <a:p>
                      <a:r>
                        <a:rPr lang="en-US" sz="1400" dirty="0"/>
                        <a:t>age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A2DEB09-8121-4064-9786-612407609C1D}"/>
              </a:ext>
            </a:extLst>
          </p:cNvPr>
          <p:cNvSpPr txBox="1"/>
          <p:nvPr/>
        </p:nvSpPr>
        <p:spPr>
          <a:xfrm>
            <a:off x="8853709" y="1786117"/>
            <a:ext cx="2663952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Одариваемые</a:t>
            </a:r>
          </a:p>
        </p:txBody>
      </p:sp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8A9C487C-6FBC-4B9D-81F1-94EF1B9AD5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851097"/>
              </p:ext>
            </p:extLst>
          </p:nvPr>
        </p:nvGraphicFramePr>
        <p:xfrm>
          <a:off x="8313197" y="4644340"/>
          <a:ext cx="3617516" cy="1219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50943">
                  <a:extLst>
                    <a:ext uri="{9D8B030D-6E8A-4147-A177-3AD203B41FA5}">
                      <a16:colId xmlns:a16="http://schemas.microsoft.com/office/drawing/2014/main" val="4201833400"/>
                    </a:ext>
                  </a:extLst>
                </a:gridCol>
                <a:gridCol w="1666573">
                  <a:extLst>
                    <a:ext uri="{9D8B030D-6E8A-4147-A177-3AD203B41FA5}">
                      <a16:colId xmlns:a16="http://schemas.microsoft.com/office/drawing/2014/main" val="4000181431"/>
                    </a:ext>
                  </a:extLst>
                </a:gridCol>
              </a:tblGrid>
              <a:tr h="298304">
                <a:tc>
                  <a:txBody>
                    <a:bodyPr/>
                    <a:lstStyle/>
                    <a:p>
                      <a:r>
                        <a:rPr lang="ru-RU" sz="1400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38083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r>
                        <a:rPr lang="en-US" sz="1300" dirty="0"/>
                        <a:t>(</a:t>
                      </a:r>
                      <a:r>
                        <a:rPr lang="en-US" sz="1300" dirty="0" err="1"/>
                        <a:t>recipient_id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present_id</a:t>
                      </a:r>
                      <a:r>
                        <a:rPr lang="en-US" sz="1300" dirty="0"/>
                        <a:t>)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PRIMARY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35103"/>
                  </a:ext>
                </a:extLst>
              </a:tr>
              <a:tr h="298304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recipient_id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 FORIGN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18811"/>
                  </a:ext>
                </a:extLst>
              </a:tr>
              <a:tr h="298304">
                <a:tc>
                  <a:txBody>
                    <a:bodyPr/>
                    <a:lstStyle/>
                    <a:p>
                      <a:pPr marL="0" indent="0">
                        <a:tabLst/>
                      </a:pPr>
                      <a:r>
                        <a:rPr lang="en-US" sz="1400" dirty="0" err="1"/>
                        <a:t>present_id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 FORIGN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63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3A5753-6EBA-44D8-AB26-D61830DAAAC8}"/>
              </a:ext>
            </a:extLst>
          </p:cNvPr>
          <p:cNvSpPr txBox="1"/>
          <p:nvPr/>
        </p:nvSpPr>
        <p:spPr>
          <a:xfrm>
            <a:off x="8853709" y="4230001"/>
            <a:ext cx="2663952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Список покупок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C571FD-972C-4499-B747-2B1AEF459FF6}"/>
              </a:ext>
            </a:extLst>
          </p:cNvPr>
          <p:cNvGrpSpPr/>
          <p:nvPr/>
        </p:nvGrpSpPr>
        <p:grpSpPr>
          <a:xfrm>
            <a:off x="7749172" y="3569970"/>
            <a:ext cx="564025" cy="2179320"/>
            <a:chOff x="7749172" y="3569970"/>
            <a:chExt cx="564025" cy="217932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133170B-1309-478E-9B77-F247B38AEC59}"/>
                </a:ext>
              </a:extLst>
            </p:cNvPr>
            <p:cNvCxnSpPr/>
            <p:nvPr/>
          </p:nvCxnSpPr>
          <p:spPr>
            <a:xfrm>
              <a:off x="7749172" y="3569970"/>
              <a:ext cx="148958" cy="0"/>
            </a:xfrm>
            <a:prstGeom prst="line">
              <a:avLst/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FB30932-4758-43FF-9978-E213F35D05D8}"/>
                </a:ext>
              </a:extLst>
            </p:cNvPr>
            <p:cNvCxnSpPr/>
            <p:nvPr/>
          </p:nvCxnSpPr>
          <p:spPr>
            <a:xfrm>
              <a:off x="7909560" y="3569970"/>
              <a:ext cx="0" cy="2167890"/>
            </a:xfrm>
            <a:prstGeom prst="line">
              <a:avLst/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FE775FB-A2C5-4B02-B95B-312F5F692603}"/>
                </a:ext>
              </a:extLst>
            </p:cNvPr>
            <p:cNvCxnSpPr/>
            <p:nvPr/>
          </p:nvCxnSpPr>
          <p:spPr>
            <a:xfrm>
              <a:off x="7898130" y="5749290"/>
              <a:ext cx="415067" cy="0"/>
            </a:xfrm>
            <a:prstGeom prst="straightConnector1">
              <a:avLst/>
            </a:prstGeom>
            <a:ln>
              <a:solidFill>
                <a:srgbClr val="17365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F4EE20A-40FC-4F4B-970E-B9C627D50E5A}"/>
              </a:ext>
            </a:extLst>
          </p:cNvPr>
          <p:cNvCxnSpPr/>
          <p:nvPr/>
        </p:nvCxnSpPr>
        <p:spPr>
          <a:xfrm>
            <a:off x="7909560" y="4126230"/>
            <a:ext cx="114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940B4A-B12D-4761-9412-52EE2A188911}"/>
              </a:ext>
            </a:extLst>
          </p:cNvPr>
          <p:cNvCxnSpPr>
            <a:cxnSpLocks/>
          </p:cNvCxnSpPr>
          <p:nvPr/>
        </p:nvCxnSpPr>
        <p:spPr>
          <a:xfrm>
            <a:off x="8081598" y="2758301"/>
            <a:ext cx="0" cy="2697619"/>
          </a:xfrm>
          <a:prstGeom prst="line">
            <a:avLst/>
          </a:prstGeom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02B486C-154D-4ABB-AC11-58EE3965597B}"/>
              </a:ext>
            </a:extLst>
          </p:cNvPr>
          <p:cNvCxnSpPr>
            <a:cxnSpLocks/>
          </p:cNvCxnSpPr>
          <p:nvPr/>
        </p:nvCxnSpPr>
        <p:spPr>
          <a:xfrm>
            <a:off x="8075039" y="5467350"/>
            <a:ext cx="238158" cy="0"/>
          </a:xfrm>
          <a:prstGeom prst="straightConnector1">
            <a:avLst/>
          </a:prstGeom>
          <a:ln>
            <a:solidFill>
              <a:srgbClr val="1736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84AE68F-28A0-42DB-95E8-AF263D53590F}"/>
              </a:ext>
            </a:extLst>
          </p:cNvPr>
          <p:cNvCxnSpPr/>
          <p:nvPr/>
        </p:nvCxnSpPr>
        <p:spPr>
          <a:xfrm>
            <a:off x="8081598" y="2758301"/>
            <a:ext cx="231599" cy="0"/>
          </a:xfrm>
          <a:prstGeom prst="line">
            <a:avLst/>
          </a:prstGeom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1D12CB7-6E85-45FA-A9C3-9AC3C466CB7B}"/>
              </a:ext>
            </a:extLst>
          </p:cNvPr>
          <p:cNvCxnSpPr/>
          <p:nvPr/>
        </p:nvCxnSpPr>
        <p:spPr>
          <a:xfrm>
            <a:off x="3878803" y="275830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8CFC14A-B160-4AE6-BC0C-E89ED361DD45}"/>
              </a:ext>
            </a:extLst>
          </p:cNvPr>
          <p:cNvGrpSpPr/>
          <p:nvPr/>
        </p:nvGrpSpPr>
        <p:grpSpPr>
          <a:xfrm>
            <a:off x="3878803" y="2758301"/>
            <a:ext cx="252853" cy="2305189"/>
            <a:chOff x="3878803" y="2758301"/>
            <a:chExt cx="252853" cy="2305189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43B07ED-831A-4F87-A3F0-3A8E109F9169}"/>
                </a:ext>
              </a:extLst>
            </p:cNvPr>
            <p:cNvCxnSpPr/>
            <p:nvPr/>
          </p:nvCxnSpPr>
          <p:spPr>
            <a:xfrm>
              <a:off x="3878803" y="2758301"/>
              <a:ext cx="98837" cy="0"/>
            </a:xfrm>
            <a:prstGeom prst="line">
              <a:avLst/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6DC8DD7-74BA-4E79-889F-B3A09C1754F0}"/>
                </a:ext>
              </a:extLst>
            </p:cNvPr>
            <p:cNvCxnSpPr>
              <a:cxnSpLocks/>
            </p:cNvCxnSpPr>
            <p:nvPr/>
          </p:nvCxnSpPr>
          <p:spPr>
            <a:xfrm>
              <a:off x="3977640" y="2758301"/>
              <a:ext cx="0" cy="2305189"/>
            </a:xfrm>
            <a:prstGeom prst="line">
              <a:avLst/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47EF3F3-C0CD-4582-8CCE-8C7BF4E34C2C}"/>
                </a:ext>
              </a:extLst>
            </p:cNvPr>
            <p:cNvCxnSpPr/>
            <p:nvPr/>
          </p:nvCxnSpPr>
          <p:spPr>
            <a:xfrm>
              <a:off x="3977640" y="5063490"/>
              <a:ext cx="154016" cy="0"/>
            </a:xfrm>
            <a:prstGeom prst="straightConnector1">
              <a:avLst/>
            </a:prstGeom>
            <a:ln>
              <a:solidFill>
                <a:srgbClr val="17365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442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1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ED3E-ECED-4EB6-8D4E-C127C76E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A57964-0BEC-44DD-AA35-93DC9F911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675" y="1809739"/>
            <a:ext cx="6073657" cy="4221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324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3CFC-BAD8-4133-912D-02D999FB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SQL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9026-0B1A-46B3-B1D8-1F583DA4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5315712" cy="42211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SQL (</a:t>
            </a:r>
            <a:r>
              <a:rPr lang="ru-RU" b="1" dirty="0" err="1"/>
              <a:t>Structured</a:t>
            </a:r>
            <a:r>
              <a:rPr lang="ru-RU" b="1" dirty="0"/>
              <a:t> </a:t>
            </a:r>
            <a:r>
              <a:rPr lang="ru-RU" b="1" dirty="0" err="1"/>
              <a:t>Query</a:t>
            </a:r>
            <a:r>
              <a:rPr lang="ru-RU" b="1" dirty="0"/>
              <a:t> </a:t>
            </a:r>
            <a:r>
              <a:rPr lang="ru-RU" b="1" dirty="0" err="1"/>
              <a:t>Language</a:t>
            </a:r>
            <a:r>
              <a:rPr lang="ru-RU" b="1" dirty="0"/>
              <a:t>, или язык структурированных запросов) </a:t>
            </a:r>
            <a:r>
              <a:rPr lang="ru-RU" dirty="0"/>
              <a:t>— это декларативный язык программирования (язык запросов), который используют для создания, обработки и хранения данных в реляционных БД.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29216-FADB-417E-AC83-3DB232198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68" y="1884437"/>
            <a:ext cx="4306824" cy="43068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39327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A4DE-932A-48FE-A68D-84BE91AC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</a:t>
            </a:r>
            <a:r>
              <a:rPr lang="en-US" dirty="0"/>
              <a:t>SQL-</a:t>
            </a:r>
            <a:r>
              <a:rPr lang="ru-RU" dirty="0"/>
              <a:t>команды</a:t>
            </a:r>
          </a:p>
        </p:txBody>
      </p:sp>
      <p:pic>
        <p:nvPicPr>
          <p:cNvPr id="5122" name="Picture 2" descr="SELECT - 99% всей работы с базой данных">
            <a:extLst>
              <a:ext uri="{FF2B5EF4-FFF2-40B4-BE49-F238E27FC236}">
                <a16:creationId xmlns:a16="http://schemas.microsoft.com/office/drawing/2014/main" id="{82A23BA9-8920-49AF-9897-DBC9CFFD30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967" y="1809739"/>
            <a:ext cx="7502066" cy="422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560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EAD9-C6DF-474C-838C-78EACEB4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базы данных и таблиц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401FA-58B2-4A0B-9124-0886C1D9C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9739"/>
            <a:ext cx="10972800" cy="1274837"/>
          </a:xfrm>
        </p:spPr>
        <p:txBody>
          <a:bodyPr>
            <a:normAutofit/>
          </a:bodyPr>
          <a:lstStyle/>
          <a:p>
            <a:r>
              <a:rPr lang="ru-RU" sz="2400" b="1" dirty="0"/>
              <a:t>CREATE DATABASE</a:t>
            </a:r>
            <a:r>
              <a:rPr lang="en-US" sz="2400" b="1" dirty="0"/>
              <a:t> </a:t>
            </a:r>
            <a:r>
              <a:rPr lang="en-US" sz="2400" dirty="0"/>
              <a:t>- </a:t>
            </a:r>
            <a:r>
              <a:rPr lang="ru-RU" sz="2400" dirty="0"/>
              <a:t>создать базу</a:t>
            </a:r>
            <a:endParaRPr lang="en-US" sz="2400" dirty="0"/>
          </a:p>
          <a:p>
            <a:r>
              <a:rPr lang="ru-RU" sz="2400" b="1" dirty="0"/>
              <a:t>CREATE TABLE</a:t>
            </a:r>
            <a:r>
              <a:rPr lang="en-US" sz="2400" b="1" dirty="0"/>
              <a:t> </a:t>
            </a:r>
            <a:r>
              <a:rPr lang="en-US" sz="2400" dirty="0"/>
              <a:t>- </a:t>
            </a:r>
            <a:r>
              <a:rPr lang="ru-RU" sz="2400" dirty="0"/>
              <a:t>создать таблицу в ней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812FF-7B03-4EFA-9BB6-42C70B188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346" y="3084576"/>
            <a:ext cx="4799307" cy="2569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9504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00E1-8653-4A92-ABC9-E697589E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таблицы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2A551-4587-4C1C-A1A5-4CE648BDB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965185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Команда </a:t>
            </a:r>
            <a:r>
              <a:rPr lang="ru-RU" b="1" dirty="0"/>
              <a:t>ALTER TABLE </a:t>
            </a:r>
            <a:r>
              <a:rPr lang="ru-RU" dirty="0"/>
              <a:t>применяется в SQL при добавлении, удалении либо модификации колонки в существующей таблице.</a:t>
            </a:r>
          </a:p>
          <a:p>
            <a:r>
              <a:rPr lang="ru-RU" dirty="0"/>
              <a:t>способен менять определение таблицы несколькими способами: </a:t>
            </a:r>
          </a:p>
          <a:p>
            <a:pPr lvl="1"/>
            <a:r>
              <a:rPr lang="ru-RU" dirty="0"/>
              <a:t>добавлением/переопределением/удалением столбца (</a:t>
            </a:r>
            <a:r>
              <a:rPr lang="ru-RU" dirty="0" err="1"/>
              <a:t>column</a:t>
            </a:r>
            <a:r>
              <a:rPr lang="ru-RU" dirty="0"/>
              <a:t>); </a:t>
            </a:r>
          </a:p>
          <a:p>
            <a:pPr lvl="1"/>
            <a:r>
              <a:rPr lang="ru-RU" dirty="0"/>
              <a:t>модифицированием характеристик памяти; </a:t>
            </a:r>
          </a:p>
          <a:p>
            <a:pPr lvl="1"/>
            <a:r>
              <a:rPr lang="ru-RU" dirty="0"/>
              <a:t>включением, выключением либо удалением ограничения целостности.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743DA-4B8D-4DED-A542-40B303CA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29" y="4300101"/>
            <a:ext cx="8291941" cy="16434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636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57E9-7F13-4694-882B-C1E23364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данных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271537-71F8-4F25-8537-DB366BE42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3463" y="3429000"/>
            <a:ext cx="8299601" cy="2494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E9B44D-2383-44C2-A042-517DA6378042}"/>
              </a:ext>
            </a:extLst>
          </p:cNvPr>
          <p:cNvSpPr/>
          <p:nvPr/>
        </p:nvSpPr>
        <p:spPr>
          <a:xfrm>
            <a:off x="609600" y="1809739"/>
            <a:ext cx="1085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 добавление данных, за их вставку в таблицу, в SQL отвечает команда </a:t>
            </a:r>
            <a:r>
              <a:rPr lang="ru-RU" sz="2400" b="1" dirty="0"/>
              <a:t>INSERT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Данные перечисляем в секции </a:t>
            </a:r>
            <a:r>
              <a:rPr lang="en-US" sz="2400" b="1" dirty="0"/>
              <a:t>VALUES</a:t>
            </a:r>
            <a:endParaRPr lang="ru-R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Значения внутри скобок позиционно соответствуют указанным полям таблицы </a:t>
            </a:r>
          </a:p>
        </p:txBody>
      </p:sp>
    </p:spTree>
    <p:extLst>
      <p:ext uri="{BB962C8B-B14F-4D97-AF65-F5344CB8AC3E}">
        <p14:creationId xmlns:p14="http://schemas.microsoft.com/office/powerpoint/2010/main" val="820060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228F-ACE4-4D4D-81E2-82A14044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Обновление данных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C03766-A80C-465D-83C2-F404DE7CC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28127" y="4038601"/>
            <a:ext cx="8135745" cy="19756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BF44B1-56AF-45A0-BC2E-A75A7ABA6259}"/>
              </a:ext>
            </a:extLst>
          </p:cNvPr>
          <p:cNvSpPr txBox="1"/>
          <p:nvPr/>
        </p:nvSpPr>
        <p:spPr>
          <a:xfrm>
            <a:off x="658368" y="1950720"/>
            <a:ext cx="109240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За изменение каких-то данных в SQL отвечает команда </a:t>
            </a:r>
            <a:r>
              <a:rPr lang="ru-RU" sz="2400" b="1" dirty="0"/>
              <a:t>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Можно менять сразу несколько полей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Дополнительно, описываем условие, которое должно отобрать только те строки, которые надо поменять. Если условия нет,  то изменения коснуться всех строк таблицы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7440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228F-ACE4-4D4D-81E2-82A14044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данных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21F3DD-6D70-4724-AD36-A4A4EDBF1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2058" y="4068629"/>
            <a:ext cx="2745132" cy="1923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9BC480-0A3C-46D9-A2B4-67FB125D90EE}"/>
              </a:ext>
            </a:extLst>
          </p:cNvPr>
          <p:cNvSpPr txBox="1"/>
          <p:nvPr/>
        </p:nvSpPr>
        <p:spPr>
          <a:xfrm>
            <a:off x="841248" y="2097024"/>
            <a:ext cx="10302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Удалить данные из таблицы можно с помощью команды </a:t>
            </a:r>
            <a:r>
              <a:rPr lang="en-US" sz="2400" b="1" dirty="0"/>
              <a:t>DELETE</a:t>
            </a:r>
            <a:endParaRPr lang="ru-R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Дополнительно, описываем условие, которое должно отобрать только те строки, которые надо удалить. Если условия нет,  то будут удалены все строки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179130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B6F2-10DC-4924-BD99-EEFA8BC7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Выборка данных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3B1C3-A4F4-4265-A36B-6F588EEDF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960" y="3793593"/>
            <a:ext cx="1914144" cy="1289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8514FF-B916-4EC8-9D27-2D5B94383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6147" y="5048262"/>
            <a:ext cx="2476253" cy="1142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88F63F-F6C7-4B13-A72F-A3DAE720A6E2}"/>
              </a:ext>
            </a:extLst>
          </p:cNvPr>
          <p:cNvSpPr/>
          <p:nvPr/>
        </p:nvSpPr>
        <p:spPr>
          <a:xfrm>
            <a:off x="609600" y="1720840"/>
            <a:ext cx="10972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SELECT</a:t>
            </a:r>
            <a:r>
              <a:rPr lang="ru-RU" dirty="0"/>
              <a:t> — выбирает данные. Ему передают название атрибута или атрибутов. Если нужно выбрать все атрибуты, то пишут SELECT *..</a:t>
            </a:r>
          </a:p>
          <a:p>
            <a:endParaRPr lang="ru-RU" dirty="0"/>
          </a:p>
          <a:p>
            <a:r>
              <a:rPr lang="ru-RU" b="1" dirty="0"/>
              <a:t>FROM</a:t>
            </a:r>
            <a:r>
              <a:rPr lang="ru-RU" dirty="0"/>
              <a:t> — указывает на таблицу, к которой обращена команда.</a:t>
            </a:r>
          </a:p>
          <a:p>
            <a:endParaRPr lang="ru-RU" dirty="0"/>
          </a:p>
          <a:p>
            <a:r>
              <a:rPr lang="ru-RU" b="1" dirty="0"/>
              <a:t>WHERE</a:t>
            </a:r>
            <a:r>
              <a:rPr lang="ru-RU" dirty="0"/>
              <a:t> — указывает на условие или условия, которым должна удовлетворять строка. Необязательный элемент инструкции. Если его не указывать, то команда применяется ко всем записям в таблице.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6F60B-84EF-42CA-BA1A-6E10FAFD2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7" y="4350533"/>
            <a:ext cx="7192773" cy="128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74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BD0C-1218-4207-A7EF-03F42D60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Элемент </a:t>
            </a:r>
            <a:r>
              <a:rPr lang="en-US" dirty="0"/>
              <a:t>WHERE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66D8-FAA3-497B-8F32-C59FA188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435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WHERE</a:t>
            </a:r>
            <a:r>
              <a:rPr lang="ru-RU" dirty="0"/>
              <a:t> — необязательный элемент запроса, который используется, когда нужно отфильтровать данные по нужному условию. </a:t>
            </a:r>
          </a:p>
          <a:p>
            <a:pPr marL="0" indent="0">
              <a:buNone/>
            </a:pPr>
            <a:r>
              <a:rPr lang="ru-RU" dirty="0"/>
              <a:t>Очень часто внутри элемента </a:t>
            </a:r>
            <a:r>
              <a:rPr lang="ru-RU" b="1" dirty="0"/>
              <a:t>WHERE</a:t>
            </a:r>
            <a:r>
              <a:rPr lang="ru-RU" dirty="0"/>
              <a:t> используются </a:t>
            </a:r>
            <a:r>
              <a:rPr lang="ru-RU" b="1" dirty="0"/>
              <a:t>IN /</a:t>
            </a:r>
            <a:r>
              <a:rPr lang="ru-RU" dirty="0"/>
              <a:t> </a:t>
            </a:r>
            <a:r>
              <a:rPr lang="ru-RU" b="1" dirty="0"/>
              <a:t>NOT IN </a:t>
            </a:r>
            <a:r>
              <a:rPr lang="ru-RU" dirty="0"/>
              <a:t>для фильтрации столбца по нескольким значениям, </a:t>
            </a:r>
            <a:r>
              <a:rPr lang="ru-RU" b="1" dirty="0"/>
              <a:t>AND</a:t>
            </a:r>
            <a:r>
              <a:rPr lang="ru-RU" dirty="0"/>
              <a:t> / </a:t>
            </a:r>
            <a:r>
              <a:rPr lang="ru-RU" b="1" dirty="0"/>
              <a:t>OR</a:t>
            </a:r>
            <a:r>
              <a:rPr lang="ru-RU" dirty="0"/>
              <a:t> для фильтрации таблицы по нескольким столбцам.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3545C-0AC1-4CC1-8777-EAE88832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53" y="4435602"/>
            <a:ext cx="8095094" cy="1459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0332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BD0C-1218-4207-A7EF-03F42D60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Элемент </a:t>
            </a:r>
            <a:r>
              <a:rPr lang="en-US" dirty="0"/>
              <a:t>GROUP BY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66D8-FAA3-497B-8F32-C59FA188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857713"/>
          </a:xfrm>
        </p:spPr>
        <p:txBody>
          <a:bodyPr>
            <a:normAutofit fontScale="40000" lnSpcReduction="20000"/>
          </a:bodyPr>
          <a:lstStyle/>
          <a:p>
            <a:r>
              <a:rPr lang="ru-RU" sz="6000" b="1" dirty="0"/>
              <a:t>GROUP BY </a:t>
            </a:r>
            <a:r>
              <a:rPr lang="ru-RU" sz="6000" dirty="0"/>
              <a:t>— необязательный элемент запроса, с помощью которого можно задать агрегацию по нужному столбцу</a:t>
            </a:r>
          </a:p>
          <a:p>
            <a:r>
              <a:rPr lang="ru-RU" sz="6000" dirty="0"/>
              <a:t>все значения </a:t>
            </a:r>
            <a:r>
              <a:rPr lang="ru-RU" sz="6000" b="1" dirty="0"/>
              <a:t>NULL</a:t>
            </a:r>
            <a:r>
              <a:rPr lang="ru-RU" sz="6000" dirty="0"/>
              <a:t> трактуются как равные, т.е. при группировке по полю, содержащему </a:t>
            </a:r>
            <a:r>
              <a:rPr lang="ru-RU" sz="6000" b="1" dirty="0"/>
              <a:t>NULL</a:t>
            </a:r>
            <a:r>
              <a:rPr lang="ru-RU" sz="6000" dirty="0"/>
              <a:t>-значения, все такие строки попадут в одну группу</a:t>
            </a:r>
          </a:p>
          <a:p>
            <a:r>
              <a:rPr lang="ru-RU" sz="6000" dirty="0"/>
              <a:t>При использовании GROUP BY обязательно:</a:t>
            </a:r>
          </a:p>
          <a:p>
            <a:pPr lvl="1"/>
            <a:r>
              <a:rPr lang="ru-RU" sz="5000" dirty="0"/>
              <a:t>перечень столбцов одинаковый внутри </a:t>
            </a:r>
            <a:r>
              <a:rPr lang="ru-RU" sz="5000" b="1" dirty="0"/>
              <a:t>SELECT</a:t>
            </a:r>
            <a:r>
              <a:rPr lang="ru-RU" sz="5000" dirty="0"/>
              <a:t> и внутри </a:t>
            </a:r>
            <a:r>
              <a:rPr lang="ru-RU" sz="5000" b="1" dirty="0"/>
              <a:t>GROUP BY</a:t>
            </a:r>
            <a:r>
              <a:rPr lang="ru-RU" sz="5000" dirty="0"/>
              <a:t>,</a:t>
            </a:r>
          </a:p>
          <a:p>
            <a:pPr lvl="1"/>
            <a:r>
              <a:rPr lang="ru-RU" sz="5000" dirty="0"/>
              <a:t>агрегатные функции должны быть также указаны внутри SELECT с указанием столбца, к которому такая функция применяется.</a:t>
            </a:r>
          </a:p>
          <a:p>
            <a:pPr marL="0" indent="0">
              <a:buNone/>
            </a:pPr>
            <a:endParaRPr lang="ru-R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D3E31-BE6A-4FAD-827D-4CEE65365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684" y="4762702"/>
            <a:ext cx="6849663" cy="1198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2877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F3A7-8406-412B-A91B-EB324756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Агрегатные функции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F4EBE-A97E-42C5-8441-8FAC7AE5C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Позволяют производить с данными дополнительные операции и указываются вместо атрибутов</a:t>
            </a:r>
          </a:p>
          <a:p>
            <a:r>
              <a:rPr lang="ru-RU" sz="2400" dirty="0"/>
              <a:t>Записываются в формате FUNCTION (ATTRIBUTE)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34C3AE-E37E-4FD6-8B2C-9F886C2DF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208649"/>
              </p:ext>
            </p:extLst>
          </p:nvPr>
        </p:nvGraphicFramePr>
        <p:xfrm>
          <a:off x="1584960" y="3410926"/>
          <a:ext cx="902208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3938651669"/>
                    </a:ext>
                  </a:extLst>
                </a:gridCol>
                <a:gridCol w="7741920">
                  <a:extLst>
                    <a:ext uri="{9D8B030D-6E8A-4147-A177-3AD203B41FA5}">
                      <a16:colId xmlns:a16="http://schemas.microsoft.com/office/drawing/2014/main" val="3979394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0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считает количество записей в колонке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598796"/>
                  </a:ext>
                </a:extLst>
              </a:tr>
              <a:tr h="227830">
                <a:tc>
                  <a:txBody>
                    <a:bodyPr/>
                    <a:lstStyle/>
                    <a:p>
                      <a:r>
                        <a:rPr lang="ru-RU" sz="2000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складывает содержимое значений колонки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278848"/>
                  </a:ext>
                </a:extLst>
              </a:tr>
              <a:tr h="269281">
                <a:tc>
                  <a:txBody>
                    <a:bodyPr/>
                    <a:lstStyle/>
                    <a:p>
                      <a:r>
                        <a:rPr lang="ru-RU" sz="2000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указывает на минимальное значение в колонке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668310"/>
                  </a:ext>
                </a:extLst>
              </a:tr>
              <a:tr h="368278">
                <a:tc>
                  <a:txBody>
                    <a:bodyPr/>
                    <a:lstStyle/>
                    <a:p>
                      <a:r>
                        <a:rPr lang="ru-RU" sz="2000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ru-RU" sz="2000" dirty="0"/>
                        <a:t>указывает на максимальное значение в колонке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825615"/>
                  </a:ext>
                </a:extLst>
              </a:tr>
              <a:tr h="264652">
                <a:tc>
                  <a:txBody>
                    <a:bodyPr/>
                    <a:lstStyle/>
                    <a:p>
                      <a:r>
                        <a:rPr lang="ru-RU" sz="2000" dirty="0"/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считает среднее значение в колонке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31204"/>
                  </a:ext>
                </a:extLst>
              </a:tr>
              <a:tr h="293180">
                <a:tc>
                  <a:txBody>
                    <a:bodyPr/>
                    <a:lstStyle/>
                    <a:p>
                      <a:r>
                        <a:rPr lang="ru-RU" sz="20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округляет значение в колонке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56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595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9FD9-7450-4F14-8DB3-473C630B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 </a:t>
            </a:r>
            <a:r>
              <a:rPr lang="en-US" dirty="0"/>
              <a:t>HAVING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9C8C-0440-4BBA-8B78-6AA1F19B1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825507"/>
          </a:xfrm>
        </p:spPr>
        <p:txBody>
          <a:bodyPr>
            <a:normAutofit/>
          </a:bodyPr>
          <a:lstStyle/>
          <a:p>
            <a:r>
              <a:rPr lang="ru-RU" sz="2400" b="1" dirty="0"/>
              <a:t>HAVING</a:t>
            </a:r>
            <a:r>
              <a:rPr lang="ru-RU" sz="2400" dirty="0"/>
              <a:t> — необязательный элемент запроса, который отвечает за фильтрацию на уровне сгруппированных данных (по сути, WHERE, но только на уровень выше).</a:t>
            </a:r>
            <a:endParaRPr lang="en-US" sz="2400" dirty="0"/>
          </a:p>
          <a:p>
            <a:r>
              <a:rPr lang="ru-RU" sz="2400" dirty="0"/>
              <a:t>Если запрос содержит </a:t>
            </a:r>
            <a:r>
              <a:rPr lang="ru-RU" sz="2400" b="1" dirty="0"/>
              <a:t>WHERE</a:t>
            </a:r>
            <a:r>
              <a:rPr lang="ru-RU" sz="2400" dirty="0"/>
              <a:t> и </a:t>
            </a:r>
            <a:r>
              <a:rPr lang="ru-RU" sz="2400" b="1" dirty="0"/>
              <a:t>HAVING</a:t>
            </a:r>
            <a:r>
              <a:rPr lang="ru-RU" sz="2400" dirty="0"/>
              <a:t>, то данные сначала фильтруются по условию, содержащемуся в </a:t>
            </a:r>
            <a:r>
              <a:rPr lang="en-US" sz="2400" b="1" dirty="0"/>
              <a:t>WHERE</a:t>
            </a:r>
            <a:r>
              <a:rPr lang="ru-RU" sz="2400" dirty="0"/>
              <a:t>, а затем уже применяется условие из </a:t>
            </a:r>
            <a:r>
              <a:rPr lang="en-US" sz="2400" b="1" dirty="0"/>
              <a:t>HAVING</a:t>
            </a:r>
            <a:endParaRPr lang="ru-R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5CE81-2A4B-4C7C-A6FC-7674E2773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252" y="4120896"/>
            <a:ext cx="8248903" cy="1906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2103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BD0C-1218-4207-A7EF-03F42D60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Элемент </a:t>
            </a:r>
            <a:r>
              <a:rPr lang="en-US" dirty="0"/>
              <a:t>ORDER BY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66D8-FAA3-497B-8F32-C59FA188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435363"/>
          </a:xfrm>
        </p:spPr>
        <p:txBody>
          <a:bodyPr>
            <a:noAutofit/>
          </a:bodyPr>
          <a:lstStyle/>
          <a:p>
            <a:r>
              <a:rPr lang="ru-RU" sz="2400" b="1" dirty="0"/>
              <a:t>ORDER BY </a:t>
            </a:r>
            <a:r>
              <a:rPr lang="ru-RU" sz="2400" dirty="0"/>
              <a:t>— необязательный элемент запроса, который отвечает за сортировку таблицы</a:t>
            </a:r>
            <a:endParaRPr lang="en-US" sz="2400" dirty="0"/>
          </a:p>
          <a:p>
            <a:r>
              <a:rPr lang="ru-RU" sz="2400" dirty="0"/>
              <a:t>Осуществлять сортировку можно и по нескольким столбцам, в этом случае сортировка происходит по порядку указанных столбцов</a:t>
            </a:r>
            <a:endParaRPr lang="en-US" sz="2400" dirty="0"/>
          </a:p>
          <a:p>
            <a:r>
              <a:rPr lang="ru-RU" sz="2400" dirty="0"/>
              <a:t>По умолчанию сортировка происходит по возрастанию для чисел и в алфавитном порядке для текстовых значений</a:t>
            </a:r>
            <a:r>
              <a:rPr lang="en-US" sz="2400"/>
              <a:t> </a:t>
            </a:r>
            <a:r>
              <a:rPr lang="ru-RU" sz="2400"/>
              <a:t>(</a:t>
            </a:r>
            <a:r>
              <a:rPr lang="en-US" sz="2400" b="1" dirty="0"/>
              <a:t>ASC</a:t>
            </a:r>
            <a:r>
              <a:rPr lang="en-US" sz="2400" dirty="0"/>
              <a:t>)</a:t>
            </a:r>
            <a:r>
              <a:rPr lang="ru-RU" sz="2400" dirty="0"/>
              <a:t> . Если нужна обратная сортировка, то в конструкции </a:t>
            </a:r>
            <a:r>
              <a:rPr lang="ru-RU" sz="2400" b="1" dirty="0"/>
              <a:t>ORDER BY </a:t>
            </a:r>
            <a:r>
              <a:rPr lang="ru-RU" sz="2400" dirty="0"/>
              <a:t>после названия столбца надо добавить </a:t>
            </a:r>
            <a:r>
              <a:rPr lang="ru-RU" sz="2400" b="1" dirty="0"/>
              <a:t>DESC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95B73-1A50-402B-900F-7D7584239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220" y="4791456"/>
            <a:ext cx="4238581" cy="7599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77615-1DEF-40DA-B6F2-BA30FD55E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11" y="5308568"/>
            <a:ext cx="3209547" cy="14034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8340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667F-FCE9-42C3-89DA-5D4E271E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Ограничение выборки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25EEF-9A47-4AA4-B87B-6D6F153DB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724161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Оператор </a:t>
            </a:r>
            <a:r>
              <a:rPr lang="ru-RU" b="1" dirty="0"/>
              <a:t>LIMIT</a:t>
            </a:r>
            <a:r>
              <a:rPr lang="ru-RU" dirty="0"/>
              <a:t> позволяет извлечь определённый диапазон записей из одной или нескольких таблиц.</a:t>
            </a:r>
            <a:endParaRPr lang="en-US" dirty="0"/>
          </a:p>
          <a:p>
            <a:r>
              <a:rPr lang="ru-RU" dirty="0"/>
              <a:t>Оператор </a:t>
            </a:r>
            <a:r>
              <a:rPr lang="ru-RU" b="1" dirty="0"/>
              <a:t>OFFSET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отступ) позволяет ограничить выдачу сверху</a:t>
            </a:r>
            <a:endParaRPr lang="en-US" dirty="0"/>
          </a:p>
          <a:p>
            <a:r>
              <a:rPr lang="ru-RU" dirty="0"/>
              <a:t>Если не указать </a:t>
            </a:r>
            <a:r>
              <a:rPr lang="ru-RU" b="1" dirty="0"/>
              <a:t>OFFSET</a:t>
            </a:r>
            <a:r>
              <a:rPr lang="ru-RU" dirty="0"/>
              <a:t>, то их отсчёт будет вестись с начала таблицы.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4B450-55F3-44A0-B207-E27C2E152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507" y="4724400"/>
            <a:ext cx="8294985" cy="683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7586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97D5-AE6D-4428-A4B4-5C11070A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en-US" dirty="0"/>
              <a:t>JOIN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910CF-F022-4F29-9C1F-D178FF4E5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4221175"/>
          </a:xfrm>
        </p:spPr>
        <p:txBody>
          <a:bodyPr>
            <a:normAutofit/>
          </a:bodyPr>
          <a:lstStyle/>
          <a:p>
            <a:r>
              <a:rPr lang="ru-RU" sz="2400" b="1" dirty="0"/>
              <a:t>JOIN</a:t>
            </a:r>
            <a:r>
              <a:rPr lang="ru-RU" sz="2400" dirty="0"/>
              <a:t> — необязательный элемент, используется для объединения таблиц по ключу, который присутствует в обеих таблицах.</a:t>
            </a:r>
            <a:endParaRPr lang="en-US" sz="2400" dirty="0"/>
          </a:p>
          <a:p>
            <a:r>
              <a:rPr lang="ru-RU" sz="2400" dirty="0"/>
              <a:t>Перед ключом ставится оператор </a:t>
            </a:r>
            <a:r>
              <a:rPr lang="ru-RU" sz="2400" b="1" dirty="0"/>
              <a:t>ON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en-US" sz="2400" b="1" dirty="0"/>
              <a:t>JOIN</a:t>
            </a:r>
            <a:r>
              <a:rPr lang="en-US" sz="2400" dirty="0"/>
              <a:t> — </a:t>
            </a:r>
            <a:r>
              <a:rPr lang="ru-RU" sz="2400" dirty="0"/>
              <a:t>бинарный оператор, которому передаются две таблицы, в результате получается объединенная таблица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8CDE6-6C54-45C1-91DF-DAF95E116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341" y="4608577"/>
            <a:ext cx="6847318" cy="874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F8C10F-4774-4FC3-9F2B-C6F88DCA1528}"/>
              </a:ext>
            </a:extLst>
          </p:cNvPr>
          <p:cNvSpPr txBox="1"/>
          <p:nvPr/>
        </p:nvSpPr>
        <p:spPr>
          <a:xfrm>
            <a:off x="4523833" y="5578677"/>
            <a:ext cx="571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* вывести студентов, которые сейчас проходят курс</a:t>
            </a:r>
          </a:p>
        </p:txBody>
      </p:sp>
    </p:spTree>
    <p:extLst>
      <p:ext uri="{BB962C8B-B14F-4D97-AF65-F5344CB8AC3E}">
        <p14:creationId xmlns:p14="http://schemas.microsoft.com/office/powerpoint/2010/main" val="2479004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9058-114C-423A-B5D2-1B958E82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</a:t>
            </a:r>
            <a:r>
              <a:rPr lang="en-US" dirty="0"/>
              <a:t>JOIN</a:t>
            </a:r>
            <a:endParaRPr lang="ru-RU" dirty="0"/>
          </a:p>
        </p:txBody>
      </p:sp>
      <p:pic>
        <p:nvPicPr>
          <p:cNvPr id="8196" name="Picture 4" descr="Вспомним JOIN | Продвинутые SQL-запросы">
            <a:extLst>
              <a:ext uri="{FF2B5EF4-FFF2-40B4-BE49-F238E27FC236}">
                <a16:creationId xmlns:a16="http://schemas.microsoft.com/office/drawing/2014/main" id="{4CB29F21-5EC8-40F6-A1A1-0FF83DEBD8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488" y="1970098"/>
            <a:ext cx="5721023" cy="422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375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29D6-71E6-46B1-B36C-0914CAB5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выполнения операторов</a:t>
            </a:r>
          </a:p>
        </p:txBody>
      </p:sp>
      <p:pic>
        <p:nvPicPr>
          <p:cNvPr id="3074" name="Picture 2" descr="Понимание порядка выполнения SQL запроса">
            <a:extLst>
              <a:ext uri="{FF2B5EF4-FFF2-40B4-BE49-F238E27FC236}">
                <a16:creationId xmlns:a16="http://schemas.microsoft.com/office/drawing/2014/main" id="{99A98D31-F999-418D-8A4A-5F0375BEB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3"/>
          <a:stretch/>
        </p:blipFill>
        <p:spPr bwMode="auto">
          <a:xfrm>
            <a:off x="810883" y="1644610"/>
            <a:ext cx="3975688" cy="441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464328-2590-4DD1-B045-810FFF69B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34" y="3007995"/>
            <a:ext cx="524131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19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162F-65F8-4986-8DFF-2840082E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Полезные команды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4C5F-70AE-4004-AB82-A2DF5E88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Размер БД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pg_size_pretty</a:t>
            </a:r>
            <a:r>
              <a:rPr lang="en-US" dirty="0"/>
              <a:t>(</a:t>
            </a:r>
            <a:r>
              <a:rPr lang="en-US" dirty="0" err="1"/>
              <a:t>pg_database_size</a:t>
            </a:r>
            <a:r>
              <a:rPr lang="en-US" dirty="0"/>
              <a:t>(</a:t>
            </a:r>
            <a:r>
              <a:rPr lang="en-US" dirty="0" err="1"/>
              <a:t>current_database</a:t>
            </a:r>
            <a:r>
              <a:rPr lang="en-US" dirty="0"/>
              <a:t>()));</a:t>
            </a:r>
            <a:endParaRPr lang="ru-RU" dirty="0"/>
          </a:p>
          <a:p>
            <a:r>
              <a:rPr lang="ru-RU" b="1" dirty="0"/>
              <a:t>Перечень таблиц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table_name</a:t>
            </a:r>
            <a:r>
              <a:rPr lang="en-US" dirty="0"/>
              <a:t> FROM </a:t>
            </a:r>
            <a:r>
              <a:rPr lang="en-US" dirty="0" err="1"/>
              <a:t>information_schema.tables</a:t>
            </a:r>
            <a:r>
              <a:rPr lang="ru-RU" dirty="0"/>
              <a:t> </a:t>
            </a:r>
            <a:r>
              <a:rPr lang="en-US" dirty="0"/>
              <a:t>WHERE </a:t>
            </a:r>
            <a:r>
              <a:rPr lang="en-US" dirty="0" err="1"/>
              <a:t>table_schema</a:t>
            </a:r>
            <a:r>
              <a:rPr lang="en-US" dirty="0"/>
              <a:t> NOT IN ('information_schema','</a:t>
            </a:r>
            <a:r>
              <a:rPr lang="en-US" dirty="0" err="1"/>
              <a:t>pg_catalog</a:t>
            </a:r>
            <a:r>
              <a:rPr lang="en-US"/>
              <a:t>’);</a:t>
            </a:r>
            <a:r>
              <a:rPr lang="en-US" b="1"/>
              <a:t> </a:t>
            </a:r>
          </a:p>
          <a:p>
            <a:pPr marL="0" indent="0">
              <a:buNone/>
            </a:pPr>
            <a:r>
              <a:rPr lang="en-US"/>
              <a:t>\</a:t>
            </a:r>
            <a:r>
              <a:rPr lang="en-US" dirty="0"/>
              <a:t>dt</a:t>
            </a:r>
            <a:endParaRPr lang="ru-RU" dirty="0"/>
          </a:p>
          <a:p>
            <a:r>
              <a:rPr lang="ru-RU" b="1" dirty="0"/>
              <a:t>Перечень подключенных пользователей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datname,usename,client_addr,client_port</a:t>
            </a:r>
            <a:r>
              <a:rPr lang="en-US" dirty="0"/>
              <a:t> FROM </a:t>
            </a:r>
            <a:r>
              <a:rPr lang="en-US" dirty="0" err="1"/>
              <a:t>pg_stat_activity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8128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ED3E-ECED-4EB6-8D4E-C127C76E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A57964-0BEC-44DD-AA35-93DC9F911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675" y="1809739"/>
            <a:ext cx="6073657" cy="4221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0405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9E20-D3D8-4C08-A1E6-C10F80E9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Database Connectivity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3C520-A096-4572-9D74-B2746707E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6632448" cy="4221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JDBC (</a:t>
            </a:r>
            <a:r>
              <a:rPr lang="ru-RU" sz="3200" b="1" dirty="0" err="1"/>
              <a:t>Java</a:t>
            </a:r>
            <a:r>
              <a:rPr lang="ru-RU" sz="3200" b="1" dirty="0"/>
              <a:t> </a:t>
            </a:r>
            <a:r>
              <a:rPr lang="ru-RU" sz="3200" b="1" dirty="0" err="1"/>
              <a:t>Database</a:t>
            </a:r>
            <a:r>
              <a:rPr lang="ru-RU" sz="3200" b="1" dirty="0"/>
              <a:t> </a:t>
            </a:r>
            <a:r>
              <a:rPr lang="ru-RU" sz="3200" b="1" dirty="0" err="1"/>
              <a:t>Connectivity</a:t>
            </a:r>
            <a:r>
              <a:rPr lang="ru-RU" sz="3200" b="1" dirty="0"/>
              <a:t>) </a:t>
            </a:r>
            <a:r>
              <a:rPr lang="ru-RU" sz="3200" dirty="0"/>
              <a:t>— это набор программных интерфейсов, предоставляемых </a:t>
            </a:r>
            <a:r>
              <a:rPr lang="ru-RU" sz="3200" dirty="0" err="1"/>
              <a:t>Java</a:t>
            </a:r>
            <a:r>
              <a:rPr lang="ru-RU" sz="3200" dirty="0"/>
              <a:t>, который позволяет разработчикам устанавливать соединение с базами данных и выполнять операции CRUD (</a:t>
            </a:r>
            <a:r>
              <a:rPr lang="ru-RU" sz="3200" dirty="0" err="1"/>
              <a:t>Create</a:t>
            </a:r>
            <a:r>
              <a:rPr lang="ru-RU" sz="3200" dirty="0"/>
              <a:t>, </a:t>
            </a:r>
            <a:r>
              <a:rPr lang="ru-RU" sz="3200" dirty="0" err="1"/>
              <a:t>Read</a:t>
            </a:r>
            <a:r>
              <a:rPr lang="ru-RU" sz="3200" dirty="0"/>
              <a:t>, </a:t>
            </a:r>
            <a:r>
              <a:rPr lang="ru-RU" sz="3200" dirty="0" err="1"/>
              <a:t>Update</a:t>
            </a:r>
            <a:r>
              <a:rPr lang="ru-RU" sz="3200" dirty="0"/>
              <a:t>,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Delete</a:t>
            </a:r>
            <a:r>
              <a:rPr lang="ru-RU" sz="3200" dirty="0"/>
              <a:t>) на данных, хранящихся в базе.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C3E68-6758-4747-92A4-C4695576F62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7112" y="2960746"/>
            <a:ext cx="4244159" cy="2079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04318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9017-0F15-4467-A3BE-630403A8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JDBC</a:t>
            </a: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BA7852-D628-445D-92A7-FF6690F247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9462"/>
          <a:stretch/>
        </p:blipFill>
        <p:spPr>
          <a:xfrm>
            <a:off x="3274023" y="2037984"/>
            <a:ext cx="4933950" cy="395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377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53F9-6AD6-46F9-8912-3ED9414B3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</a:t>
            </a:r>
            <a:r>
              <a:rPr lang="en-US" dirty="0"/>
              <a:t>JDBC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20109-F5E0-435C-8C05-EF273B1C1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JDBC управляет:</a:t>
            </a:r>
          </a:p>
          <a:p>
            <a:r>
              <a:rPr lang="ru-RU" dirty="0"/>
              <a:t>подключением к базе данных</a:t>
            </a:r>
          </a:p>
          <a:p>
            <a:r>
              <a:rPr lang="ru-RU" dirty="0"/>
              <a:t>выдачей запросов и команд</a:t>
            </a:r>
          </a:p>
          <a:p>
            <a:r>
              <a:rPr lang="ru-RU" dirty="0"/>
              <a:t>обработкой данных, полученных из базы</a:t>
            </a:r>
          </a:p>
        </p:txBody>
      </p:sp>
    </p:spTree>
    <p:extLst>
      <p:ext uri="{BB962C8B-B14F-4D97-AF65-F5344CB8AC3E}">
        <p14:creationId xmlns:p14="http://schemas.microsoft.com/office/powerpoint/2010/main" val="105811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81BA-BE90-4696-A8E7-1FB83AF1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Этапы подключения к базе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F1243-840C-4A63-B87B-B4B7BC9D4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dirty="0"/>
              <a:t>Установка базы данных на сервер или выбор облачного сервиса, к которому нужно получить доступ.</a:t>
            </a:r>
          </a:p>
          <a:p>
            <a:pPr marL="742950" indent="-742950">
              <a:buFont typeface="+mj-lt"/>
              <a:buAutoNum type="arabicPeriod"/>
            </a:pPr>
            <a:r>
              <a:rPr lang="ru-RU" dirty="0"/>
              <a:t>Подключение библиотеки JDBC и соответствующего драйвера</a:t>
            </a:r>
          </a:p>
          <a:p>
            <a:pPr marL="742950" indent="-742950">
              <a:buFont typeface="+mj-lt"/>
              <a:buAutoNum type="arabicPeriod"/>
            </a:pPr>
            <a:r>
              <a:rPr lang="ru-RU" dirty="0"/>
              <a:t>Установление соединения с базой данных с помощью библиотеки JDBC.</a:t>
            </a:r>
          </a:p>
          <a:p>
            <a:pPr marL="742950" indent="-742950">
              <a:buFont typeface="+mj-lt"/>
              <a:buAutoNum type="arabicPeriod"/>
            </a:pPr>
            <a:r>
              <a:rPr lang="ru-RU" dirty="0"/>
              <a:t>Использование установленного соединения для выполнения команд SQL.</a:t>
            </a:r>
          </a:p>
          <a:p>
            <a:pPr marL="742950" indent="-742950">
              <a:buFont typeface="+mj-lt"/>
              <a:buAutoNum type="arabicPeriod"/>
            </a:pPr>
            <a:r>
              <a:rPr lang="ru-RU" dirty="0"/>
              <a:t>Закрытие соединения после окончания сеанса.</a:t>
            </a:r>
          </a:p>
        </p:txBody>
      </p:sp>
    </p:spTree>
    <p:extLst>
      <p:ext uri="{BB962C8B-B14F-4D97-AF65-F5344CB8AC3E}">
        <p14:creationId xmlns:p14="http://schemas.microsoft.com/office/powerpoint/2010/main" val="33132958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A4A4-0BEC-4F75-A4DD-305DD78D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</a:t>
            </a:r>
            <a:r>
              <a:rPr lang="en-US" dirty="0"/>
              <a:t>JDBC </a:t>
            </a:r>
            <a:r>
              <a:rPr lang="ru-RU" dirty="0"/>
              <a:t>драйвера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CAF9D-9C97-4082-B174-AE277B915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 поморью </a:t>
            </a:r>
            <a:r>
              <a:rPr lang="en-US" dirty="0"/>
              <a:t>IntelliJ IDEA 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Скачиваем драйвер с </a:t>
            </a:r>
            <a:r>
              <a:rPr lang="en-US" sz="3366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https://jdbc.postgresql.org/download/</a:t>
            </a:r>
          </a:p>
          <a:p>
            <a:pPr lvl="1"/>
            <a:r>
              <a:rPr lang="ru-RU" dirty="0"/>
              <a:t>Регистрируем драйвер </a:t>
            </a:r>
            <a:r>
              <a:rPr lang="en-US" sz="3366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File -&gt; Project Structure -&gt; Project Settings → Libraries</a:t>
            </a:r>
            <a:r>
              <a:rPr lang="en-US" sz="3366" dirty="0">
                <a:latin typeface="Consolas" panose="020B0609020204030204" pitchFamily="49" charset="0"/>
              </a:rPr>
              <a:t> </a:t>
            </a:r>
            <a:r>
              <a:rPr lang="ru-RU" dirty="0"/>
              <a:t>и добавьте загруженный </a:t>
            </a:r>
            <a:r>
              <a:rPr lang="en-US" dirty="0"/>
              <a:t>jar</a:t>
            </a:r>
            <a:r>
              <a:rPr lang="ru-RU" dirty="0"/>
              <a:t> файл</a:t>
            </a:r>
          </a:p>
          <a:p>
            <a:r>
              <a:rPr lang="ru-RU" dirty="0"/>
              <a:t>С помощью </a:t>
            </a:r>
            <a:r>
              <a:rPr lang="en-US" dirty="0"/>
              <a:t>Maven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727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66739"/>
            <a:ext cx="10972800" cy="1143000"/>
          </a:xfrm>
        </p:spPr>
        <p:txBody>
          <a:bodyPr>
            <a:normAutofit/>
          </a:bodyPr>
          <a:lstStyle/>
          <a:p>
            <a:r>
              <a:rPr lang="ru-RU" dirty="0"/>
              <a:t>Системы сборки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51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335360" y="1988839"/>
            <a:ext cx="11713301" cy="305942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>
                <a:cs typeface="Times New Roman" panose="02020603050405020304" pitchFamily="18" charset="0"/>
              </a:rPr>
              <a:t>Не зависят от IDE и автоматически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ru-RU" sz="2400" dirty="0">
                <a:cs typeface="Times New Roman" panose="02020603050405020304" pitchFamily="18" charset="0"/>
              </a:rPr>
              <a:t>поможет установить приложение на все компьютеры заказчика, разложить исходные коды по нужным папкам, установить все требуемые библиотеки и так далее.</a:t>
            </a:r>
          </a:p>
          <a:p>
            <a:pPr marL="0" indent="0" algn="just">
              <a:buNone/>
            </a:pPr>
            <a:endParaRPr lang="ru-RU" sz="24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endParaRPr lang="ru-RU" sz="24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DC2967-3204-AB1C-1D75-63C30457A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1" y="3711923"/>
            <a:ext cx="2496277" cy="15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B91E1C-42F6-5B8C-5044-45A9A5B8A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096" y="4312287"/>
            <a:ext cx="4199496" cy="106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9930A42-F249-F391-EB24-CAA1DC8B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672" y="4199801"/>
            <a:ext cx="4188329" cy="146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0C61-1457-4258-9BCD-6A58568F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ED581-871D-4608-9D22-D8B5E530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Maven</a:t>
            </a:r>
            <a:r>
              <a:rPr lang="ru-RU" dirty="0"/>
              <a:t> — инструмент для управления и сборки проектов</a:t>
            </a:r>
            <a:endParaRPr lang="en-US" dirty="0"/>
          </a:p>
          <a:p>
            <a:r>
              <a:rPr lang="ru-RU" dirty="0"/>
              <a:t>Создание структуры проекта, подключение необходимых библиотек, развертывание продукта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39895339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A81D-A3FC-4CFF-8909-0EC611DC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maven </a:t>
            </a:r>
            <a:r>
              <a:rPr lang="ru-RU" dirty="0"/>
              <a:t>проекта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4334-3BC7-43EB-A524-76202D87E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New project </a:t>
            </a:r>
            <a:r>
              <a:rPr lang="en-US"/>
              <a:t>-&gt; Java -&gt; Maven</a:t>
            </a:r>
            <a:endParaRPr lang="en-US" dirty="0"/>
          </a:p>
          <a:p>
            <a:r>
              <a:rPr lang="ru-RU" dirty="0"/>
              <a:t>Укажите </a:t>
            </a:r>
            <a:r>
              <a:rPr lang="en-US" dirty="0" err="1"/>
              <a:t>GroupId</a:t>
            </a:r>
            <a:r>
              <a:rPr lang="en-US" dirty="0"/>
              <a:t>, </a:t>
            </a:r>
            <a:r>
              <a:rPr lang="en-US" dirty="0" err="1"/>
              <a:t>ArtifactId</a:t>
            </a:r>
            <a:r>
              <a:rPr lang="en-US" dirty="0"/>
              <a:t>, Version</a:t>
            </a:r>
          </a:p>
          <a:p>
            <a:r>
              <a:rPr lang="ru-RU" dirty="0"/>
              <a:t>Стандартная структура для </a:t>
            </a:r>
            <a:r>
              <a:rPr lang="ru-RU" dirty="0" err="1"/>
              <a:t>Maven</a:t>
            </a:r>
            <a:r>
              <a:rPr lang="ru-RU" dirty="0"/>
              <a:t>-проекта:</a:t>
            </a:r>
            <a:endParaRPr lang="en-US" dirty="0"/>
          </a:p>
          <a:p>
            <a:pPr lvl="1"/>
            <a:r>
              <a:rPr lang="ru-RU" dirty="0"/>
              <a:t>в папке </a:t>
            </a:r>
            <a:r>
              <a:rPr lang="ru-RU" b="1" i="1" dirty="0" err="1"/>
              <a:t>src</a:t>
            </a:r>
            <a:r>
              <a:rPr lang="ru-RU" b="1" i="1" dirty="0"/>
              <a:t>/</a:t>
            </a:r>
            <a:r>
              <a:rPr lang="ru-RU" b="1" i="1" dirty="0" err="1"/>
              <a:t>main</a:t>
            </a:r>
            <a:r>
              <a:rPr lang="ru-RU" b="1" i="1" dirty="0"/>
              <a:t>/</a:t>
            </a:r>
            <a:r>
              <a:rPr lang="ru-RU" b="1" i="1" dirty="0" err="1"/>
              <a:t>java</a:t>
            </a:r>
            <a:r>
              <a:rPr lang="ru-RU" dirty="0"/>
              <a:t> содержатся </a:t>
            </a:r>
            <a:r>
              <a:rPr lang="ru-RU" dirty="0" err="1"/>
              <a:t>java</a:t>
            </a:r>
            <a:r>
              <a:rPr lang="ru-RU" dirty="0"/>
              <a:t>-классы;</a:t>
            </a:r>
          </a:p>
          <a:p>
            <a:pPr lvl="1"/>
            <a:r>
              <a:rPr lang="ru-RU" dirty="0"/>
              <a:t>в </a:t>
            </a:r>
            <a:r>
              <a:rPr lang="ru-RU" b="1" i="1" dirty="0" err="1"/>
              <a:t>src</a:t>
            </a:r>
            <a:r>
              <a:rPr lang="ru-RU" b="1" i="1" dirty="0"/>
              <a:t>/</a:t>
            </a:r>
            <a:r>
              <a:rPr lang="ru-RU" b="1" i="1" dirty="0" err="1"/>
              <a:t>main</a:t>
            </a:r>
            <a:r>
              <a:rPr lang="ru-RU" b="1" i="1" dirty="0"/>
              <a:t>/</a:t>
            </a:r>
            <a:r>
              <a:rPr lang="ru-RU" b="1" i="1" dirty="0" err="1"/>
              <a:t>resources</a:t>
            </a:r>
            <a:r>
              <a:rPr lang="ru-RU" dirty="0"/>
              <a:t> — ресурсы, которые использует наше приложение (HTML-страницы, картинки, таблицы стилей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b="1" i="1" dirty="0" err="1"/>
              <a:t>src</a:t>
            </a:r>
            <a:r>
              <a:rPr lang="ru-RU" b="1" i="1" dirty="0"/>
              <a:t>/</a:t>
            </a:r>
            <a:r>
              <a:rPr lang="ru-RU" b="1" i="1" dirty="0" err="1"/>
              <a:t>test</a:t>
            </a:r>
            <a:r>
              <a:rPr lang="ru-RU" dirty="0"/>
              <a:t> — для тестов</a:t>
            </a:r>
            <a:endParaRPr lang="en-US" dirty="0"/>
          </a:p>
          <a:p>
            <a:pPr lvl="1"/>
            <a:r>
              <a:rPr lang="ru-RU" b="1" i="1" dirty="0"/>
              <a:t>pom.xml</a:t>
            </a:r>
            <a:r>
              <a:rPr lang="en-US" b="1" i="1" dirty="0"/>
              <a:t> </a:t>
            </a:r>
            <a:r>
              <a:rPr lang="en-US" dirty="0"/>
              <a:t>-</a:t>
            </a:r>
            <a:r>
              <a:rPr lang="ru-RU" dirty="0"/>
              <a:t> главный файл для управления </a:t>
            </a:r>
            <a:r>
              <a:rPr lang="en-US" dirty="0"/>
              <a:t>Maven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7354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2379-E6BC-435F-AEF5-2F4897DC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Файл </a:t>
            </a:r>
            <a:r>
              <a:rPr lang="en-US" dirty="0"/>
              <a:t>pom.xml </a:t>
            </a:r>
            <a:r>
              <a:rPr lang="ru-RU" dirty="0"/>
              <a:t>в </a:t>
            </a:r>
            <a:r>
              <a:rPr lang="en-US" dirty="0"/>
              <a:t>Maven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FA1A-A24B-4663-B60B-328D73C3B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4400" dirty="0"/>
              <a:t>Информация для программного проекта, поддерживаемого </a:t>
            </a:r>
            <a:r>
              <a:rPr lang="ru-RU" sz="4400" dirty="0" err="1"/>
              <a:t>Maven</a:t>
            </a:r>
            <a:r>
              <a:rPr lang="ru-RU" sz="4400" dirty="0"/>
              <a:t>, содержится в XML-файле с именем </a:t>
            </a:r>
            <a:r>
              <a:rPr lang="ru-RU" sz="4400" b="1" dirty="0"/>
              <a:t>pom.xml</a:t>
            </a:r>
            <a:r>
              <a:rPr lang="ru-RU" sz="4400" dirty="0"/>
              <a:t> (от </a:t>
            </a:r>
            <a:r>
              <a:rPr lang="ru-RU" sz="4400" b="1" dirty="0" err="1"/>
              <a:t>Project</a:t>
            </a:r>
            <a:r>
              <a:rPr lang="ru-RU" sz="4400" b="1" dirty="0"/>
              <a:t> </a:t>
            </a:r>
            <a:r>
              <a:rPr lang="ru-RU" sz="4400" b="1" dirty="0" err="1"/>
              <a:t>Object</a:t>
            </a:r>
            <a:r>
              <a:rPr lang="ru-RU" sz="4400" b="1" dirty="0"/>
              <a:t> </a:t>
            </a:r>
            <a:r>
              <a:rPr lang="ru-RU" sz="4400" b="1" dirty="0" err="1"/>
              <a:t>Model</a:t>
            </a:r>
            <a:r>
              <a:rPr lang="ru-RU" sz="4400" dirty="0"/>
              <a:t>)</a:t>
            </a:r>
            <a:endParaRPr lang="en-US" sz="4400" dirty="0"/>
          </a:p>
          <a:p>
            <a:r>
              <a:rPr lang="ru-RU" dirty="0"/>
              <a:t>Корневой элемент</a:t>
            </a:r>
          </a:p>
          <a:p>
            <a:r>
              <a:rPr lang="ru-RU" dirty="0"/>
              <a:t>Заголовок</a:t>
            </a:r>
          </a:p>
          <a:p>
            <a:r>
              <a:rPr lang="ru-RU" dirty="0"/>
              <a:t>Тег </a:t>
            </a:r>
            <a:r>
              <a:rPr lang="en-US" dirty="0"/>
              <a:t>packaging</a:t>
            </a:r>
          </a:p>
          <a:p>
            <a:r>
              <a:rPr lang="ru-RU" dirty="0"/>
              <a:t>Описание проекта</a:t>
            </a:r>
          </a:p>
          <a:p>
            <a:r>
              <a:rPr lang="ru-RU" dirty="0"/>
              <a:t>Зависимости</a:t>
            </a:r>
          </a:p>
          <a:p>
            <a:r>
              <a:rPr lang="ru-RU" dirty="0"/>
              <a:t>Тег &lt;</a:t>
            </a:r>
            <a:r>
              <a:rPr lang="en-US" dirty="0"/>
              <a:t>build&gt;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C281F-6501-4F4D-99C5-8FCFDE4525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3694" t="6505" r="3334"/>
          <a:stretch/>
        </p:blipFill>
        <p:spPr>
          <a:xfrm>
            <a:off x="4761975" y="3248013"/>
            <a:ext cx="6702315" cy="287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251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7001-C9BD-4859-9169-3F25420B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Управление зависимостями в </a:t>
            </a:r>
            <a:r>
              <a:rPr lang="en-US" dirty="0"/>
              <a:t>Maven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84821-225D-4B33-8593-4458DA354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28322"/>
            <a:ext cx="10972800" cy="42211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Изменить </a:t>
            </a:r>
            <a:r>
              <a:rPr lang="en-US" dirty="0"/>
              <a:t>pom.xml, </a:t>
            </a:r>
            <a:r>
              <a:rPr lang="ru-RU" dirty="0"/>
              <a:t>добавив зависимость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 &lt;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groupId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org.postgresql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groupId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endParaRPr lang="ru-RU" dirty="0">
              <a:solidFill>
                <a:schemeClr val="bg1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 &lt;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artifactId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postgresql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artifactId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 &lt;version&gt;42.7.5&lt;/version&gt;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&lt;/dependency&gt;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40719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7956-6A69-4B29-8D7E-15633360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Сборка </a:t>
            </a:r>
            <a:r>
              <a:rPr lang="ru-RU" dirty="0" err="1"/>
              <a:t>Java</a:t>
            </a:r>
            <a:r>
              <a:rPr lang="ru-RU" dirty="0"/>
              <a:t>-проекта с </a:t>
            </a:r>
            <a:r>
              <a:rPr lang="ru-RU" dirty="0" err="1"/>
              <a:t>Maven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9484-AF94-40B6-8336-811412A8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9277350" cy="422117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ru-RU" sz="7400" dirty="0"/>
              <a:t>Процесс построения приложения называют жизненным циклом </a:t>
            </a:r>
            <a:r>
              <a:rPr lang="ru-RU" sz="7400" dirty="0" err="1"/>
              <a:t>Maven</a:t>
            </a:r>
            <a:r>
              <a:rPr lang="ru-RU" sz="7400" dirty="0"/>
              <a:t>-проекта, и состоит он из фаз</a:t>
            </a:r>
            <a:r>
              <a:rPr lang="en-US" sz="7400" dirty="0"/>
              <a:t>:</a:t>
            </a:r>
          </a:p>
          <a:p>
            <a:r>
              <a:rPr lang="ru-RU" sz="6034" b="1" dirty="0" err="1"/>
              <a:t>clean</a:t>
            </a:r>
            <a:r>
              <a:rPr lang="ru-RU" sz="6034" dirty="0"/>
              <a:t> — удаляются все скомпилированные файлы из каталога </a:t>
            </a:r>
            <a:r>
              <a:rPr lang="ru-RU" sz="6034" dirty="0" err="1"/>
              <a:t>target</a:t>
            </a:r>
            <a:r>
              <a:rPr lang="ru-RU" sz="6034" dirty="0"/>
              <a:t> (место, в котором сохраняются готовые артефакты);</a:t>
            </a:r>
          </a:p>
          <a:p>
            <a:r>
              <a:rPr lang="ru-RU" sz="6034" b="1" dirty="0" err="1"/>
              <a:t>validate</a:t>
            </a:r>
            <a:r>
              <a:rPr lang="ru-RU" sz="6034" dirty="0"/>
              <a:t> — идет проверка, вся ли информация доступна для сборки проекта;</a:t>
            </a:r>
          </a:p>
          <a:p>
            <a:r>
              <a:rPr lang="ru-RU" sz="6034" b="1" dirty="0" err="1"/>
              <a:t>compile</a:t>
            </a:r>
            <a:r>
              <a:rPr lang="ru-RU" sz="6034" dirty="0"/>
              <a:t> — компилируются файлы с исходным кодом;</a:t>
            </a:r>
          </a:p>
          <a:p>
            <a:r>
              <a:rPr lang="ru-RU" sz="6034" b="1" dirty="0" err="1"/>
              <a:t>test</a:t>
            </a:r>
            <a:r>
              <a:rPr lang="ru-RU" sz="6034" dirty="0"/>
              <a:t> — запускаются тесты;</a:t>
            </a:r>
          </a:p>
          <a:p>
            <a:r>
              <a:rPr lang="ru-RU" sz="6034" b="1" dirty="0" err="1"/>
              <a:t>package</a:t>
            </a:r>
            <a:r>
              <a:rPr lang="ru-RU" sz="6034" dirty="0"/>
              <a:t> — упаковываются скомпилированные файлы (в </a:t>
            </a:r>
            <a:r>
              <a:rPr lang="ru-RU" sz="6034" dirty="0" err="1"/>
              <a:t>jar</a:t>
            </a:r>
            <a:r>
              <a:rPr lang="ru-RU" sz="6034" dirty="0"/>
              <a:t>, </a:t>
            </a:r>
            <a:r>
              <a:rPr lang="ru-RU" sz="6034" dirty="0" err="1"/>
              <a:t>war</a:t>
            </a:r>
            <a:r>
              <a:rPr lang="ru-RU" sz="6034" dirty="0"/>
              <a:t> и т.д. архив);</a:t>
            </a:r>
          </a:p>
          <a:p>
            <a:r>
              <a:rPr lang="ru-RU" sz="6034" b="1" dirty="0" err="1"/>
              <a:t>verify</a:t>
            </a:r>
            <a:r>
              <a:rPr lang="ru-RU" sz="6034" dirty="0"/>
              <a:t> — выполняются проверки для подтверждения готовности упакованного файла;</a:t>
            </a:r>
          </a:p>
          <a:p>
            <a:r>
              <a:rPr lang="ru-RU" sz="6034" b="1" dirty="0" err="1"/>
              <a:t>install</a:t>
            </a:r>
            <a:r>
              <a:rPr lang="ru-RU" sz="6034" dirty="0"/>
              <a:t> — пакет помещается в локальный репозиторий. Теперь он может использоваться другими проектами как внешняя библиотека;</a:t>
            </a:r>
          </a:p>
          <a:p>
            <a:r>
              <a:rPr lang="ru-RU" sz="6034" b="1" dirty="0" err="1"/>
              <a:t>site</a:t>
            </a:r>
            <a:r>
              <a:rPr lang="ru-RU" sz="6034" dirty="0"/>
              <a:t> — создается документация проекта;</a:t>
            </a:r>
          </a:p>
          <a:p>
            <a:r>
              <a:rPr lang="ru-RU" sz="6034" b="1" dirty="0" err="1"/>
              <a:t>deploy</a:t>
            </a:r>
            <a:r>
              <a:rPr lang="ru-RU" sz="6034" dirty="0"/>
              <a:t> — собранный архив копируется в удаленный репозиторий.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6BB71F-114B-4021-AF3F-756C7BA8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782" y="2796376"/>
            <a:ext cx="21621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75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423A-A908-4FC9-B826-3E9DB3BD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</a:t>
            </a:r>
            <a:r>
              <a:rPr lang="en-US" dirty="0"/>
              <a:t>JDBC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33397-3E33-4529-8DC9-F2DABB074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Для взаимодействия с базой данных потребуется пакет </a:t>
            </a:r>
            <a:r>
              <a:rPr lang="en-US" dirty="0" err="1"/>
              <a:t>java.sql</a:t>
            </a:r>
            <a:endParaRPr lang="ru-RU" dirty="0"/>
          </a:p>
          <a:p>
            <a:r>
              <a:rPr lang="ru-RU" b="1" dirty="0" err="1"/>
              <a:t>Connection</a:t>
            </a:r>
            <a:r>
              <a:rPr lang="ru-RU" dirty="0"/>
              <a:t> подготавливает подключение к базе.</a:t>
            </a:r>
          </a:p>
          <a:p>
            <a:r>
              <a:rPr lang="ru-RU" b="1" dirty="0" err="1"/>
              <a:t>DriverManager</a:t>
            </a:r>
            <a:r>
              <a:rPr lang="ru-RU" dirty="0"/>
              <a:t> обеспечивает подключение. </a:t>
            </a:r>
            <a:endParaRPr lang="en-US" dirty="0"/>
          </a:p>
          <a:p>
            <a:r>
              <a:rPr lang="ru-RU" b="1" dirty="0" err="1"/>
              <a:t>SQLException</a:t>
            </a:r>
            <a:r>
              <a:rPr lang="ru-RU" dirty="0"/>
              <a:t> обрабатывает SQL-ошибки, возникающие при взаимодействии приложении и базы данных.</a:t>
            </a:r>
          </a:p>
          <a:p>
            <a:r>
              <a:rPr lang="ru-RU" b="1" dirty="0" err="1"/>
              <a:t>ResultSet</a:t>
            </a:r>
            <a:r>
              <a:rPr lang="ru-RU" dirty="0"/>
              <a:t> и </a:t>
            </a:r>
            <a:r>
              <a:rPr lang="ru-RU" b="1" dirty="0" err="1"/>
              <a:t>Statement</a:t>
            </a:r>
            <a:r>
              <a:rPr lang="ru-RU" dirty="0"/>
              <a:t> моделируют наборы результатов данных и операторы SQL.</a:t>
            </a:r>
          </a:p>
        </p:txBody>
      </p:sp>
    </p:spTree>
    <p:extLst>
      <p:ext uri="{BB962C8B-B14F-4D97-AF65-F5344CB8AC3E}">
        <p14:creationId xmlns:p14="http://schemas.microsoft.com/office/powerpoint/2010/main" val="1573298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9032-7EB0-43C1-90C5-F7F728A8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к базе данных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377356-CFE4-4D46-AC60-033B493E5D2C}"/>
              </a:ext>
            </a:extLst>
          </p:cNvPr>
          <p:cNvGrpSpPr/>
          <p:nvPr/>
        </p:nvGrpSpPr>
        <p:grpSpPr>
          <a:xfrm>
            <a:off x="711167" y="3188984"/>
            <a:ext cx="5737789" cy="1079896"/>
            <a:chOff x="2928735" y="4149020"/>
            <a:chExt cx="5445497" cy="78088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DD15DC-E9FC-4E23-BAE1-111D392CFD53}"/>
                </a:ext>
              </a:extLst>
            </p:cNvPr>
            <p:cNvSpPr txBox="1"/>
            <p:nvPr/>
          </p:nvSpPr>
          <p:spPr>
            <a:xfrm>
              <a:off x="3143250" y="4640580"/>
              <a:ext cx="5230982" cy="28932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err="1"/>
                <a:t>jdbc:postgresql</a:t>
              </a:r>
              <a:r>
                <a:rPr lang="en-US" sz="2000" dirty="0"/>
                <a:t>://localhost:5432/</a:t>
              </a:r>
              <a:r>
                <a:rPr lang="en-US" sz="2000" dirty="0" err="1"/>
                <a:t>database_name</a:t>
              </a:r>
              <a:endParaRPr lang="ru-RU" sz="2000" dirty="0"/>
            </a:p>
          </p:txBody>
        </p: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52186EDC-9F25-4870-8029-2C57B4E909EA}"/>
                </a:ext>
              </a:extLst>
            </p:cNvPr>
            <p:cNvSpPr/>
            <p:nvPr/>
          </p:nvSpPr>
          <p:spPr>
            <a:xfrm rot="5400000">
              <a:off x="3356610" y="4366260"/>
              <a:ext cx="80010" cy="468630"/>
            </a:xfrm>
            <a:prstGeom prst="leftBrace">
              <a:avLst>
                <a:gd name="adj1" fmla="val 8333"/>
                <a:gd name="adj2" fmla="val 50643"/>
              </a:avLst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2DF2E7-C470-45B5-AC0A-1B617978154D}"/>
                </a:ext>
              </a:extLst>
            </p:cNvPr>
            <p:cNvSpPr txBox="1"/>
            <p:nvPr/>
          </p:nvSpPr>
          <p:spPr>
            <a:xfrm>
              <a:off x="2928735" y="4164806"/>
              <a:ext cx="9346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Протокол</a:t>
              </a:r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4014DAD1-DEA8-442F-8CA6-D7361F25934C}"/>
                </a:ext>
              </a:extLst>
            </p:cNvPr>
            <p:cNvSpPr/>
            <p:nvPr/>
          </p:nvSpPr>
          <p:spPr>
            <a:xfrm rot="5400000">
              <a:off x="4045094" y="4242244"/>
              <a:ext cx="93286" cy="702195"/>
            </a:xfrm>
            <a:prstGeom prst="leftBrace">
              <a:avLst>
                <a:gd name="adj1" fmla="val 8333"/>
                <a:gd name="adj2" fmla="val 50643"/>
              </a:avLst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DBA58C-F6EC-4F1F-83F5-126CC81FA9B9}"/>
                </a:ext>
              </a:extLst>
            </p:cNvPr>
            <p:cNvSpPr txBox="1"/>
            <p:nvPr/>
          </p:nvSpPr>
          <p:spPr>
            <a:xfrm>
              <a:off x="3863340" y="4164210"/>
              <a:ext cx="9346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СУБД</a:t>
              </a:r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FAF6F1D6-37FF-49FB-B12C-4AC168AC8F6C}"/>
                </a:ext>
              </a:extLst>
            </p:cNvPr>
            <p:cNvSpPr/>
            <p:nvPr/>
          </p:nvSpPr>
          <p:spPr>
            <a:xfrm rot="5400000">
              <a:off x="5319343" y="4240746"/>
              <a:ext cx="80011" cy="701040"/>
            </a:xfrm>
            <a:prstGeom prst="leftBrace">
              <a:avLst>
                <a:gd name="adj1" fmla="val 8333"/>
                <a:gd name="adj2" fmla="val 50643"/>
              </a:avLst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C527D5-8C64-48DB-A8B8-ACAC482B57CA}"/>
                </a:ext>
              </a:extLst>
            </p:cNvPr>
            <p:cNvSpPr txBox="1"/>
            <p:nvPr/>
          </p:nvSpPr>
          <p:spPr>
            <a:xfrm>
              <a:off x="4693326" y="4158283"/>
              <a:ext cx="1182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Имя сервера</a:t>
              </a:r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89BE07A1-89C5-4E9C-A621-DADB52BD6568}"/>
                </a:ext>
              </a:extLst>
            </p:cNvPr>
            <p:cNvSpPr/>
            <p:nvPr/>
          </p:nvSpPr>
          <p:spPr>
            <a:xfrm rot="5400000">
              <a:off x="6092961" y="4359943"/>
              <a:ext cx="80010" cy="468630"/>
            </a:xfrm>
            <a:prstGeom prst="leftBrace">
              <a:avLst>
                <a:gd name="adj1" fmla="val 8333"/>
                <a:gd name="adj2" fmla="val 50643"/>
              </a:avLst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175521-FB53-45D3-B192-53D39E1DCF0A}"/>
                </a:ext>
              </a:extLst>
            </p:cNvPr>
            <p:cNvSpPr txBox="1"/>
            <p:nvPr/>
          </p:nvSpPr>
          <p:spPr>
            <a:xfrm>
              <a:off x="5840590" y="4149020"/>
              <a:ext cx="9346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Порт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47ACF468-574C-4305-A2A0-A8A2D0E6B47A}"/>
                </a:ext>
              </a:extLst>
            </p:cNvPr>
            <p:cNvSpPr/>
            <p:nvPr/>
          </p:nvSpPr>
          <p:spPr>
            <a:xfrm rot="5400000">
              <a:off x="7050566" y="3930903"/>
              <a:ext cx="87308" cy="1336763"/>
            </a:xfrm>
            <a:prstGeom prst="leftBrace">
              <a:avLst>
                <a:gd name="adj1" fmla="val 8333"/>
                <a:gd name="adj2" fmla="val 50643"/>
              </a:avLst>
            </a:prstGeom>
            <a:ln>
              <a:solidFill>
                <a:srgbClr val="173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8299FA-B6A9-43EE-9D2B-8FE32DE4BA98}"/>
                </a:ext>
              </a:extLst>
            </p:cNvPr>
            <p:cNvSpPr txBox="1"/>
            <p:nvPr/>
          </p:nvSpPr>
          <p:spPr>
            <a:xfrm>
              <a:off x="6397076" y="4155337"/>
              <a:ext cx="15615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Имя базы данных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2994847-0368-4498-97A3-FD063AA4A49F}"/>
              </a:ext>
            </a:extLst>
          </p:cNvPr>
          <p:cNvSpPr txBox="1"/>
          <p:nvPr/>
        </p:nvSpPr>
        <p:spPr>
          <a:xfrm>
            <a:off x="573848" y="1767358"/>
            <a:ext cx="75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Устанавливаем соединение</a:t>
            </a:r>
            <a:r>
              <a:rPr lang="en-US" sz="3600" dirty="0"/>
              <a:t>:</a:t>
            </a:r>
            <a:endParaRPr lang="ru-RU" sz="3600" dirty="0"/>
          </a:p>
        </p:txBody>
      </p:sp>
      <p:pic>
        <p:nvPicPr>
          <p:cNvPr id="1028" name="Picture 4" descr="https://media3.giphy.com/media/v1.Y2lkPTc5MGI3NjExeW5xdnpoZGc0ODVmcWd6MHdrMXd5ZGM4MTN3eDh5dDNjcHZ0dWRnayZlcD12MV9pbnRlcm5hbF9naWZfYnlfaWQmY3Q9Zw/DoWqmz4TGL3Tk9jwTZ/giphy.gif">
            <a:extLst>
              <a:ext uri="{FF2B5EF4-FFF2-40B4-BE49-F238E27FC236}">
                <a16:creationId xmlns:a16="http://schemas.microsoft.com/office/drawing/2014/main" id="{5FE6BBDE-D6BE-474A-AA46-A58CFEE2FF4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239" y="3039266"/>
            <a:ext cx="3982402" cy="22401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0DDC32-BFF5-46B7-A902-0C1D74636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67" y="2479043"/>
            <a:ext cx="8351949" cy="440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C59E30-B4DE-4567-AE92-365F765037BB}"/>
              </a:ext>
            </a:extLst>
          </p:cNvPr>
          <p:cNvSpPr/>
          <p:nvPr/>
        </p:nvSpPr>
        <p:spPr>
          <a:xfrm>
            <a:off x="697726" y="4714462"/>
            <a:ext cx="1090195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 err="1"/>
              <a:t>postgres</a:t>
            </a:r>
            <a:r>
              <a:rPr lang="en-US" sz="1600" b="1" i="1" dirty="0" err="1"/>
              <a:t>ql</a:t>
            </a:r>
            <a:r>
              <a:rPr lang="ru-RU" sz="1600" dirty="0"/>
              <a:t> – это протокол работы с сервером</a:t>
            </a:r>
          </a:p>
          <a:p>
            <a:r>
              <a:rPr lang="ru-RU" sz="1600" b="1" i="1" dirty="0" err="1"/>
              <a:t>localhost</a:t>
            </a:r>
            <a:r>
              <a:rPr lang="ru-RU" sz="1600" dirty="0"/>
              <a:t> – имя сервера в сети, на котором установлена база данных</a:t>
            </a:r>
          </a:p>
          <a:p>
            <a:r>
              <a:rPr lang="ru-RU" sz="1600" b="1" i="1" dirty="0"/>
              <a:t>5432</a:t>
            </a:r>
            <a:r>
              <a:rPr lang="ru-RU" sz="1600" dirty="0"/>
              <a:t> – порт сервера, по которому идут запросы</a:t>
            </a:r>
          </a:p>
          <a:p>
            <a:r>
              <a:rPr lang="ru-RU" sz="1600" b="1" i="1" dirty="0" err="1"/>
              <a:t>database_name</a:t>
            </a:r>
            <a:r>
              <a:rPr lang="en-US" sz="1600" b="1" i="1" dirty="0"/>
              <a:t> </a:t>
            </a:r>
            <a:r>
              <a:rPr lang="ru-RU" sz="1600" dirty="0"/>
              <a:t>– имя схемы (имя базы данных), можно не указывать, если на сервере только одна схема</a:t>
            </a:r>
          </a:p>
        </p:txBody>
      </p:sp>
    </p:spTree>
    <p:extLst>
      <p:ext uri="{BB962C8B-B14F-4D97-AF65-F5344CB8AC3E}">
        <p14:creationId xmlns:p14="http://schemas.microsoft.com/office/powerpoint/2010/main" val="15435384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57B64-554A-419F-9EF1-A69A3C25E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/>
              <a:t>Statement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6080C-E60E-44C5-BC21-EE87DBF79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366607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Существует несколько типов или видов </a:t>
            </a:r>
            <a:r>
              <a:rPr lang="ru-RU" dirty="0" err="1"/>
              <a:t>statement'ов</a:t>
            </a:r>
            <a:r>
              <a:rPr lang="ru-RU" dirty="0"/>
              <a:t>:</a:t>
            </a:r>
          </a:p>
          <a:p>
            <a:pPr lvl="1"/>
            <a:r>
              <a:rPr lang="ru-RU" b="1" dirty="0" err="1"/>
              <a:t>Statement</a:t>
            </a:r>
            <a:r>
              <a:rPr lang="ru-RU" dirty="0"/>
              <a:t>: SQL выражение, которое не содержит параметров</a:t>
            </a:r>
          </a:p>
          <a:p>
            <a:pPr lvl="1"/>
            <a:r>
              <a:rPr lang="ru-RU" b="1" dirty="0" err="1"/>
              <a:t>PreparedStatement</a:t>
            </a:r>
            <a:r>
              <a:rPr lang="ru-RU" dirty="0"/>
              <a:t> : Подготовленное SQL выражение, содержащее входные параметры</a:t>
            </a:r>
          </a:p>
          <a:p>
            <a:pPr lvl="1"/>
            <a:r>
              <a:rPr lang="ru-RU" b="1" dirty="0" err="1"/>
              <a:t>CallableStatement</a:t>
            </a:r>
            <a:r>
              <a:rPr lang="ru-RU" dirty="0"/>
              <a:t> : SQL выражение с возможностью получить возвращаемое значение из хранимых процедур (SQL </a:t>
            </a:r>
            <a:r>
              <a:rPr lang="ru-RU" dirty="0" err="1"/>
              <a:t>Stored</a:t>
            </a:r>
            <a:r>
              <a:rPr lang="ru-RU" dirty="0"/>
              <a:t> </a:t>
            </a:r>
            <a:r>
              <a:rPr lang="ru-RU" dirty="0" err="1"/>
              <a:t>Procedures</a:t>
            </a:r>
            <a:r>
              <a:rPr lang="ru-RU" dirty="0"/>
              <a:t>).</a:t>
            </a:r>
            <a:endParaRPr lang="en-US" dirty="0"/>
          </a:p>
          <a:p>
            <a:r>
              <a:rPr lang="ru-RU" dirty="0"/>
              <a:t>Используйте методы </a:t>
            </a:r>
            <a:r>
              <a:rPr lang="ru-RU" b="1" dirty="0" err="1"/>
              <a:t>executeQuery</a:t>
            </a:r>
            <a:r>
              <a:rPr lang="ru-RU" dirty="0"/>
              <a:t> для выполнения запросов SELECT и получения результатов.</a:t>
            </a:r>
            <a:endParaRPr lang="en-US" dirty="0"/>
          </a:p>
          <a:p>
            <a:r>
              <a:rPr lang="ru-RU" dirty="0"/>
              <a:t>Используйте методы </a:t>
            </a:r>
            <a:r>
              <a:rPr lang="ru-RU" b="1" dirty="0" err="1"/>
              <a:t>executeUpdate</a:t>
            </a:r>
            <a:r>
              <a:rPr lang="ru-RU" dirty="0"/>
              <a:t> для выполнения запросов, изменяющих данные.</a:t>
            </a:r>
            <a:endParaRPr lang="en-US" dirty="0"/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BE641-9D71-4901-8FE5-AA313E69B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092" y="5368004"/>
            <a:ext cx="5608749" cy="596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4FC263-2B4C-4ED2-9027-7B58802FF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07" y="5532934"/>
            <a:ext cx="9199661" cy="123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278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BFF6-3E4D-46A6-99FF-1EF40D6A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ResultSet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FB14-D52F-4F47-8A89-066FC83C1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152401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Предоставляет методы для получения и манипуляции результатами выполненных запросов</a:t>
            </a:r>
            <a:endParaRPr lang="en-US" dirty="0"/>
          </a:p>
          <a:p>
            <a:r>
              <a:rPr lang="ru-RU" dirty="0"/>
              <a:t>Используйте методы </a:t>
            </a:r>
            <a:r>
              <a:rPr lang="ru-RU" b="1" dirty="0" err="1"/>
              <a:t>next</a:t>
            </a:r>
            <a:r>
              <a:rPr lang="ru-RU" dirty="0"/>
              <a:t> для итерации по результатам и получения данных.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0A442-57B0-4EF6-B459-872B35826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4" y="3685555"/>
            <a:ext cx="6246254" cy="1822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31405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8A8C-5FE0-4B23-A64D-2EB70D26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</a:t>
            </a:r>
            <a:r>
              <a:rPr lang="en-US" dirty="0" err="1"/>
              <a:t>ResultSet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E66B-C099-41C7-8A1E-56FA10EC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Класс </a:t>
            </a:r>
            <a:r>
              <a:rPr lang="ru-RU" b="1" dirty="0" err="1"/>
              <a:t>ResultSet</a:t>
            </a:r>
            <a:r>
              <a:rPr lang="ru-RU" dirty="0"/>
              <a:t> позволяет двигать текущую строку по результату куда угодно. Для этого у него есть такие методы:</a:t>
            </a:r>
            <a:endParaRPr lang="en-US" dirty="0"/>
          </a:p>
          <a:p>
            <a:r>
              <a:rPr lang="en-US" b="1" dirty="0"/>
              <a:t>next</a:t>
            </a:r>
            <a:r>
              <a:rPr lang="en-US" dirty="0"/>
              <a:t>()</a:t>
            </a:r>
            <a:r>
              <a:rPr lang="ru-RU" dirty="0"/>
              <a:t> - Переключает на следующую строку</a:t>
            </a:r>
          </a:p>
          <a:p>
            <a:r>
              <a:rPr lang="en-US" b="1" dirty="0"/>
              <a:t>previous</a:t>
            </a:r>
            <a:r>
              <a:rPr lang="en-US" dirty="0"/>
              <a:t>()</a:t>
            </a:r>
            <a:r>
              <a:rPr lang="ru-RU" dirty="0"/>
              <a:t> - переключает на предыдущую строку</a:t>
            </a:r>
          </a:p>
          <a:p>
            <a:r>
              <a:rPr lang="en-US" b="1" dirty="0" err="1"/>
              <a:t>isFirst</a:t>
            </a:r>
            <a:r>
              <a:rPr lang="en-US" dirty="0"/>
              <a:t>()</a:t>
            </a:r>
            <a:r>
              <a:rPr lang="ru-RU" dirty="0"/>
              <a:t> – проверяет, текущая строка первая?</a:t>
            </a:r>
          </a:p>
          <a:p>
            <a:r>
              <a:rPr lang="en-US" b="1" dirty="0" err="1"/>
              <a:t>isBeforeFirst</a:t>
            </a:r>
            <a:r>
              <a:rPr lang="en-US" dirty="0"/>
              <a:t>()</a:t>
            </a:r>
            <a:r>
              <a:rPr lang="ru-RU" dirty="0"/>
              <a:t> - проверяет, мы перед первой строкой?</a:t>
            </a:r>
          </a:p>
          <a:p>
            <a:r>
              <a:rPr lang="en-US" b="1" dirty="0" err="1"/>
              <a:t>isLast</a:t>
            </a:r>
            <a:r>
              <a:rPr lang="en-US" dirty="0"/>
              <a:t>()</a:t>
            </a:r>
            <a:r>
              <a:rPr lang="ru-RU" dirty="0"/>
              <a:t> - проверяет, текущая строка последняя?</a:t>
            </a:r>
          </a:p>
          <a:p>
            <a:r>
              <a:rPr lang="en-US" b="1" dirty="0" err="1"/>
              <a:t>isAfterLast</a:t>
            </a:r>
            <a:r>
              <a:rPr lang="en-US" dirty="0"/>
              <a:t>()</a:t>
            </a:r>
            <a:r>
              <a:rPr lang="ru-RU" dirty="0"/>
              <a:t> - проверяет, мы после последней строки?</a:t>
            </a:r>
          </a:p>
          <a:p>
            <a:r>
              <a:rPr lang="en-US" b="1" dirty="0"/>
              <a:t>absolute(int n)</a:t>
            </a:r>
            <a:r>
              <a:rPr lang="ru-RU" b="1" dirty="0"/>
              <a:t> </a:t>
            </a:r>
            <a:r>
              <a:rPr lang="ru-RU" dirty="0"/>
              <a:t>- делает </a:t>
            </a:r>
            <a:r>
              <a:rPr lang="en-US" dirty="0"/>
              <a:t>N-</a:t>
            </a:r>
            <a:r>
              <a:rPr lang="ru-RU" dirty="0"/>
              <a:t>ю строку текущей</a:t>
            </a:r>
          </a:p>
          <a:p>
            <a:r>
              <a:rPr lang="en-US" b="1" dirty="0"/>
              <a:t>relative(int n)</a:t>
            </a:r>
            <a:r>
              <a:rPr lang="ru-RU" b="1" dirty="0"/>
              <a:t> </a:t>
            </a:r>
            <a:r>
              <a:rPr lang="ru-RU" dirty="0"/>
              <a:t>- двигает текущую строку на </a:t>
            </a:r>
            <a:r>
              <a:rPr lang="en-US" dirty="0"/>
              <a:t>N </a:t>
            </a:r>
            <a:r>
              <a:rPr lang="ru-RU" dirty="0"/>
              <a:t>позиций вперед. </a:t>
            </a:r>
            <a:r>
              <a:rPr lang="en-US" dirty="0"/>
              <a:t>N </a:t>
            </a:r>
            <a:r>
              <a:rPr lang="ru-RU" dirty="0"/>
              <a:t>может быть &lt;0</a:t>
            </a:r>
          </a:p>
          <a:p>
            <a:r>
              <a:rPr lang="en-US" b="1" dirty="0" err="1"/>
              <a:t>getRow</a:t>
            </a:r>
            <a:r>
              <a:rPr lang="en-US" b="1" dirty="0"/>
              <a:t>()</a:t>
            </a:r>
            <a:r>
              <a:rPr lang="ru-RU" b="1" dirty="0"/>
              <a:t> </a:t>
            </a:r>
            <a:r>
              <a:rPr lang="ru-RU" dirty="0"/>
              <a:t>- возвращает номер строки</a:t>
            </a:r>
          </a:p>
        </p:txBody>
      </p:sp>
    </p:spTree>
    <p:extLst>
      <p:ext uri="{BB962C8B-B14F-4D97-AF65-F5344CB8AC3E}">
        <p14:creationId xmlns:p14="http://schemas.microsoft.com/office/powerpoint/2010/main" val="28824205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F3A0-4C7F-43FE-BFBC-AE8FBD7A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</a:t>
            </a:r>
            <a:r>
              <a:rPr lang="en-US" dirty="0" err="1"/>
              <a:t>ResultSet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1B19-3D4B-4863-ABCC-1B6A010E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9739"/>
            <a:ext cx="10972800" cy="4183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 err="1"/>
              <a:t>ResultSet.TYPE</a:t>
            </a:r>
            <a:r>
              <a:rPr lang="en-US" sz="2400" b="1" dirty="0"/>
              <a:t>_</a:t>
            </a:r>
            <a:r>
              <a:rPr lang="ru-RU" sz="2400" b="1" dirty="0"/>
              <a:t>FORWARD_ONLY</a:t>
            </a:r>
          </a:p>
          <a:p>
            <a:pPr marL="0" indent="0">
              <a:buNone/>
            </a:pPr>
            <a:r>
              <a:rPr lang="ru-RU" sz="2400" dirty="0"/>
              <a:t>Указатель двигается только вперёд по множеству полученных результатов. Устанавливается по умолчанию.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2400" b="1" dirty="0" err="1"/>
              <a:t>ResultSet.TYPE_SCROLL_INSENSITIVE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Указатель может двигаться вперёд и назад и не чувствителен к изменениям в БД, которые сделаны другими пользователями после того, как </a:t>
            </a:r>
            <a:r>
              <a:rPr lang="ru-RU" sz="2400" dirty="0" err="1"/>
              <a:t>ResultSet</a:t>
            </a:r>
            <a:r>
              <a:rPr lang="ru-RU" sz="2400" dirty="0"/>
              <a:t> был создан.</a:t>
            </a:r>
            <a:endParaRPr lang="en-US" sz="24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2400" b="1" dirty="0" err="1"/>
              <a:t>ResultSet.TYPE_SCROLL_SENSITIVE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Указатель может двигаться вперёд и назад и чувствителен к изменениям в БД, которые сделаны другими пользователями после того, как </a:t>
            </a:r>
            <a:r>
              <a:rPr lang="ru-RU" sz="2400" dirty="0" err="1"/>
              <a:t>ResultSet</a:t>
            </a:r>
            <a:r>
              <a:rPr lang="ru-RU" sz="2400" dirty="0"/>
              <a:t> был создан.</a:t>
            </a:r>
          </a:p>
        </p:txBody>
      </p:sp>
    </p:spTree>
    <p:extLst>
      <p:ext uri="{BB962C8B-B14F-4D97-AF65-F5344CB8AC3E}">
        <p14:creationId xmlns:p14="http://schemas.microsoft.com/office/powerpoint/2010/main" val="21988351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B3C9-D5DE-41A1-83FE-D5EE72C0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</a:t>
            </a:r>
            <a:r>
              <a:rPr lang="en-US" dirty="0" err="1"/>
              <a:t>ResultSet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0BA12-A2BF-4B43-A608-41AAA2C8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91443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Всего существует два типа доступа:</a:t>
            </a:r>
          </a:p>
          <a:p>
            <a:pPr marL="355600" indent="182563"/>
            <a:r>
              <a:rPr lang="en-US" b="1" dirty="0" err="1"/>
              <a:t>ResultSet.CONCUR_READ_ONLY</a:t>
            </a:r>
            <a:endParaRPr lang="en-US" b="1" dirty="0"/>
          </a:p>
          <a:p>
            <a:pPr marL="355600" indent="182563">
              <a:buNone/>
            </a:pPr>
            <a:r>
              <a:rPr lang="ru-RU" dirty="0"/>
              <a:t>Создаёт экземпляр </a:t>
            </a:r>
            <a:r>
              <a:rPr lang="en-US" dirty="0" err="1"/>
              <a:t>ResultSet</a:t>
            </a:r>
            <a:r>
              <a:rPr lang="en-US" dirty="0"/>
              <a:t> </a:t>
            </a:r>
            <a:r>
              <a:rPr lang="ru-RU" dirty="0"/>
              <a:t>только для чтения. Устанавливается по умолчанию.</a:t>
            </a:r>
          </a:p>
          <a:p>
            <a:pPr marL="355600" indent="182563">
              <a:buNone/>
            </a:pPr>
            <a:endParaRPr lang="ru-RU" sz="2200" dirty="0"/>
          </a:p>
          <a:p>
            <a:pPr marL="355600" indent="182563"/>
            <a:r>
              <a:rPr lang="en-US" b="1" dirty="0" err="1"/>
              <a:t>ResultSet.CONCUR_UPDATABLE</a:t>
            </a:r>
            <a:endParaRPr lang="en-US" b="1" dirty="0"/>
          </a:p>
          <a:p>
            <a:pPr marL="355600" indent="182563">
              <a:buNone/>
            </a:pPr>
            <a:r>
              <a:rPr lang="ru-RU" dirty="0"/>
              <a:t>Создаёт экземпляр </a:t>
            </a:r>
            <a:r>
              <a:rPr lang="en-US" dirty="0" err="1"/>
              <a:t>ResultSet</a:t>
            </a:r>
            <a:r>
              <a:rPr lang="en-US" dirty="0"/>
              <a:t>, </a:t>
            </a:r>
            <a:r>
              <a:rPr lang="ru-RU" dirty="0"/>
              <a:t>который может изменять данные.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D46F4-6494-4443-840F-2110FB132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374" y="5118638"/>
            <a:ext cx="8107251" cy="622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75000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06FA-1930-40A1-9D03-0553B413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67109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Получение данных из текущей строки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7308-F94C-4483-B117-CCBB2D87F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31133"/>
            <a:ext cx="10972800" cy="891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Связь между типами данных SQL и методы </a:t>
            </a:r>
            <a:r>
              <a:rPr lang="ru-RU" sz="3200" b="1" dirty="0" err="1"/>
              <a:t>ResultSet</a:t>
            </a:r>
            <a:endParaRPr lang="ru-RU" sz="32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89B9B-6F52-427E-ACA8-9B07FF2DC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6940"/>
              </p:ext>
            </p:extLst>
          </p:nvPr>
        </p:nvGraphicFramePr>
        <p:xfrm>
          <a:off x="6395529" y="2884641"/>
          <a:ext cx="4586130" cy="347495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58807">
                  <a:extLst>
                    <a:ext uri="{9D8B030D-6E8A-4147-A177-3AD203B41FA5}">
                      <a16:colId xmlns:a16="http://schemas.microsoft.com/office/drawing/2014/main" val="2494841494"/>
                    </a:ext>
                  </a:extLst>
                </a:gridCol>
                <a:gridCol w="2927323">
                  <a:extLst>
                    <a:ext uri="{9D8B030D-6E8A-4147-A177-3AD203B41FA5}">
                      <a16:colId xmlns:a16="http://schemas.microsoft.com/office/drawing/2014/main" val="1029477382"/>
                    </a:ext>
                  </a:extLst>
                </a:gridCol>
              </a:tblGrid>
              <a:tr h="2064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dirty="0">
                          <a:effectLst/>
                          <a:latin typeface="+mj-lt"/>
                        </a:rPr>
                        <a:t>SQL Datatype</a:t>
                      </a:r>
                    </a:p>
                  </a:txBody>
                  <a:tcPr marL="84423" marR="84423" marT="42212" marB="4221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dirty="0" err="1">
                          <a:effectLst/>
                          <a:latin typeface="+mj-lt"/>
                        </a:rPr>
                        <a:t>getXXX</a:t>
                      </a:r>
                      <a:r>
                        <a:rPr lang="en-US" sz="1200" b="1" dirty="0">
                          <a:effectLst/>
                          <a:latin typeface="+mj-lt"/>
                        </a:rPr>
                        <a:t>() Methods</a:t>
                      </a:r>
                    </a:p>
                  </a:txBody>
                  <a:tcPr marL="84423" marR="84423" marT="42212" marB="4221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301137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marL="0" marR="0" lvl="0" indent="0" algn="l" defTabSz="12191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CHAR, VARCHAR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getString()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1431542802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marL="0" marR="0" lvl="0" indent="0" algn="l" defTabSz="12191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SMALLINT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getShort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664214421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INTEGER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getInt()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2923968555"/>
                  </a:ext>
                </a:extLst>
              </a:tr>
              <a:tr h="197071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FLOAT, DOUBLE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getDouble()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797685481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BIGINT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getLong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3539670494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REAL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getFloat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798241622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DECIMAL, NUMERIC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getBigDecimal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1162302112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BOOLEAN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getBoolean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3875913679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  <a:latin typeface="+mj-lt"/>
                        </a:rPr>
                        <a:t>BINARY, VARBINARY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getBytes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1802522727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DATE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getDate()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4105515544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TIME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getTime()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4110702080"/>
                  </a:ext>
                </a:extLst>
              </a:tr>
              <a:tr h="187318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  <a:latin typeface="+mj-lt"/>
                        </a:rPr>
                        <a:t>TIMESTAMP</a:t>
                      </a:r>
                    </a:p>
                  </a:txBody>
                  <a:tcPr marL="84423" marR="84423" marT="42212" marB="4221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  <a:latin typeface="+mj-lt"/>
                        </a:rPr>
                        <a:t>getTimestamp</a:t>
                      </a:r>
                      <a:r>
                        <a:rPr lang="en-US" sz="1200" dirty="0">
                          <a:effectLst/>
                          <a:latin typeface="+mj-lt"/>
                        </a:rPr>
                        <a:t>()</a:t>
                      </a:r>
                    </a:p>
                  </a:txBody>
                  <a:tcPr marL="84423" marR="84423" marT="42212" marB="42212" anchor="ctr"/>
                </a:tc>
                <a:extLst>
                  <a:ext uri="{0D108BD9-81ED-4DB2-BD59-A6C34878D82A}">
                    <a16:rowId xmlns:a16="http://schemas.microsoft.com/office/drawing/2014/main" val="396796157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531FE7D-3781-4848-8ABE-FE6D515D9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738" y="3362660"/>
            <a:ext cx="3826385" cy="258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80786-F22C-4F32-B0A6-5DA7C24C5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075" y="4375683"/>
            <a:ext cx="4655713" cy="492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04953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AC48-298C-4961-A2DC-AC339F42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Редактирование данных </a:t>
            </a:r>
            <a:r>
              <a:rPr lang="en-US" dirty="0" err="1"/>
              <a:t>ResultSet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C34A5-D70A-41F9-98C2-69BE86B2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1"/>
            <a:ext cx="10972800" cy="314327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Для редактирования данных, в интерфейсе </a:t>
            </a:r>
            <a:r>
              <a:rPr lang="ru-RU" b="1" dirty="0" err="1"/>
              <a:t>java.sql.ResultSet</a:t>
            </a:r>
            <a:r>
              <a:rPr lang="ru-RU" dirty="0"/>
              <a:t>, также разработано множество методов</a:t>
            </a:r>
          </a:p>
          <a:p>
            <a:pPr marL="0" indent="0">
              <a:buNone/>
            </a:pPr>
            <a:r>
              <a:rPr lang="ru-RU" dirty="0"/>
              <a:t>Для работы со строками в таблице:</a:t>
            </a:r>
          </a:p>
          <a:p>
            <a:r>
              <a:rPr lang="ru-RU" b="1" dirty="0" err="1"/>
              <a:t>public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insertRow</a:t>
            </a:r>
            <a:r>
              <a:rPr lang="ru-RU" b="1" dirty="0"/>
              <a:t>()</a:t>
            </a:r>
            <a:br>
              <a:rPr lang="ru-RU" b="1" dirty="0"/>
            </a:br>
            <a:r>
              <a:rPr lang="ru-RU" dirty="0"/>
              <a:t>Вставляет запись в таблицу БД. Может быть использован только в том случае, когда указатель ссылается на ряд для вставки.</a:t>
            </a:r>
          </a:p>
          <a:p>
            <a:r>
              <a:rPr lang="ru-RU" b="1" dirty="0" err="1"/>
              <a:t>public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updateRow</a:t>
            </a:r>
            <a:r>
              <a:rPr lang="ru-RU" b="1" dirty="0"/>
              <a:t>()</a:t>
            </a:r>
            <a:br>
              <a:rPr lang="ru-RU" b="1" dirty="0"/>
            </a:br>
            <a:r>
              <a:rPr lang="ru-RU" dirty="0"/>
              <a:t>Изменяет текущий ряд в таблице БД.</a:t>
            </a:r>
          </a:p>
          <a:p>
            <a:r>
              <a:rPr lang="ru-RU" b="1" dirty="0" err="1"/>
              <a:t>public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deleteRow</a:t>
            </a:r>
            <a:r>
              <a:rPr lang="ru-RU" b="1" dirty="0"/>
              <a:t>()</a:t>
            </a:r>
            <a:br>
              <a:rPr lang="ru-RU" b="1" dirty="0"/>
            </a:br>
            <a:r>
              <a:rPr lang="ru-RU" dirty="0"/>
              <a:t>Удаляет текущий ряд из таблицы БД.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BD669-A3C8-47AC-B21B-6CC15F25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93" y="4954236"/>
            <a:ext cx="7611414" cy="1018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D83793-3C68-4CFA-AE6C-F468D3BF6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121" y="3291477"/>
            <a:ext cx="2925297" cy="275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05041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7DD6-5363-4CD6-B631-2A1EA2B9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 </a:t>
            </a:r>
            <a:r>
              <a:rPr lang="en-US" dirty="0" err="1"/>
              <a:t>ResultSetMetaData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3DCF1-ED1F-4BCD-9325-BBCD54EE6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5100" dirty="0"/>
              <a:t>Получить его можно через </a:t>
            </a:r>
            <a:r>
              <a:rPr lang="en-US" sz="5100" b="1" dirty="0" err="1"/>
              <a:t>ResultSet</a:t>
            </a:r>
            <a:r>
              <a:rPr lang="ru-RU" sz="5100" dirty="0"/>
              <a:t>, вызван метод </a:t>
            </a:r>
            <a:r>
              <a:rPr lang="en-US" sz="5100" b="1" dirty="0" err="1"/>
              <a:t>getMetaData</a:t>
            </a:r>
            <a:r>
              <a:rPr lang="en-US" sz="5100" dirty="0"/>
              <a:t>()</a:t>
            </a:r>
          </a:p>
          <a:p>
            <a:pPr marL="0" indent="0">
              <a:buNone/>
            </a:pPr>
            <a:r>
              <a:rPr lang="ru-RU" sz="5100" dirty="0"/>
              <a:t>Полезные методы </a:t>
            </a:r>
            <a:r>
              <a:rPr lang="en-US" sz="5100" b="1" dirty="0" err="1"/>
              <a:t>ResultSetMetaData</a:t>
            </a:r>
            <a:r>
              <a:rPr lang="ru-RU" sz="5100" dirty="0"/>
              <a:t>:</a:t>
            </a:r>
          </a:p>
          <a:p>
            <a:r>
              <a:rPr lang="en-US" b="1" dirty="0" err="1"/>
              <a:t>getColumnCount</a:t>
            </a:r>
            <a:r>
              <a:rPr lang="en-US" b="1" dirty="0"/>
              <a:t>()</a:t>
            </a:r>
            <a:r>
              <a:rPr lang="en-US" dirty="0"/>
              <a:t>	- </a:t>
            </a:r>
            <a:r>
              <a:rPr lang="ru-RU" dirty="0"/>
              <a:t>возвращает количество колонок результата</a:t>
            </a:r>
          </a:p>
          <a:p>
            <a:r>
              <a:rPr lang="en-US" b="1" dirty="0" err="1"/>
              <a:t>getColumnName</a:t>
            </a:r>
            <a:r>
              <a:rPr lang="en-US" b="1" dirty="0"/>
              <a:t>(int column)</a:t>
            </a:r>
            <a:r>
              <a:rPr lang="ru-RU" dirty="0"/>
              <a:t> - возвращает имя колонки</a:t>
            </a:r>
          </a:p>
          <a:p>
            <a:r>
              <a:rPr lang="en-US" b="1" dirty="0" err="1"/>
              <a:t>getColumnLabel</a:t>
            </a:r>
            <a:r>
              <a:rPr lang="en-US" b="1" dirty="0"/>
              <a:t>(int column)</a:t>
            </a:r>
            <a:r>
              <a:rPr lang="ru-RU" dirty="0"/>
              <a:t> - возвращает </a:t>
            </a:r>
            <a:r>
              <a:rPr lang="en-US" dirty="0"/>
              <a:t>description </a:t>
            </a:r>
            <a:r>
              <a:rPr lang="ru-RU" dirty="0"/>
              <a:t>колонки</a:t>
            </a:r>
          </a:p>
          <a:p>
            <a:r>
              <a:rPr lang="en-US" b="1" dirty="0" err="1"/>
              <a:t>getColumnType</a:t>
            </a:r>
            <a:r>
              <a:rPr lang="en-US" b="1" dirty="0"/>
              <a:t>()</a:t>
            </a:r>
            <a:r>
              <a:rPr lang="ru-RU" dirty="0"/>
              <a:t> - возвращает тип колонки: число (специальный код)</a:t>
            </a:r>
          </a:p>
          <a:p>
            <a:r>
              <a:rPr lang="en-US" b="1" dirty="0" err="1"/>
              <a:t>getColumnTypeName</a:t>
            </a:r>
            <a:r>
              <a:rPr lang="en-US" b="1" dirty="0"/>
              <a:t>()</a:t>
            </a:r>
            <a:r>
              <a:rPr lang="ru-RU" dirty="0"/>
              <a:t> - возвращает тип колонки: строка</a:t>
            </a:r>
          </a:p>
          <a:p>
            <a:r>
              <a:rPr lang="en-US" b="1" dirty="0" err="1"/>
              <a:t>getColumnClassName</a:t>
            </a:r>
            <a:r>
              <a:rPr lang="en-US" b="1" dirty="0"/>
              <a:t>()</a:t>
            </a:r>
            <a:r>
              <a:rPr lang="en-US" dirty="0"/>
              <a:t> - </a:t>
            </a:r>
            <a:r>
              <a:rPr lang="ru-RU" dirty="0"/>
              <a:t>возвращает имя </a:t>
            </a:r>
            <a:r>
              <a:rPr lang="en-US" dirty="0"/>
              <a:t>java-</a:t>
            </a:r>
            <a:r>
              <a:rPr lang="ru-RU" dirty="0"/>
              <a:t>класса для типа колонки</a:t>
            </a:r>
          </a:p>
          <a:p>
            <a:r>
              <a:rPr lang="en-US" b="1" dirty="0" err="1"/>
              <a:t>getTableName</a:t>
            </a:r>
            <a:r>
              <a:rPr lang="en-US" b="1" dirty="0"/>
              <a:t>()</a:t>
            </a:r>
            <a:r>
              <a:rPr lang="en-US" dirty="0"/>
              <a:t> - </a:t>
            </a:r>
            <a:r>
              <a:rPr lang="ru-RU" dirty="0"/>
              <a:t>возвращает имя таблицы</a:t>
            </a:r>
          </a:p>
          <a:p>
            <a:r>
              <a:rPr lang="en-US" b="1" dirty="0" err="1"/>
              <a:t>getCatalogName</a:t>
            </a:r>
            <a:r>
              <a:rPr lang="en-US" b="1" dirty="0"/>
              <a:t>()</a:t>
            </a:r>
            <a:r>
              <a:rPr lang="ru-RU" dirty="0"/>
              <a:t> </a:t>
            </a:r>
            <a:r>
              <a:rPr lang="en-US" dirty="0"/>
              <a:t>- </a:t>
            </a:r>
            <a:r>
              <a:rPr lang="ru-RU" dirty="0"/>
              <a:t>возвращает имя каталога колонки</a:t>
            </a:r>
          </a:p>
          <a:p>
            <a:r>
              <a:rPr lang="en-US" b="1" dirty="0" err="1"/>
              <a:t>getSchemaName</a:t>
            </a:r>
            <a:r>
              <a:rPr lang="en-US" b="1" dirty="0"/>
              <a:t>() </a:t>
            </a:r>
            <a:r>
              <a:rPr lang="ru-RU" b="1" dirty="0"/>
              <a:t>-</a:t>
            </a:r>
            <a:r>
              <a:rPr lang="en-US" dirty="0"/>
              <a:t> </a:t>
            </a:r>
            <a:r>
              <a:rPr lang="ru-RU" dirty="0"/>
              <a:t>возвращает имя схемы базы данных</a:t>
            </a:r>
          </a:p>
          <a:p>
            <a:r>
              <a:rPr lang="en-US" b="1" dirty="0" err="1"/>
              <a:t>isAutoIncrement</a:t>
            </a:r>
            <a:r>
              <a:rPr lang="en-US" b="1" dirty="0"/>
              <a:t>(int column)</a:t>
            </a:r>
            <a:r>
              <a:rPr lang="ru-RU" dirty="0"/>
              <a:t> – проверяет, поддерживает ли колонка </a:t>
            </a:r>
            <a:r>
              <a:rPr lang="en-US" dirty="0"/>
              <a:t>AUTO INCREMENT</a:t>
            </a:r>
          </a:p>
          <a:p>
            <a:r>
              <a:rPr lang="en-US" b="1" dirty="0" err="1"/>
              <a:t>isNullable</a:t>
            </a:r>
            <a:r>
              <a:rPr lang="en-US" b="1" dirty="0"/>
              <a:t>()</a:t>
            </a:r>
            <a:r>
              <a:rPr lang="ru-RU" b="1" dirty="0"/>
              <a:t> </a:t>
            </a:r>
            <a:r>
              <a:rPr lang="ru-RU" dirty="0"/>
              <a:t>– проверяет, может ли колонка содержать </a:t>
            </a:r>
            <a:r>
              <a:rPr lang="en-US" dirty="0"/>
              <a:t>NULL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96242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9455-7C8A-4307-AFA2-ACED3776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2EFA4B-D84E-4EF0-BC17-9D903198D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84384" y="1905000"/>
            <a:ext cx="8623232" cy="4221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4671101"/>
      </p:ext>
    </p:extLst>
  </p:cSld>
  <p:clrMapOvr>
    <a:masterClrMapping/>
  </p:clrMapOvr>
</p:sld>
</file>

<file path=ppt/theme/theme1.xml><?xml version="1.0" encoding="utf-8"?>
<a:theme xmlns:a="http://schemas.openxmlformats.org/drawingml/2006/main" name="GIS_them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IS_theme" id="{4ABA2DA3-FC12-4F6D-A63F-F49808B2745D}" vid="{ED545FA1-F0DD-4A91-AB56-FB9C25E1D6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GIS_theme</Template>
  <TotalTime>16440</TotalTime>
  <Words>7539</Words>
  <Application>Microsoft Office PowerPoint</Application>
  <PresentationFormat>Widescreen</PresentationFormat>
  <Paragraphs>689</Paragraphs>
  <Slides>67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Consolas</vt:lpstr>
      <vt:lpstr>Times New Roman</vt:lpstr>
      <vt:lpstr>GIS_theme</vt:lpstr>
      <vt:lpstr>Программирование на Java</vt:lpstr>
      <vt:lpstr>Система управления базами данных</vt:lpstr>
      <vt:lpstr>Цели СУБД</vt:lpstr>
      <vt:lpstr>Задачи СУБД</vt:lpstr>
      <vt:lpstr>Архитектура СУБД</vt:lpstr>
      <vt:lpstr>Виды СУБД</vt:lpstr>
      <vt:lpstr>Реляционные СУБД</vt:lpstr>
      <vt:lpstr>СУБД Ключ-значение</vt:lpstr>
      <vt:lpstr>Документные СУБД</vt:lpstr>
      <vt:lpstr>Колоночные базы данных</vt:lpstr>
      <vt:lpstr>Графовые СУБД</vt:lpstr>
      <vt:lpstr>Популярные СУБД</vt:lpstr>
      <vt:lpstr>PostgreSQL</vt:lpstr>
      <vt:lpstr>Характеристики реляционных СУБД</vt:lpstr>
      <vt:lpstr>Основные понятия</vt:lpstr>
      <vt:lpstr>Этапы проектирования базы данных</vt:lpstr>
      <vt:lpstr>Нормализация</vt:lpstr>
      <vt:lpstr>Транзакции</vt:lpstr>
      <vt:lpstr>Ограничения</vt:lpstr>
      <vt:lpstr>Первичный ключ</vt:lpstr>
      <vt:lpstr>Типы данных</vt:lpstr>
      <vt:lpstr>Выбор типа данных</vt:lpstr>
      <vt:lpstr>Соглашения об именовании</vt:lpstr>
      <vt:lpstr>О насущном</vt:lpstr>
      <vt:lpstr>Проектирование базы данных</vt:lpstr>
      <vt:lpstr>Практика</vt:lpstr>
      <vt:lpstr>Что такое SQL</vt:lpstr>
      <vt:lpstr>Базовые SQL-команды</vt:lpstr>
      <vt:lpstr>Создание базы данных и таблиц</vt:lpstr>
      <vt:lpstr>Изменение таблицы</vt:lpstr>
      <vt:lpstr>Добавление данных</vt:lpstr>
      <vt:lpstr>Обновление данных</vt:lpstr>
      <vt:lpstr>Удаление данных</vt:lpstr>
      <vt:lpstr>Выборка данных</vt:lpstr>
      <vt:lpstr>Элемент WHERE</vt:lpstr>
      <vt:lpstr>Элемент GROUP BY</vt:lpstr>
      <vt:lpstr>Агрегатные функции</vt:lpstr>
      <vt:lpstr>Элемент HAVING</vt:lpstr>
      <vt:lpstr>Элемент ORDER BY</vt:lpstr>
      <vt:lpstr>Ограничение выборки</vt:lpstr>
      <vt:lpstr>Оператор JOIN</vt:lpstr>
      <vt:lpstr>Виды JOIN</vt:lpstr>
      <vt:lpstr>Порядок выполнения операторов</vt:lpstr>
      <vt:lpstr>Полезные команды</vt:lpstr>
      <vt:lpstr>Практика</vt:lpstr>
      <vt:lpstr>Java Database Connectivity</vt:lpstr>
      <vt:lpstr>Архитектура JDBC</vt:lpstr>
      <vt:lpstr>Функции JDBC</vt:lpstr>
      <vt:lpstr>Этапы подключения к базе данных</vt:lpstr>
      <vt:lpstr>Добавление JDBC драйвера</vt:lpstr>
      <vt:lpstr>Системы сборки Java</vt:lpstr>
      <vt:lpstr>Maven</vt:lpstr>
      <vt:lpstr>Создание maven проекта</vt:lpstr>
      <vt:lpstr>Файл pom.xml в Maven</vt:lpstr>
      <vt:lpstr>Управление зависимостями в Maven</vt:lpstr>
      <vt:lpstr>Сборка Java-проекта с Maven</vt:lpstr>
      <vt:lpstr>Компоненты JDBC</vt:lpstr>
      <vt:lpstr>Подключение к базе данных</vt:lpstr>
      <vt:lpstr>Интерфейс Statement</vt:lpstr>
      <vt:lpstr>ResultSet</vt:lpstr>
      <vt:lpstr>Методы ResultSet</vt:lpstr>
      <vt:lpstr>Типы ResultSet</vt:lpstr>
      <vt:lpstr>Доступ ResultSet</vt:lpstr>
      <vt:lpstr>Получение данных из текущей строки</vt:lpstr>
      <vt:lpstr>Редактирование данных ResultSet</vt:lpstr>
      <vt:lpstr>Интерфейс ResultSetMetaData</vt:lpstr>
      <vt:lpstr>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Java</dc:title>
  <dc:creator>Yulia Filinskikh</dc:creator>
  <cp:lastModifiedBy>Yulia Filinskikh</cp:lastModifiedBy>
  <cp:revision>122</cp:revision>
  <dcterms:created xsi:type="dcterms:W3CDTF">2025-02-14T15:06:19Z</dcterms:created>
  <dcterms:modified xsi:type="dcterms:W3CDTF">2025-03-13T00:21:27Z</dcterms:modified>
</cp:coreProperties>
</file>